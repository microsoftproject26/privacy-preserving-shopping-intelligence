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presenting our MSc project on privacy-preserving shopping intelligence: can a browser recommend products from shopping behaviour without sending that behaviour to a server, and how much quality does that cost? Twenty minutes: the question, how we built a rigorous answer, the confirmatory result, what we learned after it, privacy, devices, and lessons.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question from our original proposal. The motivation comes from Microsoft Edge: the browser already sees shopping behaviour. We split the question into five measurable parts.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Cloud-only gives the quality ceiling but moves raw histories. Federated learning keeps raw events local and sends only model updates — which can still leak. On-device ships a model once and adapts it locally. Our answer is expressed as retention of the cloud reference.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 million users. 1.2 million form the server-side band used to pretrain the shipped model; 131,072 are simulated devices. TEST is 26,254 users never touched until a single sealed test evaluation. Pre-registration matters because there are dozens of arms and many possible readings.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plots come straight from the data-audit notebook of our prototype stage: 42.4 million events in October alone, almost all of them views, with short sessions and a long tail. This is real shopping behaviour, not a benchmark toy.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book tells the story in this order. First the prototype stage on GitHub, then the pilot studies, then the pre-registered main study up to the confirmatory test evaluation on 5–7 October, then the post-hoc exploratory work, and finally the technical closure and extensions.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layers. The data layer produces a frozen, hashed dataset. The training layer simulates the federated clients on the Lobot A40 GPUs. The evaluation layer ranks the full catalogue and computes paired bootstrap statistics. Deployment: ONNX, INT8 and Edge WASM; governance wraps everything.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prototype stage built the platform. On the left the prototype; on the right the system, deployment and security workstream. Its main lesson was methodological: small definition errors can flip conclusions, which motivated the pre-registered main study.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contest SASRec scored higher than GRU on validation, and the architecture was locked. The protocol on the right: register, review, pre-register the look, score once, check the inventory, then disclose. This is what makes the confirmatory numbers credible.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round the server broadcasts the model, clients train on their own history, optional DP, quantisation and simulated secure aggregation protect the uploads, and FedAdam updates the global model. The red box is the post-hoc finding we will come back to: tau.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the realistic edge system keeps 88.49 percent of the full-data cloud model, with a confidence interval of 87.73 to 89.18. But notice the pretrained model alone already keeps 88.77 percent. Device-only training collapses.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Federation on top of the 1.2-million-user pretrain changes MRR by minus 0.0005; the tuned follow-up recipe is statistically equivalent to the pretrain. On-device fine-tuning gives a small but significant gain. So why did federation add nothing?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public benchmarks our central reference is competitive with published full-ranking results, and above eSASRec on MovieLens-1M. But federated arms were far below the cloud model — a hint that the recipe, not federation itself, was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test evaluation we measured the update norms. Almost all coordinates were below tau, so the server step collapsed. This does not change the confirmatory result — it explains it. Everything from here is labelled post-hoc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tau 1e-6, federated models reach 75 to 92 percent of the cloud model on all six benchmarks. On REES46 the strong pretrain still leaves nothing for federation to add, so the confirmatory answer is robust.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scientific message: the less the server already knows, the more federation helps. With a weak pretrain federation adds a lot; with a strong one it adds almost nothing.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federation learns, a membership attack succeeds with AUC 0.747; DP at epsilon 8 removes it, cheaply on a warm start and expensively on a cold one. Our closure audit is honest about limits: the legacy DP used a public seed, so we claim measurements, not a formal guarantee.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device model runs in the browser in a few milliseconds per recommendation. INT8 cuts the model four times with no measurable quality loss, which makes on-device deployment realistic.</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closure phase verified everything, added second-seed and fine-tuning studies and simple baselines, and documented what was stopped. Negative and incomplete results are reported, not hidden.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what worked, on the right what did not. The tau lesson is general: a protocol can be perfectly controlled and still lock in a mis-scaled optimiser.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answer the question: about 88.5 percent of cloud quality survives on the registered recipe. Federation is worth it when the server knows little and the optimiser is scaled correctly; on-device fine-tuning is the deployable gain.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rant_hall.jpg"/>
          <p:cNvPicPr>
            <a:picLocks noChangeAspect="1"/>
          </p:cNvPicPr>
          <p:nvPr/>
        </p:nvPicPr>
        <p:blipFill>
          <a:blip r:embed="rId2"/>
          <a:srcRect l="33476" r="17476"/>
          <a:stretch>
            <a:fillRect/>
          </a:stretch>
        </p:blipFill>
        <p:spPr>
          <a:xfrm>
            <a:off x="7726679" y="0"/>
            <a:ext cx="4465016" cy="6858000"/>
          </a:xfrm>
          <a:prstGeom prst="rect">
            <a:avLst/>
          </a:prstGeom>
        </p:spPr>
      </p:pic>
      <p:pic>
        <p:nvPicPr>
          <p:cNvPr id="3" name="Picture 2" descr="queens_crest.png"/>
          <p:cNvPicPr>
            <a:picLocks noChangeAspect="1"/>
          </p:cNvPicPr>
          <p:nvPr/>
        </p:nvPicPr>
        <p:blipFill>
          <a:blip r:embed="rId3"/>
          <a:stretch>
            <a:fillRect/>
          </a:stretch>
        </p:blipFill>
        <p:spPr>
          <a:xfrm>
            <a:off x="548640" y="457200"/>
            <a:ext cx="729696" cy="914400"/>
          </a:xfrm>
          <a:prstGeom prst="rect">
            <a:avLst/>
          </a:prstGeom>
        </p:spPr>
      </p:pic>
      <p:pic>
        <p:nvPicPr>
          <p:cNvPr id="4" name="Picture 3" descr="queens_wordmark.png"/>
          <p:cNvPicPr>
            <a:picLocks noChangeAspect="1"/>
          </p:cNvPicPr>
          <p:nvPr/>
        </p:nvPicPr>
        <p:blipFill>
          <a:blip r:embed="rId4"/>
          <a:stretch>
            <a:fillRect/>
          </a:stretch>
        </p:blipFill>
        <p:spPr>
          <a:xfrm>
            <a:off x="1371600" y="658368"/>
            <a:ext cx="1831431" cy="530352"/>
          </a:xfrm>
          <a:prstGeom prst="rect">
            <a:avLst/>
          </a:prstGeom>
        </p:spPr>
      </p:pic>
      <p:pic>
        <p:nvPicPr>
          <p:cNvPr id="5" name="Picture 4" descr="microsoft.png"/>
          <p:cNvPicPr>
            <a:picLocks noChangeAspect="1"/>
          </p:cNvPicPr>
          <p:nvPr/>
        </p:nvPicPr>
        <p:blipFill>
          <a:blip r:embed="rId5"/>
          <a:stretch>
            <a:fillRect/>
          </a:stretch>
        </p:blipFill>
        <p:spPr>
          <a:xfrm>
            <a:off x="4846320" y="685800"/>
            <a:ext cx="2141034" cy="457200"/>
          </a:xfrm>
          <a:prstGeom prst="rect">
            <a:avLst/>
          </a:prstGeom>
        </p:spPr>
      </p:pic>
      <p:sp>
        <p:nvSpPr>
          <p:cNvPr id="6" name="TextBox 5"/>
          <p:cNvSpPr txBox="1"/>
          <p:nvPr/>
        </p:nvSpPr>
        <p:spPr>
          <a:xfrm>
            <a:off x="548640" y="1737360"/>
            <a:ext cx="6949440" cy="1554480"/>
          </a:xfrm>
          <a:prstGeom prst="rect">
            <a:avLst/>
          </a:prstGeom>
          <a:noFill/>
        </p:spPr>
        <p:txBody>
          <a:bodyPr wrap="square" anchor="t" lIns="45720" rIns="45720">
            <a:spAutoFit/>
          </a:bodyPr>
          <a:lstStyle/>
          <a:p>
            <a:pPr algn="l"/>
            <a:r>
              <a:rPr sz="3200" b="1" i="0">
                <a:solidFill>
                  <a:srgbClr val="1F3864"/>
                </a:solidFill>
                <a:latin typeface="Calibri"/>
              </a:rPr>
              <a:t>Privacy-Preserving Shopping Intelligence</a:t>
            </a:r>
          </a:p>
          <a:p>
            <a:pPr algn="l"/>
            <a:r>
              <a:rPr sz="3200" b="1" i="0">
                <a:solidFill>
                  <a:srgbClr val="1F3864"/>
                </a:solidFill>
                <a:latin typeface="Calibri"/>
              </a:rPr>
              <a:t>via Federated and On-Device Learning</a:t>
            </a:r>
          </a:p>
        </p:txBody>
      </p:sp>
      <p:sp>
        <p:nvSpPr>
          <p:cNvPr id="7" name="TextBox 6"/>
          <p:cNvSpPr txBox="1"/>
          <p:nvPr/>
        </p:nvSpPr>
        <p:spPr>
          <a:xfrm>
            <a:off x="548640" y="3246120"/>
            <a:ext cx="6858000" cy="731520"/>
          </a:xfrm>
          <a:prstGeom prst="rect">
            <a:avLst/>
          </a:prstGeom>
          <a:noFill/>
        </p:spPr>
        <p:txBody>
          <a:bodyPr wrap="square" anchor="t" lIns="45720" rIns="45720">
            <a:spAutoFit/>
          </a:bodyPr>
          <a:lstStyle/>
          <a:p>
            <a:pPr algn="l"/>
            <a:r>
              <a:rPr sz="1700" b="0" i="1">
                <a:solidFill>
                  <a:srgbClr val="595959"/>
                </a:solidFill>
                <a:latin typeface="Calibri"/>
              </a:rPr>
              <a:t>How much next-product recommendation quality survives when shopping data never leaves the device?</a:t>
            </a:r>
          </a:p>
        </p:txBody>
      </p:sp>
      <p:sp>
        <p:nvSpPr>
          <p:cNvPr id="8" name="TextBox 7"/>
          <p:cNvSpPr txBox="1"/>
          <p:nvPr/>
        </p:nvSpPr>
        <p:spPr>
          <a:xfrm>
            <a:off x="548640" y="4114800"/>
            <a:ext cx="3108960" cy="1463040"/>
          </a:xfrm>
          <a:prstGeom prst="rect">
            <a:avLst/>
          </a:prstGeom>
          <a:noFill/>
        </p:spPr>
        <p:txBody>
          <a:bodyPr wrap="square" anchor="t" lIns="45720" rIns="45720">
            <a:spAutoFit/>
          </a:bodyPr>
          <a:lstStyle/>
          <a:p>
            <a:pPr algn="l"/>
            <a:r>
              <a:rPr sz="1400" b="1" i="0">
                <a:solidFill>
                  <a:srgbClr val="262626"/>
                </a:solidFill>
                <a:latin typeface="Calibri"/>
              </a:rPr>
              <a:t>Group members</a:t>
            </a:r>
          </a:p>
          <a:p>
            <a:pPr algn="l"/>
            <a:r>
              <a:rPr sz="1400" b="0" i="0">
                <a:solidFill>
                  <a:srgbClr val="262626"/>
                </a:solidFill>
                <a:latin typeface="Calibri"/>
              </a:rPr>
              <a:t>Ahmed Sherif</a:t>
            </a:r>
          </a:p>
          <a:p>
            <a:pPr algn="l"/>
            <a:r>
              <a:rPr sz="1400" b="0" i="0">
                <a:solidFill>
                  <a:srgbClr val="262626"/>
                </a:solidFill>
                <a:latin typeface="Calibri"/>
              </a:rPr>
              <a:t>Eid Abdelrihem</a:t>
            </a:r>
          </a:p>
          <a:p>
            <a:pPr algn="l"/>
            <a:r>
              <a:rPr sz="1400" b="0" i="0">
                <a:solidFill>
                  <a:srgbClr val="262626"/>
                </a:solidFill>
                <a:latin typeface="Calibri"/>
              </a:rPr>
              <a:t>Ahmed Abdelhamed</a:t>
            </a:r>
          </a:p>
        </p:txBody>
      </p:sp>
      <p:sp>
        <p:nvSpPr>
          <p:cNvPr id="9" name="TextBox 8"/>
          <p:cNvSpPr txBox="1"/>
          <p:nvPr/>
        </p:nvSpPr>
        <p:spPr>
          <a:xfrm>
            <a:off x="3657600" y="4114800"/>
            <a:ext cx="3931920" cy="1463040"/>
          </a:xfrm>
          <a:prstGeom prst="rect">
            <a:avLst/>
          </a:prstGeom>
          <a:noFill/>
        </p:spPr>
        <p:txBody>
          <a:bodyPr wrap="square" anchor="t" lIns="45720" rIns="45720">
            <a:spAutoFit/>
          </a:bodyPr>
          <a:lstStyle/>
          <a:p>
            <a:pPr algn="l"/>
            <a:r>
              <a:rPr sz="1400" b="1" i="0">
                <a:solidFill>
                  <a:srgbClr val="262626"/>
                </a:solidFill>
                <a:latin typeface="Calibri"/>
              </a:rPr>
              <a:t>Supervised by</a:t>
            </a:r>
          </a:p>
          <a:p>
            <a:pPr algn="l"/>
            <a:r>
              <a:rPr sz="1400" b="0" i="0">
                <a:solidFill>
                  <a:srgbClr val="262626"/>
                </a:solidFill>
                <a:latin typeface="Calibri"/>
              </a:rPr>
              <a:t>Prof. Rongxing Lu, Queen's University</a:t>
            </a:r>
          </a:p>
          <a:p>
            <a:pPr algn="l"/>
            <a:r>
              <a:rPr sz="1400" b="0" i="0">
                <a:solidFill>
                  <a:srgbClr val="262626"/>
                </a:solidFill>
                <a:latin typeface="Calibri"/>
              </a:rPr>
              <a:t>Prof. Mona Farouk, Cairo University</a:t>
            </a:r>
          </a:p>
          <a:p>
            <a:pPr algn="l"/>
            <a:r>
              <a:rPr sz="1400" b="0" i="0">
                <a:solidFill>
                  <a:srgbClr val="262626"/>
                </a:solidFill>
                <a:latin typeface="Calibri"/>
              </a:rPr>
              <a:t>Prof. Motaz El-Saban, Microsoft (industry mentor)</a:t>
            </a:r>
          </a:p>
        </p:txBody>
      </p:sp>
      <p:sp>
        <p:nvSpPr>
          <p:cNvPr id="10" name="TextBox 9"/>
          <p:cNvSpPr txBox="1"/>
          <p:nvPr/>
        </p:nvSpPr>
        <p:spPr>
          <a:xfrm>
            <a:off x="548640" y="5806440"/>
            <a:ext cx="6949440" cy="640080"/>
          </a:xfrm>
          <a:prstGeom prst="rect">
            <a:avLst/>
          </a:prstGeom>
          <a:noFill/>
        </p:spPr>
        <p:txBody>
          <a:bodyPr wrap="square" anchor="t" lIns="45720" rIns="45720">
            <a:spAutoFit/>
          </a:bodyPr>
          <a:lstStyle/>
          <a:p>
            <a:pPr algn="l"/>
            <a:r>
              <a:rPr sz="1200" b="0" i="0">
                <a:solidFill>
                  <a:srgbClr val="595959"/>
                </a:solidFill>
                <a:latin typeface="Calibri"/>
              </a:rPr>
              <a:t>MSc in Artificial Intelligence and Data Science</a:t>
            </a:r>
          </a:p>
          <a:p>
            <a:pPr algn="l"/>
            <a:r>
              <a:rPr sz="1200" b="0" i="0">
                <a:solidFill>
                  <a:srgbClr val="595959"/>
                </a:solidFill>
                <a:latin typeface="Calibri"/>
              </a:rPr>
              <a:t>School of Computing, Queen's University  ·  October 20, 2026</a:t>
            </a:r>
          </a:p>
        </p:txBody>
      </p:sp>
      <p:sp>
        <p:nvSpPr>
          <p:cNvPr id="11" name="TextBox 10"/>
          <p:cNvSpPr txBox="1"/>
          <p:nvPr/>
        </p:nvSpPr>
        <p:spPr>
          <a:xfrm>
            <a:off x="7772400" y="6565392"/>
            <a:ext cx="4389120" cy="274320"/>
          </a:xfrm>
          <a:prstGeom prst="rect">
            <a:avLst/>
          </a:prstGeom>
          <a:noFill/>
        </p:spPr>
        <p:txBody>
          <a:bodyPr wrap="square" anchor="t" lIns="45720" rIns="45720">
            <a:spAutoFit/>
          </a:bodyPr>
          <a:lstStyle/>
          <a:p>
            <a:pPr algn="l"/>
            <a:r>
              <a:rPr sz="800" b="0" i="1">
                <a:solidFill>
                  <a:srgbClr val="FFFFFF"/>
                </a:solidFill>
                <a:latin typeface="Calibri"/>
              </a:rPr>
              <a:t>Grant Hall, Queen's University. Photo: Takipoint123, CC BY-SA 4.0, Wikimedia Commons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anchor="b" lIns="45720" rIns="45720">
            <a:spAutoFit/>
          </a:bodyPr>
          <a:lstStyle/>
          <a:p>
            <a:pPr algn="l"/>
            <a:r>
              <a:rPr sz="3000" b="1" i="0">
                <a:solidFill>
                  <a:srgbClr val="1F3864"/>
                </a:solidFill>
                <a:latin typeface="Calibri"/>
              </a:rPr>
              <a:t>The research question</a:t>
            </a:r>
          </a:p>
        </p:txBody>
      </p:sp>
      <p:cxnSp>
        <p:nvCxnSpPr>
          <p:cNvPr id="3" name="Connector 2"/>
          <p:cNvCxnSpPr/>
          <p:nvPr/>
        </p:nvCxnSpPr>
        <p:spPr>
          <a:xfrm>
            <a:off x="548640" y="1005840"/>
            <a:ext cx="11094415"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46520"/>
            <a:ext cx="8229600" cy="274320"/>
          </a:xfrm>
          <a:prstGeom prst="rect">
            <a:avLst/>
          </a:prstGeom>
          <a:noFill/>
        </p:spPr>
        <p:txBody>
          <a:bodyPr wrap="square" anchor="ctr" lIns="45720" rIns="45720">
            <a:spAutoFit/>
          </a:bodyPr>
          <a:lstStyle/>
          <a:p>
            <a:pPr algn="l"/>
            <a:r>
              <a:rPr sz="1000" b="0" i="0">
                <a:solidFill>
                  <a:srgbClr val="595959"/>
                </a:solidFill>
                <a:latin typeface="Calibri"/>
              </a:rPr>
              <a:t>Privacy-Preserving Shopping Intelligence  |  MSc Final Presentation, Queen's University</a:t>
            </a:r>
          </a:p>
        </p:txBody>
      </p:sp>
      <p:sp>
        <p:nvSpPr>
          <p:cNvPr id="5" name="TextBox 4"/>
          <p:cNvSpPr txBox="1"/>
          <p:nvPr/>
        </p:nvSpPr>
        <p:spPr>
          <a:xfrm>
            <a:off x="10728655" y="6446520"/>
            <a:ext cx="914400" cy="274320"/>
          </a:xfrm>
          <a:prstGeom prst="rect">
            <a:avLst/>
          </a:prstGeom>
          <a:noFill/>
        </p:spPr>
        <p:txBody>
          <a:bodyPr wrap="square" anchor="ctr" lIns="45720" rIns="45720">
            <a:spAutoFit/>
          </a:bodyPr>
          <a:lstStyle/>
          <a:p>
            <a:pPr algn="r"/>
            <a:r>
              <a:rPr sz="1100" b="0" i="0">
                <a:solidFill>
                  <a:srgbClr val="595959"/>
                </a:solidFill>
                <a:latin typeface="Calibri"/>
              </a:rPr>
              <a:t>2</a:t>
            </a:r>
          </a:p>
        </p:txBody>
      </p:sp>
      <p:sp>
        <p:nvSpPr>
          <p:cNvPr id="6" name="TextBox 5"/>
          <p:cNvSpPr txBox="1"/>
          <p:nvPr/>
        </p:nvSpPr>
        <p:spPr>
          <a:xfrm>
            <a:off x="548640" y="1234440"/>
            <a:ext cx="11064240" cy="822960"/>
          </a:xfrm>
          <a:prstGeom prst="rect">
            <a:avLst/>
          </a:prstGeom>
          <a:noFill/>
        </p:spPr>
        <p:txBody>
          <a:bodyPr wrap="square" anchor="t" lIns="45720" rIns="45720">
            <a:spAutoFit/>
          </a:bodyPr>
          <a:lstStyle/>
          <a:p>
            <a:pPr algn="l"/>
            <a:r>
              <a:rPr sz="2100" b="0" i="1">
                <a:solidFill>
                  <a:srgbClr val="1F3864"/>
                </a:solidFill>
                <a:latin typeface="Calibri"/>
              </a:rPr>
              <a:t>“How much shopping recommendation quality can be retained when moving from cloud-based to on-device or federated models?”</a:t>
            </a:r>
          </a:p>
        </p:txBody>
      </p:sp>
      <p:sp>
        <p:nvSpPr>
          <p:cNvPr id="7" name="TextBox 6"/>
          <p:cNvSpPr txBox="1"/>
          <p:nvPr/>
        </p:nvSpPr>
        <p:spPr>
          <a:xfrm>
            <a:off x="548640" y="2240280"/>
            <a:ext cx="6309360" cy="411480"/>
          </a:xfrm>
          <a:prstGeom prst="rect">
            <a:avLst/>
          </a:prstGeom>
          <a:noFill/>
        </p:spPr>
        <p:txBody>
          <a:bodyPr wrap="square" anchor="t" lIns="45720" rIns="45720">
            <a:spAutoFit/>
          </a:bodyPr>
          <a:lstStyle/>
          <a:p>
            <a:pPr algn="l"/>
            <a:r>
              <a:rPr sz="1700" b="1" i="0">
                <a:solidFill>
                  <a:srgbClr val="1F3864"/>
                </a:solidFill>
                <a:latin typeface="Calibri"/>
              </a:rPr>
              <a:t>Why it matters</a:t>
            </a:r>
          </a:p>
        </p:txBody>
      </p:sp>
      <p:sp>
        <p:nvSpPr>
          <p:cNvPr id="8" name="TextBox 7"/>
          <p:cNvSpPr txBox="1"/>
          <p:nvPr/>
        </p:nvSpPr>
        <p:spPr>
          <a:xfrm>
            <a:off x="548640" y="2697480"/>
            <a:ext cx="6309360" cy="1325880"/>
          </a:xfrm>
          <a:prstGeom prst="rect">
            <a:avLst/>
          </a:prstGeom>
          <a:noFill/>
        </p:spPr>
        <p:txBody>
          <a:bodyPr wrap="square">
            <a:spAutoFit/>
          </a:bodyPr>
          <a:lstStyle/>
          <a:p>
            <a:pPr>
              <a:spcAft>
                <a:spcPts val="700"/>
              </a:spcAft>
            </a:pPr>
            <a:r>
              <a:rPr sz="1500">
                <a:solidFill>
                  <a:srgbClr val="595959"/>
                </a:solidFill>
                <a:latin typeface="Calibri"/>
              </a:rPr>
              <a:t>•  </a:t>
            </a:r>
            <a:r>
              <a:rPr sz="1500" b="0">
                <a:solidFill>
                  <a:srgbClr val="262626"/>
                </a:solidFill>
                <a:latin typeface="Calibri"/>
              </a:rPr>
              <a:t>A browser (Microsoft Edge) sees shopping behaviour on the device</a:t>
            </a:r>
          </a:p>
          <a:p>
            <a:pPr>
              <a:spcAft>
                <a:spcPts val="700"/>
              </a:spcAft>
            </a:pPr>
            <a:r>
              <a:rPr sz="1500">
                <a:solidFill>
                  <a:srgbClr val="595959"/>
                </a:solidFill>
                <a:latin typeface="Calibri"/>
              </a:rPr>
              <a:t>•  </a:t>
            </a:r>
            <a:r>
              <a:rPr sz="1500" b="0">
                <a:solidFill>
                  <a:srgbClr val="262626"/>
                </a:solidFill>
                <a:latin typeface="Calibri"/>
              </a:rPr>
              <a:t>Cloud training needs that history on a server, which users and regulators resist</a:t>
            </a:r>
          </a:p>
          <a:p>
            <a:pPr>
              <a:spcAft>
                <a:spcPts val="700"/>
              </a:spcAft>
            </a:pPr>
            <a:r>
              <a:rPr sz="1500">
                <a:solidFill>
                  <a:srgbClr val="595959"/>
                </a:solidFill>
                <a:latin typeface="Calibri"/>
              </a:rPr>
              <a:t>•  </a:t>
            </a:r>
            <a:r>
              <a:rPr sz="1500" b="0">
                <a:solidFill>
                  <a:srgbClr val="262626"/>
                </a:solidFill>
                <a:latin typeface="Calibri"/>
              </a:rPr>
              <a:t>Most federated-recommendation papers use small datasets and sampled metrics, not real shopping logs</a:t>
            </a:r>
          </a:p>
        </p:txBody>
      </p:sp>
      <p:sp>
        <p:nvSpPr>
          <p:cNvPr id="9" name="TextBox 8"/>
          <p:cNvSpPr txBox="1"/>
          <p:nvPr/>
        </p:nvSpPr>
        <p:spPr>
          <a:xfrm>
            <a:off x="548640" y="4206240"/>
            <a:ext cx="6309360" cy="411480"/>
          </a:xfrm>
          <a:prstGeom prst="rect">
            <a:avLst/>
          </a:prstGeom>
          <a:noFill/>
        </p:spPr>
        <p:txBody>
          <a:bodyPr wrap="square" anchor="t" lIns="45720" rIns="45720">
            <a:spAutoFit/>
          </a:bodyPr>
          <a:lstStyle/>
          <a:p>
            <a:pPr algn="l"/>
            <a:r>
              <a:rPr sz="1700" b="1" i="0">
                <a:solidFill>
                  <a:srgbClr val="1F3864"/>
                </a:solidFill>
                <a:latin typeface="Calibri"/>
              </a:rPr>
              <a:t>What we answer</a:t>
            </a:r>
          </a:p>
        </p:txBody>
      </p:sp>
      <p:sp>
        <p:nvSpPr>
          <p:cNvPr id="10" name="TextBox 9"/>
          <p:cNvSpPr txBox="1"/>
          <p:nvPr/>
        </p:nvSpPr>
        <p:spPr>
          <a:xfrm>
            <a:off x="548640" y="4663440"/>
            <a:ext cx="6309360" cy="1600200"/>
          </a:xfrm>
          <a:prstGeom prst="rect">
            <a:avLst/>
          </a:prstGeom>
          <a:noFill/>
        </p:spPr>
        <p:txBody>
          <a:bodyPr wrap="square">
            <a:spAutoFit/>
          </a:bodyPr>
          <a:lstStyle/>
          <a:p>
            <a:pPr>
              <a:spcAft>
                <a:spcPts val="700"/>
              </a:spcAft>
            </a:pPr>
            <a:r>
              <a:rPr sz="1500">
                <a:solidFill>
                  <a:srgbClr val="595959"/>
                </a:solidFill>
                <a:latin typeface="Calibri"/>
              </a:rPr>
              <a:t>•  </a:t>
            </a:r>
            <a:r>
              <a:rPr sz="1500" b="0">
                <a:solidFill>
                  <a:srgbClr val="262626"/>
                </a:solidFill>
                <a:latin typeface="Calibri"/>
              </a:rPr>
              <a:t/>
            </a:r>
            <a:r>
              <a:rPr sz="1500" b="1">
                <a:solidFill>
                  <a:srgbClr val="262626"/>
                </a:solidFill>
                <a:latin typeface="Calibri"/>
              </a:rPr>
              <a:t>Retention</a:t>
            </a:r>
            <a:r>
              <a:rPr sz="1500" b="0">
                <a:solidFill>
                  <a:srgbClr val="262626"/>
                </a:solidFill>
                <a:latin typeface="Calibri"/>
              </a:rPr>
              <a:t>: cloud → federated → on-device</a:t>
            </a:r>
          </a:p>
          <a:p>
            <a:pPr>
              <a:spcAft>
                <a:spcPts val="700"/>
              </a:spcAft>
            </a:pPr>
            <a:r>
              <a:rPr sz="1500">
                <a:solidFill>
                  <a:srgbClr val="595959"/>
                </a:solidFill>
                <a:latin typeface="Calibri"/>
              </a:rPr>
              <a:t>•  </a:t>
            </a:r>
            <a:r>
              <a:rPr sz="1500" b="0">
                <a:solidFill>
                  <a:srgbClr val="262626"/>
                </a:solidFill>
                <a:latin typeface="Calibri"/>
              </a:rPr>
              <a:t/>
            </a:r>
            <a:r>
              <a:rPr sz="1500" b="1">
                <a:solidFill>
                  <a:srgbClr val="262626"/>
                </a:solidFill>
                <a:latin typeface="Calibri"/>
              </a:rPr>
              <a:t>Value of server pretraining</a:t>
            </a:r>
            <a:r>
              <a:rPr sz="1500" b="0">
                <a:solidFill>
                  <a:srgbClr val="262626"/>
                </a:solidFill>
                <a:latin typeface="Calibri"/>
              </a:rPr>
              <a:t> (warm start) and </a:t>
            </a:r>
            <a:r>
              <a:rPr sz="1500" b="1">
                <a:solidFill>
                  <a:srgbClr val="262626"/>
                </a:solidFill>
                <a:latin typeface="Calibri"/>
              </a:rPr>
              <a:t>on-device adaptation</a:t>
            </a:r>
            <a:r>
              <a:rPr sz="1500" b="0">
                <a:solidFill>
                  <a:srgbClr val="262626"/>
                </a:solidFill>
                <a:latin typeface="Calibri"/>
              </a:rPr>
              <a:t/>
            </a:r>
          </a:p>
          <a:p>
            <a:pPr>
              <a:spcAft>
                <a:spcPts val="700"/>
              </a:spcAft>
            </a:pPr>
            <a:r>
              <a:rPr sz="1500">
                <a:solidFill>
                  <a:srgbClr val="595959"/>
                </a:solidFill>
                <a:latin typeface="Calibri"/>
              </a:rPr>
              <a:t>•  </a:t>
            </a:r>
            <a:r>
              <a:rPr sz="1500" b="0">
                <a:solidFill>
                  <a:srgbClr val="262626"/>
                </a:solidFill>
                <a:latin typeface="Calibri"/>
              </a:rPr>
              <a:t/>
            </a:r>
            <a:r>
              <a:rPr sz="1500" b="1">
                <a:solidFill>
                  <a:srgbClr val="262626"/>
                </a:solidFill>
                <a:latin typeface="Calibri"/>
              </a:rPr>
              <a:t>Privacy</a:t>
            </a:r>
            <a:r>
              <a:rPr sz="1500" b="0">
                <a:solidFill>
                  <a:srgbClr val="262626"/>
                </a:solidFill>
                <a:latin typeface="Calibri"/>
              </a:rPr>
              <a:t>: cost of DP, leakage audits</a:t>
            </a:r>
          </a:p>
          <a:p>
            <a:pPr>
              <a:spcAft>
                <a:spcPts val="700"/>
              </a:spcAft>
            </a:pPr>
            <a:r>
              <a:rPr sz="1500">
                <a:solidFill>
                  <a:srgbClr val="595959"/>
                </a:solidFill>
                <a:latin typeface="Calibri"/>
              </a:rPr>
              <a:t>•  </a:t>
            </a:r>
            <a:r>
              <a:rPr sz="1500" b="0">
                <a:solidFill>
                  <a:srgbClr val="262626"/>
                </a:solidFill>
                <a:latin typeface="Calibri"/>
              </a:rPr>
              <a:t/>
            </a:r>
            <a:r>
              <a:rPr sz="1500" b="1">
                <a:solidFill>
                  <a:srgbClr val="262626"/>
                </a:solidFill>
                <a:latin typeface="Calibri"/>
              </a:rPr>
              <a:t>Deployability</a:t>
            </a:r>
            <a:r>
              <a:rPr sz="1500" b="0">
                <a:solidFill>
                  <a:srgbClr val="262626"/>
                </a:solidFill>
                <a:latin typeface="Calibri"/>
              </a:rPr>
              <a:t>: INT8, latency, upload bytes</a:t>
            </a:r>
          </a:p>
        </p:txBody>
      </p:sp>
      <p:pic>
        <p:nvPicPr>
          <p:cNvPr id="11" name="Picture 10" descr="online_shopping.jpg"/>
          <p:cNvPicPr>
            <a:picLocks noChangeAspect="1"/>
          </p:cNvPicPr>
          <p:nvPr/>
        </p:nvPicPr>
        <p:blipFill>
          <a:blip r:embed="rId2"/>
          <a:stretch>
            <a:fillRect/>
          </a:stretch>
        </p:blipFill>
        <p:spPr>
          <a:xfrm>
            <a:off x="7178040" y="2331720"/>
            <a:ext cx="4480560" cy="2987040"/>
          </a:xfrm>
          <a:prstGeom prst="rect">
            <a:avLst/>
          </a:prstGeom>
        </p:spPr>
      </p:pic>
      <p:sp>
        <p:nvSpPr>
          <p:cNvPr id="12" name="TextBox 11"/>
          <p:cNvSpPr txBox="1"/>
          <p:nvPr/>
        </p:nvSpPr>
        <p:spPr>
          <a:xfrm>
            <a:off x="7178040" y="5337048"/>
            <a:ext cx="4480560" cy="274320"/>
          </a:xfrm>
          <a:prstGeom prst="rect">
            <a:avLst/>
          </a:prstGeom>
          <a:noFill/>
        </p:spPr>
        <p:txBody>
          <a:bodyPr wrap="square" anchor="t" lIns="45720" rIns="45720">
            <a:spAutoFit/>
          </a:bodyPr>
          <a:lstStyle/>
          <a:p>
            <a:pPr algn="l"/>
            <a:r>
              <a:rPr sz="900" b="0" i="1">
                <a:solidFill>
                  <a:srgbClr val="595959"/>
                </a:solidFill>
                <a:latin typeface="Calibri"/>
              </a:rPr>
              <a:t>Photo: Bogdan Hoyaux / European Commission, CC BY 4.0, Wikimedia Commons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anchor="b" lIns="45720" rIns="45720">
            <a:spAutoFit/>
          </a:bodyPr>
          <a:lstStyle/>
          <a:p>
            <a:pPr algn="l"/>
            <a:r>
              <a:rPr sz="3000" b="1" i="0">
                <a:solidFill>
                  <a:srgbClr val="1F3864"/>
                </a:solidFill>
                <a:latin typeface="Calibri"/>
              </a:rPr>
              <a:t>Three ways to deploy a shopping recommender</a:t>
            </a:r>
          </a:p>
        </p:txBody>
      </p:sp>
      <p:cxnSp>
        <p:nvCxnSpPr>
          <p:cNvPr id="3" name="Connector 2"/>
          <p:cNvCxnSpPr/>
          <p:nvPr/>
        </p:nvCxnSpPr>
        <p:spPr>
          <a:xfrm>
            <a:off x="548640" y="1005840"/>
            <a:ext cx="11094415"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1060704"/>
            <a:ext cx="11155680" cy="457200"/>
          </a:xfrm>
          <a:prstGeom prst="rect">
            <a:avLst/>
          </a:prstGeom>
          <a:noFill/>
        </p:spPr>
        <p:txBody>
          <a:bodyPr wrap="square" anchor="t" lIns="45720" rIns="45720">
            <a:spAutoFit/>
          </a:bodyPr>
          <a:lstStyle/>
          <a:p>
            <a:pPr algn="l"/>
            <a:r>
              <a:rPr sz="1600" b="0" i="1">
                <a:solidFill>
                  <a:srgbClr val="595959"/>
                </a:solidFill>
                <a:latin typeface="Calibri"/>
              </a:rPr>
              <a:t>Every comparison in this project is between these three architectures</a:t>
            </a:r>
          </a:p>
        </p:txBody>
      </p:sp>
      <p:sp>
        <p:nvSpPr>
          <p:cNvPr id="5" name="TextBox 4"/>
          <p:cNvSpPr txBox="1"/>
          <p:nvPr/>
        </p:nvSpPr>
        <p:spPr>
          <a:xfrm>
            <a:off x="548640" y="6446520"/>
            <a:ext cx="8229600" cy="274320"/>
          </a:xfrm>
          <a:prstGeom prst="rect">
            <a:avLst/>
          </a:prstGeom>
          <a:noFill/>
        </p:spPr>
        <p:txBody>
          <a:bodyPr wrap="square" anchor="ctr" lIns="45720" rIns="45720">
            <a:spAutoFit/>
          </a:bodyPr>
          <a:lstStyle/>
          <a:p>
            <a:pPr algn="l"/>
            <a:r>
              <a:rPr sz="1000" b="0" i="0">
                <a:solidFill>
                  <a:srgbClr val="595959"/>
                </a:solidFill>
                <a:latin typeface="Calibri"/>
              </a:rPr>
              <a:t>Privacy-Preserving Shopping Intelligence  |  MSc Final Presentation, Queen's University</a:t>
            </a:r>
          </a:p>
        </p:txBody>
      </p:sp>
      <p:sp>
        <p:nvSpPr>
          <p:cNvPr id="6" name="TextBox 5"/>
          <p:cNvSpPr txBox="1"/>
          <p:nvPr/>
        </p:nvSpPr>
        <p:spPr>
          <a:xfrm>
            <a:off x="10728655" y="6446520"/>
            <a:ext cx="914400" cy="274320"/>
          </a:xfrm>
          <a:prstGeom prst="rect">
            <a:avLst/>
          </a:prstGeom>
          <a:noFill/>
        </p:spPr>
        <p:txBody>
          <a:bodyPr wrap="square" anchor="ctr" lIns="45720" rIns="45720">
            <a:spAutoFit/>
          </a:bodyPr>
          <a:lstStyle/>
          <a:p>
            <a:pPr algn="r"/>
            <a:r>
              <a:rPr sz="1100" b="0" i="0">
                <a:solidFill>
                  <a:srgbClr val="595959"/>
                </a:solidFill>
                <a:latin typeface="Calibri"/>
              </a:rPr>
              <a:t>3</a:t>
            </a:r>
          </a:p>
        </p:txBody>
      </p:sp>
      <p:pic>
        <p:nvPicPr>
          <p:cNvPr id="7" name="Picture 6" descr="d1_deployment_options.png"/>
          <p:cNvPicPr>
            <a:picLocks noChangeAspect="1"/>
          </p:cNvPicPr>
          <p:nvPr/>
        </p:nvPicPr>
        <p:blipFill>
          <a:blip r:embed="rId2"/>
          <a:stretch>
            <a:fillRect/>
          </a:stretch>
        </p:blipFill>
        <p:spPr>
          <a:xfrm>
            <a:off x="822960" y="1737360"/>
            <a:ext cx="10515600" cy="358504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anchor="b" lIns="45720" rIns="45720">
            <a:spAutoFit/>
          </a:bodyPr>
          <a:lstStyle/>
          <a:p>
            <a:pPr algn="l"/>
            <a:r>
              <a:rPr sz="3000" b="1" i="0">
                <a:solidFill>
                  <a:srgbClr val="1F3864"/>
                </a:solidFill>
                <a:latin typeface="Calibri"/>
              </a:rPr>
              <a:t>How we built a rigorous answer</a:t>
            </a:r>
          </a:p>
        </p:txBody>
      </p:sp>
      <p:cxnSp>
        <p:nvCxnSpPr>
          <p:cNvPr id="3" name="Connector 2"/>
          <p:cNvCxnSpPr/>
          <p:nvPr/>
        </p:nvCxnSpPr>
        <p:spPr>
          <a:xfrm>
            <a:off x="548640" y="1005840"/>
            <a:ext cx="11094415"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46520"/>
            <a:ext cx="8229600" cy="274320"/>
          </a:xfrm>
          <a:prstGeom prst="rect">
            <a:avLst/>
          </a:prstGeom>
          <a:noFill/>
        </p:spPr>
        <p:txBody>
          <a:bodyPr wrap="square" anchor="ctr" lIns="45720" rIns="45720">
            <a:spAutoFit/>
          </a:bodyPr>
          <a:lstStyle/>
          <a:p>
            <a:pPr algn="l"/>
            <a:r>
              <a:rPr sz="1000" b="0" i="0">
                <a:solidFill>
                  <a:srgbClr val="595959"/>
                </a:solidFill>
                <a:latin typeface="Calibri"/>
              </a:rPr>
              <a:t>Privacy-Preserving Shopping Intelligence  |  MSc Final Presentation, Queen's University</a:t>
            </a:r>
          </a:p>
        </p:txBody>
      </p:sp>
      <p:sp>
        <p:nvSpPr>
          <p:cNvPr id="5" name="TextBox 4"/>
          <p:cNvSpPr txBox="1"/>
          <p:nvPr/>
        </p:nvSpPr>
        <p:spPr>
          <a:xfrm>
            <a:off x="10728655" y="6446520"/>
            <a:ext cx="914400" cy="274320"/>
          </a:xfrm>
          <a:prstGeom prst="rect">
            <a:avLst/>
          </a:prstGeom>
          <a:noFill/>
        </p:spPr>
        <p:txBody>
          <a:bodyPr wrap="square" anchor="ctr" lIns="45720" rIns="45720">
            <a:spAutoFit/>
          </a:bodyPr>
          <a:lstStyle/>
          <a:p>
            <a:pPr algn="r"/>
            <a:r>
              <a:rPr sz="1100" b="0" i="0">
                <a:solidFill>
                  <a:srgbClr val="595959"/>
                </a:solidFill>
                <a:latin typeface="Calibri"/>
              </a:rPr>
              <a:t>4</a:t>
            </a:r>
          </a:p>
        </p:txBody>
      </p:sp>
      <p:pic>
        <p:nvPicPr>
          <p:cNvPr id="6" name="Picture 5" descr="d4_populations.png"/>
          <p:cNvPicPr>
            <a:picLocks noChangeAspect="1"/>
          </p:cNvPicPr>
          <p:nvPr/>
        </p:nvPicPr>
        <p:blipFill>
          <a:blip r:embed="rId2"/>
          <a:stretch>
            <a:fillRect/>
          </a:stretch>
        </p:blipFill>
        <p:spPr>
          <a:xfrm>
            <a:off x="365760" y="1234440"/>
            <a:ext cx="6949440" cy="2590200"/>
          </a:xfrm>
          <a:prstGeom prst="rect">
            <a:avLst/>
          </a:prstGeom>
        </p:spPr>
      </p:pic>
      <p:sp>
        <p:nvSpPr>
          <p:cNvPr id="7" name="TextBox 6"/>
          <p:cNvSpPr txBox="1"/>
          <p:nvPr/>
        </p:nvSpPr>
        <p:spPr>
          <a:xfrm>
            <a:off x="7543800" y="1280160"/>
            <a:ext cx="4297680" cy="411480"/>
          </a:xfrm>
          <a:prstGeom prst="rect">
            <a:avLst/>
          </a:prstGeom>
          <a:noFill/>
        </p:spPr>
        <p:txBody>
          <a:bodyPr wrap="square" anchor="t" lIns="45720" rIns="45720">
            <a:spAutoFit/>
          </a:bodyPr>
          <a:lstStyle/>
          <a:p>
            <a:pPr algn="l"/>
            <a:r>
              <a:rPr sz="1700" b="1" i="0">
                <a:solidFill>
                  <a:srgbClr val="1F3864"/>
                </a:solidFill>
                <a:latin typeface="Calibri"/>
              </a:rPr>
              <a:t>Design choices</a:t>
            </a:r>
          </a:p>
        </p:txBody>
      </p:sp>
      <p:sp>
        <p:nvSpPr>
          <p:cNvPr id="8" name="TextBox 7"/>
          <p:cNvSpPr txBox="1"/>
          <p:nvPr/>
        </p:nvSpPr>
        <p:spPr>
          <a:xfrm>
            <a:off x="7543800" y="1737360"/>
            <a:ext cx="4297680" cy="4343400"/>
          </a:xfrm>
          <a:prstGeom prst="rect">
            <a:avLst/>
          </a:prstGeom>
          <a:noFill/>
        </p:spPr>
        <p:txBody>
          <a:bodyPr wrap="square">
            <a:spAutoFit/>
          </a:bodyPr>
          <a:lstStyle/>
          <a:p>
            <a:pPr>
              <a:spcAft>
                <a:spcPts val="700"/>
              </a:spcAft>
            </a:pPr>
            <a:r>
              <a:rPr sz="1500">
                <a:solidFill>
                  <a:srgbClr val="595959"/>
                </a:solidFill>
                <a:latin typeface="Calibri"/>
              </a:rPr>
              <a:t>•  </a:t>
            </a:r>
            <a:r>
              <a:rPr sz="1500" b="0">
                <a:solidFill>
                  <a:srgbClr val="262626"/>
                </a:solidFill>
                <a:latin typeface="Calibri"/>
              </a:rPr>
              <a:t>REES46 e-commerce log, Oct–Nov 2019</a:t>
            </a:r>
          </a:p>
          <a:p>
            <a:pPr>
              <a:spcAft>
                <a:spcPts val="700"/>
              </a:spcAft>
            </a:pPr>
            <a:r>
              <a:rPr sz="1500">
                <a:solidFill>
                  <a:srgbClr val="595959"/>
                </a:solidFill>
                <a:latin typeface="Calibri"/>
              </a:rPr>
              <a:t>•  </a:t>
            </a:r>
            <a:r>
              <a:rPr sz="1500" b="0">
                <a:solidFill>
                  <a:srgbClr val="262626"/>
                </a:solidFill>
                <a:latin typeface="Calibri"/>
              </a:rPr>
              <a:t>Rank the </a:t>
            </a:r>
            <a:r>
              <a:rPr sz="1500" b="1">
                <a:solidFill>
                  <a:srgbClr val="262626"/>
                </a:solidFill>
                <a:latin typeface="Calibri"/>
              </a:rPr>
              <a:t>full catalogue</a:t>
            </a:r>
            <a:r>
              <a:rPr sz="1500" b="0">
                <a:solidFill>
                  <a:srgbClr val="262626"/>
                </a:solidFill>
                <a:latin typeface="Calibri"/>
              </a:rPr>
              <a:t> (158,486 products) — no sampled negatives</a:t>
            </a:r>
          </a:p>
          <a:p>
            <a:pPr>
              <a:spcAft>
                <a:spcPts val="700"/>
              </a:spcAft>
            </a:pPr>
            <a:r>
              <a:rPr sz="1500">
                <a:solidFill>
                  <a:srgbClr val="595959"/>
                </a:solidFill>
                <a:latin typeface="Calibri"/>
              </a:rPr>
              <a:t>•  </a:t>
            </a:r>
            <a:r>
              <a:rPr sz="1500" b="0">
                <a:solidFill>
                  <a:srgbClr val="262626"/>
                </a:solidFill>
                <a:latin typeface="Calibri"/>
              </a:rPr>
              <a:t>Client-macro </a:t>
            </a:r>
            <a:r>
              <a:rPr sz="1500" b="1">
                <a:solidFill>
                  <a:srgbClr val="262626"/>
                </a:solidFill>
                <a:latin typeface="Calibri"/>
              </a:rPr>
              <a:t>MRR@20</a:t>
            </a:r>
            <a:r>
              <a:rPr sz="1500" b="0">
                <a:solidFill>
                  <a:srgbClr val="262626"/>
                </a:solidFill>
                <a:latin typeface="Calibri"/>
              </a:rPr>
              <a:t>; retention = model / cloud reference</a:t>
            </a:r>
          </a:p>
          <a:p>
            <a:pPr>
              <a:spcAft>
                <a:spcPts val="700"/>
              </a:spcAft>
            </a:pPr>
            <a:r>
              <a:rPr sz="1500">
                <a:solidFill>
                  <a:srgbClr val="595959"/>
                </a:solidFill>
                <a:latin typeface="Calibri"/>
              </a:rPr>
              <a:t>•  </a:t>
            </a:r>
            <a:r>
              <a:rPr sz="1500" b="0">
                <a:solidFill>
                  <a:srgbClr val="262626"/>
                </a:solidFill>
                <a:latin typeface="Calibri"/>
              </a:rPr>
              <a:t>SASRec: device d=64 (20.7M) · cloud d=256 (83.9M)</a:t>
            </a:r>
          </a:p>
          <a:p>
            <a:pPr>
              <a:spcAft>
                <a:spcPts val="700"/>
              </a:spcAft>
            </a:pPr>
            <a:r>
              <a:rPr sz="1500">
                <a:solidFill>
                  <a:srgbClr val="595959"/>
                </a:solidFill>
                <a:latin typeface="Calibri"/>
              </a:rPr>
              <a:t>•  </a:t>
            </a:r>
            <a:r>
              <a:rPr sz="1500" b="0">
                <a:solidFill>
                  <a:srgbClr val="262626"/>
                </a:solidFill>
                <a:latin typeface="Calibri"/>
              </a:rPr>
              <a:t/>
            </a:r>
            <a:r>
              <a:rPr sz="1500" b="1">
                <a:solidFill>
                  <a:srgbClr val="262626"/>
                </a:solidFill>
                <a:latin typeface="Calibri"/>
              </a:rPr>
              <a:t>Pre-registered</a:t>
            </a:r>
            <a:r>
              <a:rPr sz="1500" b="0">
                <a:solidFill>
                  <a:srgbClr val="262626"/>
                </a:solidFill>
                <a:latin typeface="Calibri"/>
              </a:rPr>
              <a:t>: every decision locked before </a:t>
            </a:r>
            <a:r>
              <a:rPr sz="1500" b="1">
                <a:solidFill>
                  <a:srgbClr val="262626"/>
                </a:solidFill>
                <a:latin typeface="Calibri"/>
              </a:rPr>
              <a:t>one</a:t>
            </a:r>
            <a:r>
              <a:rPr sz="1500" b="0">
                <a:solidFill>
                  <a:srgbClr val="262626"/>
                </a:solidFill>
                <a:latin typeface="Calibri"/>
              </a:rPr>
              <a:t> TEST look</a:t>
            </a:r>
          </a:p>
          <a:p>
            <a:pPr>
              <a:spcAft>
                <a:spcPts val="700"/>
              </a:spcAft>
            </a:pPr>
            <a:r>
              <a:rPr sz="1500">
                <a:solidFill>
                  <a:srgbClr val="595959"/>
                </a:solidFill>
                <a:latin typeface="Calibri"/>
              </a:rPr>
              <a:t>•  </a:t>
            </a:r>
            <a:r>
              <a:rPr sz="1500" b="0">
                <a:solidFill>
                  <a:srgbClr val="262626"/>
                </a:solidFill>
                <a:latin typeface="Calibri"/>
              </a:rPr>
              <a:t>6 public benchmarks as a second check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anchor="b" lIns="45720" rIns="45720">
            <a:spAutoFit/>
          </a:bodyPr>
          <a:lstStyle/>
          <a:p>
            <a:pPr algn="l"/>
            <a:r>
              <a:rPr sz="3000" b="1" i="0">
                <a:solidFill>
                  <a:srgbClr val="1F3864"/>
                </a:solidFill>
                <a:latin typeface="Calibri"/>
              </a:rPr>
              <a:t>The data: real shopping sessions from one store</a:t>
            </a:r>
          </a:p>
        </p:txBody>
      </p:sp>
      <p:cxnSp>
        <p:nvCxnSpPr>
          <p:cNvPr id="3" name="Connector 2"/>
          <p:cNvCxnSpPr/>
          <p:nvPr/>
        </p:nvCxnSpPr>
        <p:spPr>
          <a:xfrm>
            <a:off x="548640" y="1005840"/>
            <a:ext cx="11094415"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1060704"/>
            <a:ext cx="11155680" cy="457200"/>
          </a:xfrm>
          <a:prstGeom prst="rect">
            <a:avLst/>
          </a:prstGeom>
          <a:noFill/>
        </p:spPr>
        <p:txBody>
          <a:bodyPr wrap="square" anchor="t" lIns="45720" rIns="45720">
            <a:spAutoFit/>
          </a:bodyPr>
          <a:lstStyle/>
          <a:p>
            <a:pPr algn="l"/>
            <a:r>
              <a:rPr sz="1600" b="0" i="1">
                <a:solidFill>
                  <a:srgbClr val="595959"/>
                </a:solidFill>
                <a:latin typeface="Calibri"/>
              </a:rPr>
              <a:t>REES46, October 2019 month, as plotted by our data-audit notebook</a:t>
            </a:r>
          </a:p>
        </p:txBody>
      </p:sp>
      <p:sp>
        <p:nvSpPr>
          <p:cNvPr id="5" name="TextBox 4"/>
          <p:cNvSpPr txBox="1"/>
          <p:nvPr/>
        </p:nvSpPr>
        <p:spPr>
          <a:xfrm>
            <a:off x="548640" y="6446520"/>
            <a:ext cx="8229600" cy="274320"/>
          </a:xfrm>
          <a:prstGeom prst="rect">
            <a:avLst/>
          </a:prstGeom>
          <a:noFill/>
        </p:spPr>
        <p:txBody>
          <a:bodyPr wrap="square" anchor="ctr" lIns="45720" rIns="45720">
            <a:spAutoFit/>
          </a:bodyPr>
          <a:lstStyle/>
          <a:p>
            <a:pPr algn="l"/>
            <a:r>
              <a:rPr sz="1000" b="0" i="0">
                <a:solidFill>
                  <a:srgbClr val="595959"/>
                </a:solidFill>
                <a:latin typeface="Calibri"/>
              </a:rPr>
              <a:t>Privacy-Preserving Shopping Intelligence  |  MSc Final Presentation, Queen's University</a:t>
            </a:r>
          </a:p>
        </p:txBody>
      </p:sp>
      <p:sp>
        <p:nvSpPr>
          <p:cNvPr id="6" name="TextBox 5"/>
          <p:cNvSpPr txBox="1"/>
          <p:nvPr/>
        </p:nvSpPr>
        <p:spPr>
          <a:xfrm>
            <a:off x="10728655" y="6446520"/>
            <a:ext cx="914400" cy="274320"/>
          </a:xfrm>
          <a:prstGeom prst="rect">
            <a:avLst/>
          </a:prstGeom>
          <a:noFill/>
        </p:spPr>
        <p:txBody>
          <a:bodyPr wrap="square" anchor="ctr" lIns="45720" rIns="45720">
            <a:spAutoFit/>
          </a:bodyPr>
          <a:lstStyle/>
          <a:p>
            <a:pPr algn="r"/>
            <a:r>
              <a:rPr sz="1100" b="0" i="0">
                <a:solidFill>
                  <a:srgbClr val="595959"/>
                </a:solidFill>
                <a:latin typeface="Calibri"/>
              </a:rPr>
              <a:t>5</a:t>
            </a:r>
          </a:p>
        </p:txBody>
      </p:sp>
      <p:pic>
        <p:nvPicPr>
          <p:cNvPr id="7" name="Picture 6" descr="rees46_event_types.png"/>
          <p:cNvPicPr>
            <a:picLocks noChangeAspect="1"/>
          </p:cNvPicPr>
          <p:nvPr/>
        </p:nvPicPr>
        <p:blipFill>
          <a:blip r:embed="rId2"/>
          <a:stretch>
            <a:fillRect/>
          </a:stretch>
        </p:blipFill>
        <p:spPr>
          <a:xfrm>
            <a:off x="685800" y="1600200"/>
            <a:ext cx="3886200" cy="2176045"/>
          </a:xfrm>
          <a:prstGeom prst="rect">
            <a:avLst/>
          </a:prstGeom>
        </p:spPr>
      </p:pic>
      <p:sp>
        <p:nvSpPr>
          <p:cNvPr id="8" name="TextBox 7"/>
          <p:cNvSpPr txBox="1"/>
          <p:nvPr/>
        </p:nvSpPr>
        <p:spPr>
          <a:xfrm>
            <a:off x="4617720" y="2331720"/>
            <a:ext cx="1600200" cy="1554480"/>
          </a:xfrm>
          <a:prstGeom prst="rect">
            <a:avLst/>
          </a:prstGeom>
          <a:noFill/>
        </p:spPr>
        <p:txBody>
          <a:bodyPr wrap="square" anchor="t" lIns="45720" rIns="45720">
            <a:spAutoFit/>
          </a:bodyPr>
          <a:lstStyle/>
          <a:p>
            <a:pPr algn="l"/>
            <a:r>
              <a:rPr sz="1300" b="0" i="0">
                <a:solidFill>
                  <a:srgbClr val="262626"/>
                </a:solidFill>
                <a:latin typeface="Calibri"/>
              </a:rPr>
              <a:t>Event types: 96% views, 2.2% carts, 1.8% purchases</a:t>
            </a:r>
          </a:p>
        </p:txBody>
      </p:sp>
      <p:pic>
        <p:nvPicPr>
          <p:cNvPr id="9" name="Picture 8" descr="rees46_sessions_per_user.png"/>
          <p:cNvPicPr>
            <a:picLocks noChangeAspect="1"/>
          </p:cNvPicPr>
          <p:nvPr/>
        </p:nvPicPr>
        <p:blipFill>
          <a:blip r:embed="rId3"/>
          <a:stretch>
            <a:fillRect/>
          </a:stretch>
        </p:blipFill>
        <p:spPr>
          <a:xfrm>
            <a:off x="6263640" y="1600200"/>
            <a:ext cx="3886200" cy="2184921"/>
          </a:xfrm>
          <a:prstGeom prst="rect">
            <a:avLst/>
          </a:prstGeom>
        </p:spPr>
      </p:pic>
      <p:sp>
        <p:nvSpPr>
          <p:cNvPr id="10" name="TextBox 9"/>
          <p:cNvSpPr txBox="1"/>
          <p:nvPr/>
        </p:nvSpPr>
        <p:spPr>
          <a:xfrm>
            <a:off x="10195560" y="2331720"/>
            <a:ext cx="1600200" cy="1554480"/>
          </a:xfrm>
          <a:prstGeom prst="rect">
            <a:avLst/>
          </a:prstGeom>
          <a:noFill/>
        </p:spPr>
        <p:txBody>
          <a:bodyPr wrap="square" anchor="t" lIns="45720" rIns="45720">
            <a:spAutoFit/>
          </a:bodyPr>
          <a:lstStyle/>
          <a:p>
            <a:pPr algn="l"/>
            <a:r>
              <a:rPr sz="1300" b="0" i="0">
                <a:solidFill>
                  <a:srgbClr val="262626"/>
                </a:solidFill>
                <a:latin typeface="Calibri"/>
              </a:rPr>
              <a:t>Sessions per user: median 2</a:t>
            </a:r>
          </a:p>
        </p:txBody>
      </p:sp>
      <p:pic>
        <p:nvPicPr>
          <p:cNvPr id="11" name="Picture 10" descr="rees46_events_per_session.png"/>
          <p:cNvPicPr>
            <a:picLocks noChangeAspect="1"/>
          </p:cNvPicPr>
          <p:nvPr/>
        </p:nvPicPr>
        <p:blipFill>
          <a:blip r:embed="rId4"/>
          <a:stretch>
            <a:fillRect/>
          </a:stretch>
        </p:blipFill>
        <p:spPr>
          <a:xfrm>
            <a:off x="685800" y="4114800"/>
            <a:ext cx="3886200" cy="2176045"/>
          </a:xfrm>
          <a:prstGeom prst="rect">
            <a:avLst/>
          </a:prstGeom>
        </p:spPr>
      </p:pic>
      <p:sp>
        <p:nvSpPr>
          <p:cNvPr id="12" name="TextBox 11"/>
          <p:cNvSpPr txBox="1"/>
          <p:nvPr/>
        </p:nvSpPr>
        <p:spPr>
          <a:xfrm>
            <a:off x="4617720" y="4846320"/>
            <a:ext cx="1600200" cy="1554480"/>
          </a:xfrm>
          <a:prstGeom prst="rect">
            <a:avLst/>
          </a:prstGeom>
          <a:noFill/>
        </p:spPr>
        <p:txBody>
          <a:bodyPr wrap="square" anchor="t" lIns="45720" rIns="45720">
            <a:spAutoFit/>
          </a:bodyPr>
          <a:lstStyle/>
          <a:p>
            <a:pPr algn="l"/>
            <a:r>
              <a:rPr sz="1300" b="0" i="0">
                <a:solidFill>
                  <a:srgbClr val="262626"/>
                </a:solidFill>
                <a:latin typeface="Calibri"/>
              </a:rPr>
              <a:t>Events per session: median 2, long tail</a:t>
            </a:r>
          </a:p>
        </p:txBody>
      </p:sp>
      <p:pic>
        <p:nvPicPr>
          <p:cNvPr id="13" name="Picture 12" descr="rees46_prices.png"/>
          <p:cNvPicPr>
            <a:picLocks noChangeAspect="1"/>
          </p:cNvPicPr>
          <p:nvPr/>
        </p:nvPicPr>
        <p:blipFill>
          <a:blip r:embed="rId5"/>
          <a:stretch>
            <a:fillRect/>
          </a:stretch>
        </p:blipFill>
        <p:spPr>
          <a:xfrm>
            <a:off x="6263640" y="4114800"/>
            <a:ext cx="3886200" cy="2176045"/>
          </a:xfrm>
          <a:prstGeom prst="rect">
            <a:avLst/>
          </a:prstGeom>
        </p:spPr>
      </p:pic>
      <p:sp>
        <p:nvSpPr>
          <p:cNvPr id="14" name="TextBox 13"/>
          <p:cNvSpPr txBox="1"/>
          <p:nvPr/>
        </p:nvSpPr>
        <p:spPr>
          <a:xfrm>
            <a:off x="10195560" y="4846320"/>
            <a:ext cx="1600200" cy="1554480"/>
          </a:xfrm>
          <a:prstGeom prst="rect">
            <a:avLst/>
          </a:prstGeom>
          <a:noFill/>
        </p:spPr>
        <p:txBody>
          <a:bodyPr wrap="square" anchor="t" lIns="45720" rIns="45720">
            <a:spAutoFit/>
          </a:bodyPr>
          <a:lstStyle/>
          <a:p>
            <a:pPr algn="l"/>
            <a:r>
              <a:rPr sz="1300" b="0" i="0">
                <a:solidFill>
                  <a:srgbClr val="262626"/>
                </a:solidFill>
                <a:latin typeface="Calibri"/>
              </a:rPr>
              <a:t>Product prices: median 163.97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anchor="b" lIns="45720" rIns="45720">
            <a:spAutoFit/>
          </a:bodyPr>
          <a:lstStyle/>
          <a:p>
            <a:pPr algn="l"/>
            <a:r>
              <a:rPr sz="3000" b="1" i="0">
                <a:solidFill>
                  <a:srgbClr val="1F3864"/>
                </a:solidFill>
                <a:latin typeface="Calibri"/>
              </a:rPr>
              <a:t>The research journey: 14 phases in five months</a:t>
            </a:r>
          </a:p>
        </p:txBody>
      </p:sp>
      <p:cxnSp>
        <p:nvCxnSpPr>
          <p:cNvPr id="3" name="Connector 2"/>
          <p:cNvCxnSpPr/>
          <p:nvPr/>
        </p:nvCxnSpPr>
        <p:spPr>
          <a:xfrm>
            <a:off x="548640" y="1005840"/>
            <a:ext cx="11094415"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1060704"/>
            <a:ext cx="11155680" cy="457200"/>
          </a:xfrm>
          <a:prstGeom prst="rect">
            <a:avLst/>
          </a:prstGeom>
          <a:noFill/>
        </p:spPr>
        <p:txBody>
          <a:bodyPr wrap="square" anchor="t" lIns="45720" rIns="45720">
            <a:spAutoFit/>
          </a:bodyPr>
          <a:lstStyle/>
          <a:p>
            <a:pPr algn="l"/>
            <a:r>
              <a:rPr sz="1600" b="0" i="1">
                <a:solidFill>
                  <a:srgbClr val="595959"/>
                </a:solidFill>
                <a:latin typeface="Calibri"/>
              </a:rPr>
              <a:t>From the proposal to the final consolidation</a:t>
            </a:r>
          </a:p>
        </p:txBody>
      </p:sp>
      <p:sp>
        <p:nvSpPr>
          <p:cNvPr id="5" name="TextBox 4"/>
          <p:cNvSpPr txBox="1"/>
          <p:nvPr/>
        </p:nvSpPr>
        <p:spPr>
          <a:xfrm>
            <a:off x="548640" y="6446520"/>
            <a:ext cx="8229600" cy="274320"/>
          </a:xfrm>
          <a:prstGeom prst="rect">
            <a:avLst/>
          </a:prstGeom>
          <a:noFill/>
        </p:spPr>
        <p:txBody>
          <a:bodyPr wrap="square" anchor="ctr" lIns="45720" rIns="45720">
            <a:spAutoFit/>
          </a:bodyPr>
          <a:lstStyle/>
          <a:p>
            <a:pPr algn="l"/>
            <a:r>
              <a:rPr sz="1000" b="0" i="0">
                <a:solidFill>
                  <a:srgbClr val="595959"/>
                </a:solidFill>
                <a:latin typeface="Calibri"/>
              </a:rPr>
              <a:t>Privacy-Preserving Shopping Intelligence  |  MSc Final Presentation, Queen's University</a:t>
            </a:r>
          </a:p>
        </p:txBody>
      </p:sp>
      <p:sp>
        <p:nvSpPr>
          <p:cNvPr id="6" name="TextBox 5"/>
          <p:cNvSpPr txBox="1"/>
          <p:nvPr/>
        </p:nvSpPr>
        <p:spPr>
          <a:xfrm>
            <a:off x="10728655" y="6446520"/>
            <a:ext cx="914400" cy="274320"/>
          </a:xfrm>
          <a:prstGeom prst="rect">
            <a:avLst/>
          </a:prstGeom>
          <a:noFill/>
        </p:spPr>
        <p:txBody>
          <a:bodyPr wrap="square" anchor="ctr" lIns="45720" rIns="45720">
            <a:spAutoFit/>
          </a:bodyPr>
          <a:lstStyle/>
          <a:p>
            <a:pPr algn="r"/>
            <a:r>
              <a:rPr sz="1100" b="0" i="0">
                <a:solidFill>
                  <a:srgbClr val="595959"/>
                </a:solidFill>
                <a:latin typeface="Calibri"/>
              </a:rPr>
              <a:t>6</a:t>
            </a:r>
          </a:p>
        </p:txBody>
      </p:sp>
      <p:pic>
        <p:nvPicPr>
          <p:cNvPr id="7" name="Picture 6" descr="d6_journey.png"/>
          <p:cNvPicPr>
            <a:picLocks noChangeAspect="1"/>
          </p:cNvPicPr>
          <p:nvPr/>
        </p:nvPicPr>
        <p:blipFill>
          <a:blip r:embed="rId2"/>
          <a:stretch>
            <a:fillRect/>
          </a:stretch>
        </p:blipFill>
        <p:spPr>
          <a:xfrm>
            <a:off x="320040" y="1828800"/>
            <a:ext cx="11521440" cy="1975293"/>
          </a:xfrm>
          <a:prstGeom prst="rect">
            <a:avLst/>
          </a:prstGeom>
        </p:spPr>
      </p:pic>
      <p:sp>
        <p:nvSpPr>
          <p:cNvPr id="8" name="TextBox 7"/>
          <p:cNvSpPr txBox="1"/>
          <p:nvPr/>
        </p:nvSpPr>
        <p:spPr>
          <a:xfrm>
            <a:off x="548640" y="5120640"/>
            <a:ext cx="11064240" cy="1097280"/>
          </a:xfrm>
          <a:prstGeom prst="rect">
            <a:avLst/>
          </a:prstGeom>
          <a:noFill/>
        </p:spPr>
        <p:txBody>
          <a:bodyPr wrap="square" anchor="t" lIns="45720" rIns="45720">
            <a:spAutoFit/>
          </a:bodyPr>
          <a:lstStyle/>
          <a:p>
            <a:pPr algn="l"/>
            <a:r>
              <a:rPr sz="1600" b="0" i="1">
                <a:solidFill>
                  <a:srgbClr val="595959"/>
                </a:solidFill>
                <a:latin typeface="Calibri"/>
              </a:rPr>
              <a:t>Each phase answered a question raised by the previous one: prototype → stronger backbone → tuned federated recipe → sealed confirmatory test → diagnosis of why federation added nothing → fixed recipe, privacy and device studies → closure.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anchor="b" lIns="45720" rIns="45720">
            <a:spAutoFit/>
          </a:bodyPr>
          <a:lstStyle/>
          <a:p>
            <a:pPr algn="l"/>
            <a:r>
              <a:rPr sz="3000" b="1" i="0">
                <a:solidFill>
                  <a:srgbClr val="1F3864"/>
                </a:solidFill>
                <a:latin typeface="Calibri"/>
              </a:rPr>
              <a:t>System architecture</a:t>
            </a:r>
          </a:p>
        </p:txBody>
      </p:sp>
      <p:cxnSp>
        <p:nvCxnSpPr>
          <p:cNvPr id="3" name="Connector 2"/>
          <p:cNvCxnSpPr/>
          <p:nvPr/>
        </p:nvCxnSpPr>
        <p:spPr>
          <a:xfrm>
            <a:off x="548640" y="1005840"/>
            <a:ext cx="11094415"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1060704"/>
            <a:ext cx="11155680" cy="457200"/>
          </a:xfrm>
          <a:prstGeom prst="rect">
            <a:avLst/>
          </a:prstGeom>
          <a:noFill/>
        </p:spPr>
        <p:txBody>
          <a:bodyPr wrap="square" anchor="t" lIns="45720" rIns="45720">
            <a:spAutoFit/>
          </a:bodyPr>
          <a:lstStyle/>
          <a:p>
            <a:pPr algn="l"/>
            <a:r>
              <a:rPr sz="1600" b="0" i="1">
                <a:solidFill>
                  <a:srgbClr val="595959"/>
                </a:solidFill>
                <a:latin typeface="Calibri"/>
              </a:rPr>
              <a:t>Data → training → evaluation → deployment and governance</a:t>
            </a:r>
          </a:p>
        </p:txBody>
      </p:sp>
      <p:sp>
        <p:nvSpPr>
          <p:cNvPr id="5" name="TextBox 4"/>
          <p:cNvSpPr txBox="1"/>
          <p:nvPr/>
        </p:nvSpPr>
        <p:spPr>
          <a:xfrm>
            <a:off x="548640" y="6446520"/>
            <a:ext cx="8229600" cy="274320"/>
          </a:xfrm>
          <a:prstGeom prst="rect">
            <a:avLst/>
          </a:prstGeom>
          <a:noFill/>
        </p:spPr>
        <p:txBody>
          <a:bodyPr wrap="square" anchor="ctr" lIns="45720" rIns="45720">
            <a:spAutoFit/>
          </a:bodyPr>
          <a:lstStyle/>
          <a:p>
            <a:pPr algn="l"/>
            <a:r>
              <a:rPr sz="1000" b="0" i="0">
                <a:solidFill>
                  <a:srgbClr val="595959"/>
                </a:solidFill>
                <a:latin typeface="Calibri"/>
              </a:rPr>
              <a:t>Privacy-Preserving Shopping Intelligence  |  MSc Final Presentation, Queen's University</a:t>
            </a:r>
          </a:p>
        </p:txBody>
      </p:sp>
      <p:sp>
        <p:nvSpPr>
          <p:cNvPr id="6" name="TextBox 5"/>
          <p:cNvSpPr txBox="1"/>
          <p:nvPr/>
        </p:nvSpPr>
        <p:spPr>
          <a:xfrm>
            <a:off x="10728655" y="6446520"/>
            <a:ext cx="914400" cy="274320"/>
          </a:xfrm>
          <a:prstGeom prst="rect">
            <a:avLst/>
          </a:prstGeom>
          <a:noFill/>
        </p:spPr>
        <p:txBody>
          <a:bodyPr wrap="square" anchor="ctr" lIns="45720" rIns="45720">
            <a:spAutoFit/>
          </a:bodyPr>
          <a:lstStyle/>
          <a:p>
            <a:pPr algn="r"/>
            <a:r>
              <a:rPr sz="1100" b="0" i="0">
                <a:solidFill>
                  <a:srgbClr val="595959"/>
                </a:solidFill>
                <a:latin typeface="Calibri"/>
              </a:rPr>
              <a:t>7</a:t>
            </a:r>
          </a:p>
        </p:txBody>
      </p:sp>
      <p:pic>
        <p:nvPicPr>
          <p:cNvPr id="7" name="Picture 6" descr="d2_system_architecture.png"/>
          <p:cNvPicPr>
            <a:picLocks noChangeAspect="1"/>
          </p:cNvPicPr>
          <p:nvPr/>
        </p:nvPicPr>
        <p:blipFill>
          <a:blip r:embed="rId2"/>
          <a:stretch>
            <a:fillRect/>
          </a:stretch>
        </p:blipFill>
        <p:spPr>
          <a:xfrm>
            <a:off x="1463040" y="1600200"/>
            <a:ext cx="7971639" cy="48006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anchor="b" lIns="45720" rIns="45720">
            <a:spAutoFit/>
          </a:bodyPr>
          <a:lstStyle/>
          <a:p>
            <a:pPr algn="l"/>
            <a:r>
              <a:rPr sz="3000" b="1" i="0">
                <a:solidFill>
                  <a:srgbClr val="1F3864"/>
                </a:solidFill>
                <a:latin typeface="Calibri"/>
              </a:rPr>
              <a:t>The prototype stage and the system workstream</a:t>
            </a:r>
          </a:p>
        </p:txBody>
      </p:sp>
      <p:cxnSp>
        <p:nvCxnSpPr>
          <p:cNvPr id="3" name="Connector 2"/>
          <p:cNvCxnSpPr/>
          <p:nvPr/>
        </p:nvCxnSpPr>
        <p:spPr>
          <a:xfrm>
            <a:off x="548640" y="1005840"/>
            <a:ext cx="11094415"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46520"/>
            <a:ext cx="8229600" cy="274320"/>
          </a:xfrm>
          <a:prstGeom prst="rect">
            <a:avLst/>
          </a:prstGeom>
          <a:noFill/>
        </p:spPr>
        <p:txBody>
          <a:bodyPr wrap="square" anchor="ctr" lIns="45720" rIns="45720">
            <a:spAutoFit/>
          </a:bodyPr>
          <a:lstStyle/>
          <a:p>
            <a:pPr algn="l"/>
            <a:r>
              <a:rPr sz="1000" b="0" i="0">
                <a:solidFill>
                  <a:srgbClr val="595959"/>
                </a:solidFill>
                <a:latin typeface="Calibri"/>
              </a:rPr>
              <a:t>Privacy-Preserving Shopping Intelligence  |  MSc Final Presentation, Queen's University</a:t>
            </a:r>
          </a:p>
        </p:txBody>
      </p:sp>
      <p:sp>
        <p:nvSpPr>
          <p:cNvPr id="5" name="TextBox 4"/>
          <p:cNvSpPr txBox="1"/>
          <p:nvPr/>
        </p:nvSpPr>
        <p:spPr>
          <a:xfrm>
            <a:off x="10728655" y="6446520"/>
            <a:ext cx="914400" cy="274320"/>
          </a:xfrm>
          <a:prstGeom prst="rect">
            <a:avLst/>
          </a:prstGeom>
          <a:noFill/>
        </p:spPr>
        <p:txBody>
          <a:bodyPr wrap="square" anchor="ctr" lIns="45720" rIns="45720">
            <a:spAutoFit/>
          </a:bodyPr>
          <a:lstStyle/>
          <a:p>
            <a:pPr algn="r"/>
            <a:r>
              <a:rPr sz="1100" b="0" i="0">
                <a:solidFill>
                  <a:srgbClr val="595959"/>
                </a:solidFill>
                <a:latin typeface="Calibri"/>
              </a:rPr>
              <a:t>8</a:t>
            </a:r>
          </a:p>
        </p:txBody>
      </p:sp>
      <p:sp>
        <p:nvSpPr>
          <p:cNvPr id="6" name="TextBox 5"/>
          <p:cNvSpPr txBox="1"/>
          <p:nvPr/>
        </p:nvSpPr>
        <p:spPr>
          <a:xfrm>
            <a:off x="548640" y="1325880"/>
            <a:ext cx="5486400" cy="411480"/>
          </a:xfrm>
          <a:prstGeom prst="rect">
            <a:avLst/>
          </a:prstGeom>
          <a:noFill/>
        </p:spPr>
        <p:txBody>
          <a:bodyPr wrap="square" anchor="t" lIns="45720" rIns="45720">
            <a:spAutoFit/>
          </a:bodyPr>
          <a:lstStyle/>
          <a:p>
            <a:pPr algn="l"/>
            <a:r>
              <a:rPr sz="1700" b="1" i="0">
                <a:solidFill>
                  <a:srgbClr val="1F3864"/>
                </a:solidFill>
                <a:latin typeface="Calibri"/>
              </a:rPr>
              <a:t>Prototype stage (Aug–Sep 2026)</a:t>
            </a:r>
          </a:p>
        </p:txBody>
      </p:sp>
      <p:sp>
        <p:nvSpPr>
          <p:cNvPr id="7" name="TextBox 6"/>
          <p:cNvSpPr txBox="1"/>
          <p:nvPr/>
        </p:nvSpPr>
        <p:spPr>
          <a:xfrm>
            <a:off x="548640" y="1783080"/>
            <a:ext cx="5486400" cy="4343400"/>
          </a:xfrm>
          <a:prstGeom prst="rect">
            <a:avLst/>
          </a:prstGeom>
          <a:noFill/>
        </p:spPr>
        <p:txBody>
          <a:bodyPr wrap="square">
            <a:spAutoFit/>
          </a:bodyPr>
          <a:lstStyle/>
          <a:p>
            <a:pPr>
              <a:spcAft>
                <a:spcPts val="700"/>
              </a:spcAft>
            </a:pPr>
            <a:r>
              <a:rPr sz="1500">
                <a:solidFill>
                  <a:srgbClr val="595959"/>
                </a:solidFill>
                <a:latin typeface="Calibri"/>
              </a:rPr>
              <a:t>•  </a:t>
            </a:r>
            <a:r>
              <a:rPr sz="1500" b="0">
                <a:solidFill>
                  <a:srgbClr val="262626"/>
                </a:solidFill>
                <a:latin typeface="Calibri"/>
              </a:rPr>
              <a:t>Raw October log: 42.4M events → Parquet → canonical events</a:t>
            </a:r>
          </a:p>
          <a:p>
            <a:pPr>
              <a:spcAft>
                <a:spcPts val="700"/>
              </a:spcAft>
            </a:pPr>
            <a:r>
              <a:rPr sz="1500">
                <a:solidFill>
                  <a:srgbClr val="595959"/>
                </a:solidFill>
                <a:latin typeface="Calibri"/>
              </a:rPr>
              <a:t>•  </a:t>
            </a:r>
            <a:r>
              <a:rPr sz="1500" b="0">
                <a:solidFill>
                  <a:srgbClr val="262626"/>
                </a:solidFill>
                <a:latin typeface="Calibri"/>
              </a:rPr>
              <a:t>Cohort of 388,789 clients; sealed TEST window</a:t>
            </a:r>
          </a:p>
          <a:p>
            <a:pPr>
              <a:spcAft>
                <a:spcPts val="700"/>
              </a:spcAft>
            </a:pPr>
            <a:r>
              <a:rPr sz="1500">
                <a:solidFill>
                  <a:srgbClr val="595959"/>
                </a:solidFill>
                <a:latin typeface="Calibri"/>
              </a:rPr>
              <a:t>•  </a:t>
            </a:r>
            <a:r>
              <a:rPr sz="1500" b="0">
                <a:solidFill>
                  <a:srgbClr val="262626"/>
                </a:solidFill>
                <a:latin typeface="Calibri"/>
              </a:rPr>
              <a:t>Three tasks (next category, purchase, re-rank)</a:t>
            </a:r>
          </a:p>
          <a:p>
            <a:pPr>
              <a:spcAft>
                <a:spcPts val="700"/>
              </a:spcAft>
            </a:pPr>
            <a:r>
              <a:rPr sz="1500">
                <a:solidFill>
                  <a:srgbClr val="595959"/>
                </a:solidFill>
                <a:latin typeface="Calibri"/>
              </a:rPr>
              <a:t>•  </a:t>
            </a:r>
            <a:r>
              <a:rPr sz="1500" b="0">
                <a:solidFill>
                  <a:srgbClr val="262626"/>
                </a:solidFill>
                <a:latin typeface="Calibri"/>
              </a:rPr>
              <a:t>The GRU model beat the transition-table baseline</a:t>
            </a:r>
          </a:p>
          <a:p>
            <a:pPr>
              <a:spcAft>
                <a:spcPts val="700"/>
              </a:spcAft>
            </a:pPr>
            <a:r>
              <a:rPr sz="1500">
                <a:solidFill>
                  <a:srgbClr val="595959"/>
                </a:solidFill>
                <a:latin typeface="Calibri"/>
              </a:rPr>
              <a:t>•  </a:t>
            </a:r>
            <a:r>
              <a:rPr sz="1500" b="0">
                <a:solidFill>
                  <a:srgbClr val="262626"/>
                </a:solidFill>
                <a:latin typeface="Calibri"/>
              </a:rPr>
              <a:t>Federated plumbing with Flower; pilot retention </a:t>
            </a:r>
            <a:r>
              <a:rPr sz="1500" b="1">
                <a:solidFill>
                  <a:srgbClr val="262626"/>
                </a:solidFill>
                <a:latin typeface="Calibri"/>
              </a:rPr>
              <a:t>88.38%</a:t>
            </a:r>
            <a:r>
              <a:rPr sz="1500" b="0">
                <a:solidFill>
                  <a:srgbClr val="262626"/>
                </a:solidFill>
                <a:latin typeface="Calibri"/>
              </a:rPr>
              <a:t> (validation)</a:t>
            </a:r>
          </a:p>
          <a:p>
            <a:pPr>
              <a:spcAft>
                <a:spcPts val="700"/>
              </a:spcAft>
            </a:pPr>
            <a:r>
              <a:rPr sz="1500">
                <a:solidFill>
                  <a:srgbClr val="595959"/>
                </a:solidFill>
                <a:latin typeface="Calibri"/>
              </a:rPr>
              <a:t>•  </a:t>
            </a:r>
            <a:r>
              <a:rPr sz="1500" b="0">
                <a:solidFill>
                  <a:srgbClr val="262626"/>
                </a:solidFill>
                <a:latin typeface="Calibri"/>
              </a:rPr>
              <a:t>Lesson: a label defect and evaluator conventions → need a stronger protocol</a:t>
            </a:r>
          </a:p>
        </p:txBody>
      </p:sp>
      <p:sp>
        <p:nvSpPr>
          <p:cNvPr id="8" name="TextBox 7"/>
          <p:cNvSpPr txBox="1"/>
          <p:nvPr/>
        </p:nvSpPr>
        <p:spPr>
          <a:xfrm>
            <a:off x="6217920" y="1325880"/>
            <a:ext cx="5440680" cy="411480"/>
          </a:xfrm>
          <a:prstGeom prst="rect">
            <a:avLst/>
          </a:prstGeom>
          <a:noFill/>
        </p:spPr>
        <p:txBody>
          <a:bodyPr wrap="square" anchor="t" lIns="45720" rIns="45720">
            <a:spAutoFit/>
          </a:bodyPr>
          <a:lstStyle/>
          <a:p>
            <a:pPr algn="l"/>
            <a:r>
              <a:rPr sz="1700" b="1" i="0">
                <a:solidFill>
                  <a:srgbClr val="1F3864"/>
                </a:solidFill>
                <a:latin typeface="Calibri"/>
              </a:rPr>
              <a:t>System, deployment &amp; security workstream</a:t>
            </a:r>
          </a:p>
        </p:txBody>
      </p:sp>
      <p:sp>
        <p:nvSpPr>
          <p:cNvPr id="9" name="TextBox 8"/>
          <p:cNvSpPr txBox="1"/>
          <p:nvPr/>
        </p:nvSpPr>
        <p:spPr>
          <a:xfrm>
            <a:off x="6217920" y="1783080"/>
            <a:ext cx="5440680" cy="4343400"/>
          </a:xfrm>
          <a:prstGeom prst="rect">
            <a:avLst/>
          </a:prstGeom>
          <a:noFill/>
        </p:spPr>
        <p:txBody>
          <a:bodyPr wrap="square">
            <a:spAutoFit/>
          </a:bodyPr>
          <a:lstStyle/>
          <a:p>
            <a:pPr>
              <a:spcAft>
                <a:spcPts val="700"/>
              </a:spcAft>
            </a:pPr>
            <a:r>
              <a:rPr sz="1500">
                <a:solidFill>
                  <a:srgbClr val="595959"/>
                </a:solidFill>
                <a:latin typeface="Calibri"/>
              </a:rPr>
              <a:t>•  </a:t>
            </a:r>
            <a:r>
              <a:rPr sz="1500" b="0">
                <a:solidFill>
                  <a:srgbClr val="262626"/>
                </a:solidFill>
                <a:latin typeface="Calibri"/>
              </a:rPr>
              <a:t>blake2b-64 hashed identifiers; price bands; capped log time gaps</a:t>
            </a:r>
          </a:p>
          <a:p>
            <a:pPr>
              <a:spcAft>
                <a:spcPts val="700"/>
              </a:spcAft>
            </a:pPr>
            <a:r>
              <a:rPr sz="1500">
                <a:solidFill>
                  <a:srgbClr val="595959"/>
                </a:solidFill>
                <a:latin typeface="Calibri"/>
              </a:rPr>
              <a:t>•  </a:t>
            </a:r>
            <a:r>
              <a:rPr sz="1500" b="0">
                <a:solidFill>
                  <a:srgbClr val="262626"/>
                </a:solidFill>
                <a:latin typeface="Calibri"/>
              </a:rPr>
              <a:t>ONNX export (opset 17) with a dynamic-batch fix</a:t>
            </a:r>
          </a:p>
          <a:p>
            <a:pPr>
              <a:spcAft>
                <a:spcPts val="700"/>
              </a:spcAft>
            </a:pPr>
            <a:r>
              <a:rPr sz="1500">
                <a:solidFill>
                  <a:srgbClr val="595959"/>
                </a:solidFill>
                <a:latin typeface="Calibri"/>
              </a:rPr>
              <a:t>•  </a:t>
            </a:r>
            <a:r>
              <a:rPr sz="1500" b="0">
                <a:solidFill>
                  <a:srgbClr val="262626"/>
                </a:solidFill>
                <a:latin typeface="Calibri"/>
              </a:rPr>
              <a:t>INT8 dynamic quantisation + benchmark</a:t>
            </a:r>
          </a:p>
          <a:p>
            <a:pPr>
              <a:spcAft>
                <a:spcPts val="700"/>
              </a:spcAft>
            </a:pPr>
            <a:r>
              <a:rPr sz="1500">
                <a:solidFill>
                  <a:srgbClr val="595959"/>
                </a:solidFill>
                <a:latin typeface="Calibri"/>
              </a:rPr>
              <a:t>•  </a:t>
            </a:r>
            <a:r>
              <a:rPr sz="1500" b="0">
                <a:solidFill>
                  <a:srgbClr val="262626"/>
                </a:solidFill>
                <a:latin typeface="Calibri"/>
              </a:rPr>
              <a:t>Communication byte ledger per round</a:t>
            </a:r>
          </a:p>
          <a:p>
            <a:pPr>
              <a:spcAft>
                <a:spcPts val="700"/>
              </a:spcAft>
            </a:pPr>
            <a:r>
              <a:rPr sz="1500">
                <a:solidFill>
                  <a:srgbClr val="595959"/>
                </a:solidFill>
                <a:latin typeface="Calibri"/>
              </a:rPr>
              <a:t>•  </a:t>
            </a:r>
            <a:r>
              <a:rPr sz="1500" b="0">
                <a:solidFill>
                  <a:srgbClr val="262626"/>
                </a:solidFill>
                <a:latin typeface="Calibri"/>
              </a:rPr>
              <a:t>Quality-retention registry</a:t>
            </a:r>
          </a:p>
          <a:p>
            <a:pPr>
              <a:spcAft>
                <a:spcPts val="700"/>
              </a:spcAft>
            </a:pPr>
            <a:r>
              <a:rPr sz="1500">
                <a:solidFill>
                  <a:srgbClr val="595959"/>
                </a:solidFill>
                <a:latin typeface="Calibri"/>
              </a:rPr>
              <a:t>•  </a:t>
            </a:r>
            <a:r>
              <a:rPr sz="1500" b="0">
                <a:solidFill>
                  <a:srgbClr val="262626"/>
                </a:solidFill>
                <a:latin typeface="Calibri"/>
              </a:rPr>
              <a:t>Threat model, secret handling, CI with a lock-file check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anchor="b" lIns="45720" rIns="45720">
            <a:spAutoFit/>
          </a:bodyPr>
          <a:lstStyle/>
          <a:p>
            <a:pPr algn="l"/>
            <a:r>
              <a:rPr sz="3000" b="1" i="0">
                <a:solidFill>
                  <a:srgbClr val="1F3864"/>
                </a:solidFill>
                <a:latin typeface="Calibri"/>
              </a:rPr>
              <a:t>Main study: backbone contest and the gated test protocol</a:t>
            </a:r>
          </a:p>
        </p:txBody>
      </p:sp>
      <p:cxnSp>
        <p:nvCxnSpPr>
          <p:cNvPr id="3" name="Connector 2"/>
          <p:cNvCxnSpPr/>
          <p:nvPr/>
        </p:nvCxnSpPr>
        <p:spPr>
          <a:xfrm>
            <a:off x="548640" y="1005840"/>
            <a:ext cx="11094415"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46520"/>
            <a:ext cx="8229600" cy="274320"/>
          </a:xfrm>
          <a:prstGeom prst="rect">
            <a:avLst/>
          </a:prstGeom>
          <a:noFill/>
        </p:spPr>
        <p:txBody>
          <a:bodyPr wrap="square" anchor="ctr" lIns="45720" rIns="45720">
            <a:spAutoFit/>
          </a:bodyPr>
          <a:lstStyle/>
          <a:p>
            <a:pPr algn="l"/>
            <a:r>
              <a:rPr sz="1000" b="0" i="0">
                <a:solidFill>
                  <a:srgbClr val="595959"/>
                </a:solidFill>
                <a:latin typeface="Calibri"/>
              </a:rPr>
              <a:t>Privacy-Preserving Shopping Intelligence  |  MSc Final Presentation, Queen's University</a:t>
            </a:r>
          </a:p>
        </p:txBody>
      </p:sp>
      <p:sp>
        <p:nvSpPr>
          <p:cNvPr id="5" name="TextBox 4"/>
          <p:cNvSpPr txBox="1"/>
          <p:nvPr/>
        </p:nvSpPr>
        <p:spPr>
          <a:xfrm>
            <a:off x="10728655" y="6446520"/>
            <a:ext cx="914400" cy="274320"/>
          </a:xfrm>
          <a:prstGeom prst="rect">
            <a:avLst/>
          </a:prstGeom>
          <a:noFill/>
        </p:spPr>
        <p:txBody>
          <a:bodyPr wrap="square" anchor="ctr" lIns="45720" rIns="45720">
            <a:spAutoFit/>
          </a:bodyPr>
          <a:lstStyle/>
          <a:p>
            <a:pPr algn="r"/>
            <a:r>
              <a:rPr sz="1100" b="0" i="0">
                <a:solidFill>
                  <a:srgbClr val="595959"/>
                </a:solidFill>
                <a:latin typeface="Calibri"/>
              </a:rPr>
              <a:t>9</a:t>
            </a:r>
          </a:p>
        </p:txBody>
      </p:sp>
      <p:sp>
        <p:nvSpPr>
          <p:cNvPr id="6" name="TextBox 5"/>
          <p:cNvSpPr txBox="1"/>
          <p:nvPr/>
        </p:nvSpPr>
        <p:spPr>
          <a:xfrm>
            <a:off x="548640" y="1280160"/>
            <a:ext cx="4023360" cy="411480"/>
          </a:xfrm>
          <a:prstGeom prst="rect">
            <a:avLst/>
          </a:prstGeom>
          <a:noFill/>
        </p:spPr>
        <p:txBody>
          <a:bodyPr wrap="square" anchor="t" lIns="45720" rIns="45720">
            <a:spAutoFit/>
          </a:bodyPr>
          <a:lstStyle/>
          <a:p>
            <a:pPr algn="l"/>
            <a:r>
              <a:rPr sz="1700" b="1" i="0">
                <a:solidFill>
                  <a:srgbClr val="1F3864"/>
                </a:solidFill>
                <a:latin typeface="Calibri"/>
              </a:rPr>
              <a:t>Backbone contest (validation)</a:t>
            </a:r>
          </a:p>
        </p:txBody>
      </p:sp>
      <p:sp>
        <p:nvSpPr>
          <p:cNvPr id="7" name="TextBox 6"/>
          <p:cNvSpPr txBox="1"/>
          <p:nvPr/>
        </p:nvSpPr>
        <p:spPr>
          <a:xfrm>
            <a:off x="548640" y="1737360"/>
            <a:ext cx="4023360" cy="1874520"/>
          </a:xfrm>
          <a:prstGeom prst="rect">
            <a:avLst/>
          </a:prstGeom>
          <a:noFill/>
        </p:spPr>
        <p:txBody>
          <a:bodyPr wrap="square">
            <a:spAutoFit/>
          </a:bodyPr>
          <a:lstStyle/>
          <a:p>
            <a:pPr>
              <a:spcAft>
                <a:spcPts val="700"/>
              </a:spcAft>
            </a:pPr>
            <a:r>
              <a:rPr sz="1500">
                <a:solidFill>
                  <a:srgbClr val="595959"/>
                </a:solidFill>
                <a:latin typeface="Calibri"/>
              </a:rPr>
              <a:t>•  </a:t>
            </a:r>
            <a:r>
              <a:rPr sz="1500" b="0">
                <a:solidFill>
                  <a:srgbClr val="262626"/>
                </a:solidFill>
                <a:latin typeface="Calibri"/>
              </a:rPr>
              <a:t>GRU family mean 0.1569</a:t>
            </a:r>
          </a:p>
          <a:p>
            <a:pPr>
              <a:spcAft>
                <a:spcPts val="700"/>
              </a:spcAft>
            </a:pPr>
            <a:r>
              <a:rPr sz="1500">
                <a:solidFill>
                  <a:srgbClr val="595959"/>
                </a:solidFill>
                <a:latin typeface="Calibri"/>
              </a:rPr>
              <a:t>•  </a:t>
            </a:r>
            <a:r>
              <a:rPr sz="1500" b="0">
                <a:solidFill>
                  <a:srgbClr val="262626"/>
                </a:solidFill>
                <a:latin typeface="Calibri"/>
              </a:rPr>
              <a:t>SASRec family mean 0.1612</a:t>
            </a:r>
          </a:p>
          <a:p>
            <a:pPr>
              <a:spcAft>
                <a:spcPts val="700"/>
              </a:spcAft>
            </a:pPr>
            <a:r>
              <a:rPr sz="1500">
                <a:solidFill>
                  <a:srgbClr val="595959"/>
                </a:solidFill>
                <a:latin typeface="Calibri"/>
              </a:rPr>
              <a:t>•  </a:t>
            </a:r>
            <a:r>
              <a:rPr sz="1500" b="0">
                <a:solidFill>
                  <a:srgbClr val="262626"/>
                </a:solidFill>
                <a:latin typeface="Calibri"/>
              </a:rPr>
              <a:t>Outcome DECISIVE_STABLE → architecture lock on SASRec</a:t>
            </a:r>
          </a:p>
        </p:txBody>
      </p:sp>
      <p:pic>
        <p:nvPicPr>
          <p:cNvPr id="8" name="Picture 7" descr="d5_gated_protocol.png"/>
          <p:cNvPicPr>
            <a:picLocks noChangeAspect="1"/>
          </p:cNvPicPr>
          <p:nvPr/>
        </p:nvPicPr>
        <p:blipFill>
          <a:blip r:embed="rId2"/>
          <a:stretch>
            <a:fillRect/>
          </a:stretch>
        </p:blipFill>
        <p:spPr>
          <a:xfrm>
            <a:off x="4754880" y="1325880"/>
            <a:ext cx="7132320" cy="1894015"/>
          </a:xfrm>
          <a:prstGeom prst="rect">
            <a:avLst/>
          </a:prstGeom>
        </p:spPr>
      </p:pic>
      <p:sp>
        <p:nvSpPr>
          <p:cNvPr id="9" name="TextBox 8"/>
          <p:cNvSpPr txBox="1"/>
          <p:nvPr/>
        </p:nvSpPr>
        <p:spPr>
          <a:xfrm>
            <a:off x="548640" y="3886200"/>
            <a:ext cx="11155680" cy="411480"/>
          </a:xfrm>
          <a:prstGeom prst="rect">
            <a:avLst/>
          </a:prstGeom>
          <a:noFill/>
        </p:spPr>
        <p:txBody>
          <a:bodyPr wrap="square" anchor="t" lIns="45720" rIns="45720">
            <a:spAutoFit/>
          </a:bodyPr>
          <a:lstStyle/>
          <a:p>
            <a:pPr algn="l"/>
            <a:r>
              <a:rPr sz="1700" b="1" i="0">
                <a:solidFill>
                  <a:srgbClr val="1F3864"/>
                </a:solidFill>
                <a:latin typeface="Calibri"/>
              </a:rPr>
              <a:t>Why so much protocol?</a:t>
            </a:r>
          </a:p>
        </p:txBody>
      </p:sp>
      <p:sp>
        <p:nvSpPr>
          <p:cNvPr id="10" name="TextBox 9"/>
          <p:cNvSpPr txBox="1"/>
          <p:nvPr/>
        </p:nvSpPr>
        <p:spPr>
          <a:xfrm>
            <a:off x="548640" y="4343400"/>
            <a:ext cx="11155680" cy="1783080"/>
          </a:xfrm>
          <a:prstGeom prst="rect">
            <a:avLst/>
          </a:prstGeom>
          <a:noFill/>
        </p:spPr>
        <p:txBody>
          <a:bodyPr wrap="square">
            <a:spAutoFit/>
          </a:bodyPr>
          <a:lstStyle/>
          <a:p>
            <a:pPr>
              <a:spcAft>
                <a:spcPts val="700"/>
              </a:spcAft>
            </a:pPr>
            <a:r>
              <a:rPr sz="1500">
                <a:solidFill>
                  <a:srgbClr val="595959"/>
                </a:solidFill>
                <a:latin typeface="Calibri"/>
              </a:rPr>
              <a:t>•  </a:t>
            </a:r>
            <a:r>
              <a:rPr sz="1500" b="0">
                <a:solidFill>
                  <a:srgbClr val="262626"/>
                </a:solidFill>
                <a:latin typeface="Calibri"/>
              </a:rPr>
              <a:t>33 main-analysis contrasts, a Holm family of 18, two seeds, many arms — easy to fool ourselves</a:t>
            </a:r>
          </a:p>
          <a:p>
            <a:pPr>
              <a:spcAft>
                <a:spcPts val="700"/>
              </a:spcAft>
            </a:pPr>
            <a:r>
              <a:rPr sz="1500">
                <a:solidFill>
                  <a:srgbClr val="595959"/>
                </a:solidFill>
                <a:latin typeface="Calibri"/>
              </a:rPr>
              <a:t>•  </a:t>
            </a:r>
            <a:r>
              <a:rPr sz="1500" b="0">
                <a:solidFill>
                  <a:srgbClr val="262626"/>
                </a:solidFill>
                <a:latin typeface="Calibri"/>
              </a:rPr>
              <a:t>Selection only on calibration data; main-population validation read once; TEST read once in a sealed evaluation</a:t>
            </a:r>
          </a:p>
          <a:p>
            <a:pPr>
              <a:spcAft>
                <a:spcPts val="700"/>
              </a:spcAft>
            </a:pPr>
            <a:r>
              <a:rPr sz="1500">
                <a:solidFill>
                  <a:srgbClr val="595959"/>
                </a:solidFill>
                <a:latin typeface="Calibri"/>
              </a:rPr>
              <a:t>•  </a:t>
            </a:r>
            <a:r>
              <a:rPr sz="1500" b="0">
                <a:solidFill>
                  <a:srgbClr val="262626"/>
                </a:solidFill>
                <a:latin typeface="Calibri"/>
              </a:rPr>
              <a:t>Every later exploratory test look is a numbered, disclosed register entry (12–23)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anchor="b" lIns="45720" rIns="45720">
            <a:spAutoFit/>
          </a:bodyPr>
          <a:lstStyle/>
          <a:p>
            <a:pPr algn="l"/>
            <a:r>
              <a:rPr sz="3000" b="1" i="0">
                <a:solidFill>
                  <a:srgbClr val="1F3864"/>
                </a:solidFill>
                <a:latin typeface="Calibri"/>
              </a:rPr>
              <a:t>The federated recipe: warm-started FedAdam</a:t>
            </a:r>
          </a:p>
        </p:txBody>
      </p:sp>
      <p:cxnSp>
        <p:nvCxnSpPr>
          <p:cNvPr id="3" name="Connector 2"/>
          <p:cNvCxnSpPr/>
          <p:nvPr/>
        </p:nvCxnSpPr>
        <p:spPr>
          <a:xfrm>
            <a:off x="548640" y="1005840"/>
            <a:ext cx="11094415"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46520"/>
            <a:ext cx="8229600" cy="274320"/>
          </a:xfrm>
          <a:prstGeom prst="rect">
            <a:avLst/>
          </a:prstGeom>
          <a:noFill/>
        </p:spPr>
        <p:txBody>
          <a:bodyPr wrap="square" anchor="ctr" lIns="45720" rIns="45720">
            <a:spAutoFit/>
          </a:bodyPr>
          <a:lstStyle/>
          <a:p>
            <a:pPr algn="l"/>
            <a:r>
              <a:rPr sz="1000" b="0" i="0">
                <a:solidFill>
                  <a:srgbClr val="595959"/>
                </a:solidFill>
                <a:latin typeface="Calibri"/>
              </a:rPr>
              <a:t>Privacy-Preserving Shopping Intelligence  |  MSc Final Presentation, Queen's University</a:t>
            </a:r>
          </a:p>
        </p:txBody>
      </p:sp>
      <p:sp>
        <p:nvSpPr>
          <p:cNvPr id="5" name="TextBox 4"/>
          <p:cNvSpPr txBox="1"/>
          <p:nvPr/>
        </p:nvSpPr>
        <p:spPr>
          <a:xfrm>
            <a:off x="10728655" y="6446520"/>
            <a:ext cx="914400" cy="274320"/>
          </a:xfrm>
          <a:prstGeom prst="rect">
            <a:avLst/>
          </a:prstGeom>
          <a:noFill/>
        </p:spPr>
        <p:txBody>
          <a:bodyPr wrap="square" anchor="ctr" lIns="45720" rIns="45720">
            <a:spAutoFit/>
          </a:bodyPr>
          <a:lstStyle/>
          <a:p>
            <a:pPr algn="r"/>
            <a:r>
              <a:rPr sz="1100" b="0" i="0">
                <a:solidFill>
                  <a:srgbClr val="595959"/>
                </a:solidFill>
                <a:latin typeface="Calibri"/>
              </a:rPr>
              <a:t>10</a:t>
            </a:r>
          </a:p>
        </p:txBody>
      </p:sp>
      <p:pic>
        <p:nvPicPr>
          <p:cNvPr id="6" name="Picture 5" descr="d3_fl_round.png"/>
          <p:cNvPicPr>
            <a:picLocks noChangeAspect="1"/>
          </p:cNvPicPr>
          <p:nvPr/>
        </p:nvPicPr>
        <p:blipFill>
          <a:blip r:embed="rId2"/>
          <a:stretch>
            <a:fillRect/>
          </a:stretch>
        </p:blipFill>
        <p:spPr>
          <a:xfrm>
            <a:off x="411480" y="1371600"/>
            <a:ext cx="11338560" cy="4588337"/>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anchor="b" lIns="45720" rIns="45720">
            <a:spAutoFit/>
          </a:bodyPr>
          <a:lstStyle/>
          <a:p>
            <a:pPr algn="l"/>
            <a:r>
              <a:rPr sz="3000" b="1" i="0">
                <a:solidFill>
                  <a:srgbClr val="1F3864"/>
                </a:solidFill>
                <a:latin typeface="Calibri"/>
              </a:rPr>
              <a:t>Confirmatory answer: how much cloud quality survives</a:t>
            </a:r>
          </a:p>
        </p:txBody>
      </p:sp>
      <p:cxnSp>
        <p:nvCxnSpPr>
          <p:cNvPr id="3" name="Connector 2"/>
          <p:cNvCxnSpPr/>
          <p:nvPr/>
        </p:nvCxnSpPr>
        <p:spPr>
          <a:xfrm>
            <a:off x="548640" y="1005840"/>
            <a:ext cx="11094415"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1060704"/>
            <a:ext cx="11155680" cy="457200"/>
          </a:xfrm>
          <a:prstGeom prst="rect">
            <a:avLst/>
          </a:prstGeom>
          <a:noFill/>
        </p:spPr>
        <p:txBody>
          <a:bodyPr wrap="square" anchor="t" lIns="45720" rIns="45720">
            <a:spAutoFit/>
          </a:bodyPr>
          <a:lstStyle/>
          <a:p>
            <a:pPr algn="l"/>
            <a:r>
              <a:rPr sz="1600" b="0" i="1">
                <a:solidFill>
                  <a:srgbClr val="595959"/>
                </a:solidFill>
                <a:latin typeface="Calibri"/>
              </a:rPr>
              <a:t>REES46 TEST, 26,254 users, client-macro MRR@20</a:t>
            </a:r>
          </a:p>
        </p:txBody>
      </p:sp>
      <p:sp>
        <p:nvSpPr>
          <p:cNvPr id="5" name="TextBox 4"/>
          <p:cNvSpPr txBox="1"/>
          <p:nvPr/>
        </p:nvSpPr>
        <p:spPr>
          <a:xfrm>
            <a:off x="548640" y="6446520"/>
            <a:ext cx="8229600" cy="274320"/>
          </a:xfrm>
          <a:prstGeom prst="rect">
            <a:avLst/>
          </a:prstGeom>
          <a:noFill/>
        </p:spPr>
        <p:txBody>
          <a:bodyPr wrap="square" anchor="ctr" lIns="45720" rIns="45720">
            <a:spAutoFit/>
          </a:bodyPr>
          <a:lstStyle/>
          <a:p>
            <a:pPr algn="l"/>
            <a:r>
              <a:rPr sz="1000" b="0" i="0">
                <a:solidFill>
                  <a:srgbClr val="595959"/>
                </a:solidFill>
                <a:latin typeface="Calibri"/>
              </a:rPr>
              <a:t>Privacy-Preserving Shopping Intelligence  |  MSc Final Presentation, Queen's University</a:t>
            </a:r>
          </a:p>
        </p:txBody>
      </p:sp>
      <p:sp>
        <p:nvSpPr>
          <p:cNvPr id="6" name="TextBox 5"/>
          <p:cNvSpPr txBox="1"/>
          <p:nvPr/>
        </p:nvSpPr>
        <p:spPr>
          <a:xfrm>
            <a:off x="10728655" y="6446520"/>
            <a:ext cx="914400" cy="274320"/>
          </a:xfrm>
          <a:prstGeom prst="rect">
            <a:avLst/>
          </a:prstGeom>
          <a:noFill/>
        </p:spPr>
        <p:txBody>
          <a:bodyPr wrap="square" anchor="ctr" lIns="45720" rIns="45720">
            <a:spAutoFit/>
          </a:bodyPr>
          <a:lstStyle/>
          <a:p>
            <a:pPr algn="r"/>
            <a:r>
              <a:rPr sz="1100" b="0" i="0">
                <a:solidFill>
                  <a:srgbClr val="595959"/>
                </a:solidFill>
                <a:latin typeface="Calibri"/>
              </a:rPr>
              <a:t>11</a:t>
            </a:r>
          </a:p>
        </p:txBody>
      </p:sp>
      <p:sp>
        <p:nvSpPr>
          <p:cNvPr id="7" name="TextBox 6"/>
          <p:cNvSpPr txBox="1"/>
          <p:nvPr/>
        </p:nvSpPr>
        <p:spPr>
          <a:xfrm>
            <a:off x="9601200" y="1143000"/>
            <a:ext cx="2103120" cy="310896"/>
          </a:xfrm>
          <a:prstGeom prst="rect">
            <a:avLst/>
          </a:prstGeom>
          <a:noFill/>
        </p:spPr>
        <p:txBody>
          <a:bodyPr wrap="square" anchor="t" lIns="45720" rIns="45720">
            <a:spAutoFit/>
          </a:bodyPr>
          <a:lstStyle/>
          <a:p>
            <a:pPr algn="r"/>
            <a:r>
              <a:rPr sz="1200" b="0" i="1">
                <a:solidFill>
                  <a:srgbClr val="595959"/>
                </a:solidFill>
                <a:latin typeface="Calibri"/>
              </a:rPr>
              <a:t>(confirmatory result)</a:t>
            </a:r>
          </a:p>
        </p:txBody>
      </p:sp>
      <p:pic>
        <p:nvPicPr>
          <p:cNvPr id="8" name="Picture 7" descr="fig_retention_ladder.png"/>
          <p:cNvPicPr>
            <a:picLocks noChangeAspect="1"/>
          </p:cNvPicPr>
          <p:nvPr/>
        </p:nvPicPr>
        <p:blipFill>
          <a:blip r:embed="rId2"/>
          <a:stretch>
            <a:fillRect/>
          </a:stretch>
        </p:blipFill>
        <p:spPr>
          <a:xfrm>
            <a:off x="457200" y="1600200"/>
            <a:ext cx="7406640" cy="2868166"/>
          </a:xfrm>
          <a:prstGeom prst="rect">
            <a:avLst/>
          </a:prstGeom>
        </p:spPr>
      </p:pic>
      <p:sp>
        <p:nvSpPr>
          <p:cNvPr id="9" name="TextBox 8"/>
          <p:cNvSpPr txBox="1"/>
          <p:nvPr/>
        </p:nvSpPr>
        <p:spPr>
          <a:xfrm>
            <a:off x="8092440" y="1645920"/>
            <a:ext cx="3749039" cy="411480"/>
          </a:xfrm>
          <a:prstGeom prst="rect">
            <a:avLst/>
          </a:prstGeom>
          <a:noFill/>
        </p:spPr>
        <p:txBody>
          <a:bodyPr wrap="square" anchor="t" lIns="45720" rIns="45720">
            <a:spAutoFit/>
          </a:bodyPr>
          <a:lstStyle/>
          <a:p>
            <a:pPr algn="l"/>
            <a:r>
              <a:rPr sz="1700" b="1" i="0">
                <a:solidFill>
                  <a:srgbClr val="1F3864"/>
                </a:solidFill>
                <a:latin typeface="Calibri"/>
              </a:rPr>
              <a:t>Key numbers</a:t>
            </a:r>
          </a:p>
        </p:txBody>
      </p:sp>
      <p:sp>
        <p:nvSpPr>
          <p:cNvPr id="10" name="TextBox 9"/>
          <p:cNvSpPr txBox="1"/>
          <p:nvPr/>
        </p:nvSpPr>
        <p:spPr>
          <a:xfrm>
            <a:off x="8092440" y="2103120"/>
            <a:ext cx="3749039" cy="4023360"/>
          </a:xfrm>
          <a:prstGeom prst="rect">
            <a:avLst/>
          </a:prstGeom>
          <a:noFill/>
        </p:spPr>
        <p:txBody>
          <a:bodyPr wrap="square">
            <a:spAutoFit/>
          </a:bodyPr>
          <a:lstStyle/>
          <a:p>
            <a:pPr>
              <a:spcAft>
                <a:spcPts val="700"/>
              </a:spcAft>
            </a:pPr>
            <a:r>
              <a:rPr sz="1500">
                <a:solidFill>
                  <a:srgbClr val="595959"/>
                </a:solidFill>
                <a:latin typeface="Calibri"/>
              </a:rPr>
              <a:t>•  </a:t>
            </a:r>
            <a:r>
              <a:rPr sz="1500" b="0">
                <a:solidFill>
                  <a:srgbClr val="262626"/>
                </a:solidFill>
                <a:latin typeface="Calibri"/>
              </a:rPr>
              <a:t>Realistic edge system (warm FL, frozen tables): </a:t>
            </a:r>
            <a:r>
              <a:rPr sz="1500" b="1">
                <a:solidFill>
                  <a:srgbClr val="262626"/>
                </a:solidFill>
                <a:latin typeface="Calibri"/>
              </a:rPr>
              <a:t>88.49%</a:t>
            </a:r>
            <a:r>
              <a:rPr sz="1500" b="0">
                <a:solidFill>
                  <a:srgbClr val="262626"/>
                </a:solidFill>
                <a:latin typeface="Calibri"/>
              </a:rPr>
              <a:t> [87.73, 89.18]</a:t>
            </a:r>
          </a:p>
          <a:p>
            <a:pPr>
              <a:spcAft>
                <a:spcPts val="700"/>
              </a:spcAft>
            </a:pPr>
            <a:r>
              <a:rPr sz="1500">
                <a:solidFill>
                  <a:srgbClr val="595959"/>
                </a:solidFill>
                <a:latin typeface="Calibri"/>
              </a:rPr>
              <a:t>•  </a:t>
            </a:r>
            <a:r>
              <a:rPr sz="1500" b="0">
                <a:solidFill>
                  <a:srgbClr val="262626"/>
                </a:solidFill>
                <a:latin typeface="Calibri"/>
              </a:rPr>
              <a:t>Pretrained model alone: </a:t>
            </a:r>
            <a:r>
              <a:rPr sz="1500" b="1">
                <a:solidFill>
                  <a:srgbClr val="262626"/>
                </a:solidFill>
                <a:latin typeface="Calibri"/>
              </a:rPr>
              <a:t>88.77%</a:t>
            </a:r>
            <a:r>
              <a:rPr sz="1500" b="0">
                <a:solidFill>
                  <a:srgbClr val="262626"/>
                </a:solidFill>
                <a:latin typeface="Calibri"/>
              </a:rPr>
              <a:t/>
            </a:r>
          </a:p>
          <a:p>
            <a:pPr>
              <a:spcAft>
                <a:spcPts val="700"/>
              </a:spcAft>
            </a:pPr>
            <a:r>
              <a:rPr sz="1500">
                <a:solidFill>
                  <a:srgbClr val="595959"/>
                </a:solidFill>
                <a:latin typeface="Calibri"/>
              </a:rPr>
              <a:t>•  </a:t>
            </a:r>
            <a:r>
              <a:rPr sz="1500" b="0">
                <a:solidFill>
                  <a:srgbClr val="262626"/>
                </a:solidFill>
                <a:latin typeface="Calibri"/>
              </a:rPr>
              <a:t>Cold federated: 70.10%</a:t>
            </a:r>
          </a:p>
          <a:p>
            <a:pPr>
              <a:spcAft>
                <a:spcPts val="700"/>
              </a:spcAft>
            </a:pPr>
            <a:r>
              <a:rPr sz="1500">
                <a:solidFill>
                  <a:srgbClr val="595959"/>
                </a:solidFill>
                <a:latin typeface="Calibri"/>
              </a:rPr>
              <a:t>•  </a:t>
            </a:r>
            <a:r>
              <a:rPr sz="1500" b="0">
                <a:solidFill>
                  <a:srgbClr val="262626"/>
                </a:solidFill>
                <a:latin typeface="Calibri"/>
              </a:rPr>
              <a:t>Device-only training: 1.64% of C_FULL</a:t>
            </a:r>
          </a:p>
          <a:p>
            <a:pPr>
              <a:spcAft>
                <a:spcPts val="700"/>
              </a:spcAft>
            </a:pPr>
            <a:r>
              <a:rPr sz="1500">
                <a:solidFill>
                  <a:srgbClr val="595959"/>
                </a:solidFill>
                <a:latin typeface="Calibri"/>
              </a:rPr>
              <a:t>•  </a:t>
            </a:r>
            <a:r>
              <a:rPr sz="1500" b="0">
                <a:solidFill>
                  <a:srgbClr val="262626"/>
                </a:solidFill>
                <a:latin typeface="Calibri"/>
              </a:rPr>
              <a:t>Warm start over cold FL: +0.0331 MRR@20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anchor="b" lIns="45720" rIns="45720">
            <a:spAutoFit/>
          </a:bodyPr>
          <a:lstStyle/>
          <a:p>
            <a:pPr algn="l"/>
            <a:r>
              <a:rPr sz="3000" b="1" i="0">
                <a:solidFill>
                  <a:srgbClr val="1F3864"/>
                </a:solidFill>
                <a:latin typeface="Calibri"/>
              </a:rPr>
              <a:t>What federation and fine-tuning add</a:t>
            </a:r>
          </a:p>
        </p:txBody>
      </p:sp>
      <p:cxnSp>
        <p:nvCxnSpPr>
          <p:cNvPr id="3" name="Connector 2"/>
          <p:cNvCxnSpPr/>
          <p:nvPr/>
        </p:nvCxnSpPr>
        <p:spPr>
          <a:xfrm>
            <a:off x="548640" y="1005840"/>
            <a:ext cx="11094415"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1060704"/>
            <a:ext cx="11155680" cy="457200"/>
          </a:xfrm>
          <a:prstGeom prst="rect">
            <a:avLst/>
          </a:prstGeom>
          <a:noFill/>
        </p:spPr>
        <p:txBody>
          <a:bodyPr wrap="square" anchor="t" lIns="45720" rIns="45720">
            <a:spAutoFit/>
          </a:bodyPr>
          <a:lstStyle/>
          <a:p>
            <a:pPr algn="l"/>
            <a:r>
              <a:rPr sz="1600" b="0" i="1">
                <a:solidFill>
                  <a:srgbClr val="595959"/>
                </a:solidFill>
                <a:latin typeface="Calibri"/>
              </a:rPr>
              <a:t>Differences in MRR@20 with 95% paired-bootstrap CIs</a:t>
            </a:r>
          </a:p>
        </p:txBody>
      </p:sp>
      <p:sp>
        <p:nvSpPr>
          <p:cNvPr id="5" name="TextBox 4"/>
          <p:cNvSpPr txBox="1"/>
          <p:nvPr/>
        </p:nvSpPr>
        <p:spPr>
          <a:xfrm>
            <a:off x="548640" y="6446520"/>
            <a:ext cx="8229600" cy="274320"/>
          </a:xfrm>
          <a:prstGeom prst="rect">
            <a:avLst/>
          </a:prstGeom>
          <a:noFill/>
        </p:spPr>
        <p:txBody>
          <a:bodyPr wrap="square" anchor="ctr" lIns="45720" rIns="45720">
            <a:spAutoFit/>
          </a:bodyPr>
          <a:lstStyle/>
          <a:p>
            <a:pPr algn="l"/>
            <a:r>
              <a:rPr sz="1000" b="0" i="0">
                <a:solidFill>
                  <a:srgbClr val="595959"/>
                </a:solidFill>
                <a:latin typeface="Calibri"/>
              </a:rPr>
              <a:t>Privacy-Preserving Shopping Intelligence  |  MSc Final Presentation, Queen's University</a:t>
            </a:r>
          </a:p>
        </p:txBody>
      </p:sp>
      <p:sp>
        <p:nvSpPr>
          <p:cNvPr id="6" name="TextBox 5"/>
          <p:cNvSpPr txBox="1"/>
          <p:nvPr/>
        </p:nvSpPr>
        <p:spPr>
          <a:xfrm>
            <a:off x="10728655" y="6446520"/>
            <a:ext cx="914400" cy="274320"/>
          </a:xfrm>
          <a:prstGeom prst="rect">
            <a:avLst/>
          </a:prstGeom>
          <a:noFill/>
        </p:spPr>
        <p:txBody>
          <a:bodyPr wrap="square" anchor="ctr" lIns="45720" rIns="45720">
            <a:spAutoFit/>
          </a:bodyPr>
          <a:lstStyle/>
          <a:p>
            <a:pPr algn="r"/>
            <a:r>
              <a:rPr sz="1100" b="0" i="0">
                <a:solidFill>
                  <a:srgbClr val="595959"/>
                </a:solidFill>
                <a:latin typeface="Calibri"/>
              </a:rPr>
              <a:t>12</a:t>
            </a:r>
          </a:p>
        </p:txBody>
      </p:sp>
      <p:pic>
        <p:nvPicPr>
          <p:cNvPr id="7" name="Picture 6" descr="fig_forest_deltas.png"/>
          <p:cNvPicPr>
            <a:picLocks noChangeAspect="1"/>
          </p:cNvPicPr>
          <p:nvPr/>
        </p:nvPicPr>
        <p:blipFill>
          <a:blip r:embed="rId2"/>
          <a:stretch>
            <a:fillRect/>
          </a:stretch>
        </p:blipFill>
        <p:spPr>
          <a:xfrm>
            <a:off x="457200" y="1600200"/>
            <a:ext cx="7498079" cy="3289252"/>
          </a:xfrm>
          <a:prstGeom prst="rect">
            <a:avLst/>
          </a:prstGeom>
        </p:spPr>
      </p:pic>
      <p:sp>
        <p:nvSpPr>
          <p:cNvPr id="8" name="TextBox 7"/>
          <p:cNvSpPr txBox="1"/>
          <p:nvPr/>
        </p:nvSpPr>
        <p:spPr>
          <a:xfrm>
            <a:off x="8183879" y="1645920"/>
            <a:ext cx="3657600" cy="411480"/>
          </a:xfrm>
          <a:prstGeom prst="rect">
            <a:avLst/>
          </a:prstGeom>
          <a:noFill/>
        </p:spPr>
        <p:txBody>
          <a:bodyPr wrap="square" anchor="t" lIns="45720" rIns="45720">
            <a:spAutoFit/>
          </a:bodyPr>
          <a:lstStyle/>
          <a:p>
            <a:pPr algn="l"/>
            <a:r>
              <a:rPr sz="1700" b="1" i="0">
                <a:solidFill>
                  <a:srgbClr val="1F3864"/>
                </a:solidFill>
                <a:latin typeface="Calibri"/>
              </a:rPr>
              <a:t>Reading</a:t>
            </a:r>
          </a:p>
        </p:txBody>
      </p:sp>
      <p:sp>
        <p:nvSpPr>
          <p:cNvPr id="9" name="TextBox 8"/>
          <p:cNvSpPr txBox="1"/>
          <p:nvPr/>
        </p:nvSpPr>
        <p:spPr>
          <a:xfrm>
            <a:off x="8183879" y="2103120"/>
            <a:ext cx="3657600" cy="4023360"/>
          </a:xfrm>
          <a:prstGeom prst="rect">
            <a:avLst/>
          </a:prstGeom>
          <a:noFill/>
        </p:spPr>
        <p:txBody>
          <a:bodyPr wrap="square">
            <a:spAutoFit/>
          </a:bodyPr>
          <a:lstStyle/>
          <a:p>
            <a:pPr>
              <a:spcAft>
                <a:spcPts val="700"/>
              </a:spcAft>
            </a:pPr>
            <a:r>
              <a:rPr sz="1500">
                <a:solidFill>
                  <a:srgbClr val="595959"/>
                </a:solidFill>
                <a:latin typeface="Calibri"/>
              </a:rPr>
              <a:t>•  </a:t>
            </a:r>
            <a:r>
              <a:rPr sz="1500" b="0">
                <a:solidFill>
                  <a:srgbClr val="262626"/>
                </a:solidFill>
                <a:latin typeface="Calibri"/>
              </a:rPr>
              <a:t/>
            </a:r>
            <a:r>
              <a:rPr sz="1500" b="1">
                <a:solidFill>
                  <a:srgbClr val="262626"/>
                </a:solidFill>
                <a:latin typeface="Calibri"/>
              </a:rPr>
              <a:t>K21</a:t>
            </a:r>
            <a:r>
              <a:rPr sz="1500" b="0">
                <a:solidFill>
                  <a:srgbClr val="262626"/>
                </a:solidFill>
                <a:latin typeface="Calibri"/>
              </a:rPr>
              <a:t> FL − PRE: −0.000508 [−0.000933, −0.000037]: slightly worse than the pretrain alone</a:t>
            </a:r>
          </a:p>
          <a:p>
            <a:pPr>
              <a:spcAft>
                <a:spcPts val="700"/>
              </a:spcAft>
            </a:pPr>
            <a:r>
              <a:rPr sz="1500">
                <a:solidFill>
                  <a:srgbClr val="595959"/>
                </a:solidFill>
                <a:latin typeface="Calibri"/>
              </a:rPr>
              <a:t>•  </a:t>
            </a:r>
            <a:r>
              <a:rPr sz="1500" b="0">
                <a:solidFill>
                  <a:srgbClr val="262626"/>
                </a:solidFill>
                <a:latin typeface="Calibri"/>
              </a:rPr>
              <a:t/>
            </a:r>
            <a:r>
              <a:rPr sz="1500" b="1">
                <a:solidFill>
                  <a:srgbClr val="262626"/>
                </a:solidFill>
                <a:latin typeface="Calibri"/>
              </a:rPr>
              <a:t>Q1</a:t>
            </a:r>
            <a:r>
              <a:rPr sz="1500" b="0">
                <a:solidFill>
                  <a:srgbClr val="262626"/>
                </a:solidFill>
                <a:latin typeface="Calibri"/>
              </a:rPr>
              <a:t> tuned warm FL − PRE: EQUIVALENT (±0.0005)</a:t>
            </a:r>
          </a:p>
          <a:p>
            <a:pPr>
              <a:spcAft>
                <a:spcPts val="700"/>
              </a:spcAft>
            </a:pPr>
            <a:r>
              <a:rPr sz="1500">
                <a:solidFill>
                  <a:srgbClr val="595959"/>
                </a:solidFill>
                <a:latin typeface="Calibri"/>
              </a:rPr>
              <a:t>•  </a:t>
            </a:r>
            <a:r>
              <a:rPr sz="1500" b="0">
                <a:solidFill>
                  <a:srgbClr val="262626"/>
                </a:solidFill>
                <a:latin typeface="Calibri"/>
              </a:rPr>
              <a:t/>
            </a:r>
            <a:r>
              <a:rPr sz="1500" b="1">
                <a:solidFill>
                  <a:srgbClr val="262626"/>
                </a:solidFill>
                <a:latin typeface="Calibri"/>
              </a:rPr>
              <a:t>K9c</a:t>
            </a:r>
            <a:r>
              <a:rPr sz="1500" b="0">
                <a:solidFill>
                  <a:srgbClr val="262626"/>
                </a:solidFill>
                <a:latin typeface="Calibri"/>
              </a:rPr>
              <a:t> on-device fine-tune: +0.002283 — the deployable gain</a:t>
            </a:r>
          </a:p>
          <a:p>
            <a:pPr>
              <a:spcAft>
                <a:spcPts val="700"/>
              </a:spcAft>
            </a:pPr>
            <a:r>
              <a:rPr sz="1500">
                <a:solidFill>
                  <a:srgbClr val="595959"/>
                </a:solidFill>
                <a:latin typeface="Calibri"/>
              </a:rPr>
              <a:t>•  </a:t>
            </a:r>
            <a:r>
              <a:rPr sz="1500" b="0">
                <a:solidFill>
                  <a:srgbClr val="262626"/>
                </a:solidFill>
                <a:latin typeface="Calibri"/>
              </a:rPr>
              <a:t>Orange: post-hoc looks (next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anchor="b" lIns="45720" rIns="45720">
            <a:spAutoFit/>
          </a:bodyPr>
          <a:lstStyle/>
          <a:p>
            <a:pPr algn="l"/>
            <a:r>
              <a:rPr sz="3000" b="1" i="0">
                <a:solidFill>
                  <a:srgbClr val="1F3864"/>
                </a:solidFill>
                <a:latin typeface="Calibri"/>
              </a:rPr>
              <a:t>Benchmarks: our cloud reference vs published results</a:t>
            </a:r>
          </a:p>
        </p:txBody>
      </p:sp>
      <p:cxnSp>
        <p:nvCxnSpPr>
          <p:cNvPr id="3" name="Connector 2"/>
          <p:cNvCxnSpPr/>
          <p:nvPr/>
        </p:nvCxnSpPr>
        <p:spPr>
          <a:xfrm>
            <a:off x="548640" y="1005840"/>
            <a:ext cx="11094415"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1060704"/>
            <a:ext cx="11155680" cy="457200"/>
          </a:xfrm>
          <a:prstGeom prst="rect">
            <a:avLst/>
          </a:prstGeom>
          <a:noFill/>
        </p:spPr>
        <p:txBody>
          <a:bodyPr wrap="square" anchor="t" lIns="45720" rIns="45720">
            <a:spAutoFit/>
          </a:bodyPr>
          <a:lstStyle/>
          <a:p>
            <a:pPr algn="l"/>
            <a:r>
              <a:rPr sz="1600" b="0" i="1">
                <a:solidFill>
                  <a:srgbClr val="595959"/>
                </a:solidFill>
                <a:latin typeface="Calibri"/>
              </a:rPr>
              <a:t>Full-catalogue NDCG@10 on public datasets</a:t>
            </a:r>
          </a:p>
        </p:txBody>
      </p:sp>
      <p:sp>
        <p:nvSpPr>
          <p:cNvPr id="5" name="TextBox 4"/>
          <p:cNvSpPr txBox="1"/>
          <p:nvPr/>
        </p:nvSpPr>
        <p:spPr>
          <a:xfrm>
            <a:off x="548640" y="6446520"/>
            <a:ext cx="8229600" cy="274320"/>
          </a:xfrm>
          <a:prstGeom prst="rect">
            <a:avLst/>
          </a:prstGeom>
          <a:noFill/>
        </p:spPr>
        <p:txBody>
          <a:bodyPr wrap="square" anchor="ctr" lIns="45720" rIns="45720">
            <a:spAutoFit/>
          </a:bodyPr>
          <a:lstStyle/>
          <a:p>
            <a:pPr algn="l"/>
            <a:r>
              <a:rPr sz="1000" b="0" i="0">
                <a:solidFill>
                  <a:srgbClr val="595959"/>
                </a:solidFill>
                <a:latin typeface="Calibri"/>
              </a:rPr>
              <a:t>Privacy-Preserving Shopping Intelligence  |  MSc Final Presentation, Queen's University</a:t>
            </a:r>
          </a:p>
        </p:txBody>
      </p:sp>
      <p:sp>
        <p:nvSpPr>
          <p:cNvPr id="6" name="TextBox 5"/>
          <p:cNvSpPr txBox="1"/>
          <p:nvPr/>
        </p:nvSpPr>
        <p:spPr>
          <a:xfrm>
            <a:off x="10728655" y="6446520"/>
            <a:ext cx="914400" cy="274320"/>
          </a:xfrm>
          <a:prstGeom prst="rect">
            <a:avLst/>
          </a:prstGeom>
          <a:noFill/>
        </p:spPr>
        <p:txBody>
          <a:bodyPr wrap="square" anchor="ctr" lIns="45720" rIns="45720">
            <a:spAutoFit/>
          </a:bodyPr>
          <a:lstStyle/>
          <a:p>
            <a:pPr algn="r"/>
            <a:r>
              <a:rPr sz="1100" b="0" i="0">
                <a:solidFill>
                  <a:srgbClr val="595959"/>
                </a:solidFill>
                <a:latin typeface="Calibri"/>
              </a:rPr>
              <a:t>13</a:t>
            </a:r>
          </a:p>
        </p:txBody>
      </p:sp>
      <p:pic>
        <p:nvPicPr>
          <p:cNvPr id="7" name="Picture 6" descr="fig_published_comparison.png"/>
          <p:cNvPicPr>
            <a:picLocks noChangeAspect="1"/>
          </p:cNvPicPr>
          <p:nvPr/>
        </p:nvPicPr>
        <p:blipFill>
          <a:blip r:embed="rId2"/>
          <a:stretch>
            <a:fillRect/>
          </a:stretch>
        </p:blipFill>
        <p:spPr>
          <a:xfrm>
            <a:off x="457200" y="1554480"/>
            <a:ext cx="7223760" cy="3898537"/>
          </a:xfrm>
          <a:prstGeom prst="rect">
            <a:avLst/>
          </a:prstGeom>
        </p:spPr>
      </p:pic>
      <p:sp>
        <p:nvSpPr>
          <p:cNvPr id="8" name="TextBox 7"/>
          <p:cNvSpPr txBox="1"/>
          <p:nvPr/>
        </p:nvSpPr>
        <p:spPr>
          <a:xfrm>
            <a:off x="7955279" y="1600200"/>
            <a:ext cx="3886200" cy="411480"/>
          </a:xfrm>
          <a:prstGeom prst="rect">
            <a:avLst/>
          </a:prstGeom>
          <a:noFill/>
        </p:spPr>
        <p:txBody>
          <a:bodyPr wrap="square" anchor="t" lIns="45720" rIns="45720">
            <a:spAutoFit/>
          </a:bodyPr>
          <a:lstStyle/>
          <a:p>
            <a:pPr algn="l"/>
            <a:r>
              <a:rPr sz="1700" b="1" i="0">
                <a:solidFill>
                  <a:srgbClr val="1F3864"/>
                </a:solidFill>
                <a:latin typeface="Calibri"/>
              </a:rPr>
              <a:t>Confirmatory benchmark looks</a:t>
            </a:r>
          </a:p>
        </p:txBody>
      </p:sp>
      <p:sp>
        <p:nvSpPr>
          <p:cNvPr id="9" name="TextBox 8"/>
          <p:cNvSpPr txBox="1"/>
          <p:nvPr/>
        </p:nvSpPr>
        <p:spPr>
          <a:xfrm>
            <a:off x="7955279" y="2057400"/>
            <a:ext cx="3886200" cy="4069080"/>
          </a:xfrm>
          <a:prstGeom prst="rect">
            <a:avLst/>
          </a:prstGeom>
          <a:noFill/>
        </p:spPr>
        <p:txBody>
          <a:bodyPr wrap="square">
            <a:spAutoFit/>
          </a:bodyPr>
          <a:lstStyle/>
          <a:p>
            <a:pPr>
              <a:spcAft>
                <a:spcPts val="700"/>
              </a:spcAft>
            </a:pPr>
            <a:r>
              <a:rPr sz="1500">
                <a:solidFill>
                  <a:srgbClr val="595959"/>
                </a:solidFill>
                <a:latin typeface="Calibri"/>
              </a:rPr>
              <a:t>•  </a:t>
            </a:r>
            <a:r>
              <a:rPr sz="1500" b="0">
                <a:solidFill>
                  <a:srgbClr val="262626"/>
                </a:solidFill>
                <a:latin typeface="Calibri"/>
              </a:rPr>
              <a:t>C_FULL wins on every dataset; every FL arm far below it</a:t>
            </a:r>
          </a:p>
          <a:p>
            <a:pPr>
              <a:spcAft>
                <a:spcPts val="700"/>
              </a:spcAft>
            </a:pPr>
            <a:r>
              <a:rPr sz="1500">
                <a:solidFill>
                  <a:srgbClr val="595959"/>
                </a:solidFill>
                <a:latin typeface="Calibri"/>
              </a:rPr>
              <a:t>•  </a:t>
            </a:r>
            <a:r>
              <a:rPr sz="1500" b="0">
                <a:solidFill>
                  <a:srgbClr val="262626"/>
                </a:solidFill>
                <a:latin typeface="Calibri"/>
              </a:rPr>
              <a:t>ML-1M: C_FULL 0.1936 vs published eSASRec 0.1739</a:t>
            </a:r>
          </a:p>
          <a:p>
            <a:pPr>
              <a:spcAft>
                <a:spcPts val="700"/>
              </a:spcAft>
            </a:pPr>
            <a:r>
              <a:rPr sz="1500">
                <a:solidFill>
                  <a:srgbClr val="595959"/>
                </a:solidFill>
                <a:latin typeface="Calibri"/>
              </a:rPr>
              <a:t>•  </a:t>
            </a:r>
            <a:r>
              <a:rPr sz="1500" b="0">
                <a:solidFill>
                  <a:srgbClr val="262626"/>
                </a:solidFill>
                <a:latin typeface="Calibri"/>
              </a:rPr>
              <a:t>Confirmatory FL retention only 13–77%</a:t>
            </a:r>
          </a:p>
          <a:p>
            <a:pPr>
              <a:spcAft>
                <a:spcPts val="700"/>
              </a:spcAft>
            </a:pPr>
            <a:r>
              <a:rPr sz="1500">
                <a:solidFill>
                  <a:srgbClr val="595959"/>
                </a:solidFill>
                <a:latin typeface="Calibri"/>
              </a:rPr>
              <a:t>•  </a:t>
            </a:r>
            <a:r>
              <a:rPr sz="1500" b="0">
                <a:solidFill>
                  <a:srgbClr val="262626"/>
                </a:solidFill>
                <a:latin typeface="Calibri"/>
              </a:rPr>
              <a:t>→ something in the federated recipe was wrong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anchor="b" lIns="45720" rIns="45720">
            <a:spAutoFit/>
          </a:bodyPr>
          <a:lstStyle/>
          <a:p>
            <a:pPr algn="l"/>
            <a:r>
              <a:rPr sz="3000" b="1" i="0">
                <a:solidFill>
                  <a:srgbClr val="1F3864"/>
                </a:solidFill>
                <a:latin typeface="Calibri"/>
              </a:rPr>
              <a:t>Diagnosis: FedAdam's τ silently froze federated training</a:t>
            </a:r>
          </a:p>
        </p:txBody>
      </p:sp>
      <p:cxnSp>
        <p:nvCxnSpPr>
          <p:cNvPr id="3" name="Connector 2"/>
          <p:cNvCxnSpPr/>
          <p:nvPr/>
        </p:nvCxnSpPr>
        <p:spPr>
          <a:xfrm>
            <a:off x="548640" y="1005840"/>
            <a:ext cx="11094415"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46520"/>
            <a:ext cx="8229600" cy="274320"/>
          </a:xfrm>
          <a:prstGeom prst="rect">
            <a:avLst/>
          </a:prstGeom>
          <a:noFill/>
        </p:spPr>
        <p:txBody>
          <a:bodyPr wrap="square" anchor="ctr" lIns="45720" rIns="45720">
            <a:spAutoFit/>
          </a:bodyPr>
          <a:lstStyle/>
          <a:p>
            <a:pPr algn="l"/>
            <a:r>
              <a:rPr sz="1000" b="0" i="0">
                <a:solidFill>
                  <a:srgbClr val="595959"/>
                </a:solidFill>
                <a:latin typeface="Calibri"/>
              </a:rPr>
              <a:t>Privacy-Preserving Shopping Intelligence  |  MSc Final Presentation, Queen's University</a:t>
            </a:r>
          </a:p>
        </p:txBody>
      </p:sp>
      <p:sp>
        <p:nvSpPr>
          <p:cNvPr id="5" name="TextBox 4"/>
          <p:cNvSpPr txBox="1"/>
          <p:nvPr/>
        </p:nvSpPr>
        <p:spPr>
          <a:xfrm>
            <a:off x="10728655" y="6446520"/>
            <a:ext cx="914400" cy="274320"/>
          </a:xfrm>
          <a:prstGeom prst="rect">
            <a:avLst/>
          </a:prstGeom>
          <a:noFill/>
        </p:spPr>
        <p:txBody>
          <a:bodyPr wrap="square" anchor="ctr" lIns="45720" rIns="45720">
            <a:spAutoFit/>
          </a:bodyPr>
          <a:lstStyle/>
          <a:p>
            <a:pPr algn="r"/>
            <a:r>
              <a:rPr sz="1100" b="0" i="0">
                <a:solidFill>
                  <a:srgbClr val="595959"/>
                </a:solidFill>
                <a:latin typeface="Calibri"/>
              </a:rPr>
              <a:t>14</a:t>
            </a:r>
          </a:p>
        </p:txBody>
      </p:sp>
      <p:sp>
        <p:nvSpPr>
          <p:cNvPr id="6" name="TextBox 5"/>
          <p:cNvSpPr txBox="1"/>
          <p:nvPr/>
        </p:nvSpPr>
        <p:spPr>
          <a:xfrm>
            <a:off x="9601200" y="1143000"/>
            <a:ext cx="2103120" cy="310896"/>
          </a:xfrm>
          <a:prstGeom prst="rect">
            <a:avLst/>
          </a:prstGeom>
          <a:noFill/>
        </p:spPr>
        <p:txBody>
          <a:bodyPr wrap="square" anchor="t" lIns="45720" rIns="45720">
            <a:spAutoFit/>
          </a:bodyPr>
          <a:lstStyle/>
          <a:p>
            <a:pPr algn="r"/>
            <a:r>
              <a:rPr sz="1200" b="0" i="1">
                <a:solidFill>
                  <a:srgbClr val="595959"/>
                </a:solidFill>
                <a:latin typeface="Calibri"/>
              </a:rPr>
              <a:t>(exploratory result)</a:t>
            </a:r>
          </a:p>
        </p:txBody>
      </p:sp>
      <p:pic>
        <p:nvPicPr>
          <p:cNvPr id="7" name="Picture 6" descr="fig_tau_update_norms.png"/>
          <p:cNvPicPr>
            <a:picLocks noChangeAspect="1"/>
          </p:cNvPicPr>
          <p:nvPr/>
        </p:nvPicPr>
        <p:blipFill>
          <a:blip r:embed="rId2"/>
          <a:stretch>
            <a:fillRect/>
          </a:stretch>
        </p:blipFill>
        <p:spPr>
          <a:xfrm>
            <a:off x="457200" y="1600200"/>
            <a:ext cx="7315200" cy="3160831"/>
          </a:xfrm>
          <a:prstGeom prst="rect">
            <a:avLst/>
          </a:prstGeom>
        </p:spPr>
      </p:pic>
      <p:sp>
        <p:nvSpPr>
          <p:cNvPr id="8" name="TextBox 7"/>
          <p:cNvSpPr txBox="1"/>
          <p:nvPr/>
        </p:nvSpPr>
        <p:spPr>
          <a:xfrm>
            <a:off x="8001000" y="1645920"/>
            <a:ext cx="3840480" cy="411480"/>
          </a:xfrm>
          <a:prstGeom prst="rect">
            <a:avLst/>
          </a:prstGeom>
          <a:noFill/>
        </p:spPr>
        <p:txBody>
          <a:bodyPr wrap="square" anchor="t" lIns="45720" rIns="45720">
            <a:spAutoFit/>
          </a:bodyPr>
          <a:lstStyle/>
          <a:p>
            <a:pPr algn="l"/>
            <a:r>
              <a:rPr sz="1700" b="1" i="0">
                <a:solidFill>
                  <a:srgbClr val="1F3864"/>
                </a:solidFill>
                <a:latin typeface="Calibri"/>
              </a:rPr>
              <a:t>Mechanism</a:t>
            </a:r>
          </a:p>
        </p:txBody>
      </p:sp>
      <p:sp>
        <p:nvSpPr>
          <p:cNvPr id="9" name="TextBox 8"/>
          <p:cNvSpPr txBox="1"/>
          <p:nvPr/>
        </p:nvSpPr>
        <p:spPr>
          <a:xfrm>
            <a:off x="8001000" y="2103120"/>
            <a:ext cx="3840480" cy="4023360"/>
          </a:xfrm>
          <a:prstGeom prst="rect">
            <a:avLst/>
          </a:prstGeom>
          <a:noFill/>
        </p:spPr>
        <p:txBody>
          <a:bodyPr wrap="square">
            <a:spAutoFit/>
          </a:bodyPr>
          <a:lstStyle/>
          <a:p>
            <a:pPr>
              <a:spcAft>
                <a:spcPts val="700"/>
              </a:spcAft>
            </a:pPr>
            <a:r>
              <a:rPr sz="1500">
                <a:solidFill>
                  <a:srgbClr val="595959"/>
                </a:solidFill>
                <a:latin typeface="Calibri"/>
              </a:rPr>
              <a:t>•  </a:t>
            </a:r>
            <a:r>
              <a:rPr sz="1500" b="0">
                <a:solidFill>
                  <a:srgbClr val="262626"/>
                </a:solidFill>
                <a:latin typeface="Calibri"/>
              </a:rPr>
              <a:t>FedAdam step ∝ m / (√v + τ)</a:t>
            </a:r>
          </a:p>
          <a:p>
            <a:pPr>
              <a:spcAft>
                <a:spcPts val="700"/>
              </a:spcAft>
            </a:pPr>
            <a:r>
              <a:rPr sz="1500">
                <a:solidFill>
                  <a:srgbClr val="595959"/>
                </a:solidFill>
                <a:latin typeface="Calibri"/>
              </a:rPr>
              <a:t>•  </a:t>
            </a:r>
            <a:r>
              <a:rPr sz="1500" b="0">
                <a:solidFill>
                  <a:srgbClr val="262626"/>
                </a:solidFill>
                <a:latin typeface="Calibri"/>
              </a:rPr>
              <a:t>Client updates ≈ 10⁻⁷, registered τ = 10⁻³</a:t>
            </a:r>
          </a:p>
          <a:p>
            <a:pPr>
              <a:spcAft>
                <a:spcPts val="700"/>
              </a:spcAft>
            </a:pPr>
            <a:r>
              <a:rPr sz="1500">
                <a:solidFill>
                  <a:srgbClr val="595959"/>
                </a:solidFill>
                <a:latin typeface="Calibri"/>
              </a:rPr>
              <a:t>•  </a:t>
            </a:r>
            <a:r>
              <a:rPr sz="1500" b="0">
                <a:solidFill>
                  <a:srgbClr val="262626"/>
                </a:solidFill>
                <a:latin typeface="Calibri"/>
              </a:rPr>
              <a:t>→ server step 20–100× too small</a:t>
            </a:r>
          </a:p>
          <a:p>
            <a:pPr>
              <a:spcAft>
                <a:spcPts val="700"/>
              </a:spcAft>
            </a:pPr>
            <a:r>
              <a:rPr sz="1500">
                <a:solidFill>
                  <a:srgbClr val="595959"/>
                </a:solidFill>
                <a:latin typeface="Calibri"/>
              </a:rPr>
              <a:t>•  </a:t>
            </a:r>
            <a:r>
              <a:rPr sz="1500" b="0">
                <a:solidFill>
                  <a:srgbClr val="262626"/>
                </a:solidFill>
                <a:latin typeface="Calibri"/>
              </a:rPr>
              <a:t>Tuned model moved ≈ 0.06% from θ_pre in 13,654 rounds</a:t>
            </a:r>
          </a:p>
          <a:p>
            <a:pPr>
              <a:spcAft>
                <a:spcPts val="700"/>
              </a:spcAft>
            </a:pPr>
            <a:r>
              <a:rPr sz="1500">
                <a:solidFill>
                  <a:srgbClr val="595959"/>
                </a:solidFill>
                <a:latin typeface="Calibri"/>
              </a:rPr>
              <a:t>•  </a:t>
            </a:r>
            <a:r>
              <a:rPr sz="1500" b="0">
                <a:solidFill>
                  <a:srgbClr val="262626"/>
                </a:solidFill>
                <a:latin typeface="Calibri"/>
              </a:rPr>
              <a:t>Confirmatory results stay as registered; the fix is exploratory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anchor="b" lIns="45720" rIns="45720">
            <a:spAutoFit/>
          </a:bodyPr>
          <a:lstStyle/>
          <a:p>
            <a:pPr algn="l"/>
            <a:r>
              <a:rPr sz="3000" b="1" i="0">
                <a:solidFill>
                  <a:srgbClr val="1F3864"/>
                </a:solidFill>
                <a:latin typeface="Calibri"/>
              </a:rPr>
              <a:t>With τ fixed, federated training learns</a:t>
            </a:r>
          </a:p>
        </p:txBody>
      </p:sp>
      <p:cxnSp>
        <p:nvCxnSpPr>
          <p:cNvPr id="3" name="Connector 2"/>
          <p:cNvCxnSpPr/>
          <p:nvPr/>
        </p:nvCxnSpPr>
        <p:spPr>
          <a:xfrm>
            <a:off x="548640" y="1005840"/>
            <a:ext cx="11094415"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1060704"/>
            <a:ext cx="11155680" cy="457200"/>
          </a:xfrm>
          <a:prstGeom prst="rect">
            <a:avLst/>
          </a:prstGeom>
          <a:noFill/>
        </p:spPr>
        <p:txBody>
          <a:bodyPr wrap="square" anchor="t" lIns="45720" rIns="45720">
            <a:spAutoFit/>
          </a:bodyPr>
          <a:lstStyle/>
          <a:p>
            <a:pPr algn="l"/>
            <a:r>
              <a:rPr sz="1600" b="0" i="1">
                <a:solidFill>
                  <a:srgbClr val="595959"/>
                </a:solidFill>
                <a:latin typeface="Calibri"/>
              </a:rPr>
              <a:t>Six public benchmarks, TEST (exploratory look)</a:t>
            </a:r>
          </a:p>
        </p:txBody>
      </p:sp>
      <p:sp>
        <p:nvSpPr>
          <p:cNvPr id="5" name="TextBox 4"/>
          <p:cNvSpPr txBox="1"/>
          <p:nvPr/>
        </p:nvSpPr>
        <p:spPr>
          <a:xfrm>
            <a:off x="548640" y="6446520"/>
            <a:ext cx="8229600" cy="274320"/>
          </a:xfrm>
          <a:prstGeom prst="rect">
            <a:avLst/>
          </a:prstGeom>
          <a:noFill/>
        </p:spPr>
        <p:txBody>
          <a:bodyPr wrap="square" anchor="ctr" lIns="45720" rIns="45720">
            <a:spAutoFit/>
          </a:bodyPr>
          <a:lstStyle/>
          <a:p>
            <a:pPr algn="l"/>
            <a:r>
              <a:rPr sz="1000" b="0" i="0">
                <a:solidFill>
                  <a:srgbClr val="595959"/>
                </a:solidFill>
                <a:latin typeface="Calibri"/>
              </a:rPr>
              <a:t>Privacy-Preserving Shopping Intelligence  |  MSc Final Presentation, Queen's University</a:t>
            </a:r>
          </a:p>
        </p:txBody>
      </p:sp>
      <p:sp>
        <p:nvSpPr>
          <p:cNvPr id="6" name="TextBox 5"/>
          <p:cNvSpPr txBox="1"/>
          <p:nvPr/>
        </p:nvSpPr>
        <p:spPr>
          <a:xfrm>
            <a:off x="10728655" y="6446520"/>
            <a:ext cx="914400" cy="274320"/>
          </a:xfrm>
          <a:prstGeom prst="rect">
            <a:avLst/>
          </a:prstGeom>
          <a:noFill/>
        </p:spPr>
        <p:txBody>
          <a:bodyPr wrap="square" anchor="ctr" lIns="45720" rIns="45720">
            <a:spAutoFit/>
          </a:bodyPr>
          <a:lstStyle/>
          <a:p>
            <a:pPr algn="r"/>
            <a:r>
              <a:rPr sz="1100" b="0" i="0">
                <a:solidFill>
                  <a:srgbClr val="595959"/>
                </a:solidFill>
                <a:latin typeface="Calibri"/>
              </a:rPr>
              <a:t>15</a:t>
            </a:r>
          </a:p>
        </p:txBody>
      </p:sp>
      <p:sp>
        <p:nvSpPr>
          <p:cNvPr id="7" name="TextBox 6"/>
          <p:cNvSpPr txBox="1"/>
          <p:nvPr/>
        </p:nvSpPr>
        <p:spPr>
          <a:xfrm>
            <a:off x="9601200" y="1143000"/>
            <a:ext cx="2103120" cy="310896"/>
          </a:xfrm>
          <a:prstGeom prst="rect">
            <a:avLst/>
          </a:prstGeom>
          <a:noFill/>
        </p:spPr>
        <p:txBody>
          <a:bodyPr wrap="square" anchor="t" lIns="45720" rIns="45720">
            <a:spAutoFit/>
          </a:bodyPr>
          <a:lstStyle/>
          <a:p>
            <a:pPr algn="r"/>
            <a:r>
              <a:rPr sz="1200" b="0" i="1">
                <a:solidFill>
                  <a:srgbClr val="595959"/>
                </a:solidFill>
                <a:latin typeface="Calibri"/>
              </a:rPr>
              <a:t>(exploratory result)</a:t>
            </a:r>
          </a:p>
        </p:txBody>
      </p:sp>
      <p:pic>
        <p:nvPicPr>
          <p:cNvPr id="8" name="Picture 7" descr="fig_bench_taufix.png"/>
          <p:cNvPicPr>
            <a:picLocks noChangeAspect="1"/>
          </p:cNvPicPr>
          <p:nvPr/>
        </p:nvPicPr>
        <p:blipFill>
          <a:blip r:embed="rId2"/>
          <a:stretch>
            <a:fillRect/>
          </a:stretch>
        </p:blipFill>
        <p:spPr>
          <a:xfrm>
            <a:off x="457200" y="1600200"/>
            <a:ext cx="7315200" cy="4200211"/>
          </a:xfrm>
          <a:prstGeom prst="rect">
            <a:avLst/>
          </a:prstGeom>
        </p:spPr>
      </p:pic>
      <p:sp>
        <p:nvSpPr>
          <p:cNvPr id="9" name="TextBox 8"/>
          <p:cNvSpPr txBox="1"/>
          <p:nvPr/>
        </p:nvSpPr>
        <p:spPr>
          <a:xfrm>
            <a:off x="8001000" y="1645920"/>
            <a:ext cx="3840480" cy="411480"/>
          </a:xfrm>
          <a:prstGeom prst="rect">
            <a:avLst/>
          </a:prstGeom>
          <a:noFill/>
        </p:spPr>
        <p:txBody>
          <a:bodyPr wrap="square" anchor="t" lIns="45720" rIns="45720">
            <a:spAutoFit/>
          </a:bodyPr>
          <a:lstStyle/>
          <a:p>
            <a:pPr algn="l"/>
            <a:r>
              <a:rPr sz="1700" b="1" i="0">
                <a:solidFill>
                  <a:srgbClr val="1F3864"/>
                </a:solidFill>
                <a:latin typeface="Calibri"/>
              </a:rPr>
              <a:t>What changed</a:t>
            </a:r>
          </a:p>
        </p:txBody>
      </p:sp>
      <p:sp>
        <p:nvSpPr>
          <p:cNvPr id="10" name="TextBox 9"/>
          <p:cNvSpPr txBox="1"/>
          <p:nvPr/>
        </p:nvSpPr>
        <p:spPr>
          <a:xfrm>
            <a:off x="8001000" y="2103120"/>
            <a:ext cx="3840480" cy="4023360"/>
          </a:xfrm>
          <a:prstGeom prst="rect">
            <a:avLst/>
          </a:prstGeom>
          <a:noFill/>
        </p:spPr>
        <p:txBody>
          <a:bodyPr wrap="square">
            <a:spAutoFit/>
          </a:bodyPr>
          <a:lstStyle/>
          <a:p>
            <a:pPr>
              <a:spcAft>
                <a:spcPts val="700"/>
              </a:spcAft>
            </a:pPr>
            <a:r>
              <a:rPr sz="1500">
                <a:solidFill>
                  <a:srgbClr val="595959"/>
                </a:solidFill>
                <a:latin typeface="Calibri"/>
              </a:rPr>
              <a:t>•  </a:t>
            </a:r>
            <a:r>
              <a:rPr sz="1500" b="0">
                <a:solidFill>
                  <a:srgbClr val="262626"/>
                </a:solidFill>
                <a:latin typeface="Calibri"/>
              </a:rPr>
              <a:t>Warm FL: 75–92% of C_FULL (was 13–77%)</a:t>
            </a:r>
          </a:p>
          <a:p>
            <a:pPr>
              <a:spcAft>
                <a:spcPts val="700"/>
              </a:spcAft>
            </a:pPr>
            <a:r>
              <a:rPr sz="1500">
                <a:solidFill>
                  <a:srgbClr val="595959"/>
                </a:solidFill>
                <a:latin typeface="Calibri"/>
              </a:rPr>
              <a:t>•  </a:t>
            </a:r>
            <a:r>
              <a:rPr sz="1500" b="0">
                <a:solidFill>
                  <a:srgbClr val="262626"/>
                </a:solidFill>
                <a:latin typeface="Calibri"/>
              </a:rPr>
              <a:t>C_SMALL (device size, central) 90–110%: size is not the bottleneck</a:t>
            </a:r>
          </a:p>
          <a:p>
            <a:pPr>
              <a:spcAft>
                <a:spcPts val="700"/>
              </a:spcAft>
            </a:pPr>
            <a:r>
              <a:rPr sz="1500">
                <a:solidFill>
                  <a:srgbClr val="595959"/>
                </a:solidFill>
                <a:latin typeface="Calibri"/>
              </a:rPr>
              <a:t>•  </a:t>
            </a:r>
            <a:r>
              <a:rPr sz="1500" b="0">
                <a:solidFill>
                  <a:srgbClr val="262626"/>
                </a:solidFill>
                <a:latin typeface="Calibri"/>
              </a:rPr>
              <a:t>On REES46 the fix changes nothing (+0.00022, CI includes 0)</a:t>
            </a:r>
          </a:p>
          <a:p>
            <a:pPr>
              <a:spcAft>
                <a:spcPts val="700"/>
              </a:spcAft>
            </a:pPr>
            <a:r>
              <a:rPr sz="1500">
                <a:solidFill>
                  <a:srgbClr val="595959"/>
                </a:solidFill>
                <a:latin typeface="Calibri"/>
              </a:rPr>
              <a:t>•  </a:t>
            </a:r>
            <a:r>
              <a:rPr sz="1500" b="0">
                <a:solidFill>
                  <a:srgbClr val="262626"/>
                </a:solidFill>
                <a:latin typeface="Calibri"/>
              </a:rPr>
              <a:t>Caveat: τ changed together with budget / item tables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anchor="b" lIns="45720" rIns="45720">
            <a:spAutoFit/>
          </a:bodyPr>
          <a:lstStyle/>
          <a:p>
            <a:pPr algn="l"/>
            <a:r>
              <a:rPr sz="3000" b="1" i="0">
                <a:solidFill>
                  <a:srgbClr val="1F3864"/>
                </a:solidFill>
                <a:latin typeface="Calibri"/>
              </a:rPr>
              <a:t>The value of federation depends on the server's data</a:t>
            </a:r>
          </a:p>
        </p:txBody>
      </p:sp>
      <p:cxnSp>
        <p:nvCxnSpPr>
          <p:cNvPr id="3" name="Connector 2"/>
          <p:cNvCxnSpPr/>
          <p:nvPr/>
        </p:nvCxnSpPr>
        <p:spPr>
          <a:xfrm>
            <a:off x="548640" y="1005840"/>
            <a:ext cx="11094415"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46520"/>
            <a:ext cx="8229600" cy="274320"/>
          </a:xfrm>
          <a:prstGeom prst="rect">
            <a:avLst/>
          </a:prstGeom>
          <a:noFill/>
        </p:spPr>
        <p:txBody>
          <a:bodyPr wrap="square" anchor="ctr" lIns="45720" rIns="45720">
            <a:spAutoFit/>
          </a:bodyPr>
          <a:lstStyle/>
          <a:p>
            <a:pPr algn="l"/>
            <a:r>
              <a:rPr sz="1000" b="0" i="0">
                <a:solidFill>
                  <a:srgbClr val="595959"/>
                </a:solidFill>
                <a:latin typeface="Calibri"/>
              </a:rPr>
              <a:t>Privacy-Preserving Shopping Intelligence  |  MSc Final Presentation, Queen's University</a:t>
            </a:r>
          </a:p>
        </p:txBody>
      </p:sp>
      <p:sp>
        <p:nvSpPr>
          <p:cNvPr id="5" name="TextBox 4"/>
          <p:cNvSpPr txBox="1"/>
          <p:nvPr/>
        </p:nvSpPr>
        <p:spPr>
          <a:xfrm>
            <a:off x="10728655" y="6446520"/>
            <a:ext cx="914400" cy="274320"/>
          </a:xfrm>
          <a:prstGeom prst="rect">
            <a:avLst/>
          </a:prstGeom>
          <a:noFill/>
        </p:spPr>
        <p:txBody>
          <a:bodyPr wrap="square" anchor="ctr" lIns="45720" rIns="45720">
            <a:spAutoFit/>
          </a:bodyPr>
          <a:lstStyle/>
          <a:p>
            <a:pPr algn="r"/>
            <a:r>
              <a:rPr sz="1100" b="0" i="0">
                <a:solidFill>
                  <a:srgbClr val="595959"/>
                </a:solidFill>
                <a:latin typeface="Calibri"/>
              </a:rPr>
              <a:t>16</a:t>
            </a:r>
          </a:p>
        </p:txBody>
      </p:sp>
      <p:sp>
        <p:nvSpPr>
          <p:cNvPr id="6" name="TextBox 5"/>
          <p:cNvSpPr txBox="1"/>
          <p:nvPr/>
        </p:nvSpPr>
        <p:spPr>
          <a:xfrm>
            <a:off x="9601200" y="1143000"/>
            <a:ext cx="2103120" cy="310896"/>
          </a:xfrm>
          <a:prstGeom prst="rect">
            <a:avLst/>
          </a:prstGeom>
          <a:noFill/>
        </p:spPr>
        <p:txBody>
          <a:bodyPr wrap="square" anchor="t" lIns="45720" rIns="45720">
            <a:spAutoFit/>
          </a:bodyPr>
          <a:lstStyle/>
          <a:p>
            <a:pPr algn="r"/>
            <a:r>
              <a:rPr sz="1200" b="0" i="1">
                <a:solidFill>
                  <a:srgbClr val="595959"/>
                </a:solidFill>
                <a:latin typeface="Calibri"/>
              </a:rPr>
              <a:t>(exploratory result)</a:t>
            </a:r>
          </a:p>
        </p:txBody>
      </p:sp>
      <p:pic>
        <p:nvPicPr>
          <p:cNvPr id="7" name="Picture 6" descr="fig_server_data_value.png"/>
          <p:cNvPicPr>
            <a:picLocks noChangeAspect="1"/>
          </p:cNvPicPr>
          <p:nvPr/>
        </p:nvPicPr>
        <p:blipFill>
          <a:blip r:embed="rId2"/>
          <a:stretch>
            <a:fillRect/>
          </a:stretch>
        </p:blipFill>
        <p:spPr>
          <a:xfrm>
            <a:off x="457200" y="1463040"/>
            <a:ext cx="7040880" cy="3520439"/>
          </a:xfrm>
          <a:prstGeom prst="rect">
            <a:avLst/>
          </a:prstGeom>
        </p:spPr>
      </p:pic>
      <p:sp>
        <p:nvSpPr>
          <p:cNvPr id="8" name="TextBox 7"/>
          <p:cNvSpPr txBox="1"/>
          <p:nvPr/>
        </p:nvSpPr>
        <p:spPr>
          <a:xfrm>
            <a:off x="7772400" y="1554480"/>
            <a:ext cx="4069080" cy="411480"/>
          </a:xfrm>
          <a:prstGeom prst="rect">
            <a:avLst/>
          </a:prstGeom>
          <a:noFill/>
        </p:spPr>
        <p:txBody>
          <a:bodyPr wrap="square" anchor="t" lIns="45720" rIns="45720">
            <a:spAutoFit/>
          </a:bodyPr>
          <a:lstStyle/>
          <a:p>
            <a:pPr algn="l"/>
            <a:r>
              <a:rPr sz="1700" b="1" i="0">
                <a:solidFill>
                  <a:srgbClr val="1F3864"/>
                </a:solidFill>
                <a:latin typeface="Calibri"/>
              </a:rPr>
              <a:t>Evidence</a:t>
            </a:r>
          </a:p>
        </p:txBody>
      </p:sp>
      <p:sp>
        <p:nvSpPr>
          <p:cNvPr id="9" name="TextBox 8"/>
          <p:cNvSpPr txBox="1"/>
          <p:nvPr/>
        </p:nvSpPr>
        <p:spPr>
          <a:xfrm>
            <a:off x="7772400" y="2011680"/>
            <a:ext cx="4069080" cy="4114800"/>
          </a:xfrm>
          <a:prstGeom prst="rect">
            <a:avLst/>
          </a:prstGeom>
          <a:noFill/>
        </p:spPr>
        <p:txBody>
          <a:bodyPr wrap="square">
            <a:spAutoFit/>
          </a:bodyPr>
          <a:lstStyle/>
          <a:p>
            <a:pPr>
              <a:spcAft>
                <a:spcPts val="700"/>
              </a:spcAft>
            </a:pPr>
            <a:r>
              <a:rPr sz="1500">
                <a:solidFill>
                  <a:srgbClr val="595959"/>
                </a:solidFill>
                <a:latin typeface="Calibri"/>
              </a:rPr>
              <a:t>•  </a:t>
            </a:r>
            <a:r>
              <a:rPr sz="1500" b="0">
                <a:solidFill>
                  <a:srgbClr val="262626"/>
                </a:solidFill>
                <a:latin typeface="Calibri"/>
              </a:rPr>
              <a:t>100k-user pretrain: FL adds </a:t>
            </a:r>
            <a:r>
              <a:rPr sz="1500" b="1">
                <a:solidFill>
                  <a:srgbClr val="262626"/>
                </a:solidFill>
                <a:latin typeface="Calibri"/>
              </a:rPr>
              <a:t>+0.0091</a:t>
            </a:r>
            <a:r>
              <a:rPr sz="1500" b="0">
                <a:solidFill>
                  <a:srgbClr val="262626"/>
                </a:solidFill>
                <a:latin typeface="Calibri"/>
              </a:rPr>
              <a:t> MRR@20</a:t>
            </a:r>
          </a:p>
          <a:p>
            <a:pPr>
              <a:spcAft>
                <a:spcPts val="700"/>
              </a:spcAft>
            </a:pPr>
            <a:r>
              <a:rPr sz="1500">
                <a:solidFill>
                  <a:srgbClr val="595959"/>
                </a:solidFill>
                <a:latin typeface="Calibri"/>
              </a:rPr>
              <a:t>•  </a:t>
            </a:r>
            <a:r>
              <a:rPr sz="1500" b="0">
                <a:solidFill>
                  <a:srgbClr val="262626"/>
                </a:solidFill>
                <a:latin typeface="Calibri"/>
              </a:rPr>
              <a:t>1.2M-user pretrain: FL adds ≈ 0</a:t>
            </a:r>
          </a:p>
          <a:p>
            <a:pPr>
              <a:spcAft>
                <a:spcPts val="700"/>
              </a:spcAft>
            </a:pPr>
            <a:r>
              <a:rPr sz="1500">
                <a:solidFill>
                  <a:srgbClr val="595959"/>
                </a:solidFill>
                <a:latin typeface="Calibri"/>
              </a:rPr>
              <a:t>•  </a:t>
            </a:r>
            <a:r>
              <a:rPr sz="1500" b="0">
                <a:solidFill>
                  <a:srgbClr val="262626"/>
                </a:solidFill>
                <a:latin typeface="Calibri"/>
              </a:rPr>
              <a:t>Disjoint server data (50%): warm beats cold by 27–55% on Amazon data</a:t>
            </a:r>
          </a:p>
          <a:p>
            <a:pPr>
              <a:spcAft>
                <a:spcPts val="700"/>
              </a:spcAft>
            </a:pPr>
            <a:r>
              <a:rPr sz="1500">
                <a:solidFill>
                  <a:srgbClr val="595959"/>
                </a:solidFill>
                <a:latin typeface="Calibri"/>
              </a:rPr>
              <a:t>•  </a:t>
            </a:r>
            <a:r>
              <a:rPr sz="1500" b="0">
                <a:solidFill>
                  <a:srgbClr val="262626"/>
                </a:solidFill>
                <a:latin typeface="Calibri"/>
              </a:rPr>
              <a:t>Exception: MovieLens-1M (6,040 users)</a:t>
            </a:r>
          </a:p>
          <a:p>
            <a:pPr>
              <a:spcAft>
                <a:spcPts val="700"/>
              </a:spcAft>
            </a:pPr>
            <a:r>
              <a:rPr sz="1500">
                <a:solidFill>
                  <a:srgbClr val="595959"/>
                </a:solidFill>
                <a:latin typeface="Calibri"/>
              </a:rPr>
              <a:t>•  </a:t>
            </a:r>
            <a:r>
              <a:rPr sz="1500" b="0">
                <a:solidFill>
                  <a:srgbClr val="262626"/>
                </a:solidFill>
                <a:latin typeface="Calibri"/>
              </a:rPr>
              <a:t>Federation cost at matched size ≈ 14–22%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anchor="b" lIns="45720" rIns="45720">
            <a:spAutoFit/>
          </a:bodyPr>
          <a:lstStyle/>
          <a:p>
            <a:pPr algn="l"/>
            <a:r>
              <a:rPr sz="3000" b="1" i="0">
                <a:solidFill>
                  <a:srgbClr val="1F3864"/>
                </a:solidFill>
                <a:latin typeface="Calibri"/>
              </a:rPr>
              <a:t>Privacy: learning leaks, and the guarantees need care</a:t>
            </a:r>
          </a:p>
        </p:txBody>
      </p:sp>
      <p:cxnSp>
        <p:nvCxnSpPr>
          <p:cNvPr id="3" name="Connector 2"/>
          <p:cNvCxnSpPr/>
          <p:nvPr/>
        </p:nvCxnSpPr>
        <p:spPr>
          <a:xfrm>
            <a:off x="548640" y="1005840"/>
            <a:ext cx="11094415"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46520"/>
            <a:ext cx="8229600" cy="274320"/>
          </a:xfrm>
          <a:prstGeom prst="rect">
            <a:avLst/>
          </a:prstGeom>
          <a:noFill/>
        </p:spPr>
        <p:txBody>
          <a:bodyPr wrap="square" anchor="ctr" lIns="45720" rIns="45720">
            <a:spAutoFit/>
          </a:bodyPr>
          <a:lstStyle/>
          <a:p>
            <a:pPr algn="l"/>
            <a:r>
              <a:rPr sz="1000" b="0" i="0">
                <a:solidFill>
                  <a:srgbClr val="595959"/>
                </a:solidFill>
                <a:latin typeface="Calibri"/>
              </a:rPr>
              <a:t>Privacy-Preserving Shopping Intelligence  |  MSc Final Presentation, Queen's University</a:t>
            </a:r>
          </a:p>
        </p:txBody>
      </p:sp>
      <p:sp>
        <p:nvSpPr>
          <p:cNvPr id="5" name="TextBox 4"/>
          <p:cNvSpPr txBox="1"/>
          <p:nvPr/>
        </p:nvSpPr>
        <p:spPr>
          <a:xfrm>
            <a:off x="10728655" y="6446520"/>
            <a:ext cx="914400" cy="274320"/>
          </a:xfrm>
          <a:prstGeom prst="rect">
            <a:avLst/>
          </a:prstGeom>
          <a:noFill/>
        </p:spPr>
        <p:txBody>
          <a:bodyPr wrap="square" anchor="ctr" lIns="45720" rIns="45720">
            <a:spAutoFit/>
          </a:bodyPr>
          <a:lstStyle/>
          <a:p>
            <a:pPr algn="r"/>
            <a:r>
              <a:rPr sz="1100" b="0" i="0">
                <a:solidFill>
                  <a:srgbClr val="595959"/>
                </a:solidFill>
                <a:latin typeface="Calibri"/>
              </a:rPr>
              <a:t>17</a:t>
            </a:r>
          </a:p>
        </p:txBody>
      </p:sp>
      <p:pic>
        <p:nvPicPr>
          <p:cNvPr id="6" name="Picture 5" descr="fig_privacy.png"/>
          <p:cNvPicPr>
            <a:picLocks noChangeAspect="1"/>
          </p:cNvPicPr>
          <p:nvPr/>
        </p:nvPicPr>
        <p:blipFill>
          <a:blip r:embed="rId2"/>
          <a:stretch>
            <a:fillRect/>
          </a:stretch>
        </p:blipFill>
        <p:spPr>
          <a:xfrm>
            <a:off x="411480" y="1371600"/>
            <a:ext cx="7406640" cy="3092666"/>
          </a:xfrm>
          <a:prstGeom prst="rect">
            <a:avLst/>
          </a:prstGeom>
        </p:spPr>
      </p:pic>
      <p:sp>
        <p:nvSpPr>
          <p:cNvPr id="7" name="TextBox 6"/>
          <p:cNvSpPr txBox="1"/>
          <p:nvPr/>
        </p:nvSpPr>
        <p:spPr>
          <a:xfrm>
            <a:off x="8046720" y="1463040"/>
            <a:ext cx="3794760" cy="411480"/>
          </a:xfrm>
          <a:prstGeom prst="rect">
            <a:avLst/>
          </a:prstGeom>
          <a:noFill/>
        </p:spPr>
        <p:txBody>
          <a:bodyPr wrap="square" anchor="t" lIns="45720" rIns="45720">
            <a:spAutoFit/>
          </a:bodyPr>
          <a:lstStyle/>
          <a:p>
            <a:pPr algn="l"/>
            <a:r>
              <a:rPr sz="1600" b="1" i="0">
                <a:solidFill>
                  <a:srgbClr val="1F3864"/>
                </a:solidFill>
                <a:latin typeface="Calibri"/>
              </a:rPr>
              <a:t>Findings</a:t>
            </a:r>
          </a:p>
        </p:txBody>
      </p:sp>
      <p:sp>
        <p:nvSpPr>
          <p:cNvPr id="8" name="TextBox 7"/>
          <p:cNvSpPr txBox="1"/>
          <p:nvPr/>
        </p:nvSpPr>
        <p:spPr>
          <a:xfrm>
            <a:off x="8046720" y="1920240"/>
            <a:ext cx="3794760" cy="4206240"/>
          </a:xfrm>
          <a:prstGeom prst="rect">
            <a:avLst/>
          </a:prstGeom>
          <a:noFill/>
        </p:spPr>
        <p:txBody>
          <a:bodyPr wrap="square">
            <a:spAutoFit/>
          </a:bodyPr>
          <a:lstStyle/>
          <a:p>
            <a:pPr>
              <a:spcAft>
                <a:spcPts val="700"/>
              </a:spcAft>
            </a:pPr>
            <a:r>
              <a:rPr sz="1400">
                <a:solidFill>
                  <a:srgbClr val="595959"/>
                </a:solidFill>
                <a:latin typeface="Calibri"/>
              </a:rPr>
              <a:t>•  </a:t>
            </a:r>
            <a:r>
              <a:rPr sz="1400" b="0">
                <a:solidFill>
                  <a:srgbClr val="262626"/>
                </a:solidFill>
                <a:latin typeface="Calibri"/>
              </a:rPr>
              <a:t>FL that really learns leaks membership (AUC 0.747)</a:t>
            </a:r>
          </a:p>
          <a:p>
            <a:pPr>
              <a:spcAft>
                <a:spcPts val="700"/>
              </a:spcAft>
            </a:pPr>
            <a:r>
              <a:rPr sz="1400">
                <a:solidFill>
                  <a:srgbClr val="595959"/>
                </a:solidFill>
                <a:latin typeface="Calibri"/>
              </a:rPr>
              <a:t>•  </a:t>
            </a:r>
            <a:r>
              <a:rPr sz="1400" b="0">
                <a:solidFill>
                  <a:srgbClr val="262626"/>
                </a:solidFill>
                <a:latin typeface="Calibri"/>
              </a:rPr>
              <a:t>DP at ε = 8 removes the measured leak; cost small on warm, large on cold</a:t>
            </a:r>
          </a:p>
          <a:p>
            <a:pPr>
              <a:spcAft>
                <a:spcPts val="700"/>
              </a:spcAft>
            </a:pPr>
            <a:r>
              <a:rPr sz="1400">
                <a:solidFill>
                  <a:srgbClr val="595959"/>
                </a:solidFill>
                <a:latin typeface="Calibri"/>
              </a:rPr>
              <a:t>•  </a:t>
            </a:r>
            <a:r>
              <a:rPr sz="1400" b="0">
                <a:solidFill>
                  <a:srgbClr val="262626"/>
                </a:solidFill>
                <a:latin typeface="Calibri"/>
              </a:rPr>
              <a:t/>
            </a:r>
            <a:r>
              <a:rPr sz="1400" b="1">
                <a:solidFill>
                  <a:srgbClr val="262626"/>
                </a:solidFill>
                <a:latin typeface="Calibri"/>
              </a:rPr>
              <a:t>Audit corrections:</a:t>
            </a:r>
            <a:r>
              <a:rPr sz="1400" b="0">
                <a:solidFill>
                  <a:srgbClr val="262626"/>
                </a:solidFill>
                <a:latin typeface="Calibri"/>
              </a:rPr>
              <a:t> legacy DP seed was public → no formal DP guarantee</a:t>
            </a:r>
          </a:p>
          <a:p>
            <a:pPr>
              <a:spcAft>
                <a:spcPts val="700"/>
              </a:spcAft>
            </a:pPr>
            <a:r>
              <a:rPr sz="1400">
                <a:solidFill>
                  <a:srgbClr val="595959"/>
                </a:solidFill>
                <a:latin typeface="Calibri"/>
              </a:rPr>
              <a:t>•  </a:t>
            </a:r>
            <a:r>
              <a:rPr sz="1400" b="0">
                <a:solidFill>
                  <a:srgbClr val="262626"/>
                </a:solidFill>
                <a:latin typeface="Calibri"/>
              </a:rPr>
              <a:t>Update-leakage attack: 2.625 pp &gt; 2 pp threshold (negative)</a:t>
            </a:r>
          </a:p>
          <a:p>
            <a:pPr>
              <a:spcAft>
                <a:spcPts val="700"/>
              </a:spcAft>
            </a:pPr>
            <a:r>
              <a:rPr sz="1400">
                <a:solidFill>
                  <a:srgbClr val="595959"/>
                </a:solidFill>
                <a:latin typeface="Calibri"/>
              </a:rPr>
              <a:t>•  </a:t>
            </a:r>
            <a:r>
              <a:rPr sz="1400" b="0">
                <a:solidFill>
                  <a:srgbClr val="262626"/>
                </a:solidFill>
                <a:latin typeface="Calibri"/>
              </a:rPr>
              <a:t>Secure aggregation: simulation only (&lt; 1% upload overhead)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anchor="b" lIns="45720" rIns="45720">
            <a:spAutoFit/>
          </a:bodyPr>
          <a:lstStyle/>
          <a:p>
            <a:pPr algn="l"/>
            <a:r>
              <a:rPr sz="3000" b="1" i="0">
                <a:solidFill>
                  <a:srgbClr val="1F3864"/>
                </a:solidFill>
                <a:latin typeface="Calibri"/>
              </a:rPr>
              <a:t>On-device feasibility in Microsoft Edge</a:t>
            </a:r>
          </a:p>
        </p:txBody>
      </p:sp>
      <p:cxnSp>
        <p:nvCxnSpPr>
          <p:cNvPr id="3" name="Connector 2"/>
          <p:cNvCxnSpPr/>
          <p:nvPr/>
        </p:nvCxnSpPr>
        <p:spPr>
          <a:xfrm>
            <a:off x="548640" y="1005840"/>
            <a:ext cx="11094415"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1060704"/>
            <a:ext cx="11155680" cy="457200"/>
          </a:xfrm>
          <a:prstGeom prst="rect">
            <a:avLst/>
          </a:prstGeom>
          <a:noFill/>
        </p:spPr>
        <p:txBody>
          <a:bodyPr wrap="square" anchor="t" lIns="45720" rIns="45720">
            <a:spAutoFit/>
          </a:bodyPr>
          <a:lstStyle/>
          <a:p>
            <a:pPr algn="l"/>
            <a:r>
              <a:rPr sz="1600" b="0" i="1">
                <a:solidFill>
                  <a:srgbClr val="595959"/>
                </a:solidFill>
                <a:latin typeface="Calibri"/>
              </a:rPr>
              <a:t>ONNX Runtime WebAssembly, laptop / phone / server CPU</a:t>
            </a:r>
          </a:p>
        </p:txBody>
      </p:sp>
      <p:sp>
        <p:nvSpPr>
          <p:cNvPr id="5" name="TextBox 4"/>
          <p:cNvSpPr txBox="1"/>
          <p:nvPr/>
        </p:nvSpPr>
        <p:spPr>
          <a:xfrm>
            <a:off x="548640" y="6446520"/>
            <a:ext cx="8229600" cy="274320"/>
          </a:xfrm>
          <a:prstGeom prst="rect">
            <a:avLst/>
          </a:prstGeom>
          <a:noFill/>
        </p:spPr>
        <p:txBody>
          <a:bodyPr wrap="square" anchor="ctr" lIns="45720" rIns="45720">
            <a:spAutoFit/>
          </a:bodyPr>
          <a:lstStyle/>
          <a:p>
            <a:pPr algn="l"/>
            <a:r>
              <a:rPr sz="1000" b="0" i="0">
                <a:solidFill>
                  <a:srgbClr val="595959"/>
                </a:solidFill>
                <a:latin typeface="Calibri"/>
              </a:rPr>
              <a:t>Privacy-Preserving Shopping Intelligence  |  MSc Final Presentation, Queen's University</a:t>
            </a:r>
          </a:p>
        </p:txBody>
      </p:sp>
      <p:sp>
        <p:nvSpPr>
          <p:cNvPr id="6" name="TextBox 5"/>
          <p:cNvSpPr txBox="1"/>
          <p:nvPr/>
        </p:nvSpPr>
        <p:spPr>
          <a:xfrm>
            <a:off x="10728655" y="6446520"/>
            <a:ext cx="914400" cy="274320"/>
          </a:xfrm>
          <a:prstGeom prst="rect">
            <a:avLst/>
          </a:prstGeom>
          <a:noFill/>
        </p:spPr>
        <p:txBody>
          <a:bodyPr wrap="square" anchor="ctr" lIns="45720" rIns="45720">
            <a:spAutoFit/>
          </a:bodyPr>
          <a:lstStyle/>
          <a:p>
            <a:pPr algn="r"/>
            <a:r>
              <a:rPr sz="1100" b="0" i="0">
                <a:solidFill>
                  <a:srgbClr val="595959"/>
                </a:solidFill>
                <a:latin typeface="Calibri"/>
              </a:rPr>
              <a:t>18</a:t>
            </a:r>
          </a:p>
        </p:txBody>
      </p:sp>
      <p:pic>
        <p:nvPicPr>
          <p:cNvPr id="7" name="Picture 6" descr="fig_device_latency.png"/>
          <p:cNvPicPr>
            <a:picLocks noChangeAspect="1"/>
          </p:cNvPicPr>
          <p:nvPr/>
        </p:nvPicPr>
        <p:blipFill>
          <a:blip r:embed="rId2"/>
          <a:stretch>
            <a:fillRect/>
          </a:stretch>
        </p:blipFill>
        <p:spPr>
          <a:xfrm>
            <a:off x="457200" y="1691640"/>
            <a:ext cx="7498079" cy="3013334"/>
          </a:xfrm>
          <a:prstGeom prst="rect">
            <a:avLst/>
          </a:prstGeom>
        </p:spPr>
      </p:pic>
      <p:sp>
        <p:nvSpPr>
          <p:cNvPr id="8" name="TextBox 7"/>
          <p:cNvSpPr txBox="1"/>
          <p:nvPr/>
        </p:nvSpPr>
        <p:spPr>
          <a:xfrm>
            <a:off x="8183879" y="1737360"/>
            <a:ext cx="3657600" cy="411480"/>
          </a:xfrm>
          <a:prstGeom prst="rect">
            <a:avLst/>
          </a:prstGeom>
          <a:noFill/>
        </p:spPr>
        <p:txBody>
          <a:bodyPr wrap="square" anchor="t" lIns="45720" rIns="45720">
            <a:spAutoFit/>
          </a:bodyPr>
          <a:lstStyle/>
          <a:p>
            <a:pPr algn="l"/>
            <a:r>
              <a:rPr sz="1700" b="1" i="0">
                <a:solidFill>
                  <a:srgbClr val="1F3864"/>
                </a:solidFill>
                <a:latin typeface="Calibri"/>
              </a:rPr>
              <a:t>Deployability</a:t>
            </a:r>
          </a:p>
        </p:txBody>
      </p:sp>
      <p:sp>
        <p:nvSpPr>
          <p:cNvPr id="9" name="TextBox 8"/>
          <p:cNvSpPr txBox="1"/>
          <p:nvPr/>
        </p:nvSpPr>
        <p:spPr>
          <a:xfrm>
            <a:off x="8183879" y="2194560"/>
            <a:ext cx="3657600" cy="3931920"/>
          </a:xfrm>
          <a:prstGeom prst="rect">
            <a:avLst/>
          </a:prstGeom>
          <a:noFill/>
        </p:spPr>
        <p:txBody>
          <a:bodyPr wrap="square">
            <a:spAutoFit/>
          </a:bodyPr>
          <a:lstStyle/>
          <a:p>
            <a:pPr>
              <a:spcAft>
                <a:spcPts val="700"/>
              </a:spcAft>
            </a:pPr>
            <a:r>
              <a:rPr sz="1500">
                <a:solidFill>
                  <a:srgbClr val="595959"/>
                </a:solidFill>
                <a:latin typeface="Calibri"/>
              </a:rPr>
              <a:t>•  </a:t>
            </a:r>
            <a:r>
              <a:rPr sz="1500" b="0">
                <a:solidFill>
                  <a:srgbClr val="262626"/>
                </a:solidFill>
                <a:latin typeface="Calibri"/>
              </a:rPr>
              <a:t>INT8 model: 82.9 MB → 21.2 MB</a:t>
            </a:r>
          </a:p>
          <a:p>
            <a:pPr>
              <a:spcAft>
                <a:spcPts val="700"/>
              </a:spcAft>
            </a:pPr>
            <a:r>
              <a:rPr sz="1500">
                <a:solidFill>
                  <a:srgbClr val="595959"/>
                </a:solidFill>
                <a:latin typeface="Calibri"/>
              </a:rPr>
              <a:t>•  </a:t>
            </a:r>
            <a:r>
              <a:rPr sz="1500" b="0">
                <a:solidFill>
                  <a:srgbClr val="262626"/>
                </a:solidFill>
                <a:latin typeface="Calibri"/>
              </a:rPr>
              <a:t>INT8 and 8-bit uploads: no measurable quality cost (K16, K14)</a:t>
            </a:r>
          </a:p>
          <a:p>
            <a:pPr>
              <a:spcAft>
                <a:spcPts val="700"/>
              </a:spcAft>
            </a:pPr>
            <a:r>
              <a:rPr sz="1500">
                <a:solidFill>
                  <a:srgbClr val="595959"/>
                </a:solidFill>
                <a:latin typeface="Calibri"/>
              </a:rPr>
              <a:t>•  </a:t>
            </a:r>
            <a:r>
              <a:rPr sz="1500" b="0">
                <a:solidFill>
                  <a:srgbClr val="262626"/>
                </a:solidFill>
                <a:latin typeface="Calibri"/>
              </a:rPr>
              <a:t>Warm median latency 1.7–5.1 ms per query</a:t>
            </a:r>
          </a:p>
          <a:p>
            <a:pPr>
              <a:spcAft>
                <a:spcPts val="700"/>
              </a:spcAft>
            </a:pPr>
            <a:r>
              <a:rPr sz="1500">
                <a:solidFill>
                  <a:srgbClr val="595959"/>
                </a:solidFill>
                <a:latin typeface="Calibri"/>
              </a:rPr>
              <a:t>•  </a:t>
            </a:r>
            <a:r>
              <a:rPr sz="1500" b="0">
                <a:solidFill>
                  <a:srgbClr val="262626"/>
                </a:solidFill>
                <a:latin typeface="Calibri"/>
              </a:rPr>
              <a:t>Phone cold start ≈ 2.5 s with INT8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anchor="b" lIns="45720" rIns="45720">
            <a:spAutoFit/>
          </a:bodyPr>
          <a:lstStyle/>
          <a:p>
            <a:pPr algn="l"/>
            <a:r>
              <a:rPr sz="3000" b="1" i="0">
                <a:solidFill>
                  <a:srgbClr val="1F3864"/>
                </a:solidFill>
                <a:latin typeface="Calibri"/>
              </a:rPr>
              <a:t>Closure experiments</a:t>
            </a:r>
          </a:p>
        </p:txBody>
      </p:sp>
      <p:cxnSp>
        <p:nvCxnSpPr>
          <p:cNvPr id="3" name="Connector 2"/>
          <p:cNvCxnSpPr/>
          <p:nvPr/>
        </p:nvCxnSpPr>
        <p:spPr>
          <a:xfrm>
            <a:off x="548640" y="1005840"/>
            <a:ext cx="11094415"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1060704"/>
            <a:ext cx="11155680" cy="457200"/>
          </a:xfrm>
          <a:prstGeom prst="rect">
            <a:avLst/>
          </a:prstGeom>
          <a:noFill/>
        </p:spPr>
        <p:txBody>
          <a:bodyPr wrap="square" anchor="t" lIns="45720" rIns="45720">
            <a:spAutoFit/>
          </a:bodyPr>
          <a:lstStyle/>
          <a:p>
            <a:pPr algn="l"/>
            <a:r>
              <a:rPr sz="1600" b="0" i="1">
                <a:solidFill>
                  <a:srgbClr val="595959"/>
                </a:solidFill>
                <a:latin typeface="Calibri"/>
              </a:rPr>
              <a:t>Technical closure and extensions, 12–17 October</a:t>
            </a:r>
          </a:p>
        </p:txBody>
      </p:sp>
      <p:sp>
        <p:nvSpPr>
          <p:cNvPr id="5" name="TextBox 4"/>
          <p:cNvSpPr txBox="1"/>
          <p:nvPr/>
        </p:nvSpPr>
        <p:spPr>
          <a:xfrm>
            <a:off x="548640" y="6446520"/>
            <a:ext cx="8229600" cy="274320"/>
          </a:xfrm>
          <a:prstGeom prst="rect">
            <a:avLst/>
          </a:prstGeom>
          <a:noFill/>
        </p:spPr>
        <p:txBody>
          <a:bodyPr wrap="square" anchor="ctr" lIns="45720" rIns="45720">
            <a:spAutoFit/>
          </a:bodyPr>
          <a:lstStyle/>
          <a:p>
            <a:pPr algn="l"/>
            <a:r>
              <a:rPr sz="1000" b="0" i="0">
                <a:solidFill>
                  <a:srgbClr val="595959"/>
                </a:solidFill>
                <a:latin typeface="Calibri"/>
              </a:rPr>
              <a:t>Privacy-Preserving Shopping Intelligence  |  MSc Final Presentation, Queen's University</a:t>
            </a:r>
          </a:p>
        </p:txBody>
      </p:sp>
      <p:sp>
        <p:nvSpPr>
          <p:cNvPr id="6" name="TextBox 5"/>
          <p:cNvSpPr txBox="1"/>
          <p:nvPr/>
        </p:nvSpPr>
        <p:spPr>
          <a:xfrm>
            <a:off x="10728655" y="6446520"/>
            <a:ext cx="914400" cy="274320"/>
          </a:xfrm>
          <a:prstGeom prst="rect">
            <a:avLst/>
          </a:prstGeom>
          <a:noFill/>
        </p:spPr>
        <p:txBody>
          <a:bodyPr wrap="square" anchor="ctr" lIns="45720" rIns="45720">
            <a:spAutoFit/>
          </a:bodyPr>
          <a:lstStyle/>
          <a:p>
            <a:pPr algn="r"/>
            <a:r>
              <a:rPr sz="1100" b="0" i="0">
                <a:solidFill>
                  <a:srgbClr val="595959"/>
                </a:solidFill>
                <a:latin typeface="Calibri"/>
              </a:rPr>
              <a:t>19</a:t>
            </a:r>
          </a:p>
        </p:txBody>
      </p:sp>
      <p:pic>
        <p:nvPicPr>
          <p:cNvPr id="7" name="Picture 6" descr="fig_closure_extensions.png"/>
          <p:cNvPicPr>
            <a:picLocks noChangeAspect="1"/>
          </p:cNvPicPr>
          <p:nvPr/>
        </p:nvPicPr>
        <p:blipFill>
          <a:blip r:embed="rId2"/>
          <a:stretch>
            <a:fillRect/>
          </a:stretch>
        </p:blipFill>
        <p:spPr>
          <a:xfrm>
            <a:off x="411480" y="1600200"/>
            <a:ext cx="6949440" cy="2541270"/>
          </a:xfrm>
          <a:prstGeom prst="rect">
            <a:avLst/>
          </a:prstGeom>
        </p:spPr>
      </p:pic>
      <p:sp>
        <p:nvSpPr>
          <p:cNvPr id="8" name="TextBox 7"/>
          <p:cNvSpPr txBox="1"/>
          <p:nvPr/>
        </p:nvSpPr>
        <p:spPr>
          <a:xfrm>
            <a:off x="7589520" y="1645920"/>
            <a:ext cx="4251960" cy="411480"/>
          </a:xfrm>
          <a:prstGeom prst="rect">
            <a:avLst/>
          </a:prstGeom>
          <a:noFill/>
        </p:spPr>
        <p:txBody>
          <a:bodyPr wrap="square" anchor="t" lIns="45720" rIns="45720">
            <a:spAutoFit/>
          </a:bodyPr>
          <a:lstStyle/>
          <a:p>
            <a:pPr algn="l"/>
            <a:r>
              <a:rPr sz="1700" b="1" i="0">
                <a:solidFill>
                  <a:srgbClr val="1F3864"/>
                </a:solidFill>
                <a:latin typeface="Calibri"/>
              </a:rPr>
              <a:t>What closure added</a:t>
            </a:r>
          </a:p>
        </p:txBody>
      </p:sp>
      <p:sp>
        <p:nvSpPr>
          <p:cNvPr id="9" name="TextBox 8"/>
          <p:cNvSpPr txBox="1"/>
          <p:nvPr/>
        </p:nvSpPr>
        <p:spPr>
          <a:xfrm>
            <a:off x="7589520" y="2103120"/>
            <a:ext cx="4251960" cy="4023360"/>
          </a:xfrm>
          <a:prstGeom prst="rect">
            <a:avLst/>
          </a:prstGeom>
          <a:noFill/>
        </p:spPr>
        <p:txBody>
          <a:bodyPr wrap="square">
            <a:spAutoFit/>
          </a:bodyPr>
          <a:lstStyle/>
          <a:p>
            <a:pPr>
              <a:spcAft>
                <a:spcPts val="700"/>
              </a:spcAft>
            </a:pPr>
            <a:r>
              <a:rPr sz="1500">
                <a:solidFill>
                  <a:srgbClr val="595959"/>
                </a:solidFill>
                <a:latin typeface="Calibri"/>
              </a:rPr>
              <a:t>•  </a:t>
            </a:r>
            <a:r>
              <a:rPr sz="1500" b="0">
                <a:solidFill>
                  <a:srgbClr val="262626"/>
                </a:solidFill>
                <a:latin typeface="Calibri"/>
              </a:rPr>
              <a:t>Second pretrain seed: small negative shift (−0.10 pts)</a:t>
            </a:r>
          </a:p>
          <a:p>
            <a:pPr>
              <a:spcAft>
                <a:spcPts val="700"/>
              </a:spcAft>
            </a:pPr>
            <a:r>
              <a:rPr sz="1500">
                <a:solidFill>
                  <a:srgbClr val="595959"/>
                </a:solidFill>
                <a:latin typeface="Calibri"/>
              </a:rPr>
              <a:t>•  </a:t>
            </a:r>
            <a:r>
              <a:rPr sz="1500" b="0">
                <a:solidFill>
                  <a:srgbClr val="262626"/>
                </a:solidFill>
                <a:latin typeface="Calibri"/>
              </a:rPr>
              <a:t>Fine-tuning moving FL models: +3–6%</a:t>
            </a:r>
          </a:p>
          <a:p>
            <a:pPr>
              <a:spcAft>
                <a:spcPts val="700"/>
              </a:spcAft>
            </a:pPr>
            <a:r>
              <a:rPr sz="1500">
                <a:solidFill>
                  <a:srgbClr val="595959"/>
                </a:solidFill>
                <a:latin typeface="Calibri"/>
              </a:rPr>
              <a:t>•  </a:t>
            </a:r>
            <a:r>
              <a:rPr sz="1500" b="0">
                <a:solidFill>
                  <a:srgbClr val="262626"/>
                </a:solidFill>
                <a:latin typeface="Calibri"/>
              </a:rPr>
              <a:t>Training-free baselines: best MC 0.1366 (validation)</a:t>
            </a:r>
          </a:p>
          <a:p>
            <a:pPr>
              <a:spcAft>
                <a:spcPts val="700"/>
              </a:spcAft>
            </a:pPr>
            <a:r>
              <a:rPr sz="1500">
                <a:solidFill>
                  <a:srgbClr val="595959"/>
                </a:solidFill>
                <a:latin typeface="Calibri"/>
              </a:rPr>
              <a:t>•  </a:t>
            </a:r>
            <a:r>
              <a:rPr sz="1500" b="0">
                <a:solidFill>
                  <a:srgbClr val="262626"/>
                </a:solidFill>
                <a:latin typeface="Calibri"/>
              </a:rPr>
              <a:t>Stopped / not run: DP-FTRL, canary restart, TEST2</a:t>
            </a:r>
          </a:p>
          <a:p>
            <a:pPr>
              <a:spcAft>
                <a:spcPts val="700"/>
              </a:spcAft>
            </a:pPr>
            <a:r>
              <a:rPr sz="1500">
                <a:solidFill>
                  <a:srgbClr val="595959"/>
                </a:solidFill>
                <a:latin typeface="Calibri"/>
              </a:rPr>
              <a:t>•  </a:t>
            </a:r>
            <a:r>
              <a:rPr sz="1500" b="0">
                <a:solidFill>
                  <a:srgbClr val="262626"/>
                </a:solidFill>
                <a:latin typeface="Calibri"/>
              </a:rPr>
              <a:t>All results labelled; nothing re-scored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anchor="b" lIns="45720" rIns="45720">
            <a:spAutoFit/>
          </a:bodyPr>
          <a:lstStyle/>
          <a:p>
            <a:pPr algn="l"/>
            <a:r>
              <a:rPr sz="3000" b="1" i="0">
                <a:solidFill>
                  <a:srgbClr val="1F3864"/>
                </a:solidFill>
                <a:latin typeface="Calibri"/>
              </a:rPr>
              <a:t>What we learned</a:t>
            </a:r>
          </a:p>
        </p:txBody>
      </p:sp>
      <p:cxnSp>
        <p:nvCxnSpPr>
          <p:cNvPr id="3" name="Connector 2"/>
          <p:cNvCxnSpPr/>
          <p:nvPr/>
        </p:nvCxnSpPr>
        <p:spPr>
          <a:xfrm>
            <a:off x="548640" y="1005840"/>
            <a:ext cx="11094415"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46520"/>
            <a:ext cx="8229600" cy="274320"/>
          </a:xfrm>
          <a:prstGeom prst="rect">
            <a:avLst/>
          </a:prstGeom>
          <a:noFill/>
        </p:spPr>
        <p:txBody>
          <a:bodyPr wrap="square" anchor="ctr" lIns="45720" rIns="45720">
            <a:spAutoFit/>
          </a:bodyPr>
          <a:lstStyle/>
          <a:p>
            <a:pPr algn="l"/>
            <a:r>
              <a:rPr sz="1000" b="0" i="0">
                <a:solidFill>
                  <a:srgbClr val="595959"/>
                </a:solidFill>
                <a:latin typeface="Calibri"/>
              </a:rPr>
              <a:t>Privacy-Preserving Shopping Intelligence  |  MSc Final Presentation, Queen's University</a:t>
            </a:r>
          </a:p>
        </p:txBody>
      </p:sp>
      <p:sp>
        <p:nvSpPr>
          <p:cNvPr id="5" name="TextBox 4"/>
          <p:cNvSpPr txBox="1"/>
          <p:nvPr/>
        </p:nvSpPr>
        <p:spPr>
          <a:xfrm>
            <a:off x="10728655" y="6446520"/>
            <a:ext cx="914400" cy="274320"/>
          </a:xfrm>
          <a:prstGeom prst="rect">
            <a:avLst/>
          </a:prstGeom>
          <a:noFill/>
        </p:spPr>
        <p:txBody>
          <a:bodyPr wrap="square" anchor="ctr" lIns="45720" rIns="45720">
            <a:spAutoFit/>
          </a:bodyPr>
          <a:lstStyle/>
          <a:p>
            <a:pPr algn="r"/>
            <a:r>
              <a:rPr sz="1100" b="0" i="0">
                <a:solidFill>
                  <a:srgbClr val="595959"/>
                </a:solidFill>
                <a:latin typeface="Calibri"/>
              </a:rPr>
              <a:t>20</a:t>
            </a:r>
          </a:p>
        </p:txBody>
      </p:sp>
      <p:sp>
        <p:nvSpPr>
          <p:cNvPr id="6" name="TextBox 5"/>
          <p:cNvSpPr txBox="1"/>
          <p:nvPr/>
        </p:nvSpPr>
        <p:spPr>
          <a:xfrm>
            <a:off x="548640" y="1280160"/>
            <a:ext cx="5486400" cy="411480"/>
          </a:xfrm>
          <a:prstGeom prst="rect">
            <a:avLst/>
          </a:prstGeom>
          <a:noFill/>
        </p:spPr>
        <p:txBody>
          <a:bodyPr wrap="square" anchor="t" lIns="45720" rIns="45720">
            <a:spAutoFit/>
          </a:bodyPr>
          <a:lstStyle/>
          <a:p>
            <a:pPr algn="l"/>
            <a:r>
              <a:rPr sz="2100" b="1" i="0">
                <a:solidFill>
                  <a:srgbClr val="1F3864"/>
                </a:solidFill>
                <a:latin typeface="Calibri"/>
              </a:rPr>
              <a:t>What worked</a:t>
            </a:r>
          </a:p>
        </p:txBody>
      </p:sp>
      <p:sp>
        <p:nvSpPr>
          <p:cNvPr id="7" name="TextBox 6"/>
          <p:cNvSpPr txBox="1"/>
          <p:nvPr/>
        </p:nvSpPr>
        <p:spPr>
          <a:xfrm>
            <a:off x="548640" y="1737360"/>
            <a:ext cx="5486400" cy="4389120"/>
          </a:xfrm>
          <a:prstGeom prst="rect">
            <a:avLst/>
          </a:prstGeom>
          <a:noFill/>
        </p:spPr>
        <p:txBody>
          <a:bodyPr wrap="square">
            <a:spAutoFit/>
          </a:bodyPr>
          <a:lstStyle/>
          <a:p>
            <a:pPr>
              <a:spcAft>
                <a:spcPts val="700"/>
              </a:spcAft>
            </a:pPr>
            <a:r>
              <a:rPr sz="1900">
                <a:solidFill>
                  <a:srgbClr val="595959"/>
                </a:solidFill>
                <a:latin typeface="Calibri"/>
              </a:rPr>
              <a:t>•  </a:t>
            </a:r>
            <a:r>
              <a:rPr sz="1900" b="0">
                <a:solidFill>
                  <a:srgbClr val="262626"/>
                </a:solidFill>
                <a:latin typeface="Calibri"/>
              </a:rPr>
              <a:t>Warm start from a server pretrain: biggest single gain</a:t>
            </a:r>
          </a:p>
          <a:p>
            <a:pPr>
              <a:spcAft>
                <a:spcPts val="700"/>
              </a:spcAft>
            </a:pPr>
            <a:r>
              <a:rPr sz="1900">
                <a:solidFill>
                  <a:srgbClr val="595959"/>
                </a:solidFill>
                <a:latin typeface="Calibri"/>
              </a:rPr>
              <a:t>•  </a:t>
            </a:r>
            <a:r>
              <a:rPr sz="1900" b="0">
                <a:solidFill>
                  <a:srgbClr val="262626"/>
                </a:solidFill>
                <a:latin typeface="Calibri"/>
              </a:rPr>
              <a:t>On-device fine-tuning: small, significant, cheap</a:t>
            </a:r>
          </a:p>
          <a:p>
            <a:pPr>
              <a:spcAft>
                <a:spcPts val="700"/>
              </a:spcAft>
            </a:pPr>
            <a:r>
              <a:rPr sz="1900">
                <a:solidFill>
                  <a:srgbClr val="595959"/>
                </a:solidFill>
                <a:latin typeface="Calibri"/>
              </a:rPr>
              <a:t>•  </a:t>
            </a:r>
            <a:r>
              <a:rPr sz="1900" b="0">
                <a:solidFill>
                  <a:srgbClr val="262626"/>
                </a:solidFill>
                <a:latin typeface="Calibri"/>
              </a:rPr>
              <a:t>INT8 / 8-bit uploads: free compression</a:t>
            </a:r>
          </a:p>
          <a:p>
            <a:pPr>
              <a:spcAft>
                <a:spcPts val="700"/>
              </a:spcAft>
            </a:pPr>
            <a:r>
              <a:rPr sz="1900">
                <a:solidFill>
                  <a:srgbClr val="595959"/>
                </a:solidFill>
                <a:latin typeface="Calibri"/>
              </a:rPr>
              <a:t>•  </a:t>
            </a:r>
            <a:r>
              <a:rPr sz="1900" b="0">
                <a:solidFill>
                  <a:srgbClr val="262626"/>
                </a:solidFill>
                <a:latin typeface="Calibri"/>
              </a:rPr>
              <a:t>Pre-registration: kept the main answer honest</a:t>
            </a:r>
          </a:p>
          <a:p>
            <a:pPr>
              <a:spcAft>
                <a:spcPts val="700"/>
              </a:spcAft>
            </a:pPr>
            <a:r>
              <a:rPr sz="1900">
                <a:solidFill>
                  <a:srgbClr val="595959"/>
                </a:solidFill>
                <a:latin typeface="Calibri"/>
              </a:rPr>
              <a:t>•  </a:t>
            </a:r>
            <a:r>
              <a:rPr sz="1900" b="0">
                <a:solidFill>
                  <a:srgbClr val="262626"/>
                </a:solidFill>
                <a:latin typeface="Calibri"/>
              </a:rPr>
              <a:t>Full-catalogue evaluation: comparable with published work</a:t>
            </a:r>
          </a:p>
        </p:txBody>
      </p:sp>
      <p:sp>
        <p:nvSpPr>
          <p:cNvPr id="8" name="TextBox 7"/>
          <p:cNvSpPr txBox="1"/>
          <p:nvPr/>
        </p:nvSpPr>
        <p:spPr>
          <a:xfrm>
            <a:off x="6217920" y="1280160"/>
            <a:ext cx="5440680" cy="411480"/>
          </a:xfrm>
          <a:prstGeom prst="rect">
            <a:avLst/>
          </a:prstGeom>
          <a:noFill/>
        </p:spPr>
        <p:txBody>
          <a:bodyPr wrap="square" anchor="t" lIns="45720" rIns="45720">
            <a:spAutoFit/>
          </a:bodyPr>
          <a:lstStyle/>
          <a:p>
            <a:pPr algn="l"/>
            <a:r>
              <a:rPr sz="2100" b="1" i="0">
                <a:solidFill>
                  <a:srgbClr val="1F3864"/>
                </a:solidFill>
                <a:latin typeface="Calibri"/>
              </a:rPr>
              <a:t>What did not</a:t>
            </a:r>
          </a:p>
        </p:txBody>
      </p:sp>
      <p:sp>
        <p:nvSpPr>
          <p:cNvPr id="9" name="TextBox 8"/>
          <p:cNvSpPr txBox="1"/>
          <p:nvPr/>
        </p:nvSpPr>
        <p:spPr>
          <a:xfrm>
            <a:off x="6217920" y="1737360"/>
            <a:ext cx="5440680" cy="4389120"/>
          </a:xfrm>
          <a:prstGeom prst="rect">
            <a:avLst/>
          </a:prstGeom>
          <a:noFill/>
        </p:spPr>
        <p:txBody>
          <a:bodyPr wrap="square">
            <a:spAutoFit/>
          </a:bodyPr>
          <a:lstStyle/>
          <a:p>
            <a:pPr>
              <a:spcAft>
                <a:spcPts val="700"/>
              </a:spcAft>
            </a:pPr>
            <a:r>
              <a:rPr sz="1900">
                <a:solidFill>
                  <a:srgbClr val="595959"/>
                </a:solidFill>
                <a:latin typeface="Calibri"/>
              </a:rPr>
              <a:t>•  </a:t>
            </a:r>
            <a:r>
              <a:rPr sz="1900" b="0">
                <a:solidFill>
                  <a:srgbClr val="262626"/>
                </a:solidFill>
                <a:latin typeface="Calibri"/>
              </a:rPr>
              <a:t>A badly scaled τ froze FL — invisible in the protocol</a:t>
            </a:r>
          </a:p>
          <a:p>
            <a:pPr>
              <a:spcAft>
                <a:spcPts val="700"/>
              </a:spcAft>
            </a:pPr>
            <a:r>
              <a:rPr sz="1900">
                <a:solidFill>
                  <a:srgbClr val="595959"/>
                </a:solidFill>
                <a:latin typeface="Calibri"/>
              </a:rPr>
              <a:t>•  </a:t>
            </a:r>
            <a:r>
              <a:rPr sz="1900" b="0">
                <a:solidFill>
                  <a:srgbClr val="262626"/>
                </a:solidFill>
                <a:latin typeface="Calibri"/>
              </a:rPr>
              <a:t>FL over a strong pretrain: no added value</a:t>
            </a:r>
          </a:p>
          <a:p>
            <a:pPr>
              <a:spcAft>
                <a:spcPts val="700"/>
              </a:spcAft>
            </a:pPr>
            <a:r>
              <a:rPr sz="1900">
                <a:solidFill>
                  <a:srgbClr val="595959"/>
                </a:solidFill>
                <a:latin typeface="Calibri"/>
              </a:rPr>
              <a:t>•  </a:t>
            </a:r>
            <a:r>
              <a:rPr sz="1900" b="0">
                <a:solidFill>
                  <a:srgbClr val="262626"/>
                </a:solidFill>
                <a:latin typeface="Calibri"/>
              </a:rPr>
              <a:t>Device-only training: unusable</a:t>
            </a:r>
          </a:p>
          <a:p>
            <a:pPr>
              <a:spcAft>
                <a:spcPts val="700"/>
              </a:spcAft>
            </a:pPr>
            <a:r>
              <a:rPr sz="1900">
                <a:solidFill>
                  <a:srgbClr val="595959"/>
                </a:solidFill>
                <a:latin typeface="Calibri"/>
              </a:rPr>
              <a:t>•  </a:t>
            </a:r>
            <a:r>
              <a:rPr sz="1900" b="0">
                <a:solidFill>
                  <a:srgbClr val="262626"/>
                </a:solidFill>
                <a:latin typeface="Calibri"/>
              </a:rPr>
              <a:t>Legacy DP randomness: no formal guarantee</a:t>
            </a:r>
          </a:p>
          <a:p>
            <a:pPr>
              <a:spcAft>
                <a:spcPts val="700"/>
              </a:spcAft>
            </a:pPr>
            <a:r>
              <a:rPr sz="1900">
                <a:solidFill>
                  <a:srgbClr val="595959"/>
                </a:solidFill>
                <a:latin typeface="Calibri"/>
              </a:rPr>
              <a:t>•  </a:t>
            </a:r>
            <a:r>
              <a:rPr sz="1900" b="0">
                <a:solidFill>
                  <a:srgbClr val="262626"/>
                </a:solidFill>
                <a:latin typeface="Calibri"/>
              </a:rPr>
              <a:t>Several studies stopped for time (DP-FTRL, TEST2)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anchor="b" lIns="45720" rIns="45720">
            <a:spAutoFit/>
          </a:bodyPr>
          <a:lstStyle/>
          <a:p>
            <a:pPr algn="l"/>
            <a:r>
              <a:rPr sz="3000" b="1" i="0">
                <a:solidFill>
                  <a:srgbClr val="1F3864"/>
                </a:solidFill>
                <a:latin typeface="Calibri"/>
              </a:rPr>
              <a:t>Conclusion and future work</a:t>
            </a:r>
          </a:p>
        </p:txBody>
      </p:sp>
      <p:cxnSp>
        <p:nvCxnSpPr>
          <p:cNvPr id="3" name="Connector 2"/>
          <p:cNvCxnSpPr/>
          <p:nvPr/>
        </p:nvCxnSpPr>
        <p:spPr>
          <a:xfrm>
            <a:off x="548640" y="1005840"/>
            <a:ext cx="11094415"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46520"/>
            <a:ext cx="8229600" cy="274320"/>
          </a:xfrm>
          <a:prstGeom prst="rect">
            <a:avLst/>
          </a:prstGeom>
          <a:noFill/>
        </p:spPr>
        <p:txBody>
          <a:bodyPr wrap="square" anchor="ctr" lIns="45720" rIns="45720">
            <a:spAutoFit/>
          </a:bodyPr>
          <a:lstStyle/>
          <a:p>
            <a:pPr algn="l"/>
            <a:r>
              <a:rPr sz="1000" b="0" i="0">
                <a:solidFill>
                  <a:srgbClr val="595959"/>
                </a:solidFill>
                <a:latin typeface="Calibri"/>
              </a:rPr>
              <a:t>Privacy-Preserving Shopping Intelligence  |  MSc Final Presentation, Queen's University</a:t>
            </a:r>
          </a:p>
        </p:txBody>
      </p:sp>
      <p:sp>
        <p:nvSpPr>
          <p:cNvPr id="5" name="TextBox 4"/>
          <p:cNvSpPr txBox="1"/>
          <p:nvPr/>
        </p:nvSpPr>
        <p:spPr>
          <a:xfrm>
            <a:off x="10728655" y="6446520"/>
            <a:ext cx="914400" cy="274320"/>
          </a:xfrm>
          <a:prstGeom prst="rect">
            <a:avLst/>
          </a:prstGeom>
          <a:noFill/>
        </p:spPr>
        <p:txBody>
          <a:bodyPr wrap="square" anchor="ctr" lIns="45720" rIns="45720">
            <a:spAutoFit/>
          </a:bodyPr>
          <a:lstStyle/>
          <a:p>
            <a:pPr algn="r"/>
            <a:r>
              <a:rPr sz="1100" b="0" i="0">
                <a:solidFill>
                  <a:srgbClr val="595959"/>
                </a:solidFill>
                <a:latin typeface="Calibri"/>
              </a:rPr>
              <a:t>21</a:t>
            </a:r>
          </a:p>
        </p:txBody>
      </p:sp>
      <p:sp>
        <p:nvSpPr>
          <p:cNvPr id="6" name="TextBox 5"/>
          <p:cNvSpPr txBox="1"/>
          <p:nvPr/>
        </p:nvSpPr>
        <p:spPr>
          <a:xfrm>
            <a:off x="548640" y="1280160"/>
            <a:ext cx="6400800" cy="411480"/>
          </a:xfrm>
          <a:prstGeom prst="rect">
            <a:avLst/>
          </a:prstGeom>
          <a:noFill/>
        </p:spPr>
        <p:txBody>
          <a:bodyPr wrap="square" anchor="t" lIns="45720" rIns="45720">
            <a:spAutoFit/>
          </a:bodyPr>
          <a:lstStyle/>
          <a:p>
            <a:pPr algn="l"/>
            <a:r>
              <a:rPr sz="2100" b="1" i="0">
                <a:solidFill>
                  <a:srgbClr val="1F3864"/>
                </a:solidFill>
                <a:latin typeface="Calibri"/>
              </a:rPr>
              <a:t>Answer</a:t>
            </a:r>
          </a:p>
        </p:txBody>
      </p:sp>
      <p:sp>
        <p:nvSpPr>
          <p:cNvPr id="7" name="TextBox 6"/>
          <p:cNvSpPr txBox="1"/>
          <p:nvPr/>
        </p:nvSpPr>
        <p:spPr>
          <a:xfrm>
            <a:off x="548640" y="1737360"/>
            <a:ext cx="6400800" cy="4389120"/>
          </a:xfrm>
          <a:prstGeom prst="rect">
            <a:avLst/>
          </a:prstGeom>
          <a:noFill/>
        </p:spPr>
        <p:txBody>
          <a:bodyPr wrap="square">
            <a:spAutoFit/>
          </a:bodyPr>
          <a:lstStyle/>
          <a:p>
            <a:pPr>
              <a:spcAft>
                <a:spcPts val="700"/>
              </a:spcAft>
            </a:pPr>
            <a:r>
              <a:rPr sz="1900">
                <a:solidFill>
                  <a:srgbClr val="595959"/>
                </a:solidFill>
                <a:latin typeface="Calibri"/>
              </a:rPr>
              <a:t>•  </a:t>
            </a:r>
            <a:r>
              <a:rPr sz="1900" b="0">
                <a:solidFill>
                  <a:srgbClr val="262626"/>
                </a:solidFill>
                <a:latin typeface="Calibri"/>
              </a:rPr>
              <a:t>A warm-started on-device/federated system retains </a:t>
            </a:r>
            <a:r>
              <a:rPr sz="1900" b="1">
                <a:solidFill>
                  <a:srgbClr val="262626"/>
                </a:solidFill>
                <a:latin typeface="Calibri"/>
              </a:rPr>
              <a:t>88.49%</a:t>
            </a:r>
            <a:r>
              <a:rPr sz="1900" b="0">
                <a:solidFill>
                  <a:srgbClr val="262626"/>
                </a:solidFill>
                <a:latin typeface="Calibri"/>
              </a:rPr>
              <a:t> of the cloud model</a:t>
            </a:r>
          </a:p>
          <a:p>
            <a:pPr>
              <a:spcAft>
                <a:spcPts val="700"/>
              </a:spcAft>
            </a:pPr>
            <a:r>
              <a:rPr sz="1900">
                <a:solidFill>
                  <a:srgbClr val="595959"/>
                </a:solidFill>
                <a:latin typeface="Calibri"/>
              </a:rPr>
              <a:t>•  </a:t>
            </a:r>
            <a:r>
              <a:rPr sz="1900" b="0">
                <a:solidFill>
                  <a:srgbClr val="262626"/>
                </a:solidFill>
                <a:latin typeface="Calibri"/>
              </a:rPr>
              <a:t>Whether federation pays off depends on the server-side pretrain and a correctly scaled optimiser</a:t>
            </a:r>
          </a:p>
          <a:p>
            <a:pPr>
              <a:spcAft>
                <a:spcPts val="700"/>
              </a:spcAft>
            </a:pPr>
            <a:r>
              <a:rPr sz="1900">
                <a:solidFill>
                  <a:srgbClr val="595959"/>
                </a:solidFill>
                <a:latin typeface="Calibri"/>
              </a:rPr>
              <a:t>•  </a:t>
            </a:r>
            <a:r>
              <a:rPr sz="1900" b="0">
                <a:solidFill>
                  <a:srgbClr val="262626"/>
                </a:solidFill>
                <a:latin typeface="Calibri"/>
              </a:rPr>
              <a:t>Fine-tune on the device; federate when the server knows little</a:t>
            </a:r>
          </a:p>
          <a:p>
            <a:pPr>
              <a:spcAft>
                <a:spcPts val="700"/>
              </a:spcAft>
            </a:pPr>
            <a:r>
              <a:rPr sz="1900">
                <a:solidFill>
                  <a:srgbClr val="595959"/>
                </a:solidFill>
                <a:latin typeface="Calibri"/>
              </a:rPr>
              <a:t>•  </a:t>
            </a:r>
            <a:r>
              <a:rPr sz="1900" b="0">
                <a:solidFill>
                  <a:srgbClr val="262626"/>
                </a:solidFill>
                <a:latin typeface="Calibri"/>
              </a:rPr>
              <a:t>Privacy must be engineered and audited, not assumed</a:t>
            </a:r>
          </a:p>
        </p:txBody>
      </p:sp>
      <p:sp>
        <p:nvSpPr>
          <p:cNvPr id="8" name="TextBox 7"/>
          <p:cNvSpPr txBox="1"/>
          <p:nvPr/>
        </p:nvSpPr>
        <p:spPr>
          <a:xfrm>
            <a:off x="7132320" y="1280160"/>
            <a:ext cx="4526280" cy="411480"/>
          </a:xfrm>
          <a:prstGeom prst="rect">
            <a:avLst/>
          </a:prstGeom>
          <a:noFill/>
        </p:spPr>
        <p:txBody>
          <a:bodyPr wrap="square" anchor="t" lIns="45720" rIns="45720">
            <a:spAutoFit/>
          </a:bodyPr>
          <a:lstStyle/>
          <a:p>
            <a:pPr algn="l"/>
            <a:r>
              <a:rPr sz="2100" b="1" i="0">
                <a:solidFill>
                  <a:srgbClr val="1F3864"/>
                </a:solidFill>
                <a:latin typeface="Calibri"/>
              </a:rPr>
              <a:t>Future work</a:t>
            </a:r>
          </a:p>
        </p:txBody>
      </p:sp>
      <p:sp>
        <p:nvSpPr>
          <p:cNvPr id="9" name="TextBox 8"/>
          <p:cNvSpPr txBox="1"/>
          <p:nvPr/>
        </p:nvSpPr>
        <p:spPr>
          <a:xfrm>
            <a:off x="7132320" y="1737360"/>
            <a:ext cx="4526280" cy="4389120"/>
          </a:xfrm>
          <a:prstGeom prst="rect">
            <a:avLst/>
          </a:prstGeom>
          <a:noFill/>
        </p:spPr>
        <p:txBody>
          <a:bodyPr wrap="square">
            <a:spAutoFit/>
          </a:bodyPr>
          <a:lstStyle/>
          <a:p>
            <a:pPr>
              <a:spcAft>
                <a:spcPts val="700"/>
              </a:spcAft>
            </a:pPr>
            <a:r>
              <a:rPr sz="1900">
                <a:solidFill>
                  <a:srgbClr val="595959"/>
                </a:solidFill>
                <a:latin typeface="Calibri"/>
              </a:rPr>
              <a:t>•  </a:t>
            </a:r>
            <a:r>
              <a:rPr sz="1900" b="0">
                <a:solidFill>
                  <a:srgbClr val="262626"/>
                </a:solidFill>
                <a:latin typeface="Calibri"/>
              </a:rPr>
              <a:t>Distil a large teacher into the device model</a:t>
            </a:r>
          </a:p>
          <a:p>
            <a:pPr>
              <a:spcAft>
                <a:spcPts val="700"/>
              </a:spcAft>
            </a:pPr>
            <a:r>
              <a:rPr sz="1900">
                <a:solidFill>
                  <a:srgbClr val="595959"/>
                </a:solidFill>
                <a:latin typeface="Calibri"/>
              </a:rPr>
              <a:t>•  </a:t>
            </a:r>
            <a:r>
              <a:rPr sz="1900" b="0">
                <a:solidFill>
                  <a:srgbClr val="262626"/>
                </a:solidFill>
                <a:latin typeface="Calibri"/>
              </a:rPr>
              <a:t>DP with secret randomness at full scale</a:t>
            </a:r>
          </a:p>
          <a:p>
            <a:pPr>
              <a:spcAft>
                <a:spcPts val="700"/>
              </a:spcAft>
            </a:pPr>
            <a:r>
              <a:rPr sz="1900">
                <a:solidFill>
                  <a:srgbClr val="595959"/>
                </a:solidFill>
                <a:latin typeface="Calibri"/>
              </a:rPr>
              <a:t>•  </a:t>
            </a:r>
            <a:r>
              <a:rPr sz="1900" b="0">
                <a:solidFill>
                  <a:srgbClr val="262626"/>
                </a:solidFill>
                <a:latin typeface="Calibri"/>
              </a:rPr>
              <a:t>Real secure aggregation</a:t>
            </a:r>
          </a:p>
          <a:p>
            <a:pPr>
              <a:spcAft>
                <a:spcPts val="700"/>
              </a:spcAft>
            </a:pPr>
            <a:r>
              <a:rPr sz="1900">
                <a:solidFill>
                  <a:srgbClr val="595959"/>
                </a:solidFill>
                <a:latin typeface="Calibri"/>
              </a:rPr>
              <a:t>•  </a:t>
            </a:r>
            <a:r>
              <a:rPr sz="1900" b="0">
                <a:solidFill>
                  <a:srgbClr val="262626"/>
                </a:solidFill>
                <a:latin typeface="Calibri"/>
              </a:rPr>
              <a:t>December-2019 replication (TEST2)</a:t>
            </a:r>
          </a:p>
          <a:p>
            <a:pPr>
              <a:spcAft>
                <a:spcPts val="700"/>
              </a:spcAft>
            </a:pPr>
            <a:r>
              <a:rPr sz="1900">
                <a:solidFill>
                  <a:srgbClr val="595959"/>
                </a:solidFill>
                <a:latin typeface="Calibri"/>
              </a:rPr>
              <a:t>•  </a:t>
            </a:r>
            <a:r>
              <a:rPr sz="1900" b="0">
                <a:solidFill>
                  <a:srgbClr val="262626"/>
                </a:solidFill>
                <a:latin typeface="Calibri"/>
              </a:rPr>
              <a:t>Real-device field trial in Edge</a:t>
            </a:r>
          </a:p>
        </p:txBody>
      </p:sp>
      <p:pic>
        <p:nvPicPr>
          <p:cNvPr id="10" name="Picture 9" descr="shopping_laptop_phone.jpg"/>
          <p:cNvPicPr>
            <a:picLocks noChangeAspect="1"/>
          </p:cNvPicPr>
          <p:nvPr/>
        </p:nvPicPr>
        <p:blipFill>
          <a:blip r:embed="rId2"/>
          <a:stretch>
            <a:fillRect/>
          </a:stretch>
        </p:blipFill>
        <p:spPr>
          <a:xfrm>
            <a:off x="7178040" y="4114800"/>
            <a:ext cx="3291840" cy="2194560"/>
          </a:xfrm>
          <a:prstGeom prst="rect">
            <a:avLst/>
          </a:prstGeom>
        </p:spPr>
      </p:pic>
      <p:sp>
        <p:nvSpPr>
          <p:cNvPr id="11" name="TextBox 10"/>
          <p:cNvSpPr txBox="1"/>
          <p:nvPr/>
        </p:nvSpPr>
        <p:spPr>
          <a:xfrm>
            <a:off x="7178040" y="6327648"/>
            <a:ext cx="3291840" cy="274320"/>
          </a:xfrm>
          <a:prstGeom prst="rect">
            <a:avLst/>
          </a:prstGeom>
          <a:noFill/>
        </p:spPr>
        <p:txBody>
          <a:bodyPr wrap="square" anchor="t" lIns="45720" rIns="45720">
            <a:spAutoFit/>
          </a:bodyPr>
          <a:lstStyle/>
          <a:p>
            <a:pPr algn="l"/>
            <a:r>
              <a:rPr sz="900" b="0" i="1">
                <a:solidFill>
                  <a:srgbClr val="595959"/>
                </a:solidFill>
                <a:latin typeface="Calibri"/>
              </a:rPr>
              <a:t>Photo: European Commission, CC BY 4.0, Wikimedia Commons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rant_hall.jpg"/>
          <p:cNvPicPr>
            <a:picLocks noChangeAspect="1"/>
          </p:cNvPicPr>
          <p:nvPr/>
        </p:nvPicPr>
        <p:blipFill>
          <a:blip r:embed="rId2"/>
          <a:srcRect l="29876" r="13876"/>
          <a:stretch>
            <a:fillRect/>
          </a:stretch>
        </p:blipFill>
        <p:spPr>
          <a:xfrm>
            <a:off x="0" y="0"/>
            <a:ext cx="5120640" cy="6858000"/>
          </a:xfrm>
          <a:prstGeom prst="rect">
            <a:avLst/>
          </a:prstGeom>
        </p:spPr>
      </p:pic>
      <p:sp>
        <p:nvSpPr>
          <p:cNvPr id="3" name="TextBox 2"/>
          <p:cNvSpPr txBox="1"/>
          <p:nvPr/>
        </p:nvSpPr>
        <p:spPr>
          <a:xfrm>
            <a:off x="109728" y="6565392"/>
            <a:ext cx="4937760" cy="274320"/>
          </a:xfrm>
          <a:prstGeom prst="rect">
            <a:avLst/>
          </a:prstGeom>
          <a:noFill/>
        </p:spPr>
        <p:txBody>
          <a:bodyPr wrap="square" anchor="t" lIns="45720" rIns="45720">
            <a:spAutoFit/>
          </a:bodyPr>
          <a:lstStyle/>
          <a:p>
            <a:pPr algn="l"/>
            <a:r>
              <a:rPr sz="800" b="0" i="1">
                <a:solidFill>
                  <a:srgbClr val="FFFFFF"/>
                </a:solidFill>
                <a:latin typeface="Calibri"/>
              </a:rPr>
              <a:t>Photo: Takipoint123, CC BY-SA 4.0, Wikimedia Commons</a:t>
            </a:r>
          </a:p>
        </p:txBody>
      </p:sp>
      <p:sp>
        <p:nvSpPr>
          <p:cNvPr id="4" name="TextBox 3"/>
          <p:cNvSpPr txBox="1"/>
          <p:nvPr/>
        </p:nvSpPr>
        <p:spPr>
          <a:xfrm>
            <a:off x="5760720" y="2103120"/>
            <a:ext cx="5943600" cy="914400"/>
          </a:xfrm>
          <a:prstGeom prst="rect">
            <a:avLst/>
          </a:prstGeom>
          <a:noFill/>
        </p:spPr>
        <p:txBody>
          <a:bodyPr wrap="square" anchor="t" lIns="45720" rIns="45720">
            <a:spAutoFit/>
          </a:bodyPr>
          <a:lstStyle/>
          <a:p>
            <a:pPr algn="l"/>
            <a:r>
              <a:rPr sz="4800" b="1" i="0">
                <a:solidFill>
                  <a:srgbClr val="1F3864"/>
                </a:solidFill>
                <a:latin typeface="Calibri"/>
              </a:rPr>
              <a:t>Thank you</a:t>
            </a:r>
          </a:p>
        </p:txBody>
      </p:sp>
      <p:sp>
        <p:nvSpPr>
          <p:cNvPr id="5" name="TextBox 4"/>
          <p:cNvSpPr txBox="1"/>
          <p:nvPr/>
        </p:nvSpPr>
        <p:spPr>
          <a:xfrm>
            <a:off x="5760720" y="3017520"/>
            <a:ext cx="5943600" cy="548640"/>
          </a:xfrm>
          <a:prstGeom prst="rect">
            <a:avLst/>
          </a:prstGeom>
          <a:noFill/>
        </p:spPr>
        <p:txBody>
          <a:bodyPr wrap="square" anchor="t" lIns="45720" rIns="45720">
            <a:spAutoFit/>
          </a:bodyPr>
          <a:lstStyle/>
          <a:p>
            <a:pPr algn="l"/>
            <a:r>
              <a:rPr sz="2200" b="0" i="0">
                <a:solidFill>
                  <a:srgbClr val="595959"/>
                </a:solidFill>
                <a:latin typeface="Calibri"/>
              </a:rPr>
              <a:t>Questions and discussion</a:t>
            </a:r>
          </a:p>
        </p:txBody>
      </p:sp>
      <p:cxnSp>
        <p:nvCxnSpPr>
          <p:cNvPr id="6" name="Connector 5"/>
          <p:cNvCxnSpPr/>
          <p:nvPr/>
        </p:nvCxnSpPr>
        <p:spPr>
          <a:xfrm>
            <a:off x="5806440" y="3840480"/>
            <a:ext cx="566928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760720" y="4023360"/>
            <a:ext cx="6035040" cy="1280160"/>
          </a:xfrm>
          <a:prstGeom prst="rect">
            <a:avLst/>
          </a:prstGeom>
          <a:noFill/>
        </p:spPr>
        <p:txBody>
          <a:bodyPr wrap="square" anchor="t" lIns="45720" rIns="45720">
            <a:spAutoFit/>
          </a:bodyPr>
          <a:lstStyle/>
          <a:p>
            <a:pPr algn="l"/>
            <a:r>
              <a:rPr sz="1500" b="0" i="0">
                <a:solidFill>
                  <a:srgbClr val="262626"/>
                </a:solidFill>
                <a:latin typeface="Calibri"/>
              </a:rPr>
              <a:t>Digilians 2026, Group 8, Queen's University</a:t>
            </a:r>
          </a:p>
          <a:p>
            <a:pPr algn="l"/>
            <a:r>
              <a:rPr sz="1500" b="0" i="0">
                <a:solidFill>
                  <a:srgbClr val="262626"/>
                </a:solidFill>
                <a:latin typeface="Calibri"/>
              </a:rPr>
              <a:t>Code: github.com/microsoftproject26/</a:t>
            </a:r>
          </a:p>
          <a:p>
            <a:pPr algn="l"/>
            <a:r>
              <a:rPr sz="1500" b="0" i="0">
                <a:solidFill>
                  <a:srgbClr val="262626"/>
                </a:solidFill>
                <a:latin typeface="Calibri"/>
              </a:rPr>
              <a:t>Privacy-Preserving-Shopping-Intelligence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
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whether a browser can recommend products from shopping behaviour without sending that behaviour to a server, and how much quality that costs. In twenty minutes: the question, how we answered it rigorously, the answer, what we learned after it, privacy, devices and lessons.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question from our proposal. It matters because the browser sees the shopping journey, but sending it to a server is what users and regulators resist, while learning on the device has its own limits. We split the question into four measurable parts.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Cloud-only gives the quality ceiling but moves raw histories. Federated learning keeps raw events on the device and sends model updates, which can still leak. On-device learning ships a model once and adapts it locally. All our numbers are retention of the cloud reference.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prototype on GitHub built the platform; the pilot studies taught us about labels and evaluation; the main pre-registered study ended in one sealed test evaluation; after it we diagnosed why federation added little and studied privacy and devices; the closure verified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plots come straight from our data-audit notebook: 42.4 million events in October alone, almost all views, short sessions with a long tail. This is real shopping behaviour, not a toy benchmark.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Events are converted without loss, encoded with hashed identifiers and price bands, turned into next-product decisions with their histories, and split in time. Three disjoint populations: 1.2 million users for server pretraining, 131,072 simulated devices, and a sealed test set of 26,254 users.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decision the model ranks all 158,486 products. If the product the user actually chose is at rank three, the reciprocal rank is one third. We average per user first, so heavy shoppers do not dominate. This is stricter and more realistic than the sampled metrics many papers 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prototype built the platform: the data pipeline, three shopping tasks, the federated plumbing, privacy-motivated encodings and the ONNX and INT8 export. Its main lesson was methodological: small definition errors can flip conclusions, which motivated the pre-registered main study.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worked from our laptops through encrypted access to the group server on the Lobot cluster: two NVIDIA A40 GPUs for training and shared CPUs for tests and evaluation, on a shared workspace with the frozen dataset and hashed code trees. Code, curated results and 73 gigabytes of checkpoints are public on GitHub.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SASRec beat the GRU on validation and the architecture was locked. Then the protocol: register, review, pre-register the look, score once, check the inventory, then disclose. This is what makes the confirmatory numbers credible.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round the server sends the model, clients train on their own history, uploads can be clipped and noised, quantized and securely aggregated, and FedAdam updates the global model. The red note is the finding we will come back to: the constant tau.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realistic edge system, federated training warm-started from a server-pretrained model, keeps 88.49 percent of the full-data cloud model, interval 87.73 to 89.18. But the pretrained model alone already keeps 88.77 percent. Cold federated training keeps 70 percent, and training on each device alone fails.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top of the 1.2-million-user pretrain, federation is slightly worse, and the tuned follow-up is statistically equivalent. On-device fine-tuning gives a small but significant gain. So why did federation add nothing?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public benchmarks our central reference matches published results, so the evaluation is sound. But the federated arms were far below it, which pointed at the recipe, not at federation itself.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test we measured the update norms. The updates were around ten to the minus seven, while tau was ten to the minus three, so the server step collapsed and the model barely moved. This does not change the confirmatory result; it explains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tau at ten to the minus six, federated models reach 75 to 92 percent of the cloud model on all six benchmarks. On REES46 the strong pretrain still leaves nothing for federation to add, so the confirmatory answer is robust.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 the server already knows, the more federation helps. With a weak pretrain federation adds a lot; with a strong one it adds almost nothing.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attacker checks whether the model fits a user much better than an unseen user. Once federation learns, the attack reaches AUC 0.747; DP at epsilon eight brings it to chance, cheaply on a warm start and expensively on a cold one. We are honest about the limits: no formal DP guarantee, and secure aggregation was simulated.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downloaded once, the history stays in the browser, and ONNX Runtime ranks the whole catalogue in a few milliseconds. INT8 cuts the model four times with no measurable quality loss.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closure verified every saved result, added second-seed and fine-tuning studies and simple baselines, and documented what was stopped. Negative and incomplete results are reported, not hidden.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server already has a strong pretrained model, ship it and fine-tune on the device; federation adds nothing measurable. If it knows little, federate from a warm start with a correctly scaled optimizer. In both cases, audit leakage and use real DP and secure aggregation.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what worked, on the right what did not. The tau lesson is general: a protocol can be perfectly controlled and still lock in a mis-scaled optimizer.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the cloud quality can live on the device. Federation is worth it when the server knows little and the optimizer is scaled correctly; on-device fine-tuning is the deployable gain; and privacy has to be engineered and audited.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ant_hall.jpg"/>
          <p:cNvPicPr>
            <a:picLocks noChangeAspect="1"/>
          </p:cNvPicPr>
          <p:nvPr/>
        </p:nvPicPr>
        <p:blipFill>
          <a:blip r:embed="rId2"/>
          <a:srcRect l="33476" r="17476"/>
          <a:stretch>
            <a:fillRect/>
          </a:stretch>
        </p:blipFill>
        <p:spPr>
          <a:xfrm>
            <a:off x="7726679" y="0"/>
            <a:ext cx="4465016" cy="6858000"/>
          </a:xfrm>
          <a:prstGeom prst="rect">
            <a:avLst/>
          </a:prstGeom>
        </p:spPr>
      </p:pic>
      <p:pic>
        <p:nvPicPr>
          <p:cNvPr id="3" name="Picture 2" descr="queens_crest.png"/>
          <p:cNvPicPr>
            <a:picLocks noChangeAspect="1"/>
          </p:cNvPicPr>
          <p:nvPr/>
        </p:nvPicPr>
        <p:blipFill>
          <a:blip r:embed="rId3"/>
          <a:stretch>
            <a:fillRect/>
          </a:stretch>
        </p:blipFill>
        <p:spPr>
          <a:xfrm>
            <a:off x="548640" y="457200"/>
            <a:ext cx="729696" cy="914400"/>
          </a:xfrm>
          <a:prstGeom prst="rect">
            <a:avLst/>
          </a:prstGeom>
        </p:spPr>
      </p:pic>
      <p:pic>
        <p:nvPicPr>
          <p:cNvPr id="4" name="Picture 3" descr="queens_wordmark.png"/>
          <p:cNvPicPr>
            <a:picLocks noChangeAspect="1"/>
          </p:cNvPicPr>
          <p:nvPr/>
        </p:nvPicPr>
        <p:blipFill>
          <a:blip r:embed="rId4"/>
          <a:stretch>
            <a:fillRect/>
          </a:stretch>
        </p:blipFill>
        <p:spPr>
          <a:xfrm>
            <a:off x="1371600" y="658368"/>
            <a:ext cx="1831431" cy="530352"/>
          </a:xfrm>
          <a:prstGeom prst="rect">
            <a:avLst/>
          </a:prstGeom>
        </p:spPr>
      </p:pic>
      <p:pic>
        <p:nvPicPr>
          <p:cNvPr id="5" name="Picture 4" descr="microsoft.png"/>
          <p:cNvPicPr>
            <a:picLocks noChangeAspect="1"/>
          </p:cNvPicPr>
          <p:nvPr/>
        </p:nvPicPr>
        <p:blipFill>
          <a:blip r:embed="rId5"/>
          <a:stretch>
            <a:fillRect/>
          </a:stretch>
        </p:blipFill>
        <p:spPr>
          <a:xfrm>
            <a:off x="4846320" y="685800"/>
            <a:ext cx="2141034" cy="457200"/>
          </a:xfrm>
          <a:prstGeom prst="rect">
            <a:avLst/>
          </a:prstGeom>
        </p:spPr>
      </p:pic>
      <p:sp>
        <p:nvSpPr>
          <p:cNvPr id="6" name="TextBox 5"/>
          <p:cNvSpPr txBox="1"/>
          <p:nvPr/>
        </p:nvSpPr>
        <p:spPr>
          <a:xfrm>
            <a:off x="548640" y="1737360"/>
            <a:ext cx="6949440" cy="1554480"/>
          </a:xfrm>
          <a:prstGeom prst="rect">
            <a:avLst/>
          </a:prstGeom>
          <a:noFill/>
        </p:spPr>
        <p:txBody>
          <a:bodyPr wrap="square" anchor="t" lIns="45720" rIns="45720">
            <a:spAutoFit/>
          </a:bodyPr>
          <a:lstStyle/>
          <a:p>
            <a:pPr algn="l"/>
            <a:r>
              <a:rPr sz="3200" b="1" i="0">
                <a:solidFill>
                  <a:srgbClr val="1F3864"/>
                </a:solidFill>
                <a:latin typeface="Calibri"/>
              </a:rPr>
              <a:t>Privacy-Preserving Shopping Intelligence</a:t>
            </a:r>
          </a:p>
          <a:p>
            <a:pPr algn="l"/>
            <a:r>
              <a:rPr sz="3200" b="1" i="0">
                <a:solidFill>
                  <a:srgbClr val="1F3864"/>
                </a:solidFill>
                <a:latin typeface="Calibri"/>
              </a:rPr>
              <a:t>via Federated and On-Device Learning</a:t>
            </a:r>
          </a:p>
        </p:txBody>
      </p:sp>
      <p:sp>
        <p:nvSpPr>
          <p:cNvPr id="7" name="TextBox 6"/>
          <p:cNvSpPr txBox="1"/>
          <p:nvPr/>
        </p:nvSpPr>
        <p:spPr>
          <a:xfrm>
            <a:off x="548640" y="3246120"/>
            <a:ext cx="6858000" cy="731520"/>
          </a:xfrm>
          <a:prstGeom prst="rect">
            <a:avLst/>
          </a:prstGeom>
          <a:noFill/>
        </p:spPr>
        <p:txBody>
          <a:bodyPr wrap="square" anchor="t" lIns="45720" rIns="45720">
            <a:spAutoFit/>
          </a:bodyPr>
          <a:lstStyle/>
          <a:p>
            <a:pPr algn="l"/>
            <a:r>
              <a:rPr sz="1700" b="0" i="1">
                <a:solidFill>
                  <a:srgbClr val="595959"/>
                </a:solidFill>
                <a:latin typeface="Calibri"/>
              </a:rPr>
              <a:t>How much next-product recommendation quality survives when shopping data never leaves the device?</a:t>
            </a:r>
          </a:p>
        </p:txBody>
      </p:sp>
      <p:sp>
        <p:nvSpPr>
          <p:cNvPr id="8" name="TextBox 7"/>
          <p:cNvSpPr txBox="1"/>
          <p:nvPr/>
        </p:nvSpPr>
        <p:spPr>
          <a:xfrm>
            <a:off x="548640" y="4114800"/>
            <a:ext cx="3108960" cy="1463040"/>
          </a:xfrm>
          <a:prstGeom prst="rect">
            <a:avLst/>
          </a:prstGeom>
          <a:noFill/>
        </p:spPr>
        <p:txBody>
          <a:bodyPr wrap="square" anchor="t" lIns="45720" rIns="45720">
            <a:spAutoFit/>
          </a:bodyPr>
          <a:lstStyle/>
          <a:p>
            <a:pPr algn="l"/>
            <a:r>
              <a:rPr sz="1400" b="1" i="0">
                <a:solidFill>
                  <a:srgbClr val="262626"/>
                </a:solidFill>
                <a:latin typeface="Calibri"/>
              </a:rPr>
              <a:t>Group members</a:t>
            </a:r>
          </a:p>
          <a:p>
            <a:pPr algn="l"/>
            <a:r>
              <a:rPr sz="1400" b="0" i="0">
                <a:solidFill>
                  <a:srgbClr val="262626"/>
                </a:solidFill>
                <a:latin typeface="Calibri"/>
              </a:rPr>
              <a:t>Ahmed Sherif</a:t>
            </a:r>
          </a:p>
          <a:p>
            <a:pPr algn="l"/>
            <a:r>
              <a:rPr sz="1400" b="0" i="0">
                <a:solidFill>
                  <a:srgbClr val="262626"/>
                </a:solidFill>
                <a:latin typeface="Calibri"/>
              </a:rPr>
              <a:t>Eid Abdelrihem</a:t>
            </a:r>
          </a:p>
          <a:p>
            <a:pPr algn="l"/>
            <a:r>
              <a:rPr sz="1400" b="0" i="0">
                <a:solidFill>
                  <a:srgbClr val="262626"/>
                </a:solidFill>
                <a:latin typeface="Calibri"/>
              </a:rPr>
              <a:t>Ahmed Abdelhamed</a:t>
            </a:r>
          </a:p>
        </p:txBody>
      </p:sp>
      <p:sp>
        <p:nvSpPr>
          <p:cNvPr id="9" name="TextBox 8"/>
          <p:cNvSpPr txBox="1"/>
          <p:nvPr/>
        </p:nvSpPr>
        <p:spPr>
          <a:xfrm>
            <a:off x="3657600" y="4114800"/>
            <a:ext cx="3931920" cy="1463040"/>
          </a:xfrm>
          <a:prstGeom prst="rect">
            <a:avLst/>
          </a:prstGeom>
          <a:noFill/>
        </p:spPr>
        <p:txBody>
          <a:bodyPr wrap="square" anchor="t" lIns="45720" rIns="45720">
            <a:spAutoFit/>
          </a:bodyPr>
          <a:lstStyle/>
          <a:p>
            <a:pPr algn="l"/>
            <a:r>
              <a:rPr sz="1400" b="1" i="0">
                <a:solidFill>
                  <a:srgbClr val="262626"/>
                </a:solidFill>
                <a:latin typeface="Calibri"/>
              </a:rPr>
              <a:t>Supervised by</a:t>
            </a:r>
          </a:p>
          <a:p>
            <a:pPr algn="l"/>
            <a:r>
              <a:rPr sz="1400" b="0" i="0">
                <a:solidFill>
                  <a:srgbClr val="262626"/>
                </a:solidFill>
                <a:latin typeface="Calibri"/>
              </a:rPr>
              <a:t>Prof. Rongxing Lu, Queen's University</a:t>
            </a:r>
          </a:p>
          <a:p>
            <a:pPr algn="l"/>
            <a:r>
              <a:rPr sz="1400" b="0" i="0">
                <a:solidFill>
                  <a:srgbClr val="262626"/>
                </a:solidFill>
                <a:latin typeface="Calibri"/>
              </a:rPr>
              <a:t>Prof. Mona Farouk, Cairo University</a:t>
            </a:r>
          </a:p>
          <a:p>
            <a:pPr algn="l"/>
            <a:r>
              <a:rPr sz="1400" b="0" i="0">
                <a:solidFill>
                  <a:srgbClr val="262626"/>
                </a:solidFill>
                <a:latin typeface="Calibri"/>
              </a:rPr>
              <a:t>Prof. Motaz El-Saban, Microsoft (industry mentor)</a:t>
            </a:r>
          </a:p>
        </p:txBody>
      </p:sp>
      <p:sp>
        <p:nvSpPr>
          <p:cNvPr id="10" name="TextBox 9"/>
          <p:cNvSpPr txBox="1"/>
          <p:nvPr/>
        </p:nvSpPr>
        <p:spPr>
          <a:xfrm>
            <a:off x="548640" y="5806440"/>
            <a:ext cx="6949440" cy="640080"/>
          </a:xfrm>
          <a:prstGeom prst="rect">
            <a:avLst/>
          </a:prstGeom>
          <a:noFill/>
        </p:spPr>
        <p:txBody>
          <a:bodyPr wrap="square" anchor="t" lIns="45720" rIns="45720">
            <a:spAutoFit/>
          </a:bodyPr>
          <a:lstStyle/>
          <a:p>
            <a:pPr algn="l"/>
            <a:r>
              <a:rPr sz="1200" b="0" i="0">
                <a:solidFill>
                  <a:srgbClr val="595959"/>
                </a:solidFill>
                <a:latin typeface="Calibri"/>
              </a:rPr>
              <a:t>MSc in Artificial Intelligence and Data Science</a:t>
            </a:r>
          </a:p>
          <a:p>
            <a:pPr algn="l"/>
            <a:r>
              <a:rPr sz="1200" b="0" i="0">
                <a:solidFill>
                  <a:srgbClr val="595959"/>
                </a:solidFill>
                <a:latin typeface="Calibri"/>
              </a:rPr>
              <a:t>School of Computing, Queen's University  ·  October 20, 2026</a:t>
            </a:r>
          </a:p>
        </p:txBody>
      </p:sp>
      <p:sp>
        <p:nvSpPr>
          <p:cNvPr id="11" name="TextBox 10"/>
          <p:cNvSpPr txBox="1"/>
          <p:nvPr/>
        </p:nvSpPr>
        <p:spPr>
          <a:xfrm>
            <a:off x="7772400" y="6565392"/>
            <a:ext cx="4389120" cy="274320"/>
          </a:xfrm>
          <a:prstGeom prst="rect">
            <a:avLst/>
          </a:prstGeom>
          <a:noFill/>
        </p:spPr>
        <p:txBody>
          <a:bodyPr wrap="square" anchor="t" lIns="45720" rIns="45720">
            <a:spAutoFit/>
          </a:bodyPr>
          <a:lstStyle/>
          <a:p>
            <a:pPr algn="l"/>
            <a:r>
              <a:rPr sz="800" b="0" i="1">
                <a:solidFill>
                  <a:srgbClr val="FFFFFF"/>
                </a:solidFill>
                <a:latin typeface="Calibri"/>
              </a:rPr>
              <a:t>Grant Hall, Queen's University. Photo: Takipoint123, CC BY-SA 4.0, Wikimedia Commons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research question</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2</a:t>
            </a:r>
          </a:p>
        </p:txBody>
      </p:sp>
      <p:sp>
        <p:nvSpPr>
          <p:cNvPr id="6" name="TextBox 5"/>
          <p:cNvSpPr txBox="1"/>
          <p:nvPr/>
        </p:nvSpPr>
        <p:spPr>
          <a:xfrm>
            <a:off x="548640" y="1234440"/>
            <a:ext cx="11064240" cy="822960"/>
          </a:xfrm>
          <a:prstGeom prst="rect">
            <a:avLst/>
          </a:prstGeom>
          <a:noFill/>
        </p:spPr>
        <p:txBody>
          <a:bodyPr wrap="square" anchor="t" lIns="45720" rIns="45720">
            <a:spAutoFit/>
          </a:bodyPr>
          <a:lstStyle/>
          <a:p>
            <a:pPr algn="l"/>
            <a:r>
              <a:rPr sz="2100" b="0" i="1">
                <a:solidFill>
                  <a:srgbClr val="1F3864"/>
                </a:solidFill>
                <a:latin typeface="Calibri"/>
              </a:rPr>
              <a:t>“How much shopping recommendation quality can be retained when moving from cloud-based to on-device or federated models?”</a:t>
            </a:r>
          </a:p>
        </p:txBody>
      </p:sp>
      <p:sp>
        <p:nvSpPr>
          <p:cNvPr id="7" name="TextBox 6"/>
          <p:cNvSpPr txBox="1"/>
          <p:nvPr/>
        </p:nvSpPr>
        <p:spPr>
          <a:xfrm>
            <a:off x="548640" y="2240280"/>
            <a:ext cx="6309360" cy="411480"/>
          </a:xfrm>
          <a:prstGeom prst="rect">
            <a:avLst/>
          </a:prstGeom>
          <a:noFill/>
        </p:spPr>
        <p:txBody>
          <a:bodyPr wrap="square" anchor="t" lIns="45720" rIns="45720">
            <a:spAutoFit/>
          </a:bodyPr>
          <a:lstStyle/>
          <a:p>
            <a:pPr algn="l"/>
            <a:r>
              <a:rPr sz="1700" b="1" i="0">
                <a:solidFill>
                  <a:srgbClr val="1F3864"/>
                </a:solidFill>
                <a:latin typeface="Calibri"/>
              </a:rPr>
              <a:t>Why it matters</a:t>
            </a:r>
          </a:p>
        </p:txBody>
      </p:sp>
      <p:sp>
        <p:nvSpPr>
          <p:cNvPr id="8" name="TextBox 7"/>
          <p:cNvSpPr txBox="1"/>
          <p:nvPr/>
        </p:nvSpPr>
        <p:spPr>
          <a:xfrm>
            <a:off x="548640" y="2697480"/>
            <a:ext cx="6309360" cy="132588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A browser sees shopping behaviour on the user's own device</a:t>
            </a:r>
          </a:p>
          <a:p>
            <a:pPr>
              <a:spcAft>
                <a:spcPts val="700"/>
              </a:spcAft>
            </a:pPr>
            <a:r>
              <a:rPr sz="1500">
                <a:solidFill>
                  <a:srgbClr val="595959"/>
                </a:solidFill>
                <a:latin typeface="Calibri"/>
              </a:rPr>
              <a:t>•  </a:t>
            </a:r>
            <a:r>
              <a:rPr sz="1500" b="0">
                <a:solidFill>
                  <a:srgbClr val="262626"/>
                </a:solidFill>
                <a:latin typeface="Calibri"/>
              </a:rPr>
              <a:t>Cloud training copies that history to a server, which users and regulation resist</a:t>
            </a:r>
          </a:p>
          <a:p>
            <a:pPr>
              <a:spcAft>
                <a:spcPts val="700"/>
              </a:spcAft>
            </a:pPr>
            <a:r>
              <a:rPr sz="1500">
                <a:solidFill>
                  <a:srgbClr val="595959"/>
                </a:solidFill>
                <a:latin typeface="Calibri"/>
              </a:rPr>
              <a:t>•  </a:t>
            </a:r>
            <a:r>
              <a:rPr sz="1500" b="0">
                <a:solidFill>
                  <a:srgbClr val="262626"/>
                </a:solidFill>
                <a:latin typeface="Calibri"/>
              </a:rPr>
              <a:t>Learning on the device is constrained: little compute, one short history, and updates can leak</a:t>
            </a:r>
          </a:p>
        </p:txBody>
      </p:sp>
      <p:sp>
        <p:nvSpPr>
          <p:cNvPr id="9" name="TextBox 8"/>
          <p:cNvSpPr txBox="1"/>
          <p:nvPr/>
        </p:nvSpPr>
        <p:spPr>
          <a:xfrm>
            <a:off x="548640" y="4206240"/>
            <a:ext cx="6309360" cy="411480"/>
          </a:xfrm>
          <a:prstGeom prst="rect">
            <a:avLst/>
          </a:prstGeom>
          <a:noFill/>
        </p:spPr>
        <p:txBody>
          <a:bodyPr wrap="square" anchor="t" lIns="45720" rIns="45720">
            <a:spAutoFit/>
          </a:bodyPr>
          <a:lstStyle/>
          <a:p>
            <a:pPr algn="l"/>
            <a:r>
              <a:rPr sz="1700" b="1" i="0">
                <a:solidFill>
                  <a:srgbClr val="1F3864"/>
                </a:solidFill>
                <a:latin typeface="Calibri"/>
              </a:rPr>
              <a:t>What we measure</a:t>
            </a:r>
          </a:p>
        </p:txBody>
      </p:sp>
      <p:sp>
        <p:nvSpPr>
          <p:cNvPr id="10" name="TextBox 9"/>
          <p:cNvSpPr txBox="1"/>
          <p:nvPr/>
        </p:nvSpPr>
        <p:spPr>
          <a:xfrm>
            <a:off x="548640" y="4663440"/>
            <a:ext cx="6309360" cy="160020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Retention</a:t>
            </a:r>
            <a:r>
              <a:rPr sz="1500" b="0">
                <a:solidFill>
                  <a:srgbClr val="262626"/>
                </a:solidFill>
                <a:latin typeface="Calibri"/>
              </a:rPr>
              <a:t> of cloud quality: federated and on-device systems</a:t>
            </a:r>
          </a:p>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Server pretraining</a:t>
            </a:r>
            <a:r>
              <a:rPr sz="1500" b="0">
                <a:solidFill>
                  <a:srgbClr val="262626"/>
                </a:solidFill>
                <a:latin typeface="Calibri"/>
              </a:rPr>
              <a:t> (warm start) and </a:t>
            </a:r>
            <a:r>
              <a:rPr sz="1500" b="1">
                <a:solidFill>
                  <a:srgbClr val="262626"/>
                </a:solidFill>
                <a:latin typeface="Calibri"/>
              </a:rPr>
              <a:t>on-device fine-tuning</a:t>
            </a:r>
            <a:r>
              <a:rPr sz="1500" b="0">
                <a:solidFill>
                  <a:srgbClr val="262626"/>
                </a:solidFill>
                <a:latin typeface="Calibri"/>
              </a:rPr>
              <a:t/>
            </a:r>
          </a:p>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Privacy</a:t>
            </a:r>
            <a:r>
              <a:rPr sz="1500" b="0">
                <a:solidFill>
                  <a:srgbClr val="262626"/>
                </a:solidFill>
                <a:latin typeface="Calibri"/>
              </a:rPr>
              <a:t>: cost of DP, leakage audits</a:t>
            </a:r>
          </a:p>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Deployability</a:t>
            </a:r>
            <a:r>
              <a:rPr sz="1500" b="0">
                <a:solidFill>
                  <a:srgbClr val="262626"/>
                </a:solidFill>
                <a:latin typeface="Calibri"/>
              </a:rPr>
              <a:t>: INT8 size, browser latency, upload bytes</a:t>
            </a:r>
          </a:p>
        </p:txBody>
      </p:sp>
      <p:pic>
        <p:nvPicPr>
          <p:cNvPr id="11" name="Picture 10" descr="online_shopping.jpg"/>
          <p:cNvPicPr>
            <a:picLocks noChangeAspect="1"/>
          </p:cNvPicPr>
          <p:nvPr/>
        </p:nvPicPr>
        <p:blipFill>
          <a:blip r:embed="rId2"/>
          <a:stretch>
            <a:fillRect/>
          </a:stretch>
        </p:blipFill>
        <p:spPr>
          <a:xfrm>
            <a:off x="7178040" y="2331720"/>
            <a:ext cx="4480560" cy="2987040"/>
          </a:xfrm>
          <a:prstGeom prst="rect">
            <a:avLst/>
          </a:prstGeom>
        </p:spPr>
      </p:pic>
      <p:sp>
        <p:nvSpPr>
          <p:cNvPr id="12" name="TextBox 11"/>
          <p:cNvSpPr txBox="1"/>
          <p:nvPr/>
        </p:nvSpPr>
        <p:spPr>
          <a:xfrm>
            <a:off x="7178040" y="5337048"/>
            <a:ext cx="4480560" cy="274320"/>
          </a:xfrm>
          <a:prstGeom prst="rect">
            <a:avLst/>
          </a:prstGeom>
          <a:noFill/>
        </p:spPr>
        <p:txBody>
          <a:bodyPr wrap="square" anchor="t" lIns="45720" rIns="45720">
            <a:spAutoFit/>
          </a:bodyPr>
          <a:lstStyle/>
          <a:p>
            <a:pPr algn="l"/>
            <a:r>
              <a:rPr sz="900" b="0" i="1">
                <a:solidFill>
                  <a:srgbClr val="595959"/>
                </a:solidFill>
                <a:latin typeface="Calibri"/>
              </a:rPr>
              <a:t>Photo: Bogdan Hoyaux / European Commission, CC BY 4.0, Wikimedia Commons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Three ways to build a shopping recommender</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Every result is expressed as retention of the cloud reference</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3</a:t>
            </a:r>
          </a:p>
        </p:txBody>
      </p:sp>
      <p:pic>
        <p:nvPicPr>
          <p:cNvPr id="7" name="Picture 6" descr="d1_deployment_options.png"/>
          <p:cNvPicPr>
            <a:picLocks noChangeAspect="1"/>
          </p:cNvPicPr>
          <p:nvPr/>
        </p:nvPicPr>
        <p:blipFill>
          <a:blip r:embed="rId2"/>
          <a:stretch>
            <a:fillRect/>
          </a:stretch>
        </p:blipFill>
        <p:spPr>
          <a:xfrm>
            <a:off x="548640" y="2000163"/>
            <a:ext cx="11064240" cy="377207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project at a glance</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Each stage answered a question raised by the previous one</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4</a:t>
            </a:r>
          </a:p>
        </p:txBody>
      </p:sp>
      <p:pic>
        <p:nvPicPr>
          <p:cNvPr id="7" name="Picture 6" descr="d17_project_stages.png"/>
          <p:cNvPicPr>
            <a:picLocks noChangeAspect="1"/>
          </p:cNvPicPr>
          <p:nvPr/>
        </p:nvPicPr>
        <p:blipFill>
          <a:blip r:embed="rId2"/>
          <a:stretch>
            <a:fillRect/>
          </a:stretch>
        </p:blipFill>
        <p:spPr>
          <a:xfrm>
            <a:off x="457200" y="2575729"/>
            <a:ext cx="11247120" cy="252950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data: real shopping sessions from one store</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REES46, October 2019, as plotted by our data-audit notebook</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5</a:t>
            </a:r>
          </a:p>
        </p:txBody>
      </p:sp>
      <p:pic>
        <p:nvPicPr>
          <p:cNvPr id="7" name="Picture 6" descr="rees46_event_types.png"/>
          <p:cNvPicPr>
            <a:picLocks noChangeAspect="1"/>
          </p:cNvPicPr>
          <p:nvPr/>
        </p:nvPicPr>
        <p:blipFill>
          <a:blip r:embed="rId2"/>
          <a:stretch>
            <a:fillRect/>
          </a:stretch>
        </p:blipFill>
        <p:spPr>
          <a:xfrm>
            <a:off x="685800" y="1600200"/>
            <a:ext cx="3886200" cy="2176045"/>
          </a:xfrm>
          <a:prstGeom prst="rect">
            <a:avLst/>
          </a:prstGeom>
        </p:spPr>
      </p:pic>
      <p:sp>
        <p:nvSpPr>
          <p:cNvPr id="8" name="TextBox 7"/>
          <p:cNvSpPr txBox="1"/>
          <p:nvPr/>
        </p:nvSpPr>
        <p:spPr>
          <a:xfrm>
            <a:off x="4617720" y="2331720"/>
            <a:ext cx="1600200" cy="1554480"/>
          </a:xfrm>
          <a:prstGeom prst="rect">
            <a:avLst/>
          </a:prstGeom>
          <a:noFill/>
        </p:spPr>
        <p:txBody>
          <a:bodyPr wrap="square" anchor="t" lIns="45720" rIns="45720">
            <a:spAutoFit/>
          </a:bodyPr>
          <a:lstStyle/>
          <a:p>
            <a:pPr algn="l"/>
            <a:r>
              <a:rPr sz="1300" b="0" i="0">
                <a:solidFill>
                  <a:srgbClr val="262626"/>
                </a:solidFill>
                <a:latin typeface="Calibri"/>
              </a:rPr>
              <a:t>Event types: 96% views, 2.2% carts, 1.8% purchases</a:t>
            </a:r>
          </a:p>
        </p:txBody>
      </p:sp>
      <p:pic>
        <p:nvPicPr>
          <p:cNvPr id="9" name="Picture 8" descr="rees46_sessions_per_user.png"/>
          <p:cNvPicPr>
            <a:picLocks noChangeAspect="1"/>
          </p:cNvPicPr>
          <p:nvPr/>
        </p:nvPicPr>
        <p:blipFill>
          <a:blip r:embed="rId3"/>
          <a:stretch>
            <a:fillRect/>
          </a:stretch>
        </p:blipFill>
        <p:spPr>
          <a:xfrm>
            <a:off x="6263640" y="1600200"/>
            <a:ext cx="3886200" cy="2184921"/>
          </a:xfrm>
          <a:prstGeom prst="rect">
            <a:avLst/>
          </a:prstGeom>
        </p:spPr>
      </p:pic>
      <p:sp>
        <p:nvSpPr>
          <p:cNvPr id="10" name="TextBox 9"/>
          <p:cNvSpPr txBox="1"/>
          <p:nvPr/>
        </p:nvSpPr>
        <p:spPr>
          <a:xfrm>
            <a:off x="10195560" y="2331720"/>
            <a:ext cx="1600200" cy="1554480"/>
          </a:xfrm>
          <a:prstGeom prst="rect">
            <a:avLst/>
          </a:prstGeom>
          <a:noFill/>
        </p:spPr>
        <p:txBody>
          <a:bodyPr wrap="square" anchor="t" lIns="45720" rIns="45720">
            <a:spAutoFit/>
          </a:bodyPr>
          <a:lstStyle/>
          <a:p>
            <a:pPr algn="l"/>
            <a:r>
              <a:rPr sz="1300" b="0" i="0">
                <a:solidFill>
                  <a:srgbClr val="262626"/>
                </a:solidFill>
                <a:latin typeface="Calibri"/>
              </a:rPr>
              <a:t>Sessions per user: median 2</a:t>
            </a:r>
          </a:p>
        </p:txBody>
      </p:sp>
      <p:pic>
        <p:nvPicPr>
          <p:cNvPr id="11" name="Picture 10" descr="rees46_events_per_session.png"/>
          <p:cNvPicPr>
            <a:picLocks noChangeAspect="1"/>
          </p:cNvPicPr>
          <p:nvPr/>
        </p:nvPicPr>
        <p:blipFill>
          <a:blip r:embed="rId4"/>
          <a:stretch>
            <a:fillRect/>
          </a:stretch>
        </p:blipFill>
        <p:spPr>
          <a:xfrm>
            <a:off x="685800" y="4114800"/>
            <a:ext cx="3886200" cy="2176045"/>
          </a:xfrm>
          <a:prstGeom prst="rect">
            <a:avLst/>
          </a:prstGeom>
        </p:spPr>
      </p:pic>
      <p:sp>
        <p:nvSpPr>
          <p:cNvPr id="12" name="TextBox 11"/>
          <p:cNvSpPr txBox="1"/>
          <p:nvPr/>
        </p:nvSpPr>
        <p:spPr>
          <a:xfrm>
            <a:off x="4617720" y="4846320"/>
            <a:ext cx="1600200" cy="1554480"/>
          </a:xfrm>
          <a:prstGeom prst="rect">
            <a:avLst/>
          </a:prstGeom>
          <a:noFill/>
        </p:spPr>
        <p:txBody>
          <a:bodyPr wrap="square" anchor="t" lIns="45720" rIns="45720">
            <a:spAutoFit/>
          </a:bodyPr>
          <a:lstStyle/>
          <a:p>
            <a:pPr algn="l"/>
            <a:r>
              <a:rPr sz="1300" b="0" i="0">
                <a:solidFill>
                  <a:srgbClr val="262626"/>
                </a:solidFill>
                <a:latin typeface="Calibri"/>
              </a:rPr>
              <a:t>Events per session: median 2, long tail</a:t>
            </a:r>
          </a:p>
        </p:txBody>
      </p:sp>
      <p:pic>
        <p:nvPicPr>
          <p:cNvPr id="13" name="Picture 12" descr="rees46_prices.png"/>
          <p:cNvPicPr>
            <a:picLocks noChangeAspect="1"/>
          </p:cNvPicPr>
          <p:nvPr/>
        </p:nvPicPr>
        <p:blipFill>
          <a:blip r:embed="rId5"/>
          <a:stretch>
            <a:fillRect/>
          </a:stretch>
        </p:blipFill>
        <p:spPr>
          <a:xfrm>
            <a:off x="6263640" y="4114800"/>
            <a:ext cx="3886200" cy="2176045"/>
          </a:xfrm>
          <a:prstGeom prst="rect">
            <a:avLst/>
          </a:prstGeom>
        </p:spPr>
      </p:pic>
      <p:sp>
        <p:nvSpPr>
          <p:cNvPr id="14" name="TextBox 13"/>
          <p:cNvSpPr txBox="1"/>
          <p:nvPr/>
        </p:nvSpPr>
        <p:spPr>
          <a:xfrm>
            <a:off x="10195560" y="4846320"/>
            <a:ext cx="1600200" cy="1554480"/>
          </a:xfrm>
          <a:prstGeom prst="rect">
            <a:avLst/>
          </a:prstGeom>
          <a:noFill/>
        </p:spPr>
        <p:txBody>
          <a:bodyPr wrap="square" anchor="t" lIns="45720" rIns="45720">
            <a:spAutoFit/>
          </a:bodyPr>
          <a:lstStyle/>
          <a:p>
            <a:pPr algn="l"/>
            <a:r>
              <a:rPr sz="1300" b="0" i="0">
                <a:solidFill>
                  <a:srgbClr val="262626"/>
                </a:solidFill>
                <a:latin typeface="Calibri"/>
              </a:rPr>
              <a:t>Product prices: median 163.97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From the raw log to the frozen dataset</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Oct–Nov 2019 · full catalogue of 158,486 products · one frozen, hashed dataset</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6</a:t>
            </a:r>
          </a:p>
        </p:txBody>
      </p:sp>
      <p:pic>
        <p:nvPicPr>
          <p:cNvPr id="7" name="Picture 6" descr="d9_data_pipeline.png"/>
          <p:cNvPicPr>
            <a:picLocks noChangeAspect="1"/>
          </p:cNvPicPr>
          <p:nvPr/>
        </p:nvPicPr>
        <p:blipFill>
          <a:blip r:embed="rId2"/>
          <a:stretch>
            <a:fillRect/>
          </a:stretch>
        </p:blipFill>
        <p:spPr>
          <a:xfrm>
            <a:off x="457200" y="1802464"/>
            <a:ext cx="7589520" cy="4258912"/>
          </a:xfrm>
          <a:prstGeom prst="rect">
            <a:avLst/>
          </a:prstGeom>
        </p:spPr>
      </p:pic>
      <p:sp>
        <p:nvSpPr>
          <p:cNvPr id="8" name="TextBox 7"/>
          <p:cNvSpPr txBox="1"/>
          <p:nvPr/>
        </p:nvSpPr>
        <p:spPr>
          <a:xfrm>
            <a:off x="8321040" y="1737360"/>
            <a:ext cx="3474720" cy="411480"/>
          </a:xfrm>
          <a:prstGeom prst="rect">
            <a:avLst/>
          </a:prstGeom>
          <a:noFill/>
        </p:spPr>
        <p:txBody>
          <a:bodyPr wrap="square" anchor="t" lIns="45720" rIns="45720">
            <a:spAutoFit/>
          </a:bodyPr>
          <a:lstStyle/>
          <a:p>
            <a:pPr algn="l"/>
            <a:r>
              <a:rPr sz="1600" b="1" i="0">
                <a:solidFill>
                  <a:srgbClr val="1F3864"/>
                </a:solidFill>
                <a:latin typeface="Calibri"/>
              </a:rPr>
              <a:t>Design choices</a:t>
            </a:r>
          </a:p>
        </p:txBody>
      </p:sp>
      <p:sp>
        <p:nvSpPr>
          <p:cNvPr id="9" name="TextBox 8"/>
          <p:cNvSpPr txBox="1"/>
          <p:nvPr/>
        </p:nvSpPr>
        <p:spPr>
          <a:xfrm>
            <a:off x="8321040" y="2194560"/>
            <a:ext cx="3474720" cy="3886200"/>
          </a:xfrm>
          <a:prstGeom prst="rect">
            <a:avLst/>
          </a:prstGeom>
          <a:noFill/>
        </p:spPr>
        <p:txBody>
          <a:bodyPr wrap="square">
            <a:spAutoFit/>
          </a:bodyPr>
          <a:lstStyle/>
          <a:p>
            <a:pPr>
              <a:spcAft>
                <a:spcPts val="700"/>
              </a:spcAft>
            </a:pPr>
            <a:r>
              <a:rPr sz="1400">
                <a:solidFill>
                  <a:srgbClr val="595959"/>
                </a:solidFill>
                <a:latin typeface="Calibri"/>
              </a:rPr>
              <a:t>•  </a:t>
            </a:r>
            <a:r>
              <a:rPr sz="1400" b="0">
                <a:solidFill>
                  <a:srgbClr val="262626"/>
                </a:solidFill>
                <a:latin typeface="Calibri"/>
              </a:rPr>
              <a:t>Rank the </a:t>
            </a:r>
            <a:r>
              <a:rPr sz="1400" b="1">
                <a:solidFill>
                  <a:srgbClr val="262626"/>
                </a:solidFill>
                <a:latin typeface="Calibri"/>
              </a:rPr>
              <a:t>full catalogue</a:t>
            </a:r>
            <a:r>
              <a:rPr sz="1400" b="0">
                <a:solidFill>
                  <a:srgbClr val="262626"/>
                </a:solidFill>
                <a:latin typeface="Calibri"/>
              </a:rPr>
              <a:t>, no sampled negatives</a:t>
            </a:r>
          </a:p>
          <a:p>
            <a:pPr>
              <a:spcAft>
                <a:spcPts val="700"/>
              </a:spcAft>
            </a:pPr>
            <a:r>
              <a:rPr sz="1400">
                <a:solidFill>
                  <a:srgbClr val="595959"/>
                </a:solidFill>
                <a:latin typeface="Calibri"/>
              </a:rPr>
              <a:t>•  </a:t>
            </a:r>
            <a:r>
              <a:rPr sz="1400" b="0">
                <a:solidFill>
                  <a:srgbClr val="262626"/>
                </a:solidFill>
                <a:latin typeface="Calibri"/>
              </a:rPr>
              <a:t>Three disjoint populations: server band, devices, sealed TEST</a:t>
            </a:r>
          </a:p>
          <a:p>
            <a:pPr>
              <a:spcAft>
                <a:spcPts val="700"/>
              </a:spcAft>
            </a:pPr>
            <a:r>
              <a:rPr sz="1400">
                <a:solidFill>
                  <a:srgbClr val="595959"/>
                </a:solidFill>
                <a:latin typeface="Calibri"/>
              </a:rPr>
              <a:t>•  </a:t>
            </a:r>
            <a:r>
              <a:rPr sz="1400" b="0">
                <a:solidFill>
                  <a:srgbClr val="262626"/>
                </a:solidFill>
                <a:latin typeface="Calibri"/>
              </a:rPr>
              <a:t>SASRec: device d=64 (20.7M) · cloud d=256 (83.9M)</a:t>
            </a:r>
          </a:p>
          <a:p>
            <a:pPr>
              <a:spcAft>
                <a:spcPts val="700"/>
              </a:spcAft>
            </a:pPr>
            <a:r>
              <a:rPr sz="1400">
                <a:solidFill>
                  <a:srgbClr val="595959"/>
                </a:solidFill>
                <a:latin typeface="Calibri"/>
              </a:rPr>
              <a:t>•  </a:t>
            </a:r>
            <a:r>
              <a:rPr sz="1400" b="0">
                <a:solidFill>
                  <a:srgbClr val="262626"/>
                </a:solidFill>
                <a:latin typeface="Calibri"/>
              </a:rPr>
              <a:t>Every decision locked before </a:t>
            </a:r>
            <a:r>
              <a:rPr sz="1400" b="1">
                <a:solidFill>
                  <a:srgbClr val="262626"/>
                </a:solidFill>
                <a:latin typeface="Calibri"/>
              </a:rPr>
              <a:t>one</a:t>
            </a:r>
            <a:r>
              <a:rPr sz="1400" b="0">
                <a:solidFill>
                  <a:srgbClr val="262626"/>
                </a:solidFill>
                <a:latin typeface="Calibri"/>
              </a:rPr>
              <a:t> TEST look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How one recommendation is scored</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Mean reciprocal rank (MRR@20), averaged per user, then over users</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7</a:t>
            </a:r>
          </a:p>
        </p:txBody>
      </p:sp>
      <p:pic>
        <p:nvPicPr>
          <p:cNvPr id="7" name="Picture 6" descr="d12_ranking_metric.png"/>
          <p:cNvPicPr>
            <a:picLocks noChangeAspect="1"/>
          </p:cNvPicPr>
          <p:nvPr/>
        </p:nvPicPr>
        <p:blipFill>
          <a:blip r:embed="rId2"/>
          <a:stretch>
            <a:fillRect/>
          </a:stretch>
        </p:blipFill>
        <p:spPr>
          <a:xfrm>
            <a:off x="457200" y="2016515"/>
            <a:ext cx="11247120" cy="364793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prototype platform</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August–September 2026, on GitHub</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8</a:t>
            </a:r>
          </a:p>
        </p:txBody>
      </p:sp>
      <p:pic>
        <p:nvPicPr>
          <p:cNvPr id="7" name="Picture 6" descr="d15_prototype_tasks.png"/>
          <p:cNvPicPr>
            <a:picLocks noChangeAspect="1"/>
          </p:cNvPicPr>
          <p:nvPr/>
        </p:nvPicPr>
        <p:blipFill>
          <a:blip r:embed="rId2"/>
          <a:stretch>
            <a:fillRect/>
          </a:stretch>
        </p:blipFill>
        <p:spPr>
          <a:xfrm>
            <a:off x="457200" y="2093402"/>
            <a:ext cx="6035040" cy="3585595"/>
          </a:xfrm>
          <a:prstGeom prst="rect">
            <a:avLst/>
          </a:prstGeom>
        </p:spPr>
      </p:pic>
      <p:sp>
        <p:nvSpPr>
          <p:cNvPr id="8" name="TextBox 7"/>
          <p:cNvSpPr txBox="1"/>
          <p:nvPr/>
        </p:nvSpPr>
        <p:spPr>
          <a:xfrm>
            <a:off x="6766560" y="1554480"/>
            <a:ext cx="5029200" cy="411480"/>
          </a:xfrm>
          <a:prstGeom prst="rect">
            <a:avLst/>
          </a:prstGeom>
          <a:noFill/>
        </p:spPr>
        <p:txBody>
          <a:bodyPr wrap="square" anchor="t" lIns="45720" rIns="45720">
            <a:spAutoFit/>
          </a:bodyPr>
          <a:lstStyle/>
          <a:p>
            <a:pPr algn="l"/>
            <a:r>
              <a:rPr sz="1600" b="1" i="0">
                <a:solidFill>
                  <a:srgbClr val="1F3864"/>
                </a:solidFill>
                <a:latin typeface="Calibri"/>
              </a:rPr>
              <a:t>What the prototype delivered</a:t>
            </a:r>
          </a:p>
        </p:txBody>
      </p:sp>
      <p:sp>
        <p:nvSpPr>
          <p:cNvPr id="9" name="TextBox 8"/>
          <p:cNvSpPr txBox="1"/>
          <p:nvPr/>
        </p:nvSpPr>
        <p:spPr>
          <a:xfrm>
            <a:off x="6766560" y="2011680"/>
            <a:ext cx="5029200" cy="4160520"/>
          </a:xfrm>
          <a:prstGeom prst="rect">
            <a:avLst/>
          </a:prstGeom>
          <a:noFill/>
        </p:spPr>
        <p:txBody>
          <a:bodyPr wrap="square">
            <a:spAutoFit/>
          </a:bodyPr>
          <a:lstStyle/>
          <a:p>
            <a:pPr>
              <a:spcAft>
                <a:spcPts val="700"/>
              </a:spcAft>
            </a:pPr>
            <a:r>
              <a:rPr sz="1400">
                <a:solidFill>
                  <a:srgbClr val="595959"/>
                </a:solidFill>
                <a:latin typeface="Calibri"/>
              </a:rPr>
              <a:t>•  </a:t>
            </a:r>
            <a:r>
              <a:rPr sz="1400" b="0">
                <a:solidFill>
                  <a:srgbClr val="262626"/>
                </a:solidFill>
                <a:latin typeface="Calibri"/>
              </a:rPr>
              <a:t>Data pipeline: 42.4M events → canonical events, sealed TEST window</a:t>
            </a:r>
          </a:p>
          <a:p>
            <a:pPr>
              <a:spcAft>
                <a:spcPts val="700"/>
              </a:spcAft>
            </a:pPr>
            <a:r>
              <a:rPr sz="1400">
                <a:solidFill>
                  <a:srgbClr val="595959"/>
                </a:solidFill>
                <a:latin typeface="Calibri"/>
              </a:rPr>
              <a:t>•  </a:t>
            </a:r>
            <a:r>
              <a:rPr sz="1400" b="0">
                <a:solidFill>
                  <a:srgbClr val="262626"/>
                </a:solidFill>
                <a:latin typeface="Calibri"/>
              </a:rPr>
              <a:t>Three tasks; GRU beats the transition-table baseline</a:t>
            </a:r>
          </a:p>
          <a:p>
            <a:pPr>
              <a:spcAft>
                <a:spcPts val="700"/>
              </a:spcAft>
            </a:pPr>
            <a:r>
              <a:rPr sz="1400">
                <a:solidFill>
                  <a:srgbClr val="595959"/>
                </a:solidFill>
                <a:latin typeface="Calibri"/>
              </a:rPr>
              <a:t>•  </a:t>
            </a:r>
            <a:r>
              <a:rPr sz="1400" b="0">
                <a:solidFill>
                  <a:srgbClr val="262626"/>
                </a:solidFill>
                <a:latin typeface="Calibri"/>
              </a:rPr>
              <a:t>Federated plumbing with Flower; pilot retention 88.38% (validation)</a:t>
            </a:r>
          </a:p>
          <a:p>
            <a:pPr>
              <a:spcAft>
                <a:spcPts val="700"/>
              </a:spcAft>
            </a:pPr>
            <a:r>
              <a:rPr sz="1400">
                <a:solidFill>
                  <a:srgbClr val="595959"/>
                </a:solidFill>
                <a:latin typeface="Calibri"/>
              </a:rPr>
              <a:t>•  </a:t>
            </a:r>
            <a:r>
              <a:rPr sz="1400" b="0">
                <a:solidFill>
                  <a:srgbClr val="262626"/>
                </a:solidFill>
                <a:latin typeface="Calibri"/>
              </a:rPr>
              <a:t>Hashed identifiers, price bands, ONNX and INT8 export, byte ledger, CI</a:t>
            </a:r>
          </a:p>
          <a:p>
            <a:pPr>
              <a:spcAft>
                <a:spcPts val="700"/>
              </a:spcAft>
            </a:pPr>
            <a:r>
              <a:rPr sz="1400">
                <a:solidFill>
                  <a:srgbClr val="595959"/>
                </a:solidFill>
                <a:latin typeface="Calibri"/>
              </a:rPr>
              <a:t>•  </a:t>
            </a:r>
            <a:r>
              <a:rPr sz="1400" b="0">
                <a:solidFill>
                  <a:srgbClr val="262626"/>
                </a:solidFill>
                <a:latin typeface="Calibri"/>
              </a:rPr>
              <a:t>Lesson: a label defect and evaluator conventions → a stronger protocol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Where the study ran</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Queen's Lobot GPU cluster, reached through encrypted access</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9</a:t>
            </a:r>
          </a:p>
        </p:txBody>
      </p:sp>
      <p:pic>
        <p:nvPicPr>
          <p:cNvPr id="7" name="Picture 6" descr="d8_compute_infrastructure.png"/>
          <p:cNvPicPr>
            <a:picLocks noChangeAspect="1"/>
          </p:cNvPicPr>
          <p:nvPr/>
        </p:nvPicPr>
        <p:blipFill>
          <a:blip r:embed="rId2"/>
          <a:stretch>
            <a:fillRect/>
          </a:stretch>
        </p:blipFill>
        <p:spPr>
          <a:xfrm>
            <a:off x="457200" y="1832518"/>
            <a:ext cx="11247120" cy="410736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pre-registered main study</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After the pilot studies: a backbone contest, then one sealed test evaluation</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10</a:t>
            </a:r>
          </a:p>
        </p:txBody>
      </p:sp>
      <p:sp>
        <p:nvSpPr>
          <p:cNvPr id="7" name="TextBox 6"/>
          <p:cNvSpPr txBox="1"/>
          <p:nvPr/>
        </p:nvSpPr>
        <p:spPr>
          <a:xfrm>
            <a:off x="548640" y="1280160"/>
            <a:ext cx="4023360" cy="411480"/>
          </a:xfrm>
          <a:prstGeom prst="rect">
            <a:avLst/>
          </a:prstGeom>
          <a:noFill/>
        </p:spPr>
        <p:txBody>
          <a:bodyPr wrap="square" anchor="t" lIns="45720" rIns="45720">
            <a:spAutoFit/>
          </a:bodyPr>
          <a:lstStyle/>
          <a:p>
            <a:pPr algn="l"/>
            <a:r>
              <a:rPr sz="1700" b="1" i="0">
                <a:solidFill>
                  <a:srgbClr val="1F3864"/>
                </a:solidFill>
                <a:latin typeface="Calibri"/>
              </a:rPr>
              <a:t>Backbone contest (validation)</a:t>
            </a:r>
          </a:p>
        </p:txBody>
      </p:sp>
      <p:sp>
        <p:nvSpPr>
          <p:cNvPr id="8" name="TextBox 7"/>
          <p:cNvSpPr txBox="1"/>
          <p:nvPr/>
        </p:nvSpPr>
        <p:spPr>
          <a:xfrm>
            <a:off x="548640" y="1737360"/>
            <a:ext cx="4023360" cy="187452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GRU family mean 0.1569</a:t>
            </a:r>
          </a:p>
          <a:p>
            <a:pPr>
              <a:spcAft>
                <a:spcPts val="700"/>
              </a:spcAft>
            </a:pPr>
            <a:r>
              <a:rPr sz="1500">
                <a:solidFill>
                  <a:srgbClr val="595959"/>
                </a:solidFill>
                <a:latin typeface="Calibri"/>
              </a:rPr>
              <a:t>•  </a:t>
            </a:r>
            <a:r>
              <a:rPr sz="1500" b="0">
                <a:solidFill>
                  <a:srgbClr val="262626"/>
                </a:solidFill>
                <a:latin typeface="Calibri"/>
              </a:rPr>
              <a:t>SASRec family mean 0.1612</a:t>
            </a:r>
          </a:p>
          <a:p>
            <a:pPr>
              <a:spcAft>
                <a:spcPts val="700"/>
              </a:spcAft>
            </a:pPr>
            <a:r>
              <a:rPr sz="1500">
                <a:solidFill>
                  <a:srgbClr val="595959"/>
                </a:solidFill>
                <a:latin typeface="Calibri"/>
              </a:rPr>
              <a:t>•  </a:t>
            </a:r>
            <a:r>
              <a:rPr sz="1500" b="0">
                <a:solidFill>
                  <a:srgbClr val="262626"/>
                </a:solidFill>
                <a:latin typeface="Calibri"/>
              </a:rPr>
              <a:t>SASRec locked as the backbone</a:t>
            </a:r>
          </a:p>
        </p:txBody>
      </p:sp>
      <p:pic>
        <p:nvPicPr>
          <p:cNvPr id="9" name="Picture 8" descr="d5_gated_protocol.png"/>
          <p:cNvPicPr>
            <a:picLocks noChangeAspect="1"/>
          </p:cNvPicPr>
          <p:nvPr/>
        </p:nvPicPr>
        <p:blipFill>
          <a:blip r:embed="rId2"/>
          <a:stretch>
            <a:fillRect/>
          </a:stretch>
        </p:blipFill>
        <p:spPr>
          <a:xfrm>
            <a:off x="4754880" y="1325880"/>
            <a:ext cx="7132320" cy="2011805"/>
          </a:xfrm>
          <a:prstGeom prst="rect">
            <a:avLst/>
          </a:prstGeom>
        </p:spPr>
      </p:pic>
      <p:sp>
        <p:nvSpPr>
          <p:cNvPr id="10" name="TextBox 9"/>
          <p:cNvSpPr txBox="1"/>
          <p:nvPr/>
        </p:nvSpPr>
        <p:spPr>
          <a:xfrm>
            <a:off x="548640" y="3886200"/>
            <a:ext cx="11155680" cy="411480"/>
          </a:xfrm>
          <a:prstGeom prst="rect">
            <a:avLst/>
          </a:prstGeom>
          <a:noFill/>
        </p:spPr>
        <p:txBody>
          <a:bodyPr wrap="square" anchor="t" lIns="45720" rIns="45720">
            <a:spAutoFit/>
          </a:bodyPr>
          <a:lstStyle/>
          <a:p>
            <a:pPr algn="l"/>
            <a:r>
              <a:rPr sz="1700" b="1" i="0">
                <a:solidFill>
                  <a:srgbClr val="1F3864"/>
                </a:solidFill>
                <a:latin typeface="Calibri"/>
              </a:rPr>
              <a:t>Why so much protocol?</a:t>
            </a:r>
          </a:p>
        </p:txBody>
      </p:sp>
      <p:sp>
        <p:nvSpPr>
          <p:cNvPr id="11" name="TextBox 10"/>
          <p:cNvSpPr txBox="1"/>
          <p:nvPr/>
        </p:nvSpPr>
        <p:spPr>
          <a:xfrm>
            <a:off x="548640" y="4343400"/>
            <a:ext cx="11155680" cy="178308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33 main-analysis contrasts, two seeds, many arms: easy to fool ourselves</a:t>
            </a:r>
          </a:p>
          <a:p>
            <a:pPr>
              <a:spcAft>
                <a:spcPts val="700"/>
              </a:spcAft>
            </a:pPr>
            <a:r>
              <a:rPr sz="1500">
                <a:solidFill>
                  <a:srgbClr val="595959"/>
                </a:solidFill>
                <a:latin typeface="Calibri"/>
              </a:rPr>
              <a:t>•  </a:t>
            </a:r>
            <a:r>
              <a:rPr sz="1500" b="0">
                <a:solidFill>
                  <a:srgbClr val="262626"/>
                </a:solidFill>
                <a:latin typeface="Calibri"/>
              </a:rPr>
              <a:t>Selection only on calibration data; validation read once; TEST read once, in a sealed evaluation</a:t>
            </a:r>
          </a:p>
          <a:p>
            <a:pPr>
              <a:spcAft>
                <a:spcPts val="700"/>
              </a:spcAft>
            </a:pPr>
            <a:r>
              <a:rPr sz="1500">
                <a:solidFill>
                  <a:srgbClr val="595959"/>
                </a:solidFill>
                <a:latin typeface="Calibri"/>
              </a:rPr>
              <a:t>•  </a:t>
            </a:r>
            <a:r>
              <a:rPr sz="1500" b="0">
                <a:solidFill>
                  <a:srgbClr val="262626"/>
                </a:solidFill>
                <a:latin typeface="Calibri"/>
              </a:rPr>
              <a:t>Every later exploratory test look is a numbered, disclosed register entry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federated recipe: warm-started FedAdam</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11</a:t>
            </a:r>
          </a:p>
        </p:txBody>
      </p:sp>
      <p:pic>
        <p:nvPicPr>
          <p:cNvPr id="6" name="Picture 5" descr="d3_fl_round.png"/>
          <p:cNvPicPr>
            <a:picLocks noChangeAspect="1"/>
          </p:cNvPicPr>
          <p:nvPr/>
        </p:nvPicPr>
        <p:blipFill>
          <a:blip r:embed="rId2"/>
          <a:stretch>
            <a:fillRect/>
          </a:stretch>
        </p:blipFill>
        <p:spPr>
          <a:xfrm>
            <a:off x="411480" y="1441222"/>
            <a:ext cx="11338560" cy="46156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confirmatory answer</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REES46 TEST, 26,254 users, client-macro MRR@20</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12</a:t>
            </a:r>
          </a:p>
        </p:txBody>
      </p:sp>
      <p:sp>
        <p:nvSpPr>
          <p:cNvPr id="7" name="TextBox 6"/>
          <p:cNvSpPr txBox="1"/>
          <p:nvPr/>
        </p:nvSpPr>
        <p:spPr>
          <a:xfrm>
            <a:off x="9601200" y="1097280"/>
            <a:ext cx="2103120" cy="310896"/>
          </a:xfrm>
          <a:prstGeom prst="rect">
            <a:avLst/>
          </a:prstGeom>
          <a:noFill/>
        </p:spPr>
        <p:txBody>
          <a:bodyPr wrap="square" anchor="t" lIns="45720" rIns="45720">
            <a:spAutoFit/>
          </a:bodyPr>
          <a:lstStyle/>
          <a:p>
            <a:pPr algn="r"/>
            <a:r>
              <a:rPr sz="1200" b="0" i="1">
                <a:solidFill>
                  <a:srgbClr val="595959"/>
                </a:solidFill>
                <a:latin typeface="Calibri"/>
              </a:rPr>
              <a:t>(confirmatory result)</a:t>
            </a:r>
          </a:p>
        </p:txBody>
      </p:sp>
      <p:pic>
        <p:nvPicPr>
          <p:cNvPr id="8" name="Picture 7" descr="d13_where_models_learn.png"/>
          <p:cNvPicPr>
            <a:picLocks noChangeAspect="1"/>
          </p:cNvPicPr>
          <p:nvPr/>
        </p:nvPicPr>
        <p:blipFill>
          <a:blip r:embed="rId2"/>
          <a:stretch>
            <a:fillRect/>
          </a:stretch>
        </p:blipFill>
        <p:spPr>
          <a:xfrm>
            <a:off x="1303182" y="1508760"/>
            <a:ext cx="9555155" cy="48463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What federation and fine-tuning add</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Differences in MRR@20 with 95% paired-bootstrap intervals</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13</a:t>
            </a:r>
          </a:p>
        </p:txBody>
      </p:sp>
      <p:pic>
        <p:nvPicPr>
          <p:cNvPr id="7" name="Picture 6" descr="fig_forest_deltas.png"/>
          <p:cNvPicPr>
            <a:picLocks noChangeAspect="1"/>
          </p:cNvPicPr>
          <p:nvPr/>
        </p:nvPicPr>
        <p:blipFill>
          <a:blip r:embed="rId2"/>
          <a:stretch>
            <a:fillRect/>
          </a:stretch>
        </p:blipFill>
        <p:spPr>
          <a:xfrm>
            <a:off x="457200" y="1600200"/>
            <a:ext cx="7498079" cy="3289252"/>
          </a:xfrm>
          <a:prstGeom prst="rect">
            <a:avLst/>
          </a:prstGeom>
        </p:spPr>
      </p:pic>
      <p:sp>
        <p:nvSpPr>
          <p:cNvPr id="8" name="TextBox 7"/>
          <p:cNvSpPr txBox="1"/>
          <p:nvPr/>
        </p:nvSpPr>
        <p:spPr>
          <a:xfrm>
            <a:off x="8183879" y="1645920"/>
            <a:ext cx="3657600" cy="411480"/>
          </a:xfrm>
          <a:prstGeom prst="rect">
            <a:avLst/>
          </a:prstGeom>
          <a:noFill/>
        </p:spPr>
        <p:txBody>
          <a:bodyPr wrap="square" anchor="t" lIns="45720" rIns="45720">
            <a:spAutoFit/>
          </a:bodyPr>
          <a:lstStyle/>
          <a:p>
            <a:pPr algn="l"/>
            <a:r>
              <a:rPr sz="1700" b="1" i="0">
                <a:solidFill>
                  <a:srgbClr val="1F3864"/>
                </a:solidFill>
                <a:latin typeface="Calibri"/>
              </a:rPr>
              <a:t>Reading</a:t>
            </a:r>
          </a:p>
        </p:txBody>
      </p:sp>
      <p:sp>
        <p:nvSpPr>
          <p:cNvPr id="9" name="TextBox 8"/>
          <p:cNvSpPr txBox="1"/>
          <p:nvPr/>
        </p:nvSpPr>
        <p:spPr>
          <a:xfrm>
            <a:off x="8183879" y="2103120"/>
            <a:ext cx="3657600" cy="402336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K21</a:t>
            </a:r>
            <a:r>
              <a:rPr sz="1500" b="0">
                <a:solidFill>
                  <a:srgbClr val="262626"/>
                </a:solidFill>
                <a:latin typeface="Calibri"/>
              </a:rPr>
              <a:t> FL − PRE: −0.000508 [−0.000933, −0.000037]: slightly worse than the pretrain alone</a:t>
            </a:r>
          </a:p>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Q1</a:t>
            </a:r>
            <a:r>
              <a:rPr sz="1500" b="0">
                <a:solidFill>
                  <a:srgbClr val="262626"/>
                </a:solidFill>
                <a:latin typeface="Calibri"/>
              </a:rPr>
              <a:t> tuned warm FL − PRE: equivalent (±0.0005)</a:t>
            </a:r>
          </a:p>
          <a:p>
            <a:pPr>
              <a:spcAft>
                <a:spcPts val="700"/>
              </a:spcAft>
            </a:pPr>
            <a:r>
              <a:rPr sz="1500">
                <a:solidFill>
                  <a:srgbClr val="595959"/>
                </a:solidFill>
                <a:latin typeface="Calibri"/>
              </a:rPr>
              <a:t>•  </a:t>
            </a:r>
            <a:r>
              <a:rPr sz="1500" b="0">
                <a:solidFill>
                  <a:srgbClr val="262626"/>
                </a:solidFill>
                <a:latin typeface="Calibri"/>
              </a:rPr>
              <a:t/>
            </a:r>
            <a:r>
              <a:rPr sz="1500" b="1">
                <a:solidFill>
                  <a:srgbClr val="262626"/>
                </a:solidFill>
                <a:latin typeface="Calibri"/>
              </a:rPr>
              <a:t>K9c</a:t>
            </a:r>
            <a:r>
              <a:rPr sz="1500" b="0">
                <a:solidFill>
                  <a:srgbClr val="262626"/>
                </a:solidFill>
                <a:latin typeface="Calibri"/>
              </a:rPr>
              <a:t> on-device fine-tune: +0.002283, the deployable gain</a:t>
            </a:r>
          </a:p>
          <a:p>
            <a:pPr>
              <a:spcAft>
                <a:spcPts val="700"/>
              </a:spcAft>
            </a:pPr>
            <a:r>
              <a:rPr sz="1500">
                <a:solidFill>
                  <a:srgbClr val="595959"/>
                </a:solidFill>
                <a:latin typeface="Calibri"/>
              </a:rPr>
              <a:t>•  </a:t>
            </a:r>
            <a:r>
              <a:rPr sz="1500" b="0">
                <a:solidFill>
                  <a:srgbClr val="262626"/>
                </a:solidFill>
                <a:latin typeface="Calibri"/>
              </a:rPr>
              <a:t>Orange: post-hoc looks (next slides)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Benchmarks: our cloud reference against published results</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Full-catalogue NDCG@10 on public datasets</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14</a:t>
            </a:r>
          </a:p>
        </p:txBody>
      </p:sp>
      <p:pic>
        <p:nvPicPr>
          <p:cNvPr id="7" name="Picture 6" descr="fig_published_comparison.png"/>
          <p:cNvPicPr>
            <a:picLocks noChangeAspect="1"/>
          </p:cNvPicPr>
          <p:nvPr/>
        </p:nvPicPr>
        <p:blipFill>
          <a:blip r:embed="rId2"/>
          <a:stretch>
            <a:fillRect/>
          </a:stretch>
        </p:blipFill>
        <p:spPr>
          <a:xfrm>
            <a:off x="457200" y="1554480"/>
            <a:ext cx="7223760" cy="3898537"/>
          </a:xfrm>
          <a:prstGeom prst="rect">
            <a:avLst/>
          </a:prstGeom>
        </p:spPr>
      </p:pic>
      <p:sp>
        <p:nvSpPr>
          <p:cNvPr id="8" name="TextBox 7"/>
          <p:cNvSpPr txBox="1"/>
          <p:nvPr/>
        </p:nvSpPr>
        <p:spPr>
          <a:xfrm>
            <a:off x="7955279" y="1600200"/>
            <a:ext cx="3886200" cy="411480"/>
          </a:xfrm>
          <a:prstGeom prst="rect">
            <a:avLst/>
          </a:prstGeom>
          <a:noFill/>
        </p:spPr>
        <p:txBody>
          <a:bodyPr wrap="square" anchor="t" lIns="45720" rIns="45720">
            <a:spAutoFit/>
          </a:bodyPr>
          <a:lstStyle/>
          <a:p>
            <a:pPr algn="l"/>
            <a:r>
              <a:rPr sz="1700" b="1" i="0">
                <a:solidFill>
                  <a:srgbClr val="1F3864"/>
                </a:solidFill>
                <a:latin typeface="Calibri"/>
              </a:rPr>
              <a:t>Confirmatory benchmark looks</a:t>
            </a:r>
          </a:p>
        </p:txBody>
      </p:sp>
      <p:sp>
        <p:nvSpPr>
          <p:cNvPr id="9" name="TextBox 8"/>
          <p:cNvSpPr txBox="1"/>
          <p:nvPr/>
        </p:nvSpPr>
        <p:spPr>
          <a:xfrm>
            <a:off x="7955279" y="2057400"/>
            <a:ext cx="3886200" cy="406908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Our cloud reference is competitive with published full-ranking results</a:t>
            </a:r>
          </a:p>
          <a:p>
            <a:pPr>
              <a:spcAft>
                <a:spcPts val="700"/>
              </a:spcAft>
            </a:pPr>
            <a:r>
              <a:rPr sz="1500">
                <a:solidFill>
                  <a:srgbClr val="595959"/>
                </a:solidFill>
                <a:latin typeface="Calibri"/>
              </a:rPr>
              <a:t>•  </a:t>
            </a:r>
            <a:r>
              <a:rPr sz="1500" b="0">
                <a:solidFill>
                  <a:srgbClr val="262626"/>
                </a:solidFill>
                <a:latin typeface="Calibri"/>
              </a:rPr>
              <a:t>MovieLens-1M: 0.1936 against 0.1739 published for eSASRec</a:t>
            </a:r>
          </a:p>
          <a:p>
            <a:pPr>
              <a:spcAft>
                <a:spcPts val="700"/>
              </a:spcAft>
            </a:pPr>
            <a:r>
              <a:rPr sz="1500">
                <a:solidFill>
                  <a:srgbClr val="595959"/>
                </a:solidFill>
                <a:latin typeface="Calibri"/>
              </a:rPr>
              <a:t>•  </a:t>
            </a:r>
            <a:r>
              <a:rPr sz="1500" b="0">
                <a:solidFill>
                  <a:srgbClr val="262626"/>
                </a:solidFill>
                <a:latin typeface="Calibri"/>
              </a:rPr>
              <a:t>Federated arms kept only 13–77% of it</a:t>
            </a:r>
          </a:p>
          <a:p>
            <a:pPr>
              <a:spcAft>
                <a:spcPts val="700"/>
              </a:spcAft>
            </a:pPr>
            <a:r>
              <a:rPr sz="1500">
                <a:solidFill>
                  <a:srgbClr val="595959"/>
                </a:solidFill>
                <a:latin typeface="Calibri"/>
              </a:rPr>
              <a:t>•  </a:t>
            </a:r>
            <a:r>
              <a:rPr sz="1500" b="0">
                <a:solidFill>
                  <a:srgbClr val="262626"/>
                </a:solidFill>
                <a:latin typeface="Calibri"/>
              </a:rPr>
              <a:t>→ something in the federated recipe was wrong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Diagnosis: FedAdam's τ froze federated training</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Found after the test evaluation</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15</a:t>
            </a:r>
          </a:p>
        </p:txBody>
      </p:sp>
      <p:sp>
        <p:nvSpPr>
          <p:cNvPr id="7" name="TextBox 6"/>
          <p:cNvSpPr txBox="1"/>
          <p:nvPr/>
        </p:nvSpPr>
        <p:spPr>
          <a:xfrm>
            <a:off x="9601200" y="1097280"/>
            <a:ext cx="2103120" cy="310896"/>
          </a:xfrm>
          <a:prstGeom prst="rect">
            <a:avLst/>
          </a:prstGeom>
          <a:noFill/>
        </p:spPr>
        <p:txBody>
          <a:bodyPr wrap="square" anchor="t" lIns="45720" rIns="45720">
            <a:spAutoFit/>
          </a:bodyPr>
          <a:lstStyle/>
          <a:p>
            <a:pPr algn="r"/>
            <a:r>
              <a:rPr sz="1200" b="0" i="1">
                <a:solidFill>
                  <a:srgbClr val="595959"/>
                </a:solidFill>
                <a:latin typeface="Calibri"/>
              </a:rPr>
              <a:t>(exploratory result)</a:t>
            </a:r>
          </a:p>
        </p:txBody>
      </p:sp>
      <p:pic>
        <p:nvPicPr>
          <p:cNvPr id="8" name="Picture 7" descr="d14_tau_problem.png"/>
          <p:cNvPicPr>
            <a:picLocks noChangeAspect="1"/>
          </p:cNvPicPr>
          <p:nvPr/>
        </p:nvPicPr>
        <p:blipFill>
          <a:blip r:embed="rId2"/>
          <a:stretch>
            <a:fillRect/>
          </a:stretch>
        </p:blipFill>
        <p:spPr>
          <a:xfrm>
            <a:off x="457200" y="1943153"/>
            <a:ext cx="6949440" cy="2057293"/>
          </a:xfrm>
          <a:prstGeom prst="rect">
            <a:avLst/>
          </a:prstGeom>
        </p:spPr>
      </p:pic>
      <p:pic>
        <p:nvPicPr>
          <p:cNvPr id="9" name="Picture 8" descr="fig_tau_update_norms.png"/>
          <p:cNvPicPr>
            <a:picLocks noChangeAspect="1"/>
          </p:cNvPicPr>
          <p:nvPr/>
        </p:nvPicPr>
        <p:blipFill>
          <a:blip r:embed="rId3"/>
          <a:stretch>
            <a:fillRect/>
          </a:stretch>
        </p:blipFill>
        <p:spPr>
          <a:xfrm>
            <a:off x="548640" y="4343400"/>
            <a:ext cx="4549876" cy="1965960"/>
          </a:xfrm>
          <a:prstGeom prst="rect">
            <a:avLst/>
          </a:prstGeom>
        </p:spPr>
      </p:pic>
      <p:sp>
        <p:nvSpPr>
          <p:cNvPr id="10" name="TextBox 9"/>
          <p:cNvSpPr txBox="1"/>
          <p:nvPr/>
        </p:nvSpPr>
        <p:spPr>
          <a:xfrm>
            <a:off x="7680960" y="1737360"/>
            <a:ext cx="4114800" cy="411480"/>
          </a:xfrm>
          <a:prstGeom prst="rect">
            <a:avLst/>
          </a:prstGeom>
          <a:noFill/>
        </p:spPr>
        <p:txBody>
          <a:bodyPr wrap="square" anchor="t" lIns="45720" rIns="45720">
            <a:spAutoFit/>
          </a:bodyPr>
          <a:lstStyle/>
          <a:p>
            <a:pPr algn="l"/>
            <a:r>
              <a:rPr sz="1700" b="1" i="0">
                <a:solidFill>
                  <a:srgbClr val="1F3864"/>
                </a:solidFill>
                <a:latin typeface="Calibri"/>
              </a:rPr>
              <a:t>Mechanism</a:t>
            </a:r>
          </a:p>
        </p:txBody>
      </p:sp>
      <p:sp>
        <p:nvSpPr>
          <p:cNvPr id="11" name="TextBox 10"/>
          <p:cNvSpPr txBox="1"/>
          <p:nvPr/>
        </p:nvSpPr>
        <p:spPr>
          <a:xfrm>
            <a:off x="7680960" y="2194560"/>
            <a:ext cx="4114800" cy="397764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FedAdam step ∝ m / (√v + τ)</a:t>
            </a:r>
          </a:p>
          <a:p>
            <a:pPr>
              <a:spcAft>
                <a:spcPts val="700"/>
              </a:spcAft>
            </a:pPr>
            <a:r>
              <a:rPr sz="1500">
                <a:solidFill>
                  <a:srgbClr val="595959"/>
                </a:solidFill>
                <a:latin typeface="Calibri"/>
              </a:rPr>
              <a:t>•  </a:t>
            </a:r>
            <a:r>
              <a:rPr sz="1500" b="0">
                <a:solidFill>
                  <a:srgbClr val="262626"/>
                </a:solidFill>
                <a:latin typeface="Calibri"/>
              </a:rPr>
              <a:t>Updates ≈ 10⁻⁷, registered τ = 10⁻³</a:t>
            </a:r>
          </a:p>
          <a:p>
            <a:pPr>
              <a:spcAft>
                <a:spcPts val="700"/>
              </a:spcAft>
            </a:pPr>
            <a:r>
              <a:rPr sz="1500">
                <a:solidFill>
                  <a:srgbClr val="595959"/>
                </a:solidFill>
                <a:latin typeface="Calibri"/>
              </a:rPr>
              <a:t>•  </a:t>
            </a:r>
            <a:r>
              <a:rPr sz="1500" b="0">
                <a:solidFill>
                  <a:srgbClr val="262626"/>
                </a:solidFill>
                <a:latin typeface="Calibri"/>
              </a:rPr>
              <a:t>→ the server step was 20–100× too small</a:t>
            </a:r>
          </a:p>
          <a:p>
            <a:pPr>
              <a:spcAft>
                <a:spcPts val="700"/>
              </a:spcAft>
            </a:pPr>
            <a:r>
              <a:rPr sz="1500">
                <a:solidFill>
                  <a:srgbClr val="595959"/>
                </a:solidFill>
                <a:latin typeface="Calibri"/>
              </a:rPr>
              <a:t>•  </a:t>
            </a:r>
            <a:r>
              <a:rPr sz="1500" b="0">
                <a:solidFill>
                  <a:srgbClr val="262626"/>
                </a:solidFill>
                <a:latin typeface="Calibri"/>
              </a:rPr>
              <a:t>The tuned model moved ≈ 0.06% in 13,654 rounds</a:t>
            </a:r>
          </a:p>
          <a:p>
            <a:pPr>
              <a:spcAft>
                <a:spcPts val="700"/>
              </a:spcAft>
            </a:pPr>
            <a:r>
              <a:rPr sz="1500">
                <a:solidFill>
                  <a:srgbClr val="595959"/>
                </a:solidFill>
                <a:latin typeface="Calibri"/>
              </a:rPr>
              <a:t>•  </a:t>
            </a:r>
            <a:r>
              <a:rPr sz="1500" b="0">
                <a:solidFill>
                  <a:srgbClr val="262626"/>
                </a:solidFill>
                <a:latin typeface="Calibri"/>
              </a:rPr>
              <a:t>Confirmatory results stay as registered; the fix is exploratory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With τ fixed, federated training learns</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Six public benchmarks, TEST (exploratory look)</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16</a:t>
            </a:r>
          </a:p>
        </p:txBody>
      </p:sp>
      <p:sp>
        <p:nvSpPr>
          <p:cNvPr id="7" name="TextBox 6"/>
          <p:cNvSpPr txBox="1"/>
          <p:nvPr/>
        </p:nvSpPr>
        <p:spPr>
          <a:xfrm>
            <a:off x="9601200" y="1097280"/>
            <a:ext cx="2103120" cy="310896"/>
          </a:xfrm>
          <a:prstGeom prst="rect">
            <a:avLst/>
          </a:prstGeom>
          <a:noFill/>
        </p:spPr>
        <p:txBody>
          <a:bodyPr wrap="square" anchor="t" lIns="45720" rIns="45720">
            <a:spAutoFit/>
          </a:bodyPr>
          <a:lstStyle/>
          <a:p>
            <a:pPr algn="r"/>
            <a:r>
              <a:rPr sz="1200" b="0" i="1">
                <a:solidFill>
                  <a:srgbClr val="595959"/>
                </a:solidFill>
                <a:latin typeface="Calibri"/>
              </a:rPr>
              <a:t>(exploratory result)</a:t>
            </a:r>
          </a:p>
        </p:txBody>
      </p:sp>
      <p:pic>
        <p:nvPicPr>
          <p:cNvPr id="8" name="Picture 7" descr="fig_bench_taufix.png"/>
          <p:cNvPicPr>
            <a:picLocks noChangeAspect="1"/>
          </p:cNvPicPr>
          <p:nvPr/>
        </p:nvPicPr>
        <p:blipFill>
          <a:blip r:embed="rId2"/>
          <a:stretch>
            <a:fillRect/>
          </a:stretch>
        </p:blipFill>
        <p:spPr>
          <a:xfrm>
            <a:off x="457200" y="1600200"/>
            <a:ext cx="7315200" cy="4200211"/>
          </a:xfrm>
          <a:prstGeom prst="rect">
            <a:avLst/>
          </a:prstGeom>
        </p:spPr>
      </p:pic>
      <p:sp>
        <p:nvSpPr>
          <p:cNvPr id="9" name="TextBox 8"/>
          <p:cNvSpPr txBox="1"/>
          <p:nvPr/>
        </p:nvSpPr>
        <p:spPr>
          <a:xfrm>
            <a:off x="8001000" y="1645920"/>
            <a:ext cx="3840480" cy="411480"/>
          </a:xfrm>
          <a:prstGeom prst="rect">
            <a:avLst/>
          </a:prstGeom>
          <a:noFill/>
        </p:spPr>
        <p:txBody>
          <a:bodyPr wrap="square" anchor="t" lIns="45720" rIns="45720">
            <a:spAutoFit/>
          </a:bodyPr>
          <a:lstStyle/>
          <a:p>
            <a:pPr algn="l"/>
            <a:r>
              <a:rPr sz="1700" b="1" i="0">
                <a:solidFill>
                  <a:srgbClr val="1F3864"/>
                </a:solidFill>
                <a:latin typeface="Calibri"/>
              </a:rPr>
              <a:t>What changed</a:t>
            </a:r>
          </a:p>
        </p:txBody>
      </p:sp>
      <p:sp>
        <p:nvSpPr>
          <p:cNvPr id="10" name="TextBox 9"/>
          <p:cNvSpPr txBox="1"/>
          <p:nvPr/>
        </p:nvSpPr>
        <p:spPr>
          <a:xfrm>
            <a:off x="8001000" y="2103120"/>
            <a:ext cx="3840480" cy="402336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Warm FL: 75–92% of the cloud model (was 13–77%)</a:t>
            </a:r>
          </a:p>
          <a:p>
            <a:pPr>
              <a:spcAft>
                <a:spcPts val="700"/>
              </a:spcAft>
            </a:pPr>
            <a:r>
              <a:rPr sz="1500">
                <a:solidFill>
                  <a:srgbClr val="595959"/>
                </a:solidFill>
                <a:latin typeface="Calibri"/>
              </a:rPr>
              <a:t>•  </a:t>
            </a:r>
            <a:r>
              <a:rPr sz="1500" b="0">
                <a:solidFill>
                  <a:srgbClr val="262626"/>
                </a:solidFill>
                <a:latin typeface="Calibri"/>
              </a:rPr>
              <a:t>Central device-size model 90–110%: size is not the bottleneck</a:t>
            </a:r>
          </a:p>
          <a:p>
            <a:pPr>
              <a:spcAft>
                <a:spcPts val="700"/>
              </a:spcAft>
            </a:pPr>
            <a:r>
              <a:rPr sz="1500">
                <a:solidFill>
                  <a:srgbClr val="595959"/>
                </a:solidFill>
                <a:latin typeface="Calibri"/>
              </a:rPr>
              <a:t>•  </a:t>
            </a:r>
            <a:r>
              <a:rPr sz="1500" b="0">
                <a:solidFill>
                  <a:srgbClr val="262626"/>
                </a:solidFill>
                <a:latin typeface="Calibri"/>
              </a:rPr>
              <a:t>On REES46 the fix changes nothing (+0.00022, interval includes 0)</a:t>
            </a:r>
          </a:p>
          <a:p>
            <a:pPr>
              <a:spcAft>
                <a:spcPts val="700"/>
              </a:spcAft>
            </a:pPr>
            <a:r>
              <a:rPr sz="1500">
                <a:solidFill>
                  <a:srgbClr val="595959"/>
                </a:solidFill>
                <a:latin typeface="Calibri"/>
              </a:rPr>
              <a:t>•  </a:t>
            </a:r>
            <a:r>
              <a:rPr sz="1500" b="0">
                <a:solidFill>
                  <a:srgbClr val="262626"/>
                </a:solidFill>
                <a:latin typeface="Calibri"/>
              </a:rPr>
              <a:t>Caveat: τ changed together with the budget and item tables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The value of federation depends on the server's data</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17</a:t>
            </a:r>
          </a:p>
        </p:txBody>
      </p:sp>
      <p:sp>
        <p:nvSpPr>
          <p:cNvPr id="6" name="TextBox 5"/>
          <p:cNvSpPr txBox="1"/>
          <p:nvPr/>
        </p:nvSpPr>
        <p:spPr>
          <a:xfrm>
            <a:off x="9601200" y="1097280"/>
            <a:ext cx="2103120" cy="310896"/>
          </a:xfrm>
          <a:prstGeom prst="rect">
            <a:avLst/>
          </a:prstGeom>
          <a:noFill/>
        </p:spPr>
        <p:txBody>
          <a:bodyPr wrap="square" anchor="t" lIns="45720" rIns="45720">
            <a:spAutoFit/>
          </a:bodyPr>
          <a:lstStyle/>
          <a:p>
            <a:pPr algn="r"/>
            <a:r>
              <a:rPr sz="1200" b="0" i="1">
                <a:solidFill>
                  <a:srgbClr val="595959"/>
                </a:solidFill>
                <a:latin typeface="Calibri"/>
              </a:rPr>
              <a:t>(exploratory result)</a:t>
            </a:r>
          </a:p>
        </p:txBody>
      </p:sp>
      <p:pic>
        <p:nvPicPr>
          <p:cNvPr id="7" name="Picture 6" descr="fig_server_data_value.png"/>
          <p:cNvPicPr>
            <a:picLocks noChangeAspect="1"/>
          </p:cNvPicPr>
          <p:nvPr/>
        </p:nvPicPr>
        <p:blipFill>
          <a:blip r:embed="rId2"/>
          <a:stretch>
            <a:fillRect/>
          </a:stretch>
        </p:blipFill>
        <p:spPr>
          <a:xfrm>
            <a:off x="457200" y="1463040"/>
            <a:ext cx="7040880" cy="3520439"/>
          </a:xfrm>
          <a:prstGeom prst="rect">
            <a:avLst/>
          </a:prstGeom>
        </p:spPr>
      </p:pic>
      <p:sp>
        <p:nvSpPr>
          <p:cNvPr id="8" name="TextBox 7"/>
          <p:cNvSpPr txBox="1"/>
          <p:nvPr/>
        </p:nvSpPr>
        <p:spPr>
          <a:xfrm>
            <a:off x="7772400" y="1554480"/>
            <a:ext cx="4069080" cy="411480"/>
          </a:xfrm>
          <a:prstGeom prst="rect">
            <a:avLst/>
          </a:prstGeom>
          <a:noFill/>
        </p:spPr>
        <p:txBody>
          <a:bodyPr wrap="square" anchor="t" lIns="45720" rIns="45720">
            <a:spAutoFit/>
          </a:bodyPr>
          <a:lstStyle/>
          <a:p>
            <a:pPr algn="l"/>
            <a:r>
              <a:rPr sz="1700" b="1" i="0">
                <a:solidFill>
                  <a:srgbClr val="1F3864"/>
                </a:solidFill>
                <a:latin typeface="Calibri"/>
              </a:rPr>
              <a:t>Evidence</a:t>
            </a:r>
          </a:p>
        </p:txBody>
      </p:sp>
      <p:sp>
        <p:nvSpPr>
          <p:cNvPr id="9" name="TextBox 8"/>
          <p:cNvSpPr txBox="1"/>
          <p:nvPr/>
        </p:nvSpPr>
        <p:spPr>
          <a:xfrm>
            <a:off x="7772400" y="2011680"/>
            <a:ext cx="4069080" cy="411480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100k-user pretrain: federation adds </a:t>
            </a:r>
            <a:r>
              <a:rPr sz="1500" b="1">
                <a:solidFill>
                  <a:srgbClr val="262626"/>
                </a:solidFill>
                <a:latin typeface="Calibri"/>
              </a:rPr>
              <a:t>+0.0091</a:t>
            </a:r>
            <a:r>
              <a:rPr sz="1500" b="0">
                <a:solidFill>
                  <a:srgbClr val="262626"/>
                </a:solidFill>
                <a:latin typeface="Calibri"/>
              </a:rPr>
              <a:t> MRR@20</a:t>
            </a:r>
          </a:p>
          <a:p>
            <a:pPr>
              <a:spcAft>
                <a:spcPts val="700"/>
              </a:spcAft>
            </a:pPr>
            <a:r>
              <a:rPr sz="1500">
                <a:solidFill>
                  <a:srgbClr val="595959"/>
                </a:solidFill>
                <a:latin typeface="Calibri"/>
              </a:rPr>
              <a:t>•  </a:t>
            </a:r>
            <a:r>
              <a:rPr sz="1500" b="0">
                <a:solidFill>
                  <a:srgbClr val="262626"/>
                </a:solidFill>
                <a:latin typeface="Calibri"/>
              </a:rPr>
              <a:t>1.2M-user pretrain: federation adds ≈ 0</a:t>
            </a:r>
          </a:p>
          <a:p>
            <a:pPr>
              <a:spcAft>
                <a:spcPts val="700"/>
              </a:spcAft>
            </a:pPr>
            <a:r>
              <a:rPr sz="1500">
                <a:solidFill>
                  <a:srgbClr val="595959"/>
                </a:solidFill>
                <a:latin typeface="Calibri"/>
              </a:rPr>
              <a:t>•  </a:t>
            </a:r>
            <a:r>
              <a:rPr sz="1500" b="0">
                <a:solidFill>
                  <a:srgbClr val="262626"/>
                </a:solidFill>
                <a:latin typeface="Calibri"/>
              </a:rPr>
              <a:t>Disjoint server data (50%): warm beats cold by 27–55% on Amazon data</a:t>
            </a:r>
          </a:p>
          <a:p>
            <a:pPr>
              <a:spcAft>
                <a:spcPts val="700"/>
              </a:spcAft>
            </a:pPr>
            <a:r>
              <a:rPr sz="1500">
                <a:solidFill>
                  <a:srgbClr val="595959"/>
                </a:solidFill>
                <a:latin typeface="Calibri"/>
              </a:rPr>
              <a:t>•  </a:t>
            </a:r>
            <a:r>
              <a:rPr sz="1500" b="0">
                <a:solidFill>
                  <a:srgbClr val="262626"/>
                </a:solidFill>
                <a:latin typeface="Calibri"/>
              </a:rPr>
              <a:t>Exception: MovieLens-1M (6,040 users)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Privacy: learning leaks, and guarantees need care</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18</a:t>
            </a:r>
          </a:p>
        </p:txBody>
      </p:sp>
      <p:pic>
        <p:nvPicPr>
          <p:cNvPr id="6" name="Picture 5" descr="d16_membership_attack.png"/>
          <p:cNvPicPr>
            <a:picLocks noChangeAspect="1"/>
          </p:cNvPicPr>
          <p:nvPr/>
        </p:nvPicPr>
        <p:blipFill>
          <a:blip r:embed="rId2"/>
          <a:stretch>
            <a:fillRect/>
          </a:stretch>
        </p:blipFill>
        <p:spPr>
          <a:xfrm>
            <a:off x="457200" y="1415516"/>
            <a:ext cx="11247120" cy="2655367"/>
          </a:xfrm>
          <a:prstGeom prst="rect">
            <a:avLst/>
          </a:prstGeom>
        </p:spPr>
      </p:pic>
      <p:sp>
        <p:nvSpPr>
          <p:cNvPr id="7" name="TextBox 6"/>
          <p:cNvSpPr txBox="1"/>
          <p:nvPr/>
        </p:nvSpPr>
        <p:spPr>
          <a:xfrm>
            <a:off x="548640" y="4251960"/>
            <a:ext cx="11155680" cy="411480"/>
          </a:xfrm>
          <a:prstGeom prst="rect">
            <a:avLst/>
          </a:prstGeom>
          <a:noFill/>
        </p:spPr>
        <p:txBody>
          <a:bodyPr wrap="square" anchor="t" lIns="45720" rIns="45720">
            <a:spAutoFit/>
          </a:bodyPr>
          <a:lstStyle/>
          <a:p>
            <a:pPr algn="l"/>
            <a:r>
              <a:rPr sz="1700" b="1" i="0">
                <a:solidFill>
                  <a:srgbClr val="1F3864"/>
                </a:solidFill>
                <a:latin typeface="Calibri"/>
              </a:rPr>
              <a:t>Findings</a:t>
            </a:r>
          </a:p>
        </p:txBody>
      </p:sp>
      <p:sp>
        <p:nvSpPr>
          <p:cNvPr id="8" name="TextBox 7"/>
          <p:cNvSpPr txBox="1"/>
          <p:nvPr/>
        </p:nvSpPr>
        <p:spPr>
          <a:xfrm>
            <a:off x="548640" y="4709160"/>
            <a:ext cx="11155680" cy="160020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A federated model that really learns leaks membership (AUC 0.747); DP at ε = 8 removes the measured leak</a:t>
            </a:r>
          </a:p>
          <a:p>
            <a:pPr>
              <a:spcAft>
                <a:spcPts val="700"/>
              </a:spcAft>
            </a:pPr>
            <a:r>
              <a:rPr sz="1500">
                <a:solidFill>
                  <a:srgbClr val="595959"/>
                </a:solidFill>
                <a:latin typeface="Calibri"/>
              </a:rPr>
              <a:t>•  </a:t>
            </a:r>
            <a:r>
              <a:rPr sz="1500" b="0">
                <a:solidFill>
                  <a:srgbClr val="262626"/>
                </a:solidFill>
                <a:latin typeface="Calibri"/>
              </a:rPr>
              <a:t>DP costs little on the warm system (94.71% kept) and a lot on the cold one (31.30%)</a:t>
            </a:r>
          </a:p>
          <a:p>
            <a:pPr>
              <a:spcAft>
                <a:spcPts val="700"/>
              </a:spcAft>
            </a:pPr>
            <a:r>
              <a:rPr sz="1500">
                <a:solidFill>
                  <a:srgbClr val="595959"/>
                </a:solidFill>
                <a:latin typeface="Calibri"/>
              </a:rPr>
              <a:t>•  </a:t>
            </a:r>
            <a:r>
              <a:rPr sz="1500" b="0">
                <a:solidFill>
                  <a:srgbClr val="262626"/>
                </a:solidFill>
                <a:latin typeface="Calibri"/>
              </a:rPr>
              <a:t>Audit: the legacy DP randomness gives no formal guarantee; secure aggregation was simulated only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On-device feasibility in Microsoft Edge</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ONNX Runtime WebAssembly on a laptop, a phone and a server CPU</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19</a:t>
            </a:r>
          </a:p>
        </p:txBody>
      </p:sp>
      <p:pic>
        <p:nvPicPr>
          <p:cNvPr id="7" name="Picture 6" descr="d10_ondevice_inference.png"/>
          <p:cNvPicPr>
            <a:picLocks noChangeAspect="1"/>
          </p:cNvPicPr>
          <p:nvPr/>
        </p:nvPicPr>
        <p:blipFill>
          <a:blip r:embed="rId2"/>
          <a:stretch>
            <a:fillRect/>
          </a:stretch>
        </p:blipFill>
        <p:spPr>
          <a:xfrm>
            <a:off x="477329" y="1463040"/>
            <a:ext cx="7183501" cy="3108960"/>
          </a:xfrm>
          <a:prstGeom prst="rect">
            <a:avLst/>
          </a:prstGeom>
        </p:spPr>
      </p:pic>
      <p:pic>
        <p:nvPicPr>
          <p:cNvPr id="8" name="Picture 7" descr="fig_device_latency.png"/>
          <p:cNvPicPr>
            <a:picLocks noChangeAspect="1"/>
          </p:cNvPicPr>
          <p:nvPr/>
        </p:nvPicPr>
        <p:blipFill>
          <a:blip r:embed="rId3"/>
          <a:stretch>
            <a:fillRect/>
          </a:stretch>
        </p:blipFill>
        <p:spPr>
          <a:xfrm>
            <a:off x="548640" y="4572000"/>
            <a:ext cx="4436837" cy="1783080"/>
          </a:xfrm>
          <a:prstGeom prst="rect">
            <a:avLst/>
          </a:prstGeom>
        </p:spPr>
      </p:pic>
      <p:sp>
        <p:nvSpPr>
          <p:cNvPr id="9" name="TextBox 8"/>
          <p:cNvSpPr txBox="1"/>
          <p:nvPr/>
        </p:nvSpPr>
        <p:spPr>
          <a:xfrm>
            <a:off x="7955279" y="1645920"/>
            <a:ext cx="3886200" cy="411480"/>
          </a:xfrm>
          <a:prstGeom prst="rect">
            <a:avLst/>
          </a:prstGeom>
          <a:noFill/>
        </p:spPr>
        <p:txBody>
          <a:bodyPr wrap="square" anchor="t" lIns="45720" rIns="45720">
            <a:spAutoFit/>
          </a:bodyPr>
          <a:lstStyle/>
          <a:p>
            <a:pPr algn="l"/>
            <a:r>
              <a:rPr sz="1700" b="1" i="0">
                <a:solidFill>
                  <a:srgbClr val="1F3864"/>
                </a:solidFill>
                <a:latin typeface="Calibri"/>
              </a:rPr>
              <a:t>Deployability</a:t>
            </a:r>
          </a:p>
        </p:txBody>
      </p:sp>
      <p:sp>
        <p:nvSpPr>
          <p:cNvPr id="10" name="TextBox 9"/>
          <p:cNvSpPr txBox="1"/>
          <p:nvPr/>
        </p:nvSpPr>
        <p:spPr>
          <a:xfrm>
            <a:off x="7955279" y="2103120"/>
            <a:ext cx="3886200" cy="402336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INT8 model: 82.9 MB → 21.2 MB</a:t>
            </a:r>
          </a:p>
          <a:p>
            <a:pPr>
              <a:spcAft>
                <a:spcPts val="700"/>
              </a:spcAft>
            </a:pPr>
            <a:r>
              <a:rPr sz="1500">
                <a:solidFill>
                  <a:srgbClr val="595959"/>
                </a:solidFill>
                <a:latin typeface="Calibri"/>
              </a:rPr>
              <a:t>•  </a:t>
            </a:r>
            <a:r>
              <a:rPr sz="1500" b="0">
                <a:solidFill>
                  <a:srgbClr val="262626"/>
                </a:solidFill>
                <a:latin typeface="Calibri"/>
              </a:rPr>
              <a:t>INT8 and 8-bit uploads: no measurable quality cost</a:t>
            </a:r>
          </a:p>
          <a:p>
            <a:pPr>
              <a:spcAft>
                <a:spcPts val="700"/>
              </a:spcAft>
            </a:pPr>
            <a:r>
              <a:rPr sz="1500">
                <a:solidFill>
                  <a:srgbClr val="595959"/>
                </a:solidFill>
                <a:latin typeface="Calibri"/>
              </a:rPr>
              <a:t>•  </a:t>
            </a:r>
            <a:r>
              <a:rPr sz="1500" b="0">
                <a:solidFill>
                  <a:srgbClr val="262626"/>
                </a:solidFill>
                <a:latin typeface="Calibri"/>
              </a:rPr>
              <a:t>Warm median latency 1.7–5.1 ms per query</a:t>
            </a:r>
          </a:p>
          <a:p>
            <a:pPr>
              <a:spcAft>
                <a:spcPts val="700"/>
              </a:spcAft>
            </a:pPr>
            <a:r>
              <a:rPr sz="1500">
                <a:solidFill>
                  <a:srgbClr val="595959"/>
                </a:solidFill>
                <a:latin typeface="Calibri"/>
              </a:rPr>
              <a:t>•  </a:t>
            </a:r>
            <a:r>
              <a:rPr sz="1500" b="0">
                <a:solidFill>
                  <a:srgbClr val="262626"/>
                </a:solidFill>
                <a:latin typeface="Calibri"/>
              </a:rPr>
              <a:t>Phone cold start ≈ 2.5 s with INT8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Closure experiments</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060704"/>
            <a:ext cx="11155680" cy="457200"/>
          </a:xfrm>
          <a:prstGeom prst="rect">
            <a:avLst/>
          </a:prstGeom>
          <a:noFill/>
        </p:spPr>
        <p:txBody>
          <a:bodyPr wrap="square" anchor="t" lIns="45720" rIns="45720">
            <a:spAutoFit/>
          </a:bodyPr>
          <a:lstStyle/>
          <a:p>
            <a:pPr algn="l"/>
            <a:r>
              <a:rPr sz="1600" b="0" i="1">
                <a:solidFill>
                  <a:srgbClr val="595959"/>
                </a:solidFill>
                <a:latin typeface="Calibri"/>
              </a:rPr>
              <a:t>Technical closure and extensions, 12–17 October</a:t>
            </a:r>
          </a:p>
        </p:txBody>
      </p:sp>
      <p:sp>
        <p:nvSpPr>
          <p:cNvPr id="5" name="TextBox 4"/>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6" name="TextBox 5"/>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20</a:t>
            </a:r>
          </a:p>
        </p:txBody>
      </p:sp>
      <p:pic>
        <p:nvPicPr>
          <p:cNvPr id="7" name="Picture 6" descr="fig_closure_extensions.png"/>
          <p:cNvPicPr>
            <a:picLocks noChangeAspect="1"/>
          </p:cNvPicPr>
          <p:nvPr/>
        </p:nvPicPr>
        <p:blipFill>
          <a:blip r:embed="rId2"/>
          <a:stretch>
            <a:fillRect/>
          </a:stretch>
        </p:blipFill>
        <p:spPr>
          <a:xfrm>
            <a:off x="411480" y="1600200"/>
            <a:ext cx="6949440" cy="2541270"/>
          </a:xfrm>
          <a:prstGeom prst="rect">
            <a:avLst/>
          </a:prstGeom>
        </p:spPr>
      </p:pic>
      <p:sp>
        <p:nvSpPr>
          <p:cNvPr id="8" name="TextBox 7"/>
          <p:cNvSpPr txBox="1"/>
          <p:nvPr/>
        </p:nvSpPr>
        <p:spPr>
          <a:xfrm>
            <a:off x="7589520" y="1645920"/>
            <a:ext cx="4251960" cy="411480"/>
          </a:xfrm>
          <a:prstGeom prst="rect">
            <a:avLst/>
          </a:prstGeom>
          <a:noFill/>
        </p:spPr>
        <p:txBody>
          <a:bodyPr wrap="square" anchor="t" lIns="45720" rIns="45720">
            <a:spAutoFit/>
          </a:bodyPr>
          <a:lstStyle/>
          <a:p>
            <a:pPr algn="l"/>
            <a:r>
              <a:rPr sz="1700" b="1" i="0">
                <a:solidFill>
                  <a:srgbClr val="1F3864"/>
                </a:solidFill>
                <a:latin typeface="Calibri"/>
              </a:rPr>
              <a:t>What closure added</a:t>
            </a:r>
          </a:p>
        </p:txBody>
      </p:sp>
      <p:sp>
        <p:nvSpPr>
          <p:cNvPr id="9" name="TextBox 8"/>
          <p:cNvSpPr txBox="1"/>
          <p:nvPr/>
        </p:nvSpPr>
        <p:spPr>
          <a:xfrm>
            <a:off x="7589520" y="2103120"/>
            <a:ext cx="4251960" cy="4023360"/>
          </a:xfrm>
          <a:prstGeom prst="rect">
            <a:avLst/>
          </a:prstGeom>
          <a:noFill/>
        </p:spPr>
        <p:txBody>
          <a:bodyPr wrap="square">
            <a:spAutoFit/>
          </a:bodyPr>
          <a:lstStyle/>
          <a:p>
            <a:pPr>
              <a:spcAft>
                <a:spcPts val="700"/>
              </a:spcAft>
            </a:pPr>
            <a:r>
              <a:rPr sz="1500">
                <a:solidFill>
                  <a:srgbClr val="595959"/>
                </a:solidFill>
                <a:latin typeface="Calibri"/>
              </a:rPr>
              <a:t>•  </a:t>
            </a:r>
            <a:r>
              <a:rPr sz="1500" b="0">
                <a:solidFill>
                  <a:srgbClr val="262626"/>
                </a:solidFill>
                <a:latin typeface="Calibri"/>
              </a:rPr>
              <a:t>Second pretrain seed: small negative shift (−0.10 pts)</a:t>
            </a:r>
          </a:p>
          <a:p>
            <a:pPr>
              <a:spcAft>
                <a:spcPts val="700"/>
              </a:spcAft>
            </a:pPr>
            <a:r>
              <a:rPr sz="1500">
                <a:solidFill>
                  <a:srgbClr val="595959"/>
                </a:solidFill>
                <a:latin typeface="Calibri"/>
              </a:rPr>
              <a:t>•  </a:t>
            </a:r>
            <a:r>
              <a:rPr sz="1500" b="0">
                <a:solidFill>
                  <a:srgbClr val="262626"/>
                </a:solidFill>
                <a:latin typeface="Calibri"/>
              </a:rPr>
              <a:t>Fine-tuning moving FL models: +3–6%</a:t>
            </a:r>
          </a:p>
          <a:p>
            <a:pPr>
              <a:spcAft>
                <a:spcPts val="700"/>
              </a:spcAft>
            </a:pPr>
            <a:r>
              <a:rPr sz="1500">
                <a:solidFill>
                  <a:srgbClr val="595959"/>
                </a:solidFill>
                <a:latin typeface="Calibri"/>
              </a:rPr>
              <a:t>•  </a:t>
            </a:r>
            <a:r>
              <a:rPr sz="1500" b="0">
                <a:solidFill>
                  <a:srgbClr val="262626"/>
                </a:solidFill>
                <a:latin typeface="Calibri"/>
              </a:rPr>
              <a:t>Training-free baselines: best Markov chain 0.1366 (validation)</a:t>
            </a:r>
          </a:p>
          <a:p>
            <a:pPr>
              <a:spcAft>
                <a:spcPts val="700"/>
              </a:spcAft>
            </a:pPr>
            <a:r>
              <a:rPr sz="1500">
                <a:solidFill>
                  <a:srgbClr val="595959"/>
                </a:solidFill>
                <a:latin typeface="Calibri"/>
              </a:rPr>
              <a:t>•  </a:t>
            </a:r>
            <a:r>
              <a:rPr sz="1500" b="0">
                <a:solidFill>
                  <a:srgbClr val="262626"/>
                </a:solidFill>
                <a:latin typeface="Calibri"/>
              </a:rPr>
              <a:t>Stopped or not run: DP-FTRL, canary restart, December replication</a:t>
            </a:r>
          </a:p>
          <a:p>
            <a:pPr>
              <a:spcAft>
                <a:spcPts val="700"/>
              </a:spcAft>
            </a:pPr>
            <a:r>
              <a:rPr sz="1500">
                <a:solidFill>
                  <a:srgbClr val="595959"/>
                </a:solidFill>
                <a:latin typeface="Calibri"/>
              </a:rPr>
              <a:t>•  </a:t>
            </a:r>
            <a:r>
              <a:rPr sz="1500" b="0">
                <a:solidFill>
                  <a:srgbClr val="262626"/>
                </a:solidFill>
                <a:latin typeface="Calibri"/>
              </a:rPr>
              <a:t>All results labelled; nothing re-scored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What this means for a browser shopping assistant</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21</a:t>
            </a:r>
          </a:p>
        </p:txBody>
      </p:sp>
      <p:pic>
        <p:nvPicPr>
          <p:cNvPr id="6" name="Picture 5" descr="d19_decision_guide.png"/>
          <p:cNvPicPr>
            <a:picLocks noChangeAspect="1"/>
          </p:cNvPicPr>
          <p:nvPr/>
        </p:nvPicPr>
        <p:blipFill>
          <a:blip r:embed="rId2"/>
          <a:stretch>
            <a:fillRect/>
          </a:stretch>
        </p:blipFill>
        <p:spPr>
          <a:xfrm>
            <a:off x="894973" y="1325880"/>
            <a:ext cx="10371573" cy="50292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What we learned</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22</a:t>
            </a:r>
          </a:p>
        </p:txBody>
      </p:sp>
      <p:sp>
        <p:nvSpPr>
          <p:cNvPr id="6" name="TextBox 5"/>
          <p:cNvSpPr txBox="1"/>
          <p:nvPr/>
        </p:nvSpPr>
        <p:spPr>
          <a:xfrm>
            <a:off x="548640" y="1280160"/>
            <a:ext cx="5486400" cy="411480"/>
          </a:xfrm>
          <a:prstGeom prst="rect">
            <a:avLst/>
          </a:prstGeom>
          <a:noFill/>
        </p:spPr>
        <p:txBody>
          <a:bodyPr wrap="square" anchor="t" lIns="45720" rIns="45720">
            <a:spAutoFit/>
          </a:bodyPr>
          <a:lstStyle/>
          <a:p>
            <a:pPr algn="l"/>
            <a:r>
              <a:rPr sz="2100" b="1" i="0">
                <a:solidFill>
                  <a:srgbClr val="1F3864"/>
                </a:solidFill>
                <a:latin typeface="Calibri"/>
              </a:rPr>
              <a:t>What worked</a:t>
            </a:r>
          </a:p>
        </p:txBody>
      </p:sp>
      <p:sp>
        <p:nvSpPr>
          <p:cNvPr id="7" name="TextBox 6"/>
          <p:cNvSpPr txBox="1"/>
          <p:nvPr/>
        </p:nvSpPr>
        <p:spPr>
          <a:xfrm>
            <a:off x="548640" y="1737360"/>
            <a:ext cx="5486400" cy="4389120"/>
          </a:xfrm>
          <a:prstGeom prst="rect">
            <a:avLst/>
          </a:prstGeom>
          <a:noFill/>
        </p:spPr>
        <p:txBody>
          <a:bodyPr wrap="square">
            <a:spAutoFit/>
          </a:bodyPr>
          <a:lstStyle/>
          <a:p>
            <a:pPr>
              <a:spcAft>
                <a:spcPts val="700"/>
              </a:spcAft>
            </a:pPr>
            <a:r>
              <a:rPr sz="1900">
                <a:solidFill>
                  <a:srgbClr val="595959"/>
                </a:solidFill>
                <a:latin typeface="Calibri"/>
              </a:rPr>
              <a:t>•  </a:t>
            </a:r>
            <a:r>
              <a:rPr sz="1900" b="0">
                <a:solidFill>
                  <a:srgbClr val="262626"/>
                </a:solidFill>
                <a:latin typeface="Calibri"/>
              </a:rPr>
              <a:t>Warm start from a server pretrain: the biggest single gain</a:t>
            </a:r>
          </a:p>
          <a:p>
            <a:pPr>
              <a:spcAft>
                <a:spcPts val="700"/>
              </a:spcAft>
            </a:pPr>
            <a:r>
              <a:rPr sz="1900">
                <a:solidFill>
                  <a:srgbClr val="595959"/>
                </a:solidFill>
                <a:latin typeface="Calibri"/>
              </a:rPr>
              <a:t>•  </a:t>
            </a:r>
            <a:r>
              <a:rPr sz="1900" b="0">
                <a:solidFill>
                  <a:srgbClr val="262626"/>
                </a:solidFill>
                <a:latin typeface="Calibri"/>
              </a:rPr>
              <a:t>On-device fine-tuning: small, significant, cheap</a:t>
            </a:r>
          </a:p>
          <a:p>
            <a:pPr>
              <a:spcAft>
                <a:spcPts val="700"/>
              </a:spcAft>
            </a:pPr>
            <a:r>
              <a:rPr sz="1900">
                <a:solidFill>
                  <a:srgbClr val="595959"/>
                </a:solidFill>
                <a:latin typeface="Calibri"/>
              </a:rPr>
              <a:t>•  </a:t>
            </a:r>
            <a:r>
              <a:rPr sz="1900" b="0">
                <a:solidFill>
                  <a:srgbClr val="262626"/>
                </a:solidFill>
                <a:latin typeface="Calibri"/>
              </a:rPr>
              <a:t>INT8 and 8-bit uploads: free compression</a:t>
            </a:r>
          </a:p>
          <a:p>
            <a:pPr>
              <a:spcAft>
                <a:spcPts val="700"/>
              </a:spcAft>
            </a:pPr>
            <a:r>
              <a:rPr sz="1900">
                <a:solidFill>
                  <a:srgbClr val="595959"/>
                </a:solidFill>
                <a:latin typeface="Calibri"/>
              </a:rPr>
              <a:t>•  </a:t>
            </a:r>
            <a:r>
              <a:rPr sz="1900" b="0">
                <a:solidFill>
                  <a:srgbClr val="262626"/>
                </a:solidFill>
                <a:latin typeface="Calibri"/>
              </a:rPr>
              <a:t>Pre-registration kept the main answer honest</a:t>
            </a:r>
          </a:p>
          <a:p>
            <a:pPr>
              <a:spcAft>
                <a:spcPts val="700"/>
              </a:spcAft>
            </a:pPr>
            <a:r>
              <a:rPr sz="1900">
                <a:solidFill>
                  <a:srgbClr val="595959"/>
                </a:solidFill>
                <a:latin typeface="Calibri"/>
              </a:rPr>
              <a:t>•  </a:t>
            </a:r>
            <a:r>
              <a:rPr sz="1900" b="0">
                <a:solidFill>
                  <a:srgbClr val="262626"/>
                </a:solidFill>
                <a:latin typeface="Calibri"/>
              </a:rPr>
              <a:t>Full-catalogue evaluation: comparable with published work</a:t>
            </a:r>
          </a:p>
        </p:txBody>
      </p:sp>
      <p:sp>
        <p:nvSpPr>
          <p:cNvPr id="8" name="TextBox 7"/>
          <p:cNvSpPr txBox="1"/>
          <p:nvPr/>
        </p:nvSpPr>
        <p:spPr>
          <a:xfrm>
            <a:off x="6217920" y="1280160"/>
            <a:ext cx="5440680" cy="411480"/>
          </a:xfrm>
          <a:prstGeom prst="rect">
            <a:avLst/>
          </a:prstGeom>
          <a:noFill/>
        </p:spPr>
        <p:txBody>
          <a:bodyPr wrap="square" anchor="t" lIns="45720" rIns="45720">
            <a:spAutoFit/>
          </a:bodyPr>
          <a:lstStyle/>
          <a:p>
            <a:pPr algn="l"/>
            <a:r>
              <a:rPr sz="2100" b="1" i="0">
                <a:solidFill>
                  <a:srgbClr val="1F3864"/>
                </a:solidFill>
                <a:latin typeface="Calibri"/>
              </a:rPr>
              <a:t>What did not</a:t>
            </a:r>
          </a:p>
        </p:txBody>
      </p:sp>
      <p:sp>
        <p:nvSpPr>
          <p:cNvPr id="9" name="TextBox 8"/>
          <p:cNvSpPr txBox="1"/>
          <p:nvPr/>
        </p:nvSpPr>
        <p:spPr>
          <a:xfrm>
            <a:off x="6217920" y="1737360"/>
            <a:ext cx="5440680" cy="4389120"/>
          </a:xfrm>
          <a:prstGeom prst="rect">
            <a:avLst/>
          </a:prstGeom>
          <a:noFill/>
        </p:spPr>
        <p:txBody>
          <a:bodyPr wrap="square">
            <a:spAutoFit/>
          </a:bodyPr>
          <a:lstStyle/>
          <a:p>
            <a:pPr>
              <a:spcAft>
                <a:spcPts val="700"/>
              </a:spcAft>
            </a:pPr>
            <a:r>
              <a:rPr sz="1900">
                <a:solidFill>
                  <a:srgbClr val="595959"/>
                </a:solidFill>
                <a:latin typeface="Calibri"/>
              </a:rPr>
              <a:t>•  </a:t>
            </a:r>
            <a:r>
              <a:rPr sz="1900" b="0">
                <a:solidFill>
                  <a:srgbClr val="262626"/>
                </a:solidFill>
                <a:latin typeface="Calibri"/>
              </a:rPr>
              <a:t>A badly scaled τ froze FL, invisible to the protocol</a:t>
            </a:r>
          </a:p>
          <a:p>
            <a:pPr>
              <a:spcAft>
                <a:spcPts val="700"/>
              </a:spcAft>
            </a:pPr>
            <a:r>
              <a:rPr sz="1900">
                <a:solidFill>
                  <a:srgbClr val="595959"/>
                </a:solidFill>
                <a:latin typeface="Calibri"/>
              </a:rPr>
              <a:t>•  </a:t>
            </a:r>
            <a:r>
              <a:rPr sz="1900" b="0">
                <a:solidFill>
                  <a:srgbClr val="262626"/>
                </a:solidFill>
                <a:latin typeface="Calibri"/>
              </a:rPr>
              <a:t>Federation over a strong pretrain: no added value</a:t>
            </a:r>
          </a:p>
          <a:p>
            <a:pPr>
              <a:spcAft>
                <a:spcPts val="700"/>
              </a:spcAft>
            </a:pPr>
            <a:r>
              <a:rPr sz="1900">
                <a:solidFill>
                  <a:srgbClr val="595959"/>
                </a:solidFill>
                <a:latin typeface="Calibri"/>
              </a:rPr>
              <a:t>•  </a:t>
            </a:r>
            <a:r>
              <a:rPr sz="1900" b="0">
                <a:solidFill>
                  <a:srgbClr val="262626"/>
                </a:solidFill>
                <a:latin typeface="Calibri"/>
              </a:rPr>
              <a:t>Device-only training: unusable</a:t>
            </a:r>
          </a:p>
          <a:p>
            <a:pPr>
              <a:spcAft>
                <a:spcPts val="700"/>
              </a:spcAft>
            </a:pPr>
            <a:r>
              <a:rPr sz="1900">
                <a:solidFill>
                  <a:srgbClr val="595959"/>
                </a:solidFill>
                <a:latin typeface="Calibri"/>
              </a:rPr>
              <a:t>•  </a:t>
            </a:r>
            <a:r>
              <a:rPr sz="1900" b="0">
                <a:solidFill>
                  <a:srgbClr val="262626"/>
                </a:solidFill>
                <a:latin typeface="Calibri"/>
              </a:rPr>
              <a:t>Legacy DP randomness: no formal guarantee</a:t>
            </a:r>
          </a:p>
          <a:p>
            <a:pPr>
              <a:spcAft>
                <a:spcPts val="700"/>
              </a:spcAft>
            </a:pPr>
            <a:r>
              <a:rPr sz="1900">
                <a:solidFill>
                  <a:srgbClr val="595959"/>
                </a:solidFill>
                <a:latin typeface="Calibri"/>
              </a:rPr>
              <a:t>•  </a:t>
            </a:r>
            <a:r>
              <a:rPr sz="1900" b="0">
                <a:solidFill>
                  <a:srgbClr val="262626"/>
                </a:solidFill>
                <a:latin typeface="Calibri"/>
              </a:rPr>
              <a:t>Some studies stopped for time (DP-FTRL, December replication)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anchor="b" lIns="45720" rIns="45720">
            <a:spAutoFit/>
          </a:bodyPr>
          <a:lstStyle/>
          <a:p>
            <a:pPr algn="l"/>
            <a:r>
              <a:rPr sz="3000" b="1" i="0">
                <a:solidFill>
                  <a:srgbClr val="1F3864"/>
                </a:solidFill>
                <a:latin typeface="Calibri"/>
              </a:rPr>
              <a:t>Conclusion and future work</a:t>
            </a:r>
          </a:p>
        </p:txBody>
      </p:sp>
      <p:cxnSp>
        <p:nvCxnSpPr>
          <p:cNvPr id="3" name="Connector 2"/>
          <p:cNvCxnSpPr/>
          <p:nvPr/>
        </p:nvCxnSpPr>
        <p:spPr>
          <a:xfrm>
            <a:off x="548640" y="1005840"/>
            <a:ext cx="11094415"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46520"/>
            <a:ext cx="8229600" cy="274320"/>
          </a:xfrm>
          <a:prstGeom prst="rect">
            <a:avLst/>
          </a:prstGeom>
          <a:noFill/>
        </p:spPr>
        <p:txBody>
          <a:bodyPr wrap="square" anchor="ctr" lIns="45720" rIns="45720">
            <a:spAutoFit/>
          </a:bodyPr>
          <a:lstStyle/>
          <a:p>
            <a:pPr algn="l"/>
            <a:r>
              <a:rPr sz="1000" b="0" i="0">
                <a:solidFill>
                  <a:srgbClr val="595959"/>
                </a:solidFill>
                <a:latin typeface="Calibri"/>
              </a:rPr>
              <a:t>Privacy-Preserving Shopping Intelligence  |  MSc Final Presentation, Queen's University</a:t>
            </a:r>
          </a:p>
        </p:txBody>
      </p:sp>
      <p:sp>
        <p:nvSpPr>
          <p:cNvPr id="5" name="TextBox 4"/>
          <p:cNvSpPr txBox="1"/>
          <p:nvPr/>
        </p:nvSpPr>
        <p:spPr>
          <a:xfrm>
            <a:off x="10728655" y="6446520"/>
            <a:ext cx="914400" cy="274320"/>
          </a:xfrm>
          <a:prstGeom prst="rect">
            <a:avLst/>
          </a:prstGeom>
          <a:noFill/>
        </p:spPr>
        <p:txBody>
          <a:bodyPr wrap="square" anchor="ctr" lIns="45720" rIns="45720">
            <a:spAutoFit/>
          </a:bodyPr>
          <a:lstStyle/>
          <a:p>
            <a:pPr algn="r"/>
            <a:r>
              <a:rPr sz="1100" b="0" i="0">
                <a:solidFill>
                  <a:srgbClr val="595959"/>
                </a:solidFill>
                <a:latin typeface="Calibri"/>
              </a:rPr>
              <a:t>23</a:t>
            </a:r>
          </a:p>
        </p:txBody>
      </p:sp>
      <p:sp>
        <p:nvSpPr>
          <p:cNvPr id="6" name="TextBox 5"/>
          <p:cNvSpPr txBox="1"/>
          <p:nvPr/>
        </p:nvSpPr>
        <p:spPr>
          <a:xfrm>
            <a:off x="548640" y="1280160"/>
            <a:ext cx="6400800" cy="411480"/>
          </a:xfrm>
          <a:prstGeom prst="rect">
            <a:avLst/>
          </a:prstGeom>
          <a:noFill/>
        </p:spPr>
        <p:txBody>
          <a:bodyPr wrap="square" anchor="t" lIns="45720" rIns="45720">
            <a:spAutoFit/>
          </a:bodyPr>
          <a:lstStyle/>
          <a:p>
            <a:pPr algn="l"/>
            <a:r>
              <a:rPr sz="2100" b="1" i="0">
                <a:solidFill>
                  <a:srgbClr val="1F3864"/>
                </a:solidFill>
                <a:latin typeface="Calibri"/>
              </a:rPr>
              <a:t>Answer</a:t>
            </a:r>
          </a:p>
        </p:txBody>
      </p:sp>
      <p:sp>
        <p:nvSpPr>
          <p:cNvPr id="7" name="TextBox 6"/>
          <p:cNvSpPr txBox="1"/>
          <p:nvPr/>
        </p:nvSpPr>
        <p:spPr>
          <a:xfrm>
            <a:off x="548640" y="1737360"/>
            <a:ext cx="6400800" cy="4389120"/>
          </a:xfrm>
          <a:prstGeom prst="rect">
            <a:avLst/>
          </a:prstGeom>
          <a:noFill/>
        </p:spPr>
        <p:txBody>
          <a:bodyPr wrap="square">
            <a:spAutoFit/>
          </a:bodyPr>
          <a:lstStyle/>
          <a:p>
            <a:pPr>
              <a:spcAft>
                <a:spcPts val="700"/>
              </a:spcAft>
            </a:pPr>
            <a:r>
              <a:rPr sz="1900">
                <a:solidFill>
                  <a:srgbClr val="595959"/>
                </a:solidFill>
                <a:latin typeface="Calibri"/>
              </a:rPr>
              <a:t>•  </a:t>
            </a:r>
            <a:r>
              <a:rPr sz="1900" b="0">
                <a:solidFill>
                  <a:srgbClr val="262626"/>
                </a:solidFill>
                <a:latin typeface="Calibri"/>
              </a:rPr>
              <a:t>A warm-started on-device or federated system keeps </a:t>
            </a:r>
            <a:r>
              <a:rPr sz="1900" b="1">
                <a:solidFill>
                  <a:srgbClr val="262626"/>
                </a:solidFill>
                <a:latin typeface="Calibri"/>
              </a:rPr>
              <a:t>88.49%</a:t>
            </a:r>
            <a:r>
              <a:rPr sz="1900" b="0">
                <a:solidFill>
                  <a:srgbClr val="262626"/>
                </a:solidFill>
                <a:latin typeface="Calibri"/>
              </a:rPr>
              <a:t> of the cloud model</a:t>
            </a:r>
          </a:p>
          <a:p>
            <a:pPr>
              <a:spcAft>
                <a:spcPts val="700"/>
              </a:spcAft>
            </a:pPr>
            <a:r>
              <a:rPr sz="1900">
                <a:solidFill>
                  <a:srgbClr val="595959"/>
                </a:solidFill>
                <a:latin typeface="Calibri"/>
              </a:rPr>
              <a:t>•  </a:t>
            </a:r>
            <a:r>
              <a:rPr sz="1900" b="0">
                <a:solidFill>
                  <a:srgbClr val="262626"/>
                </a:solidFill>
                <a:latin typeface="Calibri"/>
              </a:rPr>
              <a:t>Whether federation pays off depends on the server-side pretrain and a correctly scaled optimizer</a:t>
            </a:r>
          </a:p>
          <a:p>
            <a:pPr>
              <a:spcAft>
                <a:spcPts val="700"/>
              </a:spcAft>
            </a:pPr>
            <a:r>
              <a:rPr sz="1900">
                <a:solidFill>
                  <a:srgbClr val="595959"/>
                </a:solidFill>
                <a:latin typeface="Calibri"/>
              </a:rPr>
              <a:t>•  </a:t>
            </a:r>
            <a:r>
              <a:rPr sz="1900" b="0">
                <a:solidFill>
                  <a:srgbClr val="262626"/>
                </a:solidFill>
                <a:latin typeface="Calibri"/>
              </a:rPr>
              <a:t>Fine-tune on the device; federate when the server knows little</a:t>
            </a:r>
          </a:p>
          <a:p>
            <a:pPr>
              <a:spcAft>
                <a:spcPts val="700"/>
              </a:spcAft>
            </a:pPr>
            <a:r>
              <a:rPr sz="1900">
                <a:solidFill>
                  <a:srgbClr val="595959"/>
                </a:solidFill>
                <a:latin typeface="Calibri"/>
              </a:rPr>
              <a:t>•  </a:t>
            </a:r>
            <a:r>
              <a:rPr sz="1900" b="0">
                <a:solidFill>
                  <a:srgbClr val="262626"/>
                </a:solidFill>
                <a:latin typeface="Calibri"/>
              </a:rPr>
              <a:t>Privacy must be engineered and audited, not assumed</a:t>
            </a:r>
          </a:p>
        </p:txBody>
      </p:sp>
      <p:sp>
        <p:nvSpPr>
          <p:cNvPr id="8" name="TextBox 7"/>
          <p:cNvSpPr txBox="1"/>
          <p:nvPr/>
        </p:nvSpPr>
        <p:spPr>
          <a:xfrm>
            <a:off x="7132320" y="1280160"/>
            <a:ext cx="4526280" cy="411480"/>
          </a:xfrm>
          <a:prstGeom prst="rect">
            <a:avLst/>
          </a:prstGeom>
          <a:noFill/>
        </p:spPr>
        <p:txBody>
          <a:bodyPr wrap="square" anchor="t" lIns="45720" rIns="45720">
            <a:spAutoFit/>
          </a:bodyPr>
          <a:lstStyle/>
          <a:p>
            <a:pPr algn="l"/>
            <a:r>
              <a:rPr sz="2100" b="1" i="0">
                <a:solidFill>
                  <a:srgbClr val="1F3864"/>
                </a:solidFill>
                <a:latin typeface="Calibri"/>
              </a:rPr>
              <a:t>Future work</a:t>
            </a:r>
          </a:p>
        </p:txBody>
      </p:sp>
      <p:sp>
        <p:nvSpPr>
          <p:cNvPr id="9" name="TextBox 8"/>
          <p:cNvSpPr txBox="1"/>
          <p:nvPr/>
        </p:nvSpPr>
        <p:spPr>
          <a:xfrm>
            <a:off x="7132320" y="1737360"/>
            <a:ext cx="4526280" cy="4389120"/>
          </a:xfrm>
          <a:prstGeom prst="rect">
            <a:avLst/>
          </a:prstGeom>
          <a:noFill/>
        </p:spPr>
        <p:txBody>
          <a:bodyPr wrap="square">
            <a:spAutoFit/>
          </a:bodyPr>
          <a:lstStyle/>
          <a:p>
            <a:pPr>
              <a:spcAft>
                <a:spcPts val="700"/>
              </a:spcAft>
            </a:pPr>
            <a:r>
              <a:rPr sz="1900">
                <a:solidFill>
                  <a:srgbClr val="595959"/>
                </a:solidFill>
                <a:latin typeface="Calibri"/>
              </a:rPr>
              <a:t>•  </a:t>
            </a:r>
            <a:r>
              <a:rPr sz="1900" b="0">
                <a:solidFill>
                  <a:srgbClr val="262626"/>
                </a:solidFill>
                <a:latin typeface="Calibri"/>
              </a:rPr>
              <a:t>Distil a large teacher into the device model</a:t>
            </a:r>
          </a:p>
          <a:p>
            <a:pPr>
              <a:spcAft>
                <a:spcPts val="700"/>
              </a:spcAft>
            </a:pPr>
            <a:r>
              <a:rPr sz="1900">
                <a:solidFill>
                  <a:srgbClr val="595959"/>
                </a:solidFill>
                <a:latin typeface="Calibri"/>
              </a:rPr>
              <a:t>•  </a:t>
            </a:r>
            <a:r>
              <a:rPr sz="1900" b="0">
                <a:solidFill>
                  <a:srgbClr val="262626"/>
                </a:solidFill>
                <a:latin typeface="Calibri"/>
              </a:rPr>
              <a:t>DP with secret randomness at full scale</a:t>
            </a:r>
          </a:p>
          <a:p>
            <a:pPr>
              <a:spcAft>
                <a:spcPts val="700"/>
              </a:spcAft>
            </a:pPr>
            <a:r>
              <a:rPr sz="1900">
                <a:solidFill>
                  <a:srgbClr val="595959"/>
                </a:solidFill>
                <a:latin typeface="Calibri"/>
              </a:rPr>
              <a:t>•  </a:t>
            </a:r>
            <a:r>
              <a:rPr sz="1900" b="0">
                <a:solidFill>
                  <a:srgbClr val="262626"/>
                </a:solidFill>
                <a:latin typeface="Calibri"/>
              </a:rPr>
              <a:t>Real secure aggregation</a:t>
            </a:r>
          </a:p>
          <a:p>
            <a:pPr>
              <a:spcAft>
                <a:spcPts val="700"/>
              </a:spcAft>
            </a:pPr>
            <a:r>
              <a:rPr sz="1900">
                <a:solidFill>
                  <a:srgbClr val="595959"/>
                </a:solidFill>
                <a:latin typeface="Calibri"/>
              </a:rPr>
              <a:t>•  </a:t>
            </a:r>
            <a:r>
              <a:rPr sz="1900" b="0">
                <a:solidFill>
                  <a:srgbClr val="262626"/>
                </a:solidFill>
                <a:latin typeface="Calibri"/>
              </a:rPr>
              <a:t>Replication on December 2019 data</a:t>
            </a:r>
          </a:p>
          <a:p>
            <a:pPr>
              <a:spcAft>
                <a:spcPts val="700"/>
              </a:spcAft>
            </a:pPr>
            <a:r>
              <a:rPr sz="1900">
                <a:solidFill>
                  <a:srgbClr val="595959"/>
                </a:solidFill>
                <a:latin typeface="Calibri"/>
              </a:rPr>
              <a:t>•  </a:t>
            </a:r>
            <a:r>
              <a:rPr sz="1900" b="0">
                <a:solidFill>
                  <a:srgbClr val="262626"/>
                </a:solidFill>
                <a:latin typeface="Calibri"/>
              </a:rPr>
              <a:t>A field trial in the browser</a:t>
            </a:r>
          </a:p>
        </p:txBody>
      </p:sp>
      <p:pic>
        <p:nvPicPr>
          <p:cNvPr id="10" name="Picture 9" descr="shopping_laptop_phone.jpg"/>
          <p:cNvPicPr>
            <a:picLocks noChangeAspect="1"/>
          </p:cNvPicPr>
          <p:nvPr/>
        </p:nvPicPr>
        <p:blipFill>
          <a:blip r:embed="rId2"/>
          <a:stretch>
            <a:fillRect/>
          </a:stretch>
        </p:blipFill>
        <p:spPr>
          <a:xfrm>
            <a:off x="7178040" y="4114800"/>
            <a:ext cx="3291840" cy="2194560"/>
          </a:xfrm>
          <a:prstGeom prst="rect">
            <a:avLst/>
          </a:prstGeom>
        </p:spPr>
      </p:pic>
      <p:sp>
        <p:nvSpPr>
          <p:cNvPr id="11" name="TextBox 10"/>
          <p:cNvSpPr txBox="1"/>
          <p:nvPr/>
        </p:nvSpPr>
        <p:spPr>
          <a:xfrm>
            <a:off x="7178040" y="6327648"/>
            <a:ext cx="3291840" cy="274320"/>
          </a:xfrm>
          <a:prstGeom prst="rect">
            <a:avLst/>
          </a:prstGeom>
          <a:noFill/>
        </p:spPr>
        <p:txBody>
          <a:bodyPr wrap="square" anchor="t" lIns="45720" rIns="45720">
            <a:spAutoFit/>
          </a:bodyPr>
          <a:lstStyle/>
          <a:p>
            <a:pPr algn="l"/>
            <a:r>
              <a:rPr sz="900" b="0" i="1">
                <a:solidFill>
                  <a:srgbClr val="595959"/>
                </a:solidFill>
                <a:latin typeface="Calibri"/>
              </a:rPr>
              <a:t>Photo: European Commission, CC BY 4.0, Wikimedia Commons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ant_hall.jpg"/>
          <p:cNvPicPr>
            <a:picLocks noChangeAspect="1"/>
          </p:cNvPicPr>
          <p:nvPr/>
        </p:nvPicPr>
        <p:blipFill>
          <a:blip r:embed="rId2"/>
          <a:srcRect l="29876" r="13876"/>
          <a:stretch>
            <a:fillRect/>
          </a:stretch>
        </p:blipFill>
        <p:spPr>
          <a:xfrm>
            <a:off x="0" y="0"/>
            <a:ext cx="5120640" cy="6858000"/>
          </a:xfrm>
          <a:prstGeom prst="rect">
            <a:avLst/>
          </a:prstGeom>
        </p:spPr>
      </p:pic>
      <p:sp>
        <p:nvSpPr>
          <p:cNvPr id="3" name="TextBox 2"/>
          <p:cNvSpPr txBox="1"/>
          <p:nvPr/>
        </p:nvSpPr>
        <p:spPr>
          <a:xfrm>
            <a:off x="109728" y="6565392"/>
            <a:ext cx="4937760" cy="274320"/>
          </a:xfrm>
          <a:prstGeom prst="rect">
            <a:avLst/>
          </a:prstGeom>
          <a:noFill/>
        </p:spPr>
        <p:txBody>
          <a:bodyPr wrap="square" anchor="t" lIns="45720" rIns="45720">
            <a:spAutoFit/>
          </a:bodyPr>
          <a:lstStyle/>
          <a:p>
            <a:pPr algn="l"/>
            <a:r>
              <a:rPr sz="800" b="0" i="1">
                <a:solidFill>
                  <a:srgbClr val="FFFFFF"/>
                </a:solidFill>
                <a:latin typeface="Calibri"/>
              </a:rPr>
              <a:t>Photo: Takipoint123, CC BY-SA 4.0, Wikimedia Commons</a:t>
            </a:r>
          </a:p>
        </p:txBody>
      </p:sp>
      <p:sp>
        <p:nvSpPr>
          <p:cNvPr id="4" name="TextBox 3"/>
          <p:cNvSpPr txBox="1"/>
          <p:nvPr/>
        </p:nvSpPr>
        <p:spPr>
          <a:xfrm>
            <a:off x="5760720" y="2103120"/>
            <a:ext cx="5943600" cy="914400"/>
          </a:xfrm>
          <a:prstGeom prst="rect">
            <a:avLst/>
          </a:prstGeom>
          <a:noFill/>
        </p:spPr>
        <p:txBody>
          <a:bodyPr wrap="square" anchor="t" lIns="45720" rIns="45720">
            <a:spAutoFit/>
          </a:bodyPr>
          <a:lstStyle/>
          <a:p>
            <a:pPr algn="l"/>
            <a:r>
              <a:rPr sz="4800" b="1" i="0">
                <a:solidFill>
                  <a:srgbClr val="1F3864"/>
                </a:solidFill>
                <a:latin typeface="Calibri"/>
              </a:rPr>
              <a:t>Thank you</a:t>
            </a:r>
          </a:p>
        </p:txBody>
      </p:sp>
      <p:sp>
        <p:nvSpPr>
          <p:cNvPr id="5" name="TextBox 4"/>
          <p:cNvSpPr txBox="1"/>
          <p:nvPr/>
        </p:nvSpPr>
        <p:spPr>
          <a:xfrm>
            <a:off x="5760720" y="3017520"/>
            <a:ext cx="5943600" cy="548640"/>
          </a:xfrm>
          <a:prstGeom prst="rect">
            <a:avLst/>
          </a:prstGeom>
          <a:noFill/>
        </p:spPr>
        <p:txBody>
          <a:bodyPr wrap="square" anchor="t" lIns="45720" rIns="45720">
            <a:spAutoFit/>
          </a:bodyPr>
          <a:lstStyle/>
          <a:p>
            <a:pPr algn="l"/>
            <a:r>
              <a:rPr sz="2200" b="0" i="0">
                <a:solidFill>
                  <a:srgbClr val="595959"/>
                </a:solidFill>
                <a:latin typeface="Calibri"/>
              </a:rPr>
              <a:t>Questions and discussion</a:t>
            </a:r>
          </a:p>
        </p:txBody>
      </p:sp>
      <p:cxnSp>
        <p:nvCxnSpPr>
          <p:cNvPr id="6" name="Connector 5"/>
          <p:cNvCxnSpPr/>
          <p:nvPr/>
        </p:nvCxnSpPr>
        <p:spPr>
          <a:xfrm>
            <a:off x="5806440" y="3840480"/>
            <a:ext cx="566928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760720" y="4023360"/>
            <a:ext cx="6035040" cy="1463040"/>
          </a:xfrm>
          <a:prstGeom prst="rect">
            <a:avLst/>
          </a:prstGeom>
          <a:noFill/>
        </p:spPr>
        <p:txBody>
          <a:bodyPr wrap="square" anchor="t" lIns="45720" rIns="45720">
            <a:spAutoFit/>
          </a:bodyPr>
          <a:lstStyle/>
          <a:p>
            <a:pPr algn="l"/>
            <a:r>
              <a:rPr sz="1500" b="0" i="0">
                <a:solidFill>
                  <a:srgbClr val="262626"/>
                </a:solidFill>
                <a:latin typeface="Calibri"/>
              </a:rPr>
              <a:t>Code, results and checkpoints:</a:t>
            </a:r>
          </a:p>
          <a:p>
            <a:pPr algn="l"/>
            <a:r>
              <a:rPr sz="1500" b="0" i="0">
                <a:solidFill>
                  <a:srgbClr val="262626"/>
                </a:solidFill>
                <a:latin typeface="Calibri"/>
              </a:rPr>
              <a:t>github.com/microsoftproject26/</a:t>
            </a:r>
          </a:p>
          <a:p>
            <a:pPr algn="l"/>
            <a:r>
              <a:rPr sz="1500" b="0" i="0">
                <a:solidFill>
                  <a:srgbClr val="262626"/>
                </a:solidFill>
                <a:latin typeface="Calibri"/>
              </a:rPr>
              <a:t>Privacy-Preserving-Shopping-Intelligence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
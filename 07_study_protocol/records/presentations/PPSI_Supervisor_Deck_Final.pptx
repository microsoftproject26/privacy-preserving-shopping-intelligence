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6.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7.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F"/>
                </a:solidFill>
                <a:latin typeface="Arial"/>
              </a:defRPr>
            </a:pPr>
            <a:r>
              <a:rPr sz="1200" b="0" i="0" u="none" strike="noStrike">
                <a:solidFill>
                  <a:srgbClr val="13262F"/>
                </a:solidFill>
                <a:latin typeface="Arial"/>
              </a:rPr>
              <a:t>Next category (when the category changes), validation</a:t>
            </a:r>
          </a:p>
        </c:rich>
      </c:tx>
      <c:layout/>
      <c:overlay val="0"/>
    </c:title>
    <c:autoTitleDeleted val="0"/>
    <c:plotArea>
      <c:layout/>
      <c:barChart>
        <c:barDir val="col"/>
        <c:grouping val="clustered"/>
        <c:varyColors val="0"/>
        <c:ser>
          <c:idx val="0"/>
          <c:order val="0"/>
          <c:tx>
            <c:strRef>
              <c:f>Sheet1!$B$1</c:f>
              <c:strCache>
                <c:ptCount val="1"/>
                <c:pt idx="0">
                  <c:v>MRR@20</c:v>
                </c:pt>
              </c:strCache>
            </c:strRef>
          </c:tx>
          <c:spPr>
            <a:solidFill>
              <a:srgbClr val="A7B1B6"/>
            </a:solidFill>
            <a:effectLst/>
          </c:spPr>
          <c:invertIfNegative val="0"/>
          <c:dLbls>
            <c:numFmt formatCode="0.00" sourceLinked="0"/>
            <c:txPr>
              <a:bodyPr/>
              <a:lstStyle/>
              <a:p>
                <a:pPr>
                  <a:defRPr b="0" i="0" strike="noStrike" sz="16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A7B1B6"/>
              </a:solidFill>
              <a:effectLst/>
            </c:spPr>
          </c:dPt>
          <c:dPt>
            <c:idx val="1"/>
            <c:invertIfNegative val="0"/>
            <c:bubble3D val="0"/>
            <c:spPr>
              <a:solidFill>
                <a:srgbClr val="A7B1B6"/>
              </a:solidFill>
              <a:effectLst/>
            </c:spPr>
          </c:dPt>
          <c:dPt>
            <c:idx val="2"/>
            <c:invertIfNegative val="0"/>
            <c:bubble3D val="0"/>
            <c:spPr>
              <a:solidFill>
                <a:srgbClr val="1F7A80"/>
              </a:solidFill>
              <a:effectLst/>
            </c:spPr>
          </c:dPt>
          <c:cat>
            <c:multiLvlStrRef>
              <c:f>Sheet1!$A$2:$A$4</c:f>
              <c:multiLvlStrCache>
                <c:ptCount val="3"/>
                <c:lvl>
                  <c:pt idx="0">
                    <c:v>Popularity</c:v>
                  </c:pt>
                  <c:pt idx="1">
                    <c:v>Transition table</c:v>
                  </c:pt>
                  <c:pt idx="2">
                    <c:v>Our GRU</c:v>
                  </c:pt>
                </c:lvl>
              </c:multiLvlStrCache>
            </c:multiLvlStrRef>
          </c:cat>
          <c:val>
            <c:numRef>
              <c:f>Sheet1!$B$2:$B$4</c:f>
              <c:numCache>
                <c:formatCode>General</c:formatCode>
                <c:ptCount val="3"/>
                <c:pt idx="0">
                  <c:v>0.1049</c:v>
                </c:pt>
                <c:pt idx="1">
                  <c:v>0.3143</c:v>
                </c:pt>
                <c:pt idx="2">
                  <c:v>0.3474</c:v>
                </c:pt>
              </c:numCache>
            </c:numRef>
          </c:val>
        </c:ser>
        <c:dLbls>
          <c:numFmt formatCode="0.00" sourceLinked="0"/>
          <c:txPr>
            <a:bodyPr/>
            <a:lstStyle/>
            <a:p>
              <a:pPr>
                <a:defRPr b="0" i="0" strike="noStrike" sz="1600" u="none">
                  <a:solidFill>
                    <a:srgbClr val="13262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F"/>
                </a:solidFill>
                <a:latin typeface="Arial"/>
              </a:defRPr>
            </a:pPr>
            <a:r>
              <a:rPr sz="1200" b="0" i="0" u="none" strike="noStrike">
                <a:solidFill>
                  <a:srgbClr val="13262F"/>
                </a:solidFill>
                <a:latin typeface="Arial"/>
              </a:rPr>
              <a:t>REES46, next product viewed</a:t>
            </a:r>
          </a:p>
        </c:rich>
      </c:tx>
      <c:layout/>
      <c:overlay val="0"/>
    </c:title>
    <c:autoTitleDeleted val="0"/>
    <c:plotArea>
      <c:layout/>
      <c:barChart>
        <c:barDir val="col"/>
        <c:grouping val="clustered"/>
        <c:varyColors val="0"/>
        <c:ser>
          <c:idx val="0"/>
          <c:order val="0"/>
          <c:tx>
            <c:strRef>
              <c:f>Sheet1!$B$1</c:f>
              <c:strCache>
                <c:ptCount val="1"/>
                <c:pt idx="0">
                  <c:v>Published GRU4Rec</c:v>
                </c:pt>
              </c:strCache>
            </c:strRef>
          </c:tx>
          <c:spPr>
            <a:solidFill>
              <a:srgbClr val="E0932B"/>
            </a:solidFill>
            <a:effectLst/>
          </c:spPr>
          <c:invertIfNegative val="0"/>
          <c:dLbls>
            <c:numFmt formatCode="0.00" sourceLinked="0"/>
            <c:txPr>
              <a:bodyPr/>
              <a:lstStyle/>
              <a:p>
                <a:pPr>
                  <a:defRPr b="0" i="0" strike="noStrike" sz="1500" u="none">
                    <a:solidFill>
                      <a:srgbClr val="13262F"/>
                    </a:solidFill>
                    <a:latin typeface="Arial"/>
                  </a:defRPr>
                </a:pPr>
              </a:p>
            </c:txPr>
            <c:showLegendKey val="0"/>
            <c:showVal val="1"/>
            <c:showCatName val="0"/>
            <c:showSerName val="0"/>
            <c:showPercent val="0"/>
            <c:showBubbleSize val="0"/>
            <c:showLeaderLines val="0"/>
          </c:dLbls>
          <c:cat>
            <c:multiLvlStrRef>
              <c:f>Sheet1!$A$2:$A$3</c:f>
              <c:multiLvlStrCache>
                <c:ptCount val="2"/>
                <c:lvl>
                  <c:pt idx="0">
                    <c:v>Recall@20</c:v>
                  </c:pt>
                  <c:pt idx="1">
                    <c:v>MRR@20</c:v>
                  </c:pt>
                </c:lvl>
              </c:multiLvlStrCache>
            </c:multiLvlStrRef>
          </c:cat>
          <c:val>
            <c:numRef>
              <c:f>Sheet1!$B$2:$B$3</c:f>
              <c:numCache>
                <c:formatCode>General</c:formatCode>
                <c:ptCount val="2"/>
                <c:pt idx="0">
                  <c:v>0.5291</c:v>
                </c:pt>
                <c:pt idx="1">
                  <c:v>0.2003</c:v>
                </c:pt>
              </c:numCache>
            </c:numRef>
          </c:val>
        </c:ser>
        <c:ser>
          <c:idx val="1"/>
          <c:order val="1"/>
          <c:tx>
            <c:strRef>
              <c:f>Sheet1!$C$1</c:f>
              <c:strCache>
                <c:ptCount val="1"/>
                <c:pt idx="0">
                  <c:v>Our SASRec</c:v>
                </c:pt>
              </c:strCache>
            </c:strRef>
          </c:tx>
          <c:spPr>
            <a:solidFill>
              <a:srgbClr val="1F7A80"/>
            </a:solidFill>
            <a:effectLst/>
          </c:spPr>
          <c:invertIfNegative val="0"/>
          <c:dLbls>
            <c:numFmt formatCode="0.00" sourceLinked="0"/>
            <c:txPr>
              <a:bodyPr/>
              <a:lstStyle/>
              <a:p>
                <a:pPr>
                  <a:defRPr b="0" i="0" strike="noStrike" sz="1500" u="none">
                    <a:solidFill>
                      <a:srgbClr val="13262F"/>
                    </a:solidFill>
                    <a:latin typeface="Arial"/>
                  </a:defRPr>
                </a:pPr>
              </a:p>
            </c:txPr>
            <c:showLegendKey val="0"/>
            <c:showVal val="1"/>
            <c:showCatName val="0"/>
            <c:showSerName val="0"/>
            <c:showPercent val="0"/>
            <c:showBubbleSize val="0"/>
            <c:showLeaderLines val="0"/>
          </c:dLbls>
          <c:cat>
            <c:multiLvlStrRef>
              <c:f>Sheet1!$A$2:$A$3</c:f>
              <c:multiLvlStrCache>
                <c:ptCount val="2"/>
                <c:lvl>
                  <c:pt idx="0">
                    <c:v>Recall@20</c:v>
                  </c:pt>
                  <c:pt idx="1">
                    <c:v>MRR@20</c:v>
                  </c:pt>
                </c:lvl>
              </c:multiLvlStrCache>
            </c:multiLvlStrRef>
          </c:cat>
          <c:val>
            <c:numRef>
              <c:f>Sheet1!$C$2:$C$3</c:f>
              <c:numCache>
                <c:formatCode>General</c:formatCode>
                <c:ptCount val="2"/>
                <c:pt idx="0">
                  <c:v>0.4315</c:v>
                </c:pt>
                <c:pt idx="1">
                  <c:v>0.1542</c:v>
                </c:pt>
              </c:numCache>
            </c:numRef>
          </c:val>
        </c:ser>
        <c:dLbls>
          <c:numFmt formatCode="0.00" sourceLinked="0"/>
          <c:txPr>
            <a:bodyPr/>
            <a:lstStyle/>
            <a:p>
              <a:pPr>
                <a:defRPr b="0" i="0" strike="noStrike" sz="1500" u="none">
                  <a:solidFill>
                    <a:srgbClr val="1326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33434A"/>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F"/>
                </a:solidFill>
                <a:latin typeface="Arial"/>
              </a:defRPr>
            </a:pPr>
            <a:r>
              <a:rPr sz="1200" b="0" i="0" u="none" strike="noStrike">
                <a:solidFill>
                  <a:srgbClr val="13262F"/>
                </a:solidFill>
                <a:latin typeface="Arial"/>
              </a:rPr>
              <a:t>Validation MRR@20, main cohort, 2 seeds</a:t>
            </a:r>
          </a:p>
        </c:rich>
      </c:tx>
      <c:layout/>
      <c:overlay val="0"/>
    </c:title>
    <c:autoTitleDeleted val="0"/>
    <c:plotArea>
      <c:layout/>
      <c:barChart>
        <c:barDir val="col"/>
        <c:grouping val="clustered"/>
        <c:varyColors val="0"/>
        <c:ser>
          <c:idx val="0"/>
          <c:order val="0"/>
          <c:tx>
            <c:strRef>
              <c:f>Sheet1!$B$1</c:f>
              <c:strCache>
                <c:ptCount val="1"/>
                <c:pt idx="0">
                  <c:v>GRU</c:v>
                </c:pt>
              </c:strCache>
            </c:strRef>
          </c:tx>
          <c:spPr>
            <a:solidFill>
              <a:srgbClr val="5C6B73"/>
            </a:solidFill>
            <a:effectLst/>
          </c:spPr>
          <c:invertIfNegative val="0"/>
          <c:dLbls>
            <c:numFmt formatCode="0.000" sourceLinked="0"/>
            <c:txPr>
              <a:bodyPr/>
              <a:lstStyle/>
              <a:p>
                <a:pPr>
                  <a:defRPr b="0" i="0" strike="noStrike" sz="1500" u="none">
                    <a:solidFill>
                      <a:srgbClr val="13262F"/>
                    </a:solidFill>
                    <a:latin typeface="Arial"/>
                  </a:defRPr>
                </a:pPr>
              </a:p>
            </c:txPr>
            <c:showLegendKey val="0"/>
            <c:showVal val="1"/>
            <c:showCatName val="0"/>
            <c:showSerName val="0"/>
            <c:showPercent val="0"/>
            <c:showBubbleSize val="0"/>
            <c:showLeaderLines val="0"/>
          </c:dLbls>
          <c:cat>
            <c:multiLvlStrRef>
              <c:f>Sheet1!$A$2:$A$3</c:f>
              <c:multiLvlStrCache>
                <c:ptCount val="2"/>
                <c:lvl>
                  <c:pt idx="0">
                    <c:v>Registered rule: best checkpoint</c:v>
                  </c:pt>
                  <c:pt idx="1">
                    <c:v>Fixed end of training</c:v>
                  </c:pt>
                </c:lvl>
              </c:multiLvlStrCache>
            </c:multiLvlStrRef>
          </c:cat>
          <c:val>
            <c:numRef>
              <c:f>Sheet1!$B$2:$B$3</c:f>
              <c:numCache>
                <c:formatCode>General</c:formatCode>
                <c:ptCount val="2"/>
                <c:pt idx="0">
                  <c:v>0.1569</c:v>
                </c:pt>
                <c:pt idx="1">
                  <c:v>0.1569</c:v>
                </c:pt>
              </c:numCache>
            </c:numRef>
          </c:val>
        </c:ser>
        <c:ser>
          <c:idx val="1"/>
          <c:order val="1"/>
          <c:tx>
            <c:strRef>
              <c:f>Sheet1!$C$1</c:f>
              <c:strCache>
                <c:ptCount val="1"/>
                <c:pt idx="0">
                  <c:v>SASRec</c:v>
                </c:pt>
              </c:strCache>
            </c:strRef>
          </c:tx>
          <c:spPr>
            <a:solidFill>
              <a:srgbClr val="1F7A80"/>
            </a:solidFill>
            <a:effectLst/>
          </c:spPr>
          <c:invertIfNegative val="0"/>
          <c:dLbls>
            <c:numFmt formatCode="0.000" sourceLinked="0"/>
            <c:txPr>
              <a:bodyPr/>
              <a:lstStyle/>
              <a:p>
                <a:pPr>
                  <a:defRPr b="0" i="0" strike="noStrike" sz="1500" u="none">
                    <a:solidFill>
                      <a:srgbClr val="13262F"/>
                    </a:solidFill>
                    <a:latin typeface="Arial"/>
                  </a:defRPr>
                </a:pPr>
              </a:p>
            </c:txPr>
            <c:showLegendKey val="0"/>
            <c:showVal val="1"/>
            <c:showCatName val="0"/>
            <c:showSerName val="0"/>
            <c:showPercent val="0"/>
            <c:showBubbleSize val="0"/>
            <c:showLeaderLines val="0"/>
          </c:dLbls>
          <c:cat>
            <c:multiLvlStrRef>
              <c:f>Sheet1!$A$2:$A$3</c:f>
              <c:multiLvlStrCache>
                <c:ptCount val="2"/>
                <c:lvl>
                  <c:pt idx="0">
                    <c:v>Registered rule: best checkpoint</c:v>
                  </c:pt>
                  <c:pt idx="1">
                    <c:v>Fixed end of training</c:v>
                  </c:pt>
                </c:lvl>
              </c:multiLvlStrCache>
            </c:multiLvlStrRef>
          </c:cat>
          <c:val>
            <c:numRef>
              <c:f>Sheet1!$C$2:$C$3</c:f>
              <c:numCache>
                <c:formatCode>General</c:formatCode>
                <c:ptCount val="2"/>
                <c:pt idx="0">
                  <c:v>0.1612</c:v>
                </c:pt>
                <c:pt idx="1">
                  <c:v>0.1527</c:v>
                </c:pt>
              </c:numCache>
            </c:numRef>
          </c:val>
        </c:ser>
        <c:dLbls>
          <c:numFmt formatCode="0.000" sourceLinked="0"/>
          <c:txPr>
            <a:bodyPr/>
            <a:lstStyle/>
            <a:p>
              <a:pPr>
                <a:defRPr b="0" i="0" strike="noStrike" sz="1500" u="none">
                  <a:solidFill>
                    <a:srgbClr val="1326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165"/>
          <c:min val="0.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400">
              <a:solidFill>
                <a:srgbClr val="33434A"/>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Megabytes per federated visit — device cap 170 MB</a:t>
            </a:r>
          </a:p>
        </c:rich>
      </c:tx>
      <c:layout/>
      <c:overlay val="0"/>
    </c:title>
    <c:autoTitleDeleted val="0"/>
    <c:plotArea>
      <c:layout/>
      <c:barChart>
        <c:barDir val="bar"/>
        <c:grouping val="clustered"/>
        <c:varyColors val="0"/>
        <c:ser>
          <c:idx val="0"/>
          <c:order val="0"/>
          <c:tx>
            <c:strRef>
              <c:f>Sheet1!$B$1</c:f>
              <c:strCache>
                <c:ptCount val="1"/>
                <c:pt idx="0">
                  <c:v>MB per visit</c:v>
                </c:pt>
              </c:strCache>
            </c:strRef>
          </c:tx>
          <c:spPr>
            <a:solidFill>
              <a:srgbClr val="5C6B73"/>
            </a:solidFill>
            <a:effectLst/>
          </c:spPr>
          <c:invertIfNegative val="0"/>
          <c:dLbls>
            <c:numFmt formatCode="0" sourceLinked="0"/>
            <c:txPr>
              <a:bodyPr/>
              <a:lstStyle/>
              <a:p>
                <a:pPr>
                  <a:defRPr b="0" i="0" strike="noStrike" sz="15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5C6B73"/>
              </a:solidFill>
              <a:effectLst/>
            </c:spPr>
          </c:dPt>
          <c:dPt>
            <c:idx val="1"/>
            <c:invertIfNegative val="0"/>
            <c:bubble3D val="0"/>
            <c:spPr>
              <a:solidFill>
                <a:srgbClr val="1F7A80"/>
              </a:solidFill>
              <a:effectLst/>
            </c:spPr>
          </c:dPt>
          <c:dPt>
            <c:idx val="2"/>
            <c:invertIfNegative val="0"/>
            <c:bubble3D val="0"/>
            <c:spPr>
              <a:solidFill>
                <a:srgbClr val="1F7A80"/>
              </a:solidFill>
              <a:effectLst/>
            </c:spPr>
          </c:dPt>
          <c:dPt>
            <c:idx val="3"/>
            <c:invertIfNegative val="0"/>
            <c:bubble3D val="0"/>
            <c:spPr>
              <a:solidFill>
                <a:srgbClr val="E0932B"/>
              </a:solidFill>
              <a:effectLst/>
            </c:spPr>
          </c:dPt>
          <c:cat>
            <c:multiLvlStrRef>
              <c:f>Sheet1!$A$2:$A$5</c:f>
              <c:multiLvlStrCache>
                <c:ptCount val="4"/>
                <c:lvl>
                  <c:pt idx="0">
                    <c:v>Cloud-size model</c:v>
                  </c:pt>
                  <c:pt idx="1">
                    <c:v>Device model</c:v>
                  </c:pt>
                  <c:pt idx="2">
                    <c:v>8-bit uploads</c:v>
                  </c:pt>
                  <c:pt idx="3">
                    <c:v>Frozen item tables</c:v>
                  </c:pt>
                </c:lvl>
              </c:multiLvlStrCache>
            </c:multiLvlStrRef>
          </c:cat>
          <c:val>
            <c:numRef>
              <c:f>Sheet1!$B$2:$B$5</c:f>
              <c:numCache>
                <c:formatCode>General</c:formatCode>
                <c:ptCount val="4"/>
                <c:pt idx="0">
                  <c:v>671</c:v>
                </c:pt>
                <c:pt idx="1">
                  <c:v>166</c:v>
                </c:pt>
                <c:pt idx="2">
                  <c:v>104</c:v>
                </c:pt>
                <c:pt idx="3">
                  <c:v>2</c:v>
                </c:pt>
              </c:numCache>
            </c:numRef>
          </c:val>
        </c:ser>
        <c:dLbls>
          <c:numFmt formatCode="0" sourceLinked="0"/>
          <c:txPr>
            <a:bodyPr/>
            <a:lstStyle/>
            <a:p>
              <a:pPr>
                <a:defRPr b="0" i="0" strike="noStrike" sz="1500" u="none">
                  <a:solidFill>
                    <a:srgbClr val="13262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78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Calibration users — +46% so far</a:t>
            </a:r>
          </a:p>
        </c:rich>
      </c:tx>
      <c:layout/>
      <c:overlay val="0"/>
    </c:title>
    <c:autoTitleDeleted val="0"/>
    <c:plotArea>
      <c:layout/>
      <c:barChart>
        <c:barDir val="col"/>
        <c:grouping val="clustered"/>
        <c:varyColors val="0"/>
        <c:ser>
          <c:idx val="0"/>
          <c:order val="0"/>
          <c:tx>
            <c:strRef>
              <c:f>Sheet1!$B$1</c:f>
              <c:strCache>
                <c:ptCount val="1"/>
                <c:pt idx="0">
                  <c:v>Calibration MRR@20</c:v>
                </c:pt>
              </c:strCache>
            </c:strRef>
          </c:tx>
          <c:spPr>
            <a:solidFill>
              <a:srgbClr val="9FB7BA"/>
            </a:solidFill>
            <a:effectLst/>
          </c:spPr>
          <c:invertIfNegative val="0"/>
          <c:dLbls>
            <c:numFmt formatCode="0.000" sourceLinked="0"/>
            <c:txPr>
              <a:bodyPr/>
              <a:lstStyle/>
              <a:p>
                <a:pPr>
                  <a:defRPr b="0" i="0" strike="noStrike" sz="16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9FB7BA"/>
              </a:solidFill>
              <a:effectLst/>
            </c:spPr>
          </c:dPt>
          <c:dPt>
            <c:idx val="1"/>
            <c:invertIfNegative val="0"/>
            <c:bubble3D val="0"/>
            <c:spPr>
              <a:solidFill>
                <a:srgbClr val="5E9DA1"/>
              </a:solidFill>
              <a:effectLst/>
            </c:spPr>
          </c:dPt>
          <c:dPt>
            <c:idx val="2"/>
            <c:invertIfNegative val="0"/>
            <c:bubble3D val="0"/>
            <c:spPr>
              <a:solidFill>
                <a:srgbClr val="1F7A80"/>
              </a:solidFill>
              <a:effectLst/>
            </c:spPr>
          </c:dPt>
          <c:cat>
            <c:multiLvlStrRef>
              <c:f>Sheet1!$A$2:$A$4</c:f>
              <c:multiLvlStrCache>
                <c:ptCount val="3"/>
                <c:lvl>
                  <c:pt idx="0">
                    <c:v>Start</c:v>
                  </c:pt>
                  <c:pt idx="1">
                    <c:v>Client learning rate</c:v>
                  </c:pt>
                  <c:pt idx="2">
                    <c:v>+ Server optimizer</c:v>
                  </c:pt>
                </c:lvl>
              </c:multiLvlStrCache>
            </c:multiLvlStrRef>
          </c:cat>
          <c:val>
            <c:numRef>
              <c:f>Sheet1!$B$2:$B$4</c:f>
              <c:numCache>
                <c:formatCode>General</c:formatCode>
                <c:ptCount val="3"/>
                <c:pt idx="0">
                  <c:v>0.023473</c:v>
                </c:pt>
                <c:pt idx="1">
                  <c:v>0.028796</c:v>
                </c:pt>
                <c:pt idx="2">
                  <c:v>0.034247</c:v>
                </c:pt>
              </c:numCache>
            </c:numRef>
          </c:val>
        </c:ser>
        <c:dLbls>
          <c:numFmt formatCode="0.000" sourceLinked="0"/>
          <c:txPr>
            <a:bodyPr/>
            <a:lstStyle/>
            <a:p>
              <a:pPr>
                <a:defRPr b="0" i="0" strike="noStrike" sz="1600" u="none">
                  <a:solidFill>
                    <a:srgbClr val="13262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03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F"/>
                </a:solidFill>
                <a:latin typeface="Arial"/>
              </a:defRPr>
            </a:pPr>
            <a:r>
              <a:rPr sz="1200" b="0" i="0" u="none" strike="noStrike">
                <a:solidFill>
                  <a:srgbClr val="13262F"/>
                </a:solidFill>
                <a:latin typeface="Arial"/>
              </a:rPr>
              <a:t>Validation MRR@20, main cohort</a:t>
            </a:r>
          </a:p>
        </c:rich>
      </c:tx>
      <c:layout/>
      <c:overlay val="0"/>
    </c:title>
    <c:autoTitleDeleted val="0"/>
    <c:plotArea>
      <c:layout/>
      <c:barChart>
        <c:barDir val="bar"/>
        <c:grouping val="clustered"/>
        <c:varyColors val="0"/>
        <c:ser>
          <c:idx val="0"/>
          <c:order val="0"/>
          <c:tx>
            <c:strRef>
              <c:f>Sheet1!$B$1</c:f>
              <c:strCache>
                <c:ptCount val="1"/>
                <c:pt idx="0">
                  <c:v>MRR@20</c:v>
                </c:pt>
              </c:strCache>
            </c:strRef>
          </c:tx>
          <c:spPr>
            <a:solidFill>
              <a:srgbClr val="A7B1B6"/>
            </a:solidFill>
            <a:effectLst/>
          </c:spPr>
          <c:invertIfNegative val="0"/>
          <c:dLbls>
            <c:numFmt formatCode="0.000" sourceLinked="0"/>
            <c:txPr>
              <a:bodyPr/>
              <a:lstStyle/>
              <a:p>
                <a:pPr>
                  <a:defRPr b="0" i="0" strike="noStrike" sz="14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A7B1B6"/>
              </a:solidFill>
              <a:effectLst/>
            </c:spPr>
          </c:dPt>
          <c:dPt>
            <c:idx val="1"/>
            <c:invertIfNegative val="0"/>
            <c:bubble3D val="0"/>
            <c:spPr>
              <a:solidFill>
                <a:srgbClr val="E0932B"/>
              </a:solidFill>
              <a:effectLst/>
            </c:spPr>
          </c:dPt>
          <c:dPt>
            <c:idx val="2"/>
            <c:invertIfNegative val="0"/>
            <c:bubble3D val="0"/>
            <c:spPr>
              <a:solidFill>
                <a:srgbClr val="A7B1B6"/>
              </a:solidFill>
              <a:effectLst/>
            </c:spPr>
          </c:dPt>
          <c:dPt>
            <c:idx val="3"/>
            <c:invertIfNegative val="0"/>
            <c:bubble3D val="0"/>
            <c:spPr>
              <a:solidFill>
                <a:srgbClr val="5C6B73"/>
              </a:solidFill>
              <a:effectLst/>
            </c:spPr>
          </c:dPt>
          <c:dPt>
            <c:idx val="4"/>
            <c:invertIfNegative val="0"/>
            <c:bubble3D val="0"/>
            <c:spPr>
              <a:solidFill>
                <a:srgbClr val="1F7A80"/>
              </a:solidFill>
              <a:effectLst/>
            </c:spPr>
          </c:dPt>
          <c:cat>
            <c:multiLvlStrRef>
              <c:f>Sheet1!$A$2:$A$6</c:f>
              <c:multiLvlStrCache>
                <c:ptCount val="5"/>
                <c:lvl>
                  <c:pt idx="0">
                    <c:v>Popularity</c:v>
                  </c:pt>
                  <c:pt idx="1">
                    <c:v>Last viewed item</c:v>
                  </c:pt>
                  <c:pt idx="2">
                    <c:v>Session kNN</c:v>
                  </c:pt>
                  <c:pt idx="3">
                    <c:v>GRU</c:v>
                  </c:pt>
                  <c:pt idx="4">
                    <c:v>SASRec (cloud)</c:v>
                  </c:pt>
                </c:lvl>
              </c:multiLvlStrCache>
            </c:multiLvlStrRef>
          </c:cat>
          <c:val>
            <c:numRef>
              <c:f>Sheet1!$B$2:$B$6</c:f>
              <c:numCache>
                <c:formatCode>General</c:formatCode>
                <c:ptCount val="5"/>
                <c:pt idx="0">
                  <c:v>0.0194</c:v>
                </c:pt>
                <c:pt idx="1">
                  <c:v>0.0711</c:v>
                </c:pt>
                <c:pt idx="2">
                  <c:v>0.1114</c:v>
                </c:pt>
                <c:pt idx="3">
                  <c:v>0.1569</c:v>
                </c:pt>
                <c:pt idx="4">
                  <c:v>0.1612</c:v>
                </c:pt>
              </c:numCache>
            </c:numRef>
          </c:val>
        </c:ser>
        <c:dLbls>
          <c:numFmt formatCode="0.000" sourceLinked="0"/>
          <c:txPr>
            <a:bodyPr/>
            <a:lstStyle/>
            <a:p>
              <a:pPr>
                <a:defRPr b="0" i="0" strike="noStrike" sz="1400" u="none">
                  <a:solidFill>
                    <a:srgbClr val="13262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19"/>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F"/>
                </a:solidFill>
                <a:latin typeface="Arial"/>
              </a:defRPr>
            </a:pPr>
            <a:r>
              <a:rPr sz="1200" b="0" i="0" u="none" strike="noStrike">
                <a:solidFill>
                  <a:srgbClr val="13262F"/>
                </a:solidFill>
                <a:latin typeface="Arial"/>
              </a:rPr>
              <a:t>Federated, calibration users, full training budget</a:t>
            </a:r>
          </a:p>
        </c:rich>
      </c:tx>
      <c:layout/>
      <c:overlay val="0"/>
    </c:title>
    <c:autoTitleDeleted val="0"/>
    <c:plotArea>
      <c:layout/>
      <c:lineChart>
        <c:varyColors val="0"/>
        <c:ser>
          <c:idx val="0"/>
          <c:order val="0"/>
          <c:tx>
            <c:strRef>
              <c:f>Sheet1!$B$1</c:f>
              <c:strCache>
                <c:ptCount val="1"/>
                <c:pt idx="0">
                  <c:v>Calibration MRR@20</c:v>
                </c:pt>
              </c:strCache>
            </c:strRef>
          </c:tx>
          <c:spPr>
            <a:solidFill>
              <a:srgbClr val="1F7A80"/>
            </a:solidFill>
            <a:ln w="38100" cap="flat">
              <a:solidFill>
                <a:srgbClr val="1F7A80"/>
              </a:solidFill>
              <a:prstDash val="solid"/>
              <a:round/>
            </a:ln>
            <a:effectLst/>
          </c:spPr>
          <c:invertIfNegative val="0"/>
          <c:dLbls>
            <c:numFmt formatCode="0.000" sourceLinked="0"/>
            <c:txPr>
              <a:bodyPr/>
              <a:lstStyle/>
              <a:p>
                <a:pPr>
                  <a:defRPr b="0" i="0" strike="noStrike" sz="1300" u="none">
                    <a:solidFill>
                      <a:srgbClr val="13262F"/>
                    </a:solidFill>
                    <a:latin typeface="Arial"/>
                  </a:defRPr>
                </a:pPr>
              </a:p>
            </c:txPr>
            <c:dLblPos val="t"/>
            <c:showLegendKey val="0"/>
            <c:showVal val="1"/>
            <c:showCatName val="0"/>
            <c:showSerName val="0"/>
            <c:showPercent val="0"/>
            <c:showBubbleSize val="0"/>
            <c:showLeaderLines val="0"/>
          </c:dLbls>
          <c:marker>
            <c:symbol val="circle"/>
            <c:size val="10"/>
            <c:spPr>
              <a:solidFill>
                <a:srgbClr val="1F7A80"/>
              </a:solidFill>
              <a:ln w="9525" cap="flat">
                <a:solidFill>
                  <a:srgbClr val="1F7A80"/>
                </a:solidFill>
                <a:prstDash val="solid"/>
                <a:round/>
              </a:ln>
              <a:effectLst/>
            </c:spPr>
          </c:marker>
          <c:cat>
            <c:multiLvlStrRef>
              <c:f>Sheet1!$A$2:$A$7</c:f>
              <c:multiLvlStrCache>
                <c:ptCount val="6"/>
                <c:lvl>
                  <c:pt idx="0">
                    <c:v>×0.5</c:v>
                  </c:pt>
                  <c:pt idx="1">
                    <c:v>×1</c:v>
                  </c:pt>
                  <c:pt idx="2">
                    <c:v>×2</c:v>
                  </c:pt>
                  <c:pt idx="3">
                    <c:v>×4</c:v>
                  </c:pt>
                  <c:pt idx="4">
                    <c:v>×8</c:v>
                  </c:pt>
                  <c:pt idx="5">
                    <c:v>×16</c:v>
                  </c:pt>
                </c:lvl>
              </c:multiLvlStrCache>
            </c:multiLvlStrRef>
          </c:cat>
          <c:val>
            <c:numRef>
              <c:f>Sheet1!$B$2:$B$7</c:f>
              <c:numCache>
                <c:formatCode>General</c:formatCode>
                <c:ptCount val="6"/>
                <c:pt idx="0">
                  <c:v>0.020263</c:v>
                </c:pt>
                <c:pt idx="1">
                  <c:v>0.023473</c:v>
                </c:pt>
                <c:pt idx="2">
                  <c:v>0.025562</c:v>
                </c:pt>
                <c:pt idx="3">
                  <c:v>0.02757</c:v>
                </c:pt>
                <c:pt idx="4">
                  <c:v>0.028796</c:v>
                </c:pt>
                <c:pt idx="5">
                  <c:v>0.022909</c:v>
                </c:pt>
              </c:numCache>
            </c:numRef>
          </c:val>
          <c:smooth val="0"/>
        </c:ser>
        <c:dLbls>
          <c:numFmt formatCode="0.000" sourceLinked="0"/>
          <c:txPr>
            <a:bodyPr/>
            <a:lstStyle/>
            <a:p>
              <a:pPr>
                <a:defRPr b="0" i="0" strike="noStrike" sz="1300" u="none">
                  <a:solidFill>
                    <a:srgbClr val="13262F"/>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031"/>
          <c:min val="0.01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 — العنوان.
جملة البداية: المشروع بيجاوب على سؤال البروبوزال: لو بيانات التسوق فضلت على جهاز المستخدم، هنخسر قد إيه من جودة الترشيحات؟
العرض: اللي عملناه قبل كده وليه غيرنا، الإعداد الحالي، اللي اتقاس، اللي لسه شغال، والقرارات اللي محتاجين رأيه فيها.
أي تاريخ مستقبلي في العرض تقدير مش نتيجة. ونتائج الطرق الرئيسية مقفولة لحد القراءة المسجلة مسبقاً.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2 — السؤال.
السؤال من البروبوزال حرفياً. Edge شغال على جهاز المستخدم، فعنده فرصة يعمل ترشيحات تسوق من غير ما يبعت التصفح للسيرفر.
الثلاث طرق: السحابة (أحسن جودة، مفيش خصوصية)، الفيدرالي (التدريب على الجهاز وبيطلع تحديثات بس، وممكن DP)، وعلى الجهاز فقط (أقوى خصوصية وأقل داتا).
الرقم الأساسي: retention = جودة الطريقة ÷ جودة السحابة.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3 — الرحلة في 4 مراحل.
1) توقع الفئة الجاية: نجح، بس مفيش أبحاث منشورة نقارن بيها.
2) توقع المنتج الجاي بموديل سحابة: موديلات قوية، وقارناها بـ benchmark منشور.
3) الفيتشرز: فضلنا على مجموعة صغيرة الجهاز يقدر يحسبها.
4) دراسة النشر (سحابة/فيدرالي/جهاز): شغالة دلوقتي والنتائج الرئيسية مقفولة.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4 — المرحلة 1: توقع الفئة الجاية (من الـ GitHub).
النتيجة: الـ GRU بتاعنا 0.35 مقابل جدول الانتقالات 0.31 والـ popularity 0.10 — يعني الموديل اتعلم فعلاً.
ليه انتقلنا لتوقع المنتج:
1) مالقيناش أبحاث منشورة على REES46 لمهمة الفئة الجاية، فمنقدرش نعرف إحنا أقوى ولا أضعف.
2) المقياس الكلي سهل: حوالي 82% منه بيتحل بقاعدة "كرر نفس الفئة".
3) مهمة المنتج الجاي ليها benchmark منشور على نفس الداتا (GRU4Rec، RecSys 2023).
واتفقنا على التغيير ده معاه.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5 — المرحلة 2: توقع المنتج مقارنة بالبحث المنشور (GRU4Rec الرسمي على REES46).
البحث: Recall@20 = 0.53 و MRR@20 = 0.20. إحنا (SASRec، أسبوع validation، داتا كاملة): 0.43 و 0.15.
ليه أقل:
- الترتيب أصعب: بنرتب الكتالوج كله، وأي منتج جديد بيتحسب غلط.
- التقسيم أصعب: بنتوقع الأسبوع اللي بعده مش آخر يوم.
- موارد أقل: كام epoch على GPUين صغيرين (A16)، والبحث متظبط جامد.
الخلاصة: مش نفس البروتوكول، فمنقدرش نقول أقوى ولا أضعف بشكل قاطع. دلوقتي معانا سيرفر 2× A40 وبدأنا نجرب.
لو اتسأل: رقمنا الأساسي متوسط لكل مستخدم (0.17)، والبحث لكل حدث، علشان كده قارنت بنفس طريقة البحث.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6 — هندسة الفيتشرز (الأعمدة).
الأعمدة 4 أنواع: tokens (المنتج، الفئة، البراند)، أرقام (السعر، الوقت من آخر مشاهدة، عدادات الجلسة)، سياق المستخدم (نسبة تطابق البراند والفئة، السعر مقارنة بالعادي)، وعلامات جودة و masks (السعر ناقص، التاريخ متاح).
في المرحلة القديمة كانوا 58 عمود؛ دلوقتي 24 بعد فلترة إحصائية وبحث. 21 منهم الجهاز يقدر يحسبهم لوحده، والـ 3 الباقيين محتاجين قاموس مشترك (المنتج/الفئة/البراند).
شيل كل الفيتشرز الجانبية بيوقع الجودة بوضوح، وإضافة فيتشرز جديدة ما فادتش — فثبتنا المجموعة. أعمدة التقويم اتشالت.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7 — إيه اللي اتغير عن البروبوزال (اتفقنا عليه قبل كده).
المهمة: المنتج الجاي بدل الفئة والشراء — أصعب ومعروفة وليها benchmark. الداتا: REES46 لأن كل مستخدم بأحداثه وتوقيتها فنقدر نعامله كجهاز. المقياس: MRR@20 لكل مستخدم. FedBN اتشال لأن الموديل بيستخدم LayerNorm. الخصوصية بقت DP عند ε=8 و ε=1.
واللي فضل: السحابة كسقف، الفيدرالي، الجهاز، الـ cold start، تكلفة الاتصال، واختبار المتصفح.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8 — الداتا والمهمة في الدراسة الحالية.
158,486 منتج بيترتبوا في كل توقع. 131,072 مستخدم في الـ main cohort، كل واحد جهاز. و1.35 مليون مستخدم للسحابة الكاملة الواقعية.
التقسيم زمني: تدريب لحد 15 نوفمبر، validation أسبوع، test أسبوع مقفول.
المستخدمين عندهم 5–100 حدث علشان كل جهاز يبقى واقعي. الضبط على مجموعة calibration منفصلة، والـ test بيتفتح مرة واحدة بعد القفل.
لو اتسأل "ليه داتا أصغر من المرحلة القديمة؟" — علشان محاكاة الفيدرالي مرات كتير تبقى ممكنة.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9 — إزاي المقارنة عادلة.
1) مسجل مسبقاً: القواعد والمقارنات بتتكتب وتتختم قبل ما نشوف النتيجة.
2) نفس الميزانية ونفس الداتا والفيتشرز والـ evaluator لكل الطرق.
3) ترتيب على الكتالوج كله من غير عينات.
4) نفس المستخدمين في كل مقارنة، وبذرتين للطرق الرئيسية.
5) نظرة واحدة على الـ test بعد القفل.
6) كل مرحلة بتتراجع من مراجع مستقل قبل ما نستخدمها.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ديسكشن 1 — المهمة والـ benchmark والمسطرة.
1) موافق إن توقع المنتج الجاي هو المهمة الصح؟ الفئة الجاية ماكانش ليها حاجة منشورة نقارن بيها.
2) نعيد تشغيل بروتوكول البحث المنشور على السيرفر الجديد؟ ده هيقول بشكل مباشر إحنا أقوى ولا أضعف.
3) الـ retention نقيسه قدام السحابة المطابقة (131 ألف) ولا الكاملة (1.35 مليون)؟ هنعرض الاتنين، بس مين الأول؟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11 — مسابقة الموديل الأساسي.
8 تشغيلات (عائلتين × حجمين × بذرتين) بنفس ميزانية الضبط. القاعدة المسجلة مسبقاً "أحسن checkpoint داخل الميزانية": SASRec 0.161 مقابل GRU 0.157، والفرق ثابت في البذرتين وفترة الثقة بعيدة عن الصفر → SASRec اتختار.
التحفظ: عند نهاية التدريب الثابتة GRU أعلى (0.157 مقابل 0.153)، لأن SASRec بيوصل لأحسن نقطة في النص. مكتوب في الرسالة إنه "اتختار بالقاعدة المسجلة".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12 — أحجام الموديلات وميزانية الجهاز.
موديل السحابة 84 مليون باراميتر، وموديل الجهاز 21 مليون.
الزيارة الفيدرالية الواحدة: موديل بحجم السحابة 671 ميجا (مستحيل)، موديل الجهاز 166 (تحت سقف 170)، رفع 8 بت 104، والجداول المجمدة حوالي 2 ميجا بس.
لو اتسأل "166 كتير؟" — أيوه للموبايل، مقبول للابتوب؛ علشان كده عندنا 8 بت والجداول المجمدة.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13 — مصفوفة المقارنة حسب "إيه اللي بيطلع من الجهاز".
السحابة: الأحداث الخام. متدرب في السحابة وشغال على الجهاز: الأحداث مرة واحدة. الفرع الواقعي: المستخدمين الموافقين بيشاركوا الداتا والباقي تحديثات بس. الفيدرالي: تحديثات الموديل. الفيدرالي + DP: تحديثات عليها ضوضاء. على الجهاز: ولا حاجة.
وكل طريقة بتتقارن كمان بقاعدة "آخر منتج اتشاف" — ببلاش ومن غير تدريب.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ديسكشن 2 — مين الإجابة الرئيسية لـ Edge؟
1) الفيدرالي العادي، ولا تدريب مسبق ثم فيدرالي، ولا موديل سحابة يتظبط على الجهاز؟ المراجعة المستقلة بتقترح الفرع المُدرب مسبقاً لأنه شبه اللي المتصفحات بتعمله.
2) هل "آخر منتج اتشاف" يبقى الأرضية اللي كل طريقة لازم تغلبها؟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15 — الفيدرالي: الغلطة بتاعتنا وإزاي صلحناها (قولها بصراحة).
إيه اللي عملناه: بدأنا الفيدرالي من موديل مش متدرب (جداول المنتجات عشوائية)، واستخدمنا إعدادات تدريب السحابة زي ما هي، ومفيش server optimizer، والـ optimizer عند العميل بيبدأ من الصفر كل زيارة. يعني ما دربناش الموديل قبل الخطوة دي.
النتيجة: الإعداد الأول طلع حوالي 20% من السحابة على مستخدمين الضبط، وأقل من قاعدة "آخر منتج اتشاف" اللي ببلاش. ده إنذار من مستخدمين الضبط، مش نتيجة نهائية.
اللي غيرناه: سلم ضبط مسجل — +46% لحد دلوقتي (رفع الـ learning rate، وبعدين server optimizer اسمه FedAdam). والأهم: الموديل المُدرب مسبقاً خلص تدريبه، والفيدرالي هيبدأ منه — زي ما المتصفحات بتعمل فعلاً. وكل ده قبل ما نقرا أي نتيجة نهائية.
الرسالة: الفجوة كانت أساساً من الإعداد بتاعنا، مش من الفيدرالي نفسه (ده رأي المراجعة المستقلة كمان).
سؤال محتمل: "مش ده تحيز إنكم بتحسنوا الفيدرالي؟" — الضبط على مستخدمين الضبط بس ومسجل قبل القراءة، والنقطة الأولى فاضلة في الرسالة كمرجع.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16 — سلم تحسين الفيدرالي.
كل مرحلة بتغير حاجة واحدة، وبتفضل بس لو كسبت 0.002 على الأقل.
لحد دلوقتي: البداية 0.023 ← رفع الـ learning rate عند العميل 0.029 (+22.7%) ← server optimizer (FedAdam) 0.034 (+18.9% كمان). الإجمالي +46% عن البداية.
مرحلة الـ server optimizer خلصت (فاضل تشغيل تأكيد أخير واحد قبل ما الاختيار يتكتب رسمياً).
الجاي: شكل الـ learning rate مع optimizer العميل (شغال دلوقتي)، الـ passes والـ batch، البدء من الموديل المُدرب مسبقاً (خلص تدريبه)، وتجميد جداول المنتجات.
سؤال محتمل: "لو دربنا أطول هيتحسن؟" — لأ غالباً: منحنى FedAdam بيوصل لأعلى نقطة في نص الميزانية وبعدين بينزل، والنزول بيبدأ بالظبط لما الـ learning rate بيتخفض (نفس جدول السحابة). علشان كده المرحلة الجاية بتجرب learning rate ثابت. الرافعة الأكبر هي داتا أكتر والبدء من الموديل المُدرب مسبقاً.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17 — الخصوصية.
مستويين DP: ε=8 (متوسط) و ε=1 (قوي). الضمان على مستوى المستخدم: تاريخ مستخدم كامل مش هيغير الموديل تقريباً.
الخصم: شركة المتصفح نفسها "أمينة وفضولية".
الحدود بصراحة: من غير DP التحديث ممكن يكشف المنتجات اللي المستخدم شافها؛ secure aggregation مش متحاكي؛ والجداول المجمدة بتقلل التسريب مش بتلغيه.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18 — الفرع الواقعي للنشر (ده الحل للغلطة).
1) ندرب موديل مسبقاً على حوالي 1.2 مليون مستخدم موافقين يشاركوا الداتا، ومفيش حد منهم في الـ main cohort.
2) الفيدرالي يبدأ من الموديل ده على المستخدمين الخاصين، وهما بيبعتوا تحديثات بس.
3) نجمد جداول المنتجات فيتحرك encoder صغير بس، حوالي 1 ميجا في كل اتجاه.
ده بيصلح الغلطة الأولى مباشرة: الفيدرالي مبقاش بيبدأ من موديل مش متدرب.
بنقارنه بالسحابة الكاملة. التدريب المسبق خلص ميزانيته، والفيدرالي هيبدأ منه بعد كده. النتائج مقفولة.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ديسكشن 3 — مجهود الفيدرالي والخصوصية وقصة النشر.
1) قد إيه ضبط للفيدرالي عادل؟ السلم بيقف لو المرحلة كسبت أقل من 0.002.
2) ε=8 و ε=1 كفاية ولا محتاج منحنى؟ مستوى زيادة حوالي نص يوم (تقدير).
3) هل التدريب المسبق على مستخدمين موافقين واقعي لـ Edge؟ لو أيوه، يبقى هو الإجابة الرئيسية.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20 — على الجهاز والـ cold start.
على الجهاز: موديل محلي بس (control مش منتج)، موديل السحابة يتظبط محلياً، والموديل المُدرب مسبقاً يتظبط محلياً (أنضف خيار "تحميل بس").
الفحوصات: التصدير لـ ONNX خلص (كامل و 8 بت)، السرعة على CPU شغالة، واختبار المتصفح في Edge على لابتوبي لسه.
الـ cold start: مستخدمين ما شاركوش في التدريب، مستخدمين من غير أي تاريخ، وتاريخ قصير مقابل طويل. في تجربة متحكم فيها بتقطع التاريخ لأطوال ثابتة.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21 — المراجعات المستقلة (14 جزء، كل جزء خبير).
الدرجة 7/10، والهدف 8–8.5 بعد الإصلاحات المسجلة.
القوة: التسجيل المسبق ونظرة test واحدة، تقييم مضبوط من غير bugs، ومفيش تسريب داتا.
الضعف: إعداد الفيدرالي كان ضعيف، ادعاءات الخصوصية كانت مبالغ فيها، وأدلة الجهاز من CPU سيرفر.
اللي اتصلح: سلم الضبط والبدء من موديل مُدرب مسبقاً، threat model ومصفوفة الخصوصية، والفرع الواقعي بقى أساسي.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22 — الجدول الزمني.
خلص: مسابقة الموديل، والتدريب المسبق خلص ميزانيته. موديلات السحابة الكاملة: واحد خلص (بذرة 2027) والتاني وصل لآخر الميزانية. شغال: ضبط الفيدرالي (مرحلة شكل الـ learning rate) وتشغيلات الجهاز (الموديل المحلي بدأ، وبعده الـ fine-tuning).
بعد الضبط: التشغيلات الفيدرالية و DP الرئيسية.
التقديرات: قراءة validation واحدة حوالي 2–3 أكتوبر، نظرة الـ test حوالي 4–5 أكتوبر، والجداول النهائية حوالي 6–7 أكتوبر. اتأخرنا حوالي يوم عن الخطة لأن تشغيلات الضبط أبطأ لما بتشارك الـ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ديسكشن 4 — الأولويات لو الوقت ضيق.
1) لو لازم نقطع، نقطع إيه الأول؟ مش هنقطع: الفيدرالي والمحلي و fine-tune السحابة ببذرتين، والقفل، ونظرة الـ test الواحدة. أول حاجات تتقطع: البذور الزيادة للوحات، و ε=1 لو اضطرينا.
2) تشغيل واحد في المتصفح على لابتوب كفاية كدليل للجهاز؟
3) يوافق مسبقاً على بيان استخدام الذكاء الاصطناعي المطلوب من Queen's؟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24 — الملخص.
خلص: انتقلنا من الفئة للمنتج بأسباب واضحة، قارنا بالبحث المنشور، صغرنا الفيتشرز لمجموعة الجهاز يحسبها، واخترنا الموديل بقاعدة مسجلة.
شغال: ضبط الفيدرالي بعد ما صلحنا الإعداد الأول (+46% لحد دلوقتي)، التدريب المسبق خلص والفيدرالي هيبدأ منه، موديلات السحابة الكاملة قربت تخلص، وتشغيلات الجهاز (الموديل المحلي شغال).
الجاي: قراءة validation واحدة (حوالي 2–3 أكتوبر)، نظرة test واحدة (حوالي 4–5 أكتوبر)، اختبار المتصفح، وجداول الرسالة (حوالي 6–7 أكتوبر).
اختم بالقرارات: المهمة والـ benchmark، إجابة Edge الرئيسية، مجهود الفيدرالي، مستويات DP، والأولويات.
سجل التحديثات: final v1 — 2026-09-29 (DECISION_LOG لحد الصف 228). final v2 — 2026-09-30 (لحد الصف 251) — التفاصيل في نوتس آخر شريحة.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شرايح احتياطية: الـ baselines، ومنحنى الـ learning rate كامل. ما تعرضهاش إلا لو اتسألت.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احتياطي — الـ baselines: popularity 0.019، آخر منتج 0.071، session kNN 0.111، GRU 0.157، SASRec 0.161. آخر منتج اتشاف بيوصل لحوالي 44% من السحابة ببلاش.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احتياطي — منحنى الـ learning rate: بيطلع لحد ×8 (0.029) وبعدين بينزل عند ×16. الفائز جوه الشبكة.
سجل التحديثات (Update log)
final v1 — 2026-09-29: أول نسخة نهائية (DECISION_LOG لحد الصف 228، السلم لحد رفع الـ learning rate).
final v2 — 2026-09-30 (DECISION_LOG لحد الصف 251):
- مرحلة الـ server optimizer خلصت: FedAdam 0.034 على مستخدمين الضبط (+18.9% عن المرحلة اللي قبلها، +46% عن البداية). اتحدثت شرايح 15 و 16 و 24.
- شريحة 15: "اللي حصل" بقت حوالي 20% للإعداد الأول (بدل 25%، اللي كان بعد أول تحسين).
- التدريب المسبق خلص ميزانيته (شرايح 16 و 18 و 22 و 24).
- موديلات السحابة الكاملة: بذرة 2027 خلصت، وبذرة 2026 وصلت لآخر الميزانية (شريحة 22).
- اختيارات الجهاز اتسجلت، والموديل المحلي بدأ يتدرب (شرايح 22 و 24).
- المرحلة الجاية (شكل الـ learning rate × optimizer العميل) شغالة (شريحة 16).
- مواعيد القراءة زي ما هي (تقديرات).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1188720"/>
            <a:ext cx="10058400" cy="365760"/>
          </a:xfrm>
          <a:prstGeom prst="rect">
            <a:avLst/>
          </a:prstGeom>
          <a:noFill/>
          <a:ln/>
        </p:spPr>
        <p:txBody>
          <a:bodyPr wrap="square" lIns="0" tIns="0" rIns="0" bIns="0" rtlCol="0" anchor="ctr"/>
          <a:lstStyle/>
          <a:p>
            <a:pPr indent="0" marL="0">
              <a:buNone/>
            </a:pPr>
            <a:r>
              <a:rPr lang="en-US" sz="1400" b="1" spc="300" kern="0" dirty="0">
                <a:solidFill>
                  <a:srgbClr val="E0932B"/>
                </a:solidFill>
                <a:latin typeface="Calibri" pitchFamily="34" charset="0"/>
                <a:ea typeface="Calibri" pitchFamily="34" charset="-122"/>
                <a:cs typeface="Calibri" pitchFamily="34" charset="-120"/>
              </a:rPr>
              <a:t>PRIVACY-PRESERVING SHOPPING INTELLIGENCE</a:t>
            </a:r>
            <a:endParaRPr lang="en-US" sz="1400" dirty="0"/>
          </a:p>
        </p:txBody>
      </p:sp>
      <p:sp>
        <p:nvSpPr>
          <p:cNvPr id="3" name="Text 1"/>
          <p:cNvSpPr txBox="1"/>
          <p:nvPr/>
        </p:nvSpPr>
        <p:spPr>
          <a:xfrm>
            <a:off x="548640" y="1645920"/>
            <a:ext cx="10241280" cy="17373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How much recommendation quality survives when shopping data stays on the device?</a:t>
            </a:r>
            <a:endParaRPr lang="en-US" sz="4000" dirty="0"/>
          </a:p>
        </p:txBody>
      </p:sp>
      <p:sp>
        <p:nvSpPr>
          <p:cNvPr id="4" name="Text 2"/>
          <p:cNvSpPr txBox="1"/>
          <p:nvPr/>
        </p:nvSpPr>
        <p:spPr>
          <a:xfrm>
            <a:off x="548640" y="3520440"/>
            <a:ext cx="10058400" cy="457200"/>
          </a:xfrm>
          <a:prstGeom prst="rect">
            <a:avLst/>
          </a:prstGeom>
          <a:noFill/>
          <a:ln/>
        </p:spPr>
        <p:txBody>
          <a:bodyPr wrap="square" lIns="0" tIns="0" rIns="0" bIns="0" rtlCol="0" anchor="ctr"/>
          <a:lstStyle/>
          <a:p>
            <a:pPr indent="0" marL="0">
              <a:buNone/>
            </a:pPr>
            <a:r>
              <a:rPr lang="en-US" sz="1800" dirty="0">
                <a:solidFill>
                  <a:srgbClr val="A9C0C4"/>
                </a:solidFill>
                <a:latin typeface="Calibri" pitchFamily="34" charset="0"/>
                <a:ea typeface="Calibri" pitchFamily="34" charset="-122"/>
                <a:cs typeface="Calibri" pitchFamily="34" charset="-120"/>
              </a:rPr>
              <a:t>Cloud vs federated vs on-device learning for Microsoft Edge — progress and decisions</a:t>
            </a:r>
            <a:endParaRPr lang="en-US" sz="1800" dirty="0"/>
          </a:p>
        </p:txBody>
      </p:sp>
      <p:sp>
        <p:nvSpPr>
          <p:cNvPr id="5" name="Shape 3"/>
          <p:cNvSpPr/>
          <p:nvPr/>
        </p:nvSpPr>
        <p:spPr>
          <a:xfrm>
            <a:off x="548640" y="4434840"/>
            <a:ext cx="256032" cy="256032"/>
          </a:xfrm>
          <a:prstGeom prst="ellipse">
            <a:avLst/>
          </a:prstGeom>
          <a:solidFill>
            <a:srgbClr val="5C6B73"/>
          </a:solidFill>
          <a:ln/>
        </p:spPr>
      </p:sp>
      <p:sp>
        <p:nvSpPr>
          <p:cNvPr id="6" name="Text 4"/>
          <p:cNvSpPr txBox="1"/>
          <p:nvPr/>
        </p:nvSpPr>
        <p:spPr>
          <a:xfrm>
            <a:off x="914400" y="4407408"/>
            <a:ext cx="1554480" cy="310896"/>
          </a:xfrm>
          <a:prstGeom prst="rect">
            <a:avLst/>
          </a:prstGeom>
          <a:noFill/>
          <a:ln/>
        </p:spPr>
        <p:txBody>
          <a:bodyPr wrap="square" lIns="0" tIns="0" rIns="0" bIns="0" rtlCol="0" anchor="ctr"/>
          <a:lstStyle/>
          <a:p>
            <a:pPr indent="0" marL="0">
              <a:buNone/>
            </a:pPr>
            <a:r>
              <a:rPr lang="en-US" sz="1400" dirty="0">
                <a:solidFill>
                  <a:srgbClr val="E9F1F2"/>
                </a:solidFill>
                <a:latin typeface="Calibri" pitchFamily="34" charset="0"/>
                <a:ea typeface="Calibri" pitchFamily="34" charset="-122"/>
                <a:cs typeface="Calibri" pitchFamily="34" charset="-120"/>
              </a:rPr>
              <a:t>Cloud</a:t>
            </a:r>
            <a:endParaRPr lang="en-US" sz="1400" dirty="0"/>
          </a:p>
        </p:txBody>
      </p:sp>
      <p:sp>
        <p:nvSpPr>
          <p:cNvPr id="7" name="Shape 5"/>
          <p:cNvSpPr/>
          <p:nvPr/>
        </p:nvSpPr>
        <p:spPr>
          <a:xfrm>
            <a:off x="2560320" y="4434840"/>
            <a:ext cx="256032" cy="256032"/>
          </a:xfrm>
          <a:prstGeom prst="ellipse">
            <a:avLst/>
          </a:prstGeom>
          <a:solidFill>
            <a:srgbClr val="1F7A80"/>
          </a:solidFill>
          <a:ln/>
        </p:spPr>
      </p:sp>
      <p:sp>
        <p:nvSpPr>
          <p:cNvPr id="8" name="Text 6"/>
          <p:cNvSpPr txBox="1"/>
          <p:nvPr/>
        </p:nvSpPr>
        <p:spPr>
          <a:xfrm>
            <a:off x="2926080" y="4407408"/>
            <a:ext cx="1554480" cy="310896"/>
          </a:xfrm>
          <a:prstGeom prst="rect">
            <a:avLst/>
          </a:prstGeom>
          <a:noFill/>
          <a:ln/>
        </p:spPr>
        <p:txBody>
          <a:bodyPr wrap="square" lIns="0" tIns="0" rIns="0" bIns="0" rtlCol="0" anchor="ctr"/>
          <a:lstStyle/>
          <a:p>
            <a:pPr indent="0" marL="0">
              <a:buNone/>
            </a:pPr>
            <a:r>
              <a:rPr lang="en-US" sz="1400" dirty="0">
                <a:solidFill>
                  <a:srgbClr val="E9F1F2"/>
                </a:solidFill>
                <a:latin typeface="Calibri" pitchFamily="34" charset="0"/>
                <a:ea typeface="Calibri" pitchFamily="34" charset="-122"/>
                <a:cs typeface="Calibri" pitchFamily="34" charset="-120"/>
              </a:rPr>
              <a:t>Federated</a:t>
            </a:r>
            <a:endParaRPr lang="en-US" sz="1400" dirty="0"/>
          </a:p>
        </p:txBody>
      </p:sp>
      <p:sp>
        <p:nvSpPr>
          <p:cNvPr id="9" name="Shape 7"/>
          <p:cNvSpPr/>
          <p:nvPr/>
        </p:nvSpPr>
        <p:spPr>
          <a:xfrm>
            <a:off x="4572000" y="4434840"/>
            <a:ext cx="256032" cy="256032"/>
          </a:xfrm>
          <a:prstGeom prst="ellipse">
            <a:avLst/>
          </a:prstGeom>
          <a:solidFill>
            <a:srgbClr val="E0932B"/>
          </a:solidFill>
          <a:ln/>
        </p:spPr>
      </p:sp>
      <p:sp>
        <p:nvSpPr>
          <p:cNvPr id="10" name="Text 8"/>
          <p:cNvSpPr txBox="1"/>
          <p:nvPr/>
        </p:nvSpPr>
        <p:spPr>
          <a:xfrm>
            <a:off x="4937760" y="4407408"/>
            <a:ext cx="1554480" cy="310896"/>
          </a:xfrm>
          <a:prstGeom prst="rect">
            <a:avLst/>
          </a:prstGeom>
          <a:noFill/>
          <a:ln/>
        </p:spPr>
        <p:txBody>
          <a:bodyPr wrap="square" lIns="0" tIns="0" rIns="0" bIns="0" rtlCol="0" anchor="ctr"/>
          <a:lstStyle/>
          <a:p>
            <a:pPr indent="0" marL="0">
              <a:buNone/>
            </a:pPr>
            <a:r>
              <a:rPr lang="en-US" sz="1400" dirty="0">
                <a:solidFill>
                  <a:srgbClr val="E9F1F2"/>
                </a:solidFill>
                <a:latin typeface="Calibri" pitchFamily="34" charset="0"/>
                <a:ea typeface="Calibri" pitchFamily="34" charset="-122"/>
                <a:cs typeface="Calibri" pitchFamily="34" charset="-120"/>
              </a:rPr>
              <a:t>On-device</a:t>
            </a:r>
            <a:endParaRPr lang="en-US" sz="1400" dirty="0"/>
          </a:p>
        </p:txBody>
      </p:sp>
      <p:sp>
        <p:nvSpPr>
          <p:cNvPr id="11" name="Text 9"/>
          <p:cNvSpPr txBox="1"/>
          <p:nvPr/>
        </p:nvSpPr>
        <p:spPr>
          <a:xfrm>
            <a:off x="548640" y="5852160"/>
            <a:ext cx="10058400" cy="320040"/>
          </a:xfrm>
          <a:prstGeom prst="rect">
            <a:avLst/>
          </a:prstGeom>
          <a:noFill/>
          <a:ln/>
        </p:spPr>
        <p:txBody>
          <a:bodyPr wrap="square" lIns="0" tIns="0" rIns="0" bIns="0" rtlCol="0" anchor="ctr"/>
          <a:lstStyle/>
          <a:p>
            <a:pPr indent="0" marL="0">
              <a:buNone/>
            </a:pPr>
            <a:r>
              <a:rPr lang="en-US" sz="1300" dirty="0">
                <a:solidFill>
                  <a:srgbClr val="A9C0C4"/>
                </a:solidFill>
                <a:latin typeface="Calibri" pitchFamily="34" charset="0"/>
                <a:ea typeface="Calibri" pitchFamily="34" charset="-122"/>
                <a:cs typeface="Calibri" pitchFamily="34" charset="-120"/>
              </a:rPr>
              <a:t>Ahmed Abdelhamed · MSc, Queen's University · Microsoft supervisor meeting · 30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THE QUESTION</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Three ways Edge could learn from shopping behaviour</a:t>
            </a:r>
            <a:endParaRPr lang="en-US" sz="3000" dirty="0"/>
          </a:p>
        </p:txBody>
      </p:sp>
      <p:sp>
        <p:nvSpPr>
          <p:cNvPr id="4" name="Text 2"/>
          <p:cNvSpPr txBox="1"/>
          <p:nvPr/>
        </p:nvSpPr>
        <p:spPr>
          <a:xfrm>
            <a:off x="548640" y="1371600"/>
            <a:ext cx="11094415" cy="548640"/>
          </a:xfrm>
          <a:prstGeom prst="rect">
            <a:avLst/>
          </a:prstGeom>
          <a:noFill/>
          <a:ln/>
        </p:spPr>
        <p:txBody>
          <a:bodyPr wrap="square" lIns="0" tIns="0" rIns="0" bIns="0" rtlCol="0" anchor="t"/>
          <a:lstStyle/>
          <a:p>
            <a:pPr indent="0" marL="0">
              <a:buNone/>
            </a:pPr>
            <a:r>
              <a:rPr lang="en-US" sz="1700" i="1" dirty="0">
                <a:solidFill>
                  <a:srgbClr val="13262F"/>
                </a:solidFill>
                <a:latin typeface="Calibri" pitchFamily="34" charset="0"/>
                <a:ea typeface="Calibri" pitchFamily="34" charset="-122"/>
                <a:cs typeface="Calibri" pitchFamily="34" charset="-120"/>
              </a:rPr>
              <a:t>“How much shopping recommendation quality can be retained when moving from cloud-based to on-device or federated models?”</a:t>
            </a:r>
            <a:endParaRPr lang="en-US" sz="1700" dirty="0"/>
          </a:p>
        </p:txBody>
      </p:sp>
      <p:sp>
        <p:nvSpPr>
          <p:cNvPr id="5" name="Shape 3"/>
          <p:cNvSpPr/>
          <p:nvPr/>
        </p:nvSpPr>
        <p:spPr>
          <a:xfrm>
            <a:off x="548640" y="2240280"/>
            <a:ext cx="3515258" cy="3108960"/>
          </a:xfrm>
          <a:prstGeom prst="roundRect">
            <a:avLst>
              <a:gd name="adj" fmla="val 2353"/>
            </a:avLst>
          </a:prstGeom>
          <a:solidFill>
            <a:srgbClr val="E6EAEC"/>
          </a:solidFill>
          <a:ln/>
        </p:spPr>
      </p:sp>
      <p:sp>
        <p:nvSpPr>
          <p:cNvPr id="6" name="Text 4"/>
          <p:cNvSpPr txBox="1"/>
          <p:nvPr/>
        </p:nvSpPr>
        <p:spPr>
          <a:xfrm>
            <a:off x="822960" y="2514600"/>
            <a:ext cx="2966618" cy="274320"/>
          </a:xfrm>
          <a:prstGeom prst="rect">
            <a:avLst/>
          </a:prstGeom>
          <a:noFill/>
          <a:ln/>
        </p:spPr>
        <p:txBody>
          <a:bodyPr wrap="square" lIns="0" tIns="0" rIns="0" bIns="0" rtlCol="0" anchor="t"/>
          <a:lstStyle/>
          <a:p>
            <a:pPr indent="0" marL="0">
              <a:buNone/>
            </a:pPr>
            <a:r>
              <a:rPr lang="en-US" sz="1200" b="1" spc="200" kern="0" dirty="0">
                <a:solidFill>
                  <a:srgbClr val="5C6B73"/>
                </a:solidFill>
                <a:latin typeface="Calibri" pitchFamily="34" charset="0"/>
                <a:ea typeface="Calibri" pitchFamily="34" charset="-122"/>
                <a:cs typeface="Calibri" pitchFamily="34" charset="-120"/>
              </a:rPr>
              <a:t>CLOUD</a:t>
            </a:r>
            <a:endParaRPr lang="en-US" sz="1200" dirty="0"/>
          </a:p>
        </p:txBody>
      </p:sp>
      <p:sp>
        <p:nvSpPr>
          <p:cNvPr id="7" name="Text 5"/>
          <p:cNvSpPr txBox="1"/>
          <p:nvPr/>
        </p:nvSpPr>
        <p:spPr>
          <a:xfrm>
            <a:off x="822960" y="2880360"/>
            <a:ext cx="2966618" cy="457200"/>
          </a:xfrm>
          <a:prstGeom prst="rect">
            <a:avLst/>
          </a:prstGeom>
          <a:noFill/>
          <a:ln/>
        </p:spPr>
        <p:txBody>
          <a:bodyPr wrap="square" lIns="0" tIns="0" rIns="0" bIns="0" rtlCol="0" anchor="t"/>
          <a:lstStyle/>
          <a:p>
            <a:pPr indent="0" marL="0">
              <a:buNone/>
            </a:pPr>
            <a:r>
              <a:rPr lang="en-US" sz="2000" b="1" dirty="0">
                <a:solidFill>
                  <a:srgbClr val="13262F"/>
                </a:solidFill>
                <a:latin typeface="Cambria" pitchFamily="34" charset="0"/>
                <a:ea typeface="Cambria" pitchFamily="34" charset="-122"/>
                <a:cs typeface="Cambria" pitchFamily="34" charset="-120"/>
              </a:rPr>
              <a:t>Events go to the server</a:t>
            </a:r>
            <a:endParaRPr lang="en-US" sz="2000" dirty="0"/>
          </a:p>
        </p:txBody>
      </p:sp>
      <p:sp>
        <p:nvSpPr>
          <p:cNvPr id="8" name="Text 6"/>
          <p:cNvSpPr txBox="1"/>
          <p:nvPr/>
        </p:nvSpPr>
        <p:spPr>
          <a:xfrm>
            <a:off x="822960" y="3566160"/>
            <a:ext cx="2966618" cy="914400"/>
          </a:xfrm>
          <a:prstGeom prst="rect">
            <a:avLst/>
          </a:prstGeom>
          <a:noFill/>
          <a:ln/>
        </p:spPr>
        <p:txBody>
          <a:bodyPr wrap="square" lIns="0" tIns="0" rIns="0" bIns="0" rtlCol="0" anchor="t"/>
          <a:lstStyle/>
          <a:p>
            <a:pPr indent="0" marL="0">
              <a:buNone/>
            </a:pPr>
            <a:r>
              <a:rPr lang="en-US" sz="1500" dirty="0">
                <a:solidFill>
                  <a:srgbClr val="33434A"/>
                </a:solidFill>
                <a:latin typeface="Calibri" pitchFamily="34" charset="0"/>
                <a:ea typeface="Calibri" pitchFamily="34" charset="-122"/>
                <a:cs typeface="Calibri" pitchFamily="34" charset="-120"/>
              </a:rPr>
              <a:t>One large model, trained and served centrally.</a:t>
            </a:r>
            <a:endParaRPr lang="en-US" sz="1500" dirty="0"/>
          </a:p>
        </p:txBody>
      </p:sp>
      <p:sp>
        <p:nvSpPr>
          <p:cNvPr id="9" name="Text 7"/>
          <p:cNvSpPr txBox="1"/>
          <p:nvPr/>
        </p:nvSpPr>
        <p:spPr>
          <a:xfrm>
            <a:off x="822960" y="4617720"/>
            <a:ext cx="2966618" cy="457200"/>
          </a:xfrm>
          <a:prstGeom prst="rect">
            <a:avLst/>
          </a:prstGeom>
          <a:noFill/>
          <a:ln/>
        </p:spPr>
        <p:txBody>
          <a:bodyPr wrap="square" lIns="0" tIns="0" rIns="0" bIns="0" rtlCol="0" anchor="t"/>
          <a:lstStyle/>
          <a:p>
            <a:pPr indent="0" marL="0">
              <a:buNone/>
            </a:pPr>
            <a:r>
              <a:rPr lang="en-US" sz="1400" i="1" dirty="0">
                <a:solidFill>
                  <a:srgbClr val="5E6E75"/>
                </a:solidFill>
                <a:latin typeface="Calibri" pitchFamily="34" charset="0"/>
                <a:ea typeface="Calibri" pitchFamily="34" charset="-122"/>
                <a:cs typeface="Calibri" pitchFamily="34" charset="-120"/>
              </a:rPr>
              <a:t>Best quality — no privacy.</a:t>
            </a:r>
            <a:endParaRPr lang="en-US" sz="1400" dirty="0"/>
          </a:p>
        </p:txBody>
      </p:sp>
      <p:sp>
        <p:nvSpPr>
          <p:cNvPr id="10" name="Shape 8"/>
          <p:cNvSpPr/>
          <p:nvPr/>
        </p:nvSpPr>
        <p:spPr>
          <a:xfrm>
            <a:off x="4338218" y="2240280"/>
            <a:ext cx="3515258" cy="3108960"/>
          </a:xfrm>
          <a:prstGeom prst="roundRect">
            <a:avLst>
              <a:gd name="adj" fmla="val 2353"/>
            </a:avLst>
          </a:prstGeom>
          <a:solidFill>
            <a:srgbClr val="D8ECEC"/>
          </a:solidFill>
          <a:ln/>
        </p:spPr>
      </p:sp>
      <p:sp>
        <p:nvSpPr>
          <p:cNvPr id="11" name="Text 9"/>
          <p:cNvSpPr txBox="1"/>
          <p:nvPr/>
        </p:nvSpPr>
        <p:spPr>
          <a:xfrm>
            <a:off x="4612538" y="2514600"/>
            <a:ext cx="2966618" cy="274320"/>
          </a:xfrm>
          <a:prstGeom prst="rect">
            <a:avLst/>
          </a:prstGeom>
          <a:noFill/>
          <a:ln/>
        </p:spPr>
        <p:txBody>
          <a:bodyPr wrap="square" lIns="0" tIns="0" rIns="0" bIns="0" rtlCol="0" anchor="t"/>
          <a:lstStyle/>
          <a:p>
            <a:pPr indent="0" marL="0">
              <a:buNone/>
            </a:pPr>
            <a:r>
              <a:rPr lang="en-US" sz="1200" b="1" spc="200" kern="0" dirty="0">
                <a:solidFill>
                  <a:srgbClr val="1F7A80"/>
                </a:solidFill>
                <a:latin typeface="Calibri" pitchFamily="34" charset="0"/>
                <a:ea typeface="Calibri" pitchFamily="34" charset="-122"/>
                <a:cs typeface="Calibri" pitchFamily="34" charset="-120"/>
              </a:rPr>
              <a:t>FEDERATED</a:t>
            </a:r>
            <a:endParaRPr lang="en-US" sz="1200" dirty="0"/>
          </a:p>
        </p:txBody>
      </p:sp>
      <p:sp>
        <p:nvSpPr>
          <p:cNvPr id="12" name="Text 10"/>
          <p:cNvSpPr txBox="1"/>
          <p:nvPr/>
        </p:nvSpPr>
        <p:spPr>
          <a:xfrm>
            <a:off x="4612538" y="2880360"/>
            <a:ext cx="2966618" cy="457200"/>
          </a:xfrm>
          <a:prstGeom prst="rect">
            <a:avLst/>
          </a:prstGeom>
          <a:noFill/>
          <a:ln/>
        </p:spPr>
        <p:txBody>
          <a:bodyPr wrap="square" lIns="0" tIns="0" rIns="0" bIns="0" rtlCol="0" anchor="t"/>
          <a:lstStyle/>
          <a:p>
            <a:pPr indent="0" marL="0">
              <a:buNone/>
            </a:pPr>
            <a:r>
              <a:rPr lang="en-US" sz="2000" b="1" dirty="0">
                <a:solidFill>
                  <a:srgbClr val="13262F"/>
                </a:solidFill>
                <a:latin typeface="Cambria" pitchFamily="34" charset="0"/>
                <a:ea typeface="Cambria" pitchFamily="34" charset="-122"/>
                <a:cs typeface="Cambria" pitchFamily="34" charset="-120"/>
              </a:rPr>
              <a:t>Events stay on the device</a:t>
            </a:r>
            <a:endParaRPr lang="en-US" sz="2000" dirty="0"/>
          </a:p>
        </p:txBody>
      </p:sp>
      <p:sp>
        <p:nvSpPr>
          <p:cNvPr id="13" name="Text 11"/>
          <p:cNvSpPr txBox="1"/>
          <p:nvPr/>
        </p:nvSpPr>
        <p:spPr>
          <a:xfrm>
            <a:off x="4612538" y="3566160"/>
            <a:ext cx="2966618" cy="914400"/>
          </a:xfrm>
          <a:prstGeom prst="rect">
            <a:avLst/>
          </a:prstGeom>
          <a:noFill/>
          <a:ln/>
        </p:spPr>
        <p:txBody>
          <a:bodyPr wrap="square" lIns="0" tIns="0" rIns="0" bIns="0" rtlCol="0" anchor="t"/>
          <a:lstStyle/>
          <a:p>
            <a:pPr indent="0" marL="0">
              <a:buNone/>
            </a:pPr>
            <a:r>
              <a:rPr lang="en-US" sz="1500" dirty="0">
                <a:solidFill>
                  <a:srgbClr val="33434A"/>
                </a:solidFill>
                <a:latin typeface="Calibri" pitchFamily="34" charset="0"/>
                <a:ea typeface="Calibri" pitchFamily="34" charset="-122"/>
                <a:cs typeface="Calibri" pitchFamily="34" charset="-120"/>
              </a:rPr>
              <a:t>The device trains locally and sends only model updates.</a:t>
            </a:r>
            <a:endParaRPr lang="en-US" sz="1500" dirty="0"/>
          </a:p>
        </p:txBody>
      </p:sp>
      <p:sp>
        <p:nvSpPr>
          <p:cNvPr id="14" name="Text 12"/>
          <p:cNvSpPr txBox="1"/>
          <p:nvPr/>
        </p:nvSpPr>
        <p:spPr>
          <a:xfrm>
            <a:off x="4612538" y="4617720"/>
            <a:ext cx="2966618" cy="457200"/>
          </a:xfrm>
          <a:prstGeom prst="rect">
            <a:avLst/>
          </a:prstGeom>
          <a:noFill/>
          <a:ln/>
        </p:spPr>
        <p:txBody>
          <a:bodyPr wrap="square" lIns="0" tIns="0" rIns="0" bIns="0" rtlCol="0" anchor="t"/>
          <a:lstStyle/>
          <a:p>
            <a:pPr indent="0" marL="0">
              <a:buNone/>
            </a:pPr>
            <a:r>
              <a:rPr lang="en-US" sz="1400" i="1" dirty="0">
                <a:solidFill>
                  <a:srgbClr val="5E6E75"/>
                </a:solidFill>
                <a:latin typeface="Calibri" pitchFamily="34" charset="0"/>
                <a:ea typeface="Calibri" pitchFamily="34" charset="-122"/>
                <a:cs typeface="Calibri" pitchFamily="34" charset="-120"/>
              </a:rPr>
              <a:t>Optional differential privacy.</a:t>
            </a:r>
            <a:endParaRPr lang="en-US" sz="1400" dirty="0"/>
          </a:p>
        </p:txBody>
      </p:sp>
      <p:sp>
        <p:nvSpPr>
          <p:cNvPr id="15" name="Shape 13"/>
          <p:cNvSpPr/>
          <p:nvPr/>
        </p:nvSpPr>
        <p:spPr>
          <a:xfrm>
            <a:off x="8127797" y="2240280"/>
            <a:ext cx="3515258" cy="3108960"/>
          </a:xfrm>
          <a:prstGeom prst="roundRect">
            <a:avLst>
              <a:gd name="adj" fmla="val 2353"/>
            </a:avLst>
          </a:prstGeom>
          <a:solidFill>
            <a:srgbClr val="FBEBD3"/>
          </a:solidFill>
          <a:ln/>
        </p:spPr>
      </p:sp>
      <p:sp>
        <p:nvSpPr>
          <p:cNvPr id="16" name="Text 14"/>
          <p:cNvSpPr txBox="1"/>
          <p:nvPr/>
        </p:nvSpPr>
        <p:spPr>
          <a:xfrm>
            <a:off x="8402117" y="2514600"/>
            <a:ext cx="2966618" cy="274320"/>
          </a:xfrm>
          <a:prstGeom prst="rect">
            <a:avLst/>
          </a:prstGeom>
          <a:noFill/>
          <a:ln/>
        </p:spPr>
        <p:txBody>
          <a:bodyPr wrap="square" lIns="0" tIns="0" rIns="0" bIns="0" rtlCol="0" anchor="t"/>
          <a:lstStyle/>
          <a:p>
            <a:pPr indent="0" marL="0">
              <a:buNone/>
            </a:pPr>
            <a:r>
              <a:rPr lang="en-US" sz="1200" b="1" spc="200" kern="0" dirty="0">
                <a:solidFill>
                  <a:srgbClr val="9A5A0C"/>
                </a:solidFill>
                <a:latin typeface="Calibri" pitchFamily="34" charset="0"/>
                <a:ea typeface="Calibri" pitchFamily="34" charset="-122"/>
                <a:cs typeface="Calibri" pitchFamily="34" charset="-120"/>
              </a:rPr>
              <a:t>ON-DEVICE</a:t>
            </a:r>
            <a:endParaRPr lang="en-US" sz="1200" dirty="0"/>
          </a:p>
        </p:txBody>
      </p:sp>
      <p:sp>
        <p:nvSpPr>
          <p:cNvPr id="17" name="Text 15"/>
          <p:cNvSpPr txBox="1"/>
          <p:nvPr/>
        </p:nvSpPr>
        <p:spPr>
          <a:xfrm>
            <a:off x="8402117" y="2880360"/>
            <a:ext cx="2966618" cy="457200"/>
          </a:xfrm>
          <a:prstGeom prst="rect">
            <a:avLst/>
          </a:prstGeom>
          <a:noFill/>
          <a:ln/>
        </p:spPr>
        <p:txBody>
          <a:bodyPr wrap="square" lIns="0" tIns="0" rIns="0" bIns="0" rtlCol="0" anchor="t"/>
          <a:lstStyle/>
          <a:p>
            <a:pPr indent="0" marL="0">
              <a:buNone/>
            </a:pPr>
            <a:r>
              <a:rPr lang="en-US" sz="2000" b="1" dirty="0">
                <a:solidFill>
                  <a:srgbClr val="13262F"/>
                </a:solidFill>
                <a:latin typeface="Cambria" pitchFamily="34" charset="0"/>
                <a:ea typeface="Cambria" pitchFamily="34" charset="-122"/>
                <a:cs typeface="Cambria" pitchFamily="34" charset="-120"/>
              </a:rPr>
              <a:t>Nothing is uploaded</a:t>
            </a:r>
            <a:endParaRPr lang="en-US" sz="2000" dirty="0"/>
          </a:p>
        </p:txBody>
      </p:sp>
      <p:sp>
        <p:nvSpPr>
          <p:cNvPr id="18" name="Text 16"/>
          <p:cNvSpPr txBox="1"/>
          <p:nvPr/>
        </p:nvSpPr>
        <p:spPr>
          <a:xfrm>
            <a:off x="8402117" y="3566160"/>
            <a:ext cx="2966618" cy="914400"/>
          </a:xfrm>
          <a:prstGeom prst="rect">
            <a:avLst/>
          </a:prstGeom>
          <a:noFill/>
          <a:ln/>
        </p:spPr>
        <p:txBody>
          <a:bodyPr wrap="square" lIns="0" tIns="0" rIns="0" bIns="0" rtlCol="0" anchor="t"/>
          <a:lstStyle/>
          <a:p>
            <a:pPr indent="0" marL="0">
              <a:buNone/>
            </a:pPr>
            <a:r>
              <a:rPr lang="en-US" sz="1500" dirty="0">
                <a:solidFill>
                  <a:srgbClr val="33434A"/>
                </a:solidFill>
                <a:latin typeface="Calibri" pitchFamily="34" charset="0"/>
                <a:ea typeface="Calibri" pitchFamily="34" charset="-122"/>
                <a:cs typeface="Calibri" pitchFamily="34" charset="-120"/>
              </a:rPr>
              <a:t>A small model is downloaded once and adapted locally.</a:t>
            </a:r>
            <a:endParaRPr lang="en-US" sz="1500" dirty="0"/>
          </a:p>
        </p:txBody>
      </p:sp>
      <p:sp>
        <p:nvSpPr>
          <p:cNvPr id="19" name="Text 17"/>
          <p:cNvSpPr txBox="1"/>
          <p:nvPr/>
        </p:nvSpPr>
        <p:spPr>
          <a:xfrm>
            <a:off x="8402117" y="4617720"/>
            <a:ext cx="2966618" cy="457200"/>
          </a:xfrm>
          <a:prstGeom prst="rect">
            <a:avLst/>
          </a:prstGeom>
          <a:noFill/>
          <a:ln/>
        </p:spPr>
        <p:txBody>
          <a:bodyPr wrap="square" lIns="0" tIns="0" rIns="0" bIns="0" rtlCol="0" anchor="t"/>
          <a:lstStyle/>
          <a:p>
            <a:pPr indent="0" marL="0">
              <a:buNone/>
            </a:pPr>
            <a:r>
              <a:rPr lang="en-US" sz="1400" i="1" dirty="0">
                <a:solidFill>
                  <a:srgbClr val="5E6E75"/>
                </a:solidFill>
                <a:latin typeface="Calibri" pitchFamily="34" charset="0"/>
                <a:ea typeface="Calibri" pitchFamily="34" charset="-122"/>
                <a:cs typeface="Calibri" pitchFamily="34" charset="-120"/>
              </a:rPr>
              <a:t>Strongest privacy — least data.</a:t>
            </a:r>
            <a:endParaRPr lang="en-US" sz="1400" dirty="0"/>
          </a:p>
        </p:txBody>
      </p:sp>
      <p:sp>
        <p:nvSpPr>
          <p:cNvPr id="20" name="Text 18"/>
          <p:cNvSpPr txBox="1"/>
          <p:nvPr/>
        </p:nvSpPr>
        <p:spPr>
          <a:xfrm>
            <a:off x="548640" y="5669280"/>
            <a:ext cx="11094415" cy="365760"/>
          </a:xfrm>
          <a:prstGeom prst="rect">
            <a:avLst/>
          </a:prstGeom>
          <a:noFill/>
          <a:ln/>
        </p:spPr>
        <p:txBody>
          <a:bodyPr wrap="square" lIns="0" tIns="0" rIns="0" bIns="0" rtlCol="0" anchor="t"/>
          <a:lstStyle/>
          <a:p>
            <a:pPr indent="0" marL="0">
              <a:buNone/>
            </a:pPr>
            <a:r>
              <a:rPr lang="en-US" sz="1500" b="1" dirty="0">
                <a:solidFill>
                  <a:srgbClr val="13262F"/>
                </a:solidFill>
                <a:latin typeface="Calibri" pitchFamily="34" charset="0"/>
                <a:ea typeface="Calibri" pitchFamily="34" charset="-122"/>
                <a:cs typeface="Calibri" pitchFamily="34" charset="-120"/>
              </a:rPr>
              <a:t>Headline measure: </a:t>
            </a:r>
            <a:pPr indent="0" marL="0">
              <a:buNone/>
            </a:pPr>
            <a:r>
              <a:rPr lang="en-US" sz="1500" dirty="0">
                <a:solidFill>
                  <a:srgbClr val="33434A"/>
                </a:solidFill>
                <a:latin typeface="Calibri" pitchFamily="34" charset="0"/>
                <a:ea typeface="Calibri" pitchFamily="34" charset="-122"/>
                <a:cs typeface="Calibri" pitchFamily="34" charset="-120"/>
              </a:rPr>
              <a:t>retention = quality of a deployment ÷ quality of the cloud model.</a:t>
            </a:r>
            <a:endParaRPr lang="en-US" sz="1500" dirty="0"/>
          </a:p>
        </p:txBody>
      </p:sp>
      <p:sp>
        <p:nvSpPr>
          <p:cNvPr id="21" name="Text 19"/>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a:t>
            </a:r>
            <a:endParaRPr lang="en-US" sz="1000" dirty="0"/>
          </a:p>
        </p:txBody>
      </p:sp>
      <p:sp>
        <p:nvSpPr>
          <p:cNvPr id="22" name="Text 20"/>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Research proposal §1; study description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THE JOURNEY</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Four phases, each answering one question</a:t>
            </a:r>
            <a:endParaRPr lang="en-US" sz="3000" dirty="0"/>
          </a:p>
        </p:txBody>
      </p:sp>
      <p:sp>
        <p:nvSpPr>
          <p:cNvPr id="4" name="Shape 2"/>
          <p:cNvSpPr/>
          <p:nvPr/>
        </p:nvSpPr>
        <p:spPr>
          <a:xfrm>
            <a:off x="914400" y="1783080"/>
            <a:ext cx="10362895" cy="0"/>
          </a:xfrm>
          <a:prstGeom prst="line">
            <a:avLst/>
          </a:prstGeom>
          <a:noFill/>
          <a:ln w="38100">
            <a:solidFill>
              <a:srgbClr val="D5DDDF"/>
            </a:solidFill>
            <a:prstDash val="solid"/>
          </a:ln>
        </p:spPr>
      </p:sp>
      <p:sp>
        <p:nvSpPr>
          <p:cNvPr id="5" name="Shape 3"/>
          <p:cNvSpPr/>
          <p:nvPr/>
        </p:nvSpPr>
        <p:spPr>
          <a:xfrm>
            <a:off x="685800" y="1554480"/>
            <a:ext cx="457200" cy="457200"/>
          </a:xfrm>
          <a:prstGeom prst="ellipse">
            <a:avLst/>
          </a:prstGeom>
          <a:solidFill>
            <a:srgbClr val="5C6B73"/>
          </a:solidFill>
          <a:ln w="25400">
            <a:solidFill>
              <a:srgbClr val="FFFFFF"/>
            </a:solidFill>
            <a:prstDash val="solid"/>
          </a:ln>
        </p:spPr>
      </p:sp>
      <p:sp>
        <p:nvSpPr>
          <p:cNvPr id="6" name="Text 4"/>
          <p:cNvSpPr txBox="1"/>
          <p:nvPr/>
        </p:nvSpPr>
        <p:spPr>
          <a:xfrm>
            <a:off x="68580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Shape 5"/>
          <p:cNvSpPr/>
          <p:nvPr/>
        </p:nvSpPr>
        <p:spPr>
          <a:xfrm>
            <a:off x="548640" y="2240280"/>
            <a:ext cx="2567864" cy="3017520"/>
          </a:xfrm>
          <a:prstGeom prst="roundRect">
            <a:avLst>
              <a:gd name="adj" fmla="val 2849"/>
            </a:avLst>
          </a:prstGeom>
          <a:solidFill>
            <a:srgbClr val="F1F4F4"/>
          </a:solidFill>
          <a:ln/>
        </p:spPr>
      </p:sp>
      <p:sp>
        <p:nvSpPr>
          <p:cNvPr id="8" name="Text 6"/>
          <p:cNvSpPr txBox="1"/>
          <p:nvPr/>
        </p:nvSpPr>
        <p:spPr>
          <a:xfrm>
            <a:off x="777240" y="2423160"/>
            <a:ext cx="2110664" cy="457200"/>
          </a:xfrm>
          <a:prstGeom prst="rect">
            <a:avLst/>
          </a:prstGeom>
          <a:noFill/>
          <a:ln/>
        </p:spPr>
        <p:txBody>
          <a:bodyPr wrap="square" lIns="0" tIns="0" rIns="0" bIns="0" rtlCol="0" anchor="t"/>
          <a:lstStyle/>
          <a:p>
            <a:pPr indent="0" marL="0">
              <a:buNone/>
            </a:pPr>
            <a:r>
              <a:rPr lang="en-US" sz="1900" b="1" dirty="0">
                <a:solidFill>
                  <a:srgbClr val="13262F"/>
                </a:solidFill>
                <a:latin typeface="Cambria" pitchFamily="34" charset="0"/>
                <a:ea typeface="Cambria" pitchFamily="34" charset="-122"/>
                <a:cs typeface="Cambria" pitchFamily="34" charset="-120"/>
              </a:rPr>
              <a:t>Next category</a:t>
            </a:r>
            <a:endParaRPr lang="en-US" sz="1900" dirty="0"/>
          </a:p>
        </p:txBody>
      </p:sp>
      <p:sp>
        <p:nvSpPr>
          <p:cNvPr id="9" name="Text 7"/>
          <p:cNvSpPr txBox="1"/>
          <p:nvPr/>
        </p:nvSpPr>
        <p:spPr>
          <a:xfrm>
            <a:off x="777240" y="2971800"/>
            <a:ext cx="2110664" cy="731520"/>
          </a:xfrm>
          <a:prstGeom prst="rect">
            <a:avLst/>
          </a:prstGeom>
          <a:noFill/>
          <a:ln/>
        </p:spPr>
        <p:txBody>
          <a:bodyPr wrap="square" lIns="0" tIns="0" rIns="0" bIns="0" rtlCol="0" anchor="t"/>
          <a:lstStyle/>
          <a:p>
            <a:pPr indent="0" marL="0">
              <a:buNone/>
            </a:pPr>
            <a:r>
              <a:rPr lang="en-US" sz="1400" i="1" dirty="0">
                <a:solidFill>
                  <a:srgbClr val="5E6E75"/>
                </a:solidFill>
                <a:latin typeface="Calibri" pitchFamily="34" charset="0"/>
                <a:ea typeface="Calibri" pitchFamily="34" charset="-122"/>
                <a:cs typeface="Calibri" pitchFamily="34" charset="-120"/>
              </a:rPr>
              <a:t>Can we predict the next category?</a:t>
            </a:r>
            <a:endParaRPr lang="en-US" sz="1400" dirty="0"/>
          </a:p>
        </p:txBody>
      </p:sp>
      <p:sp>
        <p:nvSpPr>
          <p:cNvPr id="10" name="Text 8"/>
          <p:cNvSpPr txBox="1"/>
          <p:nvPr/>
        </p:nvSpPr>
        <p:spPr>
          <a:xfrm>
            <a:off x="777240" y="3886200"/>
            <a:ext cx="2110664" cy="1188720"/>
          </a:xfrm>
          <a:prstGeom prst="rect">
            <a:avLst/>
          </a:prstGeom>
          <a:noFill/>
          <a:ln/>
        </p:spPr>
        <p:txBody>
          <a:bodyPr wrap="square" lIns="0" tIns="0" rIns="0" bIns="0" rtlCol="0" anchor="t"/>
          <a:lstStyle/>
          <a:p>
            <a:pPr indent="0" marL="0">
              <a:buNone/>
            </a:pPr>
            <a:r>
              <a:rPr lang="en-US" sz="1500" dirty="0">
                <a:solidFill>
                  <a:srgbClr val="13262F"/>
                </a:solidFill>
                <a:latin typeface="Calibri" pitchFamily="34" charset="0"/>
                <a:ea typeface="Calibri" pitchFamily="34" charset="-122"/>
                <a:cs typeface="Calibri" pitchFamily="34" charset="-120"/>
              </a:rPr>
              <a:t>Worked — but nothing published to compare with</a:t>
            </a:r>
            <a:endParaRPr lang="en-US" sz="1500" dirty="0"/>
          </a:p>
        </p:txBody>
      </p:sp>
      <p:sp>
        <p:nvSpPr>
          <p:cNvPr id="11" name="Shape 9"/>
          <p:cNvSpPr/>
          <p:nvPr/>
        </p:nvSpPr>
        <p:spPr>
          <a:xfrm>
            <a:off x="3527984" y="1554480"/>
            <a:ext cx="457200" cy="457200"/>
          </a:xfrm>
          <a:prstGeom prst="ellipse">
            <a:avLst/>
          </a:prstGeom>
          <a:solidFill>
            <a:srgbClr val="5C6B73"/>
          </a:solidFill>
          <a:ln w="25400">
            <a:solidFill>
              <a:srgbClr val="FFFFFF"/>
            </a:solidFill>
            <a:prstDash val="solid"/>
          </a:ln>
        </p:spPr>
      </p:sp>
      <p:sp>
        <p:nvSpPr>
          <p:cNvPr id="12" name="Text 10"/>
          <p:cNvSpPr txBox="1"/>
          <p:nvPr/>
        </p:nvSpPr>
        <p:spPr>
          <a:xfrm>
            <a:off x="3527984"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Shape 11"/>
          <p:cNvSpPr/>
          <p:nvPr/>
        </p:nvSpPr>
        <p:spPr>
          <a:xfrm>
            <a:off x="3390824" y="2240280"/>
            <a:ext cx="2567864" cy="3017520"/>
          </a:xfrm>
          <a:prstGeom prst="roundRect">
            <a:avLst>
              <a:gd name="adj" fmla="val 2849"/>
            </a:avLst>
          </a:prstGeom>
          <a:solidFill>
            <a:srgbClr val="F1F4F4"/>
          </a:solidFill>
          <a:ln/>
        </p:spPr>
      </p:sp>
      <p:sp>
        <p:nvSpPr>
          <p:cNvPr id="14" name="Text 12"/>
          <p:cNvSpPr txBox="1"/>
          <p:nvPr/>
        </p:nvSpPr>
        <p:spPr>
          <a:xfrm>
            <a:off x="3619424" y="2423160"/>
            <a:ext cx="2110664" cy="457200"/>
          </a:xfrm>
          <a:prstGeom prst="rect">
            <a:avLst/>
          </a:prstGeom>
          <a:noFill/>
          <a:ln/>
        </p:spPr>
        <p:txBody>
          <a:bodyPr wrap="square" lIns="0" tIns="0" rIns="0" bIns="0" rtlCol="0" anchor="t"/>
          <a:lstStyle/>
          <a:p>
            <a:pPr indent="0" marL="0">
              <a:buNone/>
            </a:pPr>
            <a:r>
              <a:rPr lang="en-US" sz="1900" b="1" dirty="0">
                <a:solidFill>
                  <a:srgbClr val="13262F"/>
                </a:solidFill>
                <a:latin typeface="Cambria" pitchFamily="34" charset="0"/>
                <a:ea typeface="Cambria" pitchFamily="34" charset="-122"/>
                <a:cs typeface="Cambria" pitchFamily="34" charset="-120"/>
              </a:rPr>
              <a:t>Next product, cloud</a:t>
            </a:r>
            <a:endParaRPr lang="en-US" sz="1900" dirty="0"/>
          </a:p>
        </p:txBody>
      </p:sp>
      <p:sp>
        <p:nvSpPr>
          <p:cNvPr id="15" name="Text 13"/>
          <p:cNvSpPr txBox="1"/>
          <p:nvPr/>
        </p:nvSpPr>
        <p:spPr>
          <a:xfrm>
            <a:off x="3619424" y="2971800"/>
            <a:ext cx="2110664" cy="731520"/>
          </a:xfrm>
          <a:prstGeom prst="rect">
            <a:avLst/>
          </a:prstGeom>
          <a:noFill/>
          <a:ln/>
        </p:spPr>
        <p:txBody>
          <a:bodyPr wrap="square" lIns="0" tIns="0" rIns="0" bIns="0" rtlCol="0" anchor="t"/>
          <a:lstStyle/>
          <a:p>
            <a:pPr indent="0" marL="0">
              <a:buNone/>
            </a:pPr>
            <a:r>
              <a:rPr lang="en-US" sz="1400" i="1" dirty="0">
                <a:solidFill>
                  <a:srgbClr val="5E6E75"/>
                </a:solidFill>
                <a:latin typeface="Calibri" pitchFamily="34" charset="0"/>
                <a:ea typeface="Calibri" pitchFamily="34" charset="-122"/>
                <a:cs typeface="Calibri" pitchFamily="34" charset="-120"/>
              </a:rPr>
              <a:t>How good can a cloud model get?</a:t>
            </a:r>
            <a:endParaRPr lang="en-US" sz="1400" dirty="0"/>
          </a:p>
        </p:txBody>
      </p:sp>
      <p:sp>
        <p:nvSpPr>
          <p:cNvPr id="16" name="Text 14"/>
          <p:cNvSpPr txBox="1"/>
          <p:nvPr/>
        </p:nvSpPr>
        <p:spPr>
          <a:xfrm>
            <a:off x="3619424" y="3886200"/>
            <a:ext cx="2110664" cy="1188720"/>
          </a:xfrm>
          <a:prstGeom prst="rect">
            <a:avLst/>
          </a:prstGeom>
          <a:noFill/>
          <a:ln/>
        </p:spPr>
        <p:txBody>
          <a:bodyPr wrap="square" lIns="0" tIns="0" rIns="0" bIns="0" rtlCol="0" anchor="t"/>
          <a:lstStyle/>
          <a:p>
            <a:pPr indent="0" marL="0">
              <a:buNone/>
            </a:pPr>
            <a:r>
              <a:rPr lang="en-US" sz="1500" dirty="0">
                <a:solidFill>
                  <a:srgbClr val="13262F"/>
                </a:solidFill>
                <a:latin typeface="Calibri" pitchFamily="34" charset="0"/>
                <a:ea typeface="Calibri" pitchFamily="34" charset="-122"/>
                <a:cs typeface="Calibri" pitchFamily="34" charset="-120"/>
              </a:rPr>
              <a:t>Strong models; compared with a published benchmark</a:t>
            </a:r>
            <a:endParaRPr lang="en-US" sz="1500" dirty="0"/>
          </a:p>
        </p:txBody>
      </p:sp>
      <p:sp>
        <p:nvSpPr>
          <p:cNvPr id="17" name="Shape 15"/>
          <p:cNvSpPr/>
          <p:nvPr/>
        </p:nvSpPr>
        <p:spPr>
          <a:xfrm>
            <a:off x="6370168" y="1554480"/>
            <a:ext cx="457200" cy="457200"/>
          </a:xfrm>
          <a:prstGeom prst="ellipse">
            <a:avLst/>
          </a:prstGeom>
          <a:solidFill>
            <a:srgbClr val="5C6B73"/>
          </a:solidFill>
          <a:ln w="25400">
            <a:solidFill>
              <a:srgbClr val="FFFFFF"/>
            </a:solidFill>
            <a:prstDash val="solid"/>
          </a:ln>
        </p:spPr>
      </p:sp>
      <p:sp>
        <p:nvSpPr>
          <p:cNvPr id="18" name="Text 16"/>
          <p:cNvSpPr txBox="1"/>
          <p:nvPr/>
        </p:nvSpPr>
        <p:spPr>
          <a:xfrm>
            <a:off x="6370168"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Shape 17"/>
          <p:cNvSpPr/>
          <p:nvPr/>
        </p:nvSpPr>
        <p:spPr>
          <a:xfrm>
            <a:off x="6233008" y="2240280"/>
            <a:ext cx="2567864" cy="3017520"/>
          </a:xfrm>
          <a:prstGeom prst="roundRect">
            <a:avLst>
              <a:gd name="adj" fmla="val 2849"/>
            </a:avLst>
          </a:prstGeom>
          <a:solidFill>
            <a:srgbClr val="F1F4F4"/>
          </a:solidFill>
          <a:ln/>
        </p:spPr>
      </p:sp>
      <p:sp>
        <p:nvSpPr>
          <p:cNvPr id="20" name="Text 18"/>
          <p:cNvSpPr txBox="1"/>
          <p:nvPr/>
        </p:nvSpPr>
        <p:spPr>
          <a:xfrm>
            <a:off x="6461608" y="2423160"/>
            <a:ext cx="2110664" cy="457200"/>
          </a:xfrm>
          <a:prstGeom prst="rect">
            <a:avLst/>
          </a:prstGeom>
          <a:noFill/>
          <a:ln/>
        </p:spPr>
        <p:txBody>
          <a:bodyPr wrap="square" lIns="0" tIns="0" rIns="0" bIns="0" rtlCol="0" anchor="t"/>
          <a:lstStyle/>
          <a:p>
            <a:pPr indent="0" marL="0">
              <a:buNone/>
            </a:pPr>
            <a:r>
              <a:rPr lang="en-US" sz="1900" b="1" dirty="0">
                <a:solidFill>
                  <a:srgbClr val="13262F"/>
                </a:solidFill>
                <a:latin typeface="Cambria" pitchFamily="34" charset="0"/>
                <a:ea typeface="Cambria" pitchFamily="34" charset="-122"/>
                <a:cs typeface="Cambria" pitchFamily="34" charset="-120"/>
              </a:rPr>
              <a:t>Features</a:t>
            </a:r>
            <a:endParaRPr lang="en-US" sz="1900" dirty="0"/>
          </a:p>
        </p:txBody>
      </p:sp>
      <p:sp>
        <p:nvSpPr>
          <p:cNvPr id="21" name="Text 19"/>
          <p:cNvSpPr txBox="1"/>
          <p:nvPr/>
        </p:nvSpPr>
        <p:spPr>
          <a:xfrm>
            <a:off x="6461608" y="2971800"/>
            <a:ext cx="2110664" cy="731520"/>
          </a:xfrm>
          <a:prstGeom prst="rect">
            <a:avLst/>
          </a:prstGeom>
          <a:noFill/>
          <a:ln/>
        </p:spPr>
        <p:txBody>
          <a:bodyPr wrap="square" lIns="0" tIns="0" rIns="0" bIns="0" rtlCol="0" anchor="t"/>
          <a:lstStyle/>
          <a:p>
            <a:pPr indent="0" marL="0">
              <a:buNone/>
            </a:pPr>
            <a:r>
              <a:rPr lang="en-US" sz="1400" i="1" dirty="0">
                <a:solidFill>
                  <a:srgbClr val="5E6E75"/>
                </a:solidFill>
                <a:latin typeface="Calibri" pitchFamily="34" charset="0"/>
                <a:ea typeface="Calibri" pitchFamily="34" charset="-122"/>
                <a:cs typeface="Calibri" pitchFamily="34" charset="-120"/>
              </a:rPr>
              <a:t>Which columns help?</a:t>
            </a:r>
            <a:endParaRPr lang="en-US" sz="1400" dirty="0"/>
          </a:p>
        </p:txBody>
      </p:sp>
      <p:sp>
        <p:nvSpPr>
          <p:cNvPr id="22" name="Text 20"/>
          <p:cNvSpPr txBox="1"/>
          <p:nvPr/>
        </p:nvSpPr>
        <p:spPr>
          <a:xfrm>
            <a:off x="6461608" y="3886200"/>
            <a:ext cx="2110664" cy="1188720"/>
          </a:xfrm>
          <a:prstGeom prst="rect">
            <a:avLst/>
          </a:prstGeom>
          <a:noFill/>
          <a:ln/>
        </p:spPr>
        <p:txBody>
          <a:bodyPr wrap="square" lIns="0" tIns="0" rIns="0" bIns="0" rtlCol="0" anchor="t"/>
          <a:lstStyle/>
          <a:p>
            <a:pPr indent="0" marL="0">
              <a:buNone/>
            </a:pPr>
            <a:r>
              <a:rPr lang="en-US" sz="1500" dirty="0">
                <a:solidFill>
                  <a:srgbClr val="13262F"/>
                </a:solidFill>
                <a:latin typeface="Calibri" pitchFamily="34" charset="0"/>
                <a:ea typeface="Calibri" pitchFamily="34" charset="-122"/>
                <a:cs typeface="Calibri" pitchFamily="34" charset="-120"/>
              </a:rPr>
              <a:t>Kept a small set that a device can compute</a:t>
            </a:r>
            <a:endParaRPr lang="en-US" sz="1500" dirty="0"/>
          </a:p>
        </p:txBody>
      </p:sp>
      <p:sp>
        <p:nvSpPr>
          <p:cNvPr id="23" name="Shape 21"/>
          <p:cNvSpPr/>
          <p:nvPr/>
        </p:nvSpPr>
        <p:spPr>
          <a:xfrm>
            <a:off x="9212351" y="1554480"/>
            <a:ext cx="457200" cy="457200"/>
          </a:xfrm>
          <a:prstGeom prst="ellipse">
            <a:avLst/>
          </a:prstGeom>
          <a:solidFill>
            <a:srgbClr val="1F7A80"/>
          </a:solidFill>
          <a:ln w="25400">
            <a:solidFill>
              <a:srgbClr val="FFFFFF"/>
            </a:solidFill>
            <a:prstDash val="solid"/>
          </a:ln>
        </p:spPr>
      </p:sp>
      <p:sp>
        <p:nvSpPr>
          <p:cNvPr id="24" name="Text 22"/>
          <p:cNvSpPr txBox="1"/>
          <p:nvPr/>
        </p:nvSpPr>
        <p:spPr>
          <a:xfrm>
            <a:off x="9212351"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5" name="Shape 23"/>
          <p:cNvSpPr/>
          <p:nvPr/>
        </p:nvSpPr>
        <p:spPr>
          <a:xfrm>
            <a:off x="9075191" y="2240280"/>
            <a:ext cx="2567864" cy="3017520"/>
          </a:xfrm>
          <a:prstGeom prst="roundRect">
            <a:avLst>
              <a:gd name="adj" fmla="val 2849"/>
            </a:avLst>
          </a:prstGeom>
          <a:solidFill>
            <a:srgbClr val="D8ECEC"/>
          </a:solidFill>
          <a:ln/>
        </p:spPr>
      </p:sp>
      <p:sp>
        <p:nvSpPr>
          <p:cNvPr id="26" name="Text 24"/>
          <p:cNvSpPr txBox="1"/>
          <p:nvPr/>
        </p:nvSpPr>
        <p:spPr>
          <a:xfrm>
            <a:off x="9303791" y="2423160"/>
            <a:ext cx="2110664" cy="457200"/>
          </a:xfrm>
          <a:prstGeom prst="rect">
            <a:avLst/>
          </a:prstGeom>
          <a:noFill/>
          <a:ln/>
        </p:spPr>
        <p:txBody>
          <a:bodyPr wrap="square" lIns="0" tIns="0" rIns="0" bIns="0" rtlCol="0" anchor="t"/>
          <a:lstStyle/>
          <a:p>
            <a:pPr indent="0" marL="0">
              <a:buNone/>
            </a:pPr>
            <a:r>
              <a:rPr lang="en-US" sz="1900" b="1" dirty="0">
                <a:solidFill>
                  <a:srgbClr val="13262F"/>
                </a:solidFill>
                <a:latin typeface="Cambria" pitchFamily="34" charset="0"/>
                <a:ea typeface="Cambria" pitchFamily="34" charset="-122"/>
                <a:cs typeface="Cambria" pitchFamily="34" charset="-120"/>
              </a:rPr>
              <a:t>Deployment study</a:t>
            </a:r>
            <a:endParaRPr lang="en-US" sz="1900" dirty="0"/>
          </a:p>
        </p:txBody>
      </p:sp>
      <p:sp>
        <p:nvSpPr>
          <p:cNvPr id="27" name="Text 25"/>
          <p:cNvSpPr txBox="1"/>
          <p:nvPr/>
        </p:nvSpPr>
        <p:spPr>
          <a:xfrm>
            <a:off x="9303791" y="2971800"/>
            <a:ext cx="2110664" cy="731520"/>
          </a:xfrm>
          <a:prstGeom prst="rect">
            <a:avLst/>
          </a:prstGeom>
          <a:noFill/>
          <a:ln/>
        </p:spPr>
        <p:txBody>
          <a:bodyPr wrap="square" lIns="0" tIns="0" rIns="0" bIns="0" rtlCol="0" anchor="t"/>
          <a:lstStyle/>
          <a:p>
            <a:pPr indent="0" marL="0">
              <a:buNone/>
            </a:pPr>
            <a:r>
              <a:rPr lang="en-US" sz="1400" i="1" dirty="0">
                <a:solidFill>
                  <a:srgbClr val="5E6E75"/>
                </a:solidFill>
                <a:latin typeface="Calibri" pitchFamily="34" charset="0"/>
                <a:ea typeface="Calibri" pitchFamily="34" charset="-122"/>
                <a:cs typeface="Calibri" pitchFamily="34" charset="-120"/>
              </a:rPr>
              <a:t>How much survives off the cloud?</a:t>
            </a:r>
            <a:endParaRPr lang="en-US" sz="1400" dirty="0"/>
          </a:p>
        </p:txBody>
      </p:sp>
      <p:sp>
        <p:nvSpPr>
          <p:cNvPr id="28" name="Text 26"/>
          <p:cNvSpPr txBox="1"/>
          <p:nvPr/>
        </p:nvSpPr>
        <p:spPr>
          <a:xfrm>
            <a:off x="9303791" y="3886200"/>
            <a:ext cx="2110664" cy="1188720"/>
          </a:xfrm>
          <a:prstGeom prst="rect">
            <a:avLst/>
          </a:prstGeom>
          <a:noFill/>
          <a:ln/>
        </p:spPr>
        <p:txBody>
          <a:bodyPr wrap="square" lIns="0" tIns="0" rIns="0" bIns="0" rtlCol="0" anchor="t"/>
          <a:lstStyle/>
          <a:p>
            <a:pPr indent="0" marL="0">
              <a:buNone/>
            </a:pPr>
            <a:r>
              <a:rPr lang="en-US" sz="1500" dirty="0">
                <a:solidFill>
                  <a:srgbClr val="13262F"/>
                </a:solidFill>
                <a:latin typeface="Calibri" pitchFamily="34" charset="0"/>
                <a:ea typeface="Calibri" pitchFamily="34" charset="-122"/>
                <a:cs typeface="Calibri" pitchFamily="34" charset="-120"/>
              </a:rPr>
              <a:t>Running now; main results sealed</a:t>
            </a:r>
            <a:endParaRPr lang="en-US" sz="1500" dirty="0"/>
          </a:p>
        </p:txBody>
      </p:sp>
      <p:sp>
        <p:nvSpPr>
          <p:cNvPr id="29" name="Text 27"/>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3</a:t>
            </a:r>
            <a:endParaRPr lang="en-US" sz="1000" dirty="0"/>
          </a:p>
        </p:txBody>
      </p:sp>
      <p:sp>
        <p:nvSpPr>
          <p:cNvPr id="30" name="Text 28"/>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MVP report; central-model campaign reports; feature study; study description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PHASE 1 — NEXT CATEGORY</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It worked, but we could not tell if it was good</a:t>
            </a:r>
            <a:endParaRPr lang="en-US" sz="3000" dirty="0"/>
          </a:p>
        </p:txBody>
      </p:sp>
      <p:sp>
        <p:nvSpPr>
          <p:cNvPr id="4" name="Shape 2"/>
          <p:cNvSpPr/>
          <p:nvPr/>
        </p:nvSpPr>
        <p:spPr>
          <a:xfrm>
            <a:off x="7802575" y="329184"/>
            <a:ext cx="3840480" cy="292608"/>
          </a:xfrm>
          <a:prstGeom prst="roundRect">
            <a:avLst>
              <a:gd name="adj" fmla="val 50000"/>
            </a:avLst>
          </a:prstGeom>
          <a:solidFill>
            <a:srgbClr val="E6EAEC"/>
          </a:solidFill>
          <a:ln/>
        </p:spPr>
      </p:sp>
      <p:sp>
        <p:nvSpPr>
          <p:cNvPr id="5" name="Text 3"/>
          <p:cNvSpPr txBox="1"/>
          <p:nvPr/>
        </p:nvSpPr>
        <p:spPr>
          <a:xfrm>
            <a:off x="7802575" y="329184"/>
            <a:ext cx="3840480" cy="292608"/>
          </a:xfrm>
          <a:prstGeom prst="rect">
            <a:avLst/>
          </a:prstGeom>
          <a:noFill/>
          <a:ln/>
        </p:spPr>
        <p:txBody>
          <a:bodyPr wrap="square" lIns="0" tIns="0" rIns="0" bIns="0" rtlCol="0" anchor="ctr"/>
          <a:lstStyle/>
          <a:p>
            <a:pPr algn="ctr" indent="0" marL="0">
              <a:buNone/>
            </a:pPr>
            <a:r>
              <a:rPr lang="en-US" sz="1100" b="1" dirty="0">
                <a:solidFill>
                  <a:srgbClr val="5C6B73"/>
                </a:solidFill>
                <a:latin typeface="Calibri" pitchFamily="34" charset="0"/>
                <a:ea typeface="Calibri" pitchFamily="34" charset="-122"/>
                <a:cs typeface="Calibri" pitchFamily="34" charset="-120"/>
              </a:rPr>
              <a:t>EARLIER PHASE · October 2019 data</a:t>
            </a:r>
            <a:endParaRPr lang="en-US" sz="1100" dirty="0"/>
          </a:p>
        </p:txBody>
      </p:sp>
      <p:graphicFrame>
        <p:nvGraphicFramePr>
          <p:cNvPr id="6" name="Chart 0" descr=""/>
          <p:cNvGraphicFramePr/>
          <p:nvPr/>
        </p:nvGraphicFramePr>
        <p:xfrm>
          <a:off x="548640" y="1371600"/>
          <a:ext cx="5486400" cy="44805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400800" y="1463040"/>
            <a:ext cx="5242255" cy="365760"/>
          </a:xfrm>
          <a:prstGeom prst="rect">
            <a:avLst/>
          </a:prstGeom>
          <a:noFill/>
          <a:ln/>
        </p:spPr>
        <p:txBody>
          <a:bodyPr wrap="square" lIns="0" tIns="0" rIns="0" bIns="0" rtlCol="0" anchor="t"/>
          <a:lstStyle/>
          <a:p>
            <a:pPr indent="0" marL="0">
              <a:buNone/>
            </a:pPr>
            <a:r>
              <a:rPr lang="en-US" sz="1800" b="1" dirty="0">
                <a:solidFill>
                  <a:srgbClr val="13262F"/>
                </a:solidFill>
                <a:latin typeface="Cambria" pitchFamily="34" charset="0"/>
                <a:ea typeface="Cambria" pitchFamily="34" charset="-122"/>
                <a:cs typeface="Cambria" pitchFamily="34" charset="-120"/>
              </a:rPr>
              <a:t>Why we moved to next product</a:t>
            </a:r>
            <a:endParaRPr lang="en-US" sz="1800" dirty="0"/>
          </a:p>
        </p:txBody>
      </p:sp>
      <p:sp>
        <p:nvSpPr>
          <p:cNvPr id="8" name="Shape 5"/>
          <p:cNvSpPr/>
          <p:nvPr/>
        </p:nvSpPr>
        <p:spPr>
          <a:xfrm>
            <a:off x="6400800" y="1965960"/>
            <a:ext cx="5242255" cy="1051560"/>
          </a:xfrm>
          <a:prstGeom prst="roundRect">
            <a:avLst>
              <a:gd name="adj" fmla="val 6957"/>
            </a:avLst>
          </a:prstGeom>
          <a:solidFill>
            <a:srgbClr val="FBEBD3"/>
          </a:solidFill>
          <a:ln/>
        </p:spPr>
      </p:sp>
      <p:sp>
        <p:nvSpPr>
          <p:cNvPr id="9" name="Text 6"/>
          <p:cNvSpPr txBox="1"/>
          <p:nvPr/>
        </p:nvSpPr>
        <p:spPr>
          <a:xfrm>
            <a:off x="6629400" y="2075688"/>
            <a:ext cx="4785055" cy="365760"/>
          </a:xfrm>
          <a:prstGeom prst="rect">
            <a:avLst/>
          </a:prstGeom>
          <a:noFill/>
          <a:ln/>
        </p:spPr>
        <p:txBody>
          <a:bodyPr wrap="square" lIns="0" tIns="0" rIns="0" bIns="0" rtlCol="0" anchor="t"/>
          <a:lstStyle/>
          <a:p>
            <a:pPr indent="0" marL="0">
              <a:buNone/>
            </a:pPr>
            <a:r>
              <a:rPr lang="en-US" sz="1600" b="1" dirty="0">
                <a:solidFill>
                  <a:srgbClr val="13262F"/>
                </a:solidFill>
                <a:latin typeface="Calibri" pitchFamily="34" charset="0"/>
                <a:ea typeface="Calibri" pitchFamily="34" charset="-122"/>
                <a:cs typeface="Calibri" pitchFamily="34" charset="-120"/>
              </a:rPr>
              <a:t>No published results</a:t>
            </a:r>
            <a:endParaRPr lang="en-US" sz="1600" dirty="0"/>
          </a:p>
        </p:txBody>
      </p:sp>
      <p:sp>
        <p:nvSpPr>
          <p:cNvPr id="10" name="Text 7"/>
          <p:cNvSpPr txBox="1"/>
          <p:nvPr/>
        </p:nvSpPr>
        <p:spPr>
          <a:xfrm>
            <a:off x="6629400" y="2441448"/>
            <a:ext cx="4785055" cy="548640"/>
          </a:xfrm>
          <a:prstGeom prst="rect">
            <a:avLst/>
          </a:prstGeom>
          <a:noFill/>
          <a:ln/>
        </p:spPr>
        <p:txBody>
          <a:bodyPr wrap="square" lIns="0" tIns="0" rIns="0" bIns="0" rtlCol="0" anchor="t"/>
          <a:lstStyle/>
          <a:p>
            <a:pPr indent="0" marL="0">
              <a:buNone/>
            </a:pPr>
            <a:r>
              <a:rPr lang="en-US" sz="1350" dirty="0">
                <a:solidFill>
                  <a:srgbClr val="33434A"/>
                </a:solidFill>
                <a:latin typeface="Calibri" pitchFamily="34" charset="0"/>
                <a:ea typeface="Calibri" pitchFamily="34" charset="-122"/>
                <a:cs typeface="Calibri" pitchFamily="34" charset="-120"/>
              </a:rPr>
              <a:t>for next category on REES46 — no way to say if we are stronger or weaker</a:t>
            </a:r>
            <a:endParaRPr lang="en-US" sz="1350" dirty="0"/>
          </a:p>
        </p:txBody>
      </p:sp>
      <p:sp>
        <p:nvSpPr>
          <p:cNvPr id="11" name="Shape 8"/>
          <p:cNvSpPr/>
          <p:nvPr/>
        </p:nvSpPr>
        <p:spPr>
          <a:xfrm>
            <a:off x="6400800" y="3154680"/>
            <a:ext cx="5242255" cy="1051560"/>
          </a:xfrm>
          <a:prstGeom prst="roundRect">
            <a:avLst>
              <a:gd name="adj" fmla="val 6957"/>
            </a:avLst>
          </a:prstGeom>
          <a:solidFill>
            <a:srgbClr val="F1F4F4"/>
          </a:solidFill>
          <a:ln/>
        </p:spPr>
      </p:sp>
      <p:sp>
        <p:nvSpPr>
          <p:cNvPr id="12" name="Text 9"/>
          <p:cNvSpPr txBox="1"/>
          <p:nvPr/>
        </p:nvSpPr>
        <p:spPr>
          <a:xfrm>
            <a:off x="6629400" y="3264408"/>
            <a:ext cx="4785055" cy="365760"/>
          </a:xfrm>
          <a:prstGeom prst="rect">
            <a:avLst/>
          </a:prstGeom>
          <a:noFill/>
          <a:ln/>
        </p:spPr>
        <p:txBody>
          <a:bodyPr wrap="square" lIns="0" tIns="0" rIns="0" bIns="0" rtlCol="0" anchor="t"/>
          <a:lstStyle/>
          <a:p>
            <a:pPr indent="0" marL="0">
              <a:buNone/>
            </a:pPr>
            <a:r>
              <a:rPr lang="en-US" sz="1600" b="1" dirty="0">
                <a:solidFill>
                  <a:srgbClr val="13262F"/>
                </a:solidFill>
                <a:latin typeface="Calibri" pitchFamily="34" charset="0"/>
                <a:ea typeface="Calibri" pitchFamily="34" charset="-122"/>
                <a:cs typeface="Calibri" pitchFamily="34" charset="-120"/>
              </a:rPr>
              <a:t>Too easy overall</a:t>
            </a:r>
            <a:endParaRPr lang="en-US" sz="1600" dirty="0"/>
          </a:p>
        </p:txBody>
      </p:sp>
      <p:sp>
        <p:nvSpPr>
          <p:cNvPr id="13" name="Text 10"/>
          <p:cNvSpPr txBox="1"/>
          <p:nvPr/>
        </p:nvSpPr>
        <p:spPr>
          <a:xfrm>
            <a:off x="6629400" y="3630168"/>
            <a:ext cx="4785055" cy="548640"/>
          </a:xfrm>
          <a:prstGeom prst="rect">
            <a:avLst/>
          </a:prstGeom>
          <a:noFill/>
          <a:ln/>
        </p:spPr>
        <p:txBody>
          <a:bodyPr wrap="square" lIns="0" tIns="0" rIns="0" bIns="0" rtlCol="0" anchor="t"/>
          <a:lstStyle/>
          <a:p>
            <a:pPr indent="0" marL="0">
              <a:buNone/>
            </a:pPr>
            <a:r>
              <a:rPr lang="en-US" sz="1350" dirty="0">
                <a:solidFill>
                  <a:srgbClr val="33434A"/>
                </a:solidFill>
                <a:latin typeface="Calibri" pitchFamily="34" charset="0"/>
                <a:ea typeface="Calibri" pitchFamily="34" charset="-122"/>
                <a:cs typeface="Calibri" pitchFamily="34" charset="-120"/>
              </a:rPr>
              <a:t>most of the metric (≈ 82%) is solved by “repeat the same category”</a:t>
            </a:r>
            <a:endParaRPr lang="en-US" sz="1350" dirty="0"/>
          </a:p>
        </p:txBody>
      </p:sp>
      <p:sp>
        <p:nvSpPr>
          <p:cNvPr id="14" name="Shape 11"/>
          <p:cNvSpPr/>
          <p:nvPr/>
        </p:nvSpPr>
        <p:spPr>
          <a:xfrm>
            <a:off x="6400800" y="4343400"/>
            <a:ext cx="5242255" cy="1051560"/>
          </a:xfrm>
          <a:prstGeom prst="roundRect">
            <a:avLst>
              <a:gd name="adj" fmla="val 6957"/>
            </a:avLst>
          </a:prstGeom>
          <a:solidFill>
            <a:srgbClr val="D8ECEC"/>
          </a:solidFill>
          <a:ln/>
        </p:spPr>
      </p:sp>
      <p:sp>
        <p:nvSpPr>
          <p:cNvPr id="15" name="Text 12"/>
          <p:cNvSpPr txBox="1"/>
          <p:nvPr/>
        </p:nvSpPr>
        <p:spPr>
          <a:xfrm>
            <a:off x="6629400" y="4453128"/>
            <a:ext cx="4785055" cy="365760"/>
          </a:xfrm>
          <a:prstGeom prst="rect">
            <a:avLst/>
          </a:prstGeom>
          <a:noFill/>
          <a:ln/>
        </p:spPr>
        <p:txBody>
          <a:bodyPr wrap="square" lIns="0" tIns="0" rIns="0" bIns="0" rtlCol="0" anchor="t"/>
          <a:lstStyle/>
          <a:p>
            <a:pPr indent="0" marL="0">
              <a:buNone/>
            </a:pPr>
            <a:r>
              <a:rPr lang="en-US" sz="1600" b="1" dirty="0">
                <a:solidFill>
                  <a:srgbClr val="13262F"/>
                </a:solidFill>
                <a:latin typeface="Calibri" pitchFamily="34" charset="0"/>
                <a:ea typeface="Calibri" pitchFamily="34" charset="-122"/>
                <a:cs typeface="Calibri" pitchFamily="34" charset="-120"/>
              </a:rPr>
              <a:t>A real benchmark exists</a:t>
            </a:r>
            <a:endParaRPr lang="en-US" sz="1600" dirty="0"/>
          </a:p>
        </p:txBody>
      </p:sp>
      <p:sp>
        <p:nvSpPr>
          <p:cNvPr id="16" name="Text 13"/>
          <p:cNvSpPr txBox="1"/>
          <p:nvPr/>
        </p:nvSpPr>
        <p:spPr>
          <a:xfrm>
            <a:off x="6629400" y="4818888"/>
            <a:ext cx="4785055" cy="548640"/>
          </a:xfrm>
          <a:prstGeom prst="rect">
            <a:avLst/>
          </a:prstGeom>
          <a:noFill/>
          <a:ln/>
        </p:spPr>
        <p:txBody>
          <a:bodyPr wrap="square" lIns="0" tIns="0" rIns="0" bIns="0" rtlCol="0" anchor="t"/>
          <a:lstStyle/>
          <a:p>
            <a:pPr indent="0" marL="0">
              <a:buNone/>
            </a:pPr>
            <a:r>
              <a:rPr lang="en-US" sz="1350" dirty="0">
                <a:solidFill>
                  <a:srgbClr val="33434A"/>
                </a:solidFill>
                <a:latin typeface="Calibri" pitchFamily="34" charset="0"/>
                <a:ea typeface="Calibri" pitchFamily="34" charset="-122"/>
                <a:cs typeface="Calibri" pitchFamily="34" charset="-120"/>
              </a:rPr>
              <a:t>for next product on REES46 (GRU4Rec, RecSys 2023)</a:t>
            </a:r>
            <a:endParaRPr lang="en-US" sz="1350" dirty="0"/>
          </a:p>
        </p:txBody>
      </p:sp>
      <p:sp>
        <p:nvSpPr>
          <p:cNvPr id="17" name="Text 14"/>
          <p:cNvSpPr txBox="1"/>
          <p:nvPr/>
        </p:nvSpPr>
        <p:spPr>
          <a:xfrm>
            <a:off x="6400800" y="5577840"/>
            <a:ext cx="5242255" cy="320040"/>
          </a:xfrm>
          <a:prstGeom prst="rect">
            <a:avLst/>
          </a:prstGeom>
          <a:noFill/>
          <a:ln/>
        </p:spPr>
        <p:txBody>
          <a:bodyPr wrap="square" lIns="0" tIns="0" rIns="0" bIns="0" rtlCol="0" anchor="t"/>
          <a:lstStyle/>
          <a:p>
            <a:pPr indent="0" marL="0">
              <a:buNone/>
            </a:pPr>
            <a:r>
              <a:rPr lang="en-US" sz="1300" i="1" dirty="0">
                <a:solidFill>
                  <a:srgbClr val="5E6E75"/>
                </a:solidFill>
                <a:latin typeface="Calibri" pitchFamily="34" charset="0"/>
                <a:ea typeface="Calibri" pitchFamily="34" charset="-122"/>
                <a:cs typeface="Calibri" pitchFamily="34" charset="-120"/>
              </a:rPr>
              <a:t>Agreed with the supervisor.</a:t>
            </a:r>
            <a:endParaRPr lang="en-US" sz="1300" dirty="0"/>
          </a:p>
        </p:txBody>
      </p:sp>
      <p:sp>
        <p:nvSpPr>
          <p:cNvPr id="18" name="Text 15"/>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4</a:t>
            </a:r>
            <a:endParaRPr lang="en-US" sz="1000" dirty="0"/>
          </a:p>
        </p:txBody>
      </p:sp>
      <p:sp>
        <p:nvSpPr>
          <p:cNvPr id="19" name="Text 16"/>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GitHub repo: MVP report §2; evaluation-protocol decision (ADR-001); literature register</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PHASE 2 — NEXT PRODUCT VS THE PUBLISHED BENCHMARK</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Close to the paper, with a harder setup</a:t>
            </a:r>
            <a:endParaRPr lang="en-US" sz="3000" dirty="0"/>
          </a:p>
        </p:txBody>
      </p:sp>
      <p:sp>
        <p:nvSpPr>
          <p:cNvPr id="4" name="Shape 2"/>
          <p:cNvSpPr/>
          <p:nvPr/>
        </p:nvSpPr>
        <p:spPr>
          <a:xfrm>
            <a:off x="7802575" y="329184"/>
            <a:ext cx="3840480" cy="292608"/>
          </a:xfrm>
          <a:prstGeom prst="roundRect">
            <a:avLst>
              <a:gd name="adj" fmla="val 50000"/>
            </a:avLst>
          </a:prstGeom>
          <a:solidFill>
            <a:srgbClr val="E6EAEC"/>
          </a:solidFill>
          <a:ln/>
        </p:spPr>
      </p:sp>
      <p:sp>
        <p:nvSpPr>
          <p:cNvPr id="5" name="Text 3"/>
          <p:cNvSpPr txBox="1"/>
          <p:nvPr/>
        </p:nvSpPr>
        <p:spPr>
          <a:xfrm>
            <a:off x="7802575" y="329184"/>
            <a:ext cx="3840480" cy="292608"/>
          </a:xfrm>
          <a:prstGeom prst="rect">
            <a:avLst/>
          </a:prstGeom>
          <a:noFill/>
          <a:ln/>
        </p:spPr>
        <p:txBody>
          <a:bodyPr wrap="square" lIns="0" tIns="0" rIns="0" bIns="0" rtlCol="0" anchor="ctr"/>
          <a:lstStyle/>
          <a:p>
            <a:pPr algn="ctr" indent="0" marL="0">
              <a:buNone/>
            </a:pPr>
            <a:r>
              <a:rPr lang="en-US" sz="1100" b="1" dirty="0">
                <a:solidFill>
                  <a:srgbClr val="5C6B73"/>
                </a:solidFill>
                <a:latin typeface="Calibri" pitchFamily="34" charset="0"/>
                <a:ea typeface="Calibri" pitchFamily="34" charset="-122"/>
                <a:cs typeface="Calibri" pitchFamily="34" charset="-120"/>
              </a:rPr>
              <a:t>EARLIER PHASE · full data</a:t>
            </a:r>
            <a:endParaRPr lang="en-US" sz="1100" dirty="0"/>
          </a:p>
        </p:txBody>
      </p:sp>
      <p:graphicFrame>
        <p:nvGraphicFramePr>
          <p:cNvPr id="6" name="Chart 0" descr=""/>
          <p:cNvGraphicFramePr/>
          <p:nvPr/>
        </p:nvGraphicFramePr>
        <p:xfrm>
          <a:off x="548640" y="1371600"/>
          <a:ext cx="5669280" cy="44805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583680" y="1463040"/>
            <a:ext cx="5059375" cy="365760"/>
          </a:xfrm>
          <a:prstGeom prst="rect">
            <a:avLst/>
          </a:prstGeom>
          <a:noFill/>
          <a:ln/>
        </p:spPr>
        <p:txBody>
          <a:bodyPr wrap="square" lIns="0" tIns="0" rIns="0" bIns="0" rtlCol="0" anchor="t"/>
          <a:lstStyle/>
          <a:p>
            <a:pPr indent="0" marL="0">
              <a:buNone/>
            </a:pPr>
            <a:r>
              <a:rPr lang="en-US" sz="1800" b="1" dirty="0">
                <a:solidFill>
                  <a:srgbClr val="13262F"/>
                </a:solidFill>
                <a:latin typeface="Cambria" pitchFamily="34" charset="0"/>
                <a:ea typeface="Cambria" pitchFamily="34" charset="-122"/>
                <a:cs typeface="Cambria" pitchFamily="34" charset="-120"/>
              </a:rPr>
              <a:t>Why ours is lower</a:t>
            </a:r>
            <a:endParaRPr lang="en-US" sz="1800" dirty="0"/>
          </a:p>
        </p:txBody>
      </p:sp>
      <p:sp>
        <p:nvSpPr>
          <p:cNvPr id="8" name="Shape 5"/>
          <p:cNvSpPr/>
          <p:nvPr/>
        </p:nvSpPr>
        <p:spPr>
          <a:xfrm>
            <a:off x="6583680" y="1965960"/>
            <a:ext cx="5059375" cy="868680"/>
          </a:xfrm>
          <a:prstGeom prst="roundRect">
            <a:avLst>
              <a:gd name="adj" fmla="val 8421"/>
            </a:avLst>
          </a:prstGeom>
          <a:solidFill>
            <a:srgbClr val="F1F4F4"/>
          </a:solidFill>
          <a:ln/>
        </p:spPr>
      </p:sp>
      <p:sp>
        <p:nvSpPr>
          <p:cNvPr id="9" name="Text 6"/>
          <p:cNvSpPr txBox="1"/>
          <p:nvPr/>
        </p:nvSpPr>
        <p:spPr>
          <a:xfrm>
            <a:off x="6812280" y="1965960"/>
            <a:ext cx="1737360" cy="868680"/>
          </a:xfrm>
          <a:prstGeom prst="rect">
            <a:avLst/>
          </a:prstGeom>
          <a:noFill/>
          <a:ln/>
        </p:spPr>
        <p:txBody>
          <a:bodyPr wrap="square" lIns="0" tIns="0" rIns="0" bIns="0" rtlCol="0" anchor="ctr"/>
          <a:lstStyle/>
          <a:p>
            <a:pPr indent="0" marL="0">
              <a:buNone/>
            </a:pPr>
            <a:r>
              <a:rPr lang="en-US" sz="1500" b="1" dirty="0">
                <a:solidFill>
                  <a:srgbClr val="13262F"/>
                </a:solidFill>
                <a:latin typeface="Calibri" pitchFamily="34" charset="0"/>
                <a:ea typeface="Calibri" pitchFamily="34" charset="-122"/>
                <a:cs typeface="Calibri" pitchFamily="34" charset="-120"/>
              </a:rPr>
              <a:t>Harder ranking</a:t>
            </a:r>
            <a:endParaRPr lang="en-US" sz="1500" dirty="0"/>
          </a:p>
        </p:txBody>
      </p:sp>
      <p:sp>
        <p:nvSpPr>
          <p:cNvPr id="10" name="Text 7"/>
          <p:cNvSpPr txBox="1"/>
          <p:nvPr/>
        </p:nvSpPr>
        <p:spPr>
          <a:xfrm>
            <a:off x="8595360" y="1965960"/>
            <a:ext cx="2864815" cy="868680"/>
          </a:xfrm>
          <a:prstGeom prst="rect">
            <a:avLst/>
          </a:prstGeom>
          <a:noFill/>
          <a:ln/>
        </p:spPr>
        <p:txBody>
          <a:bodyPr wrap="square" lIns="0" tIns="0" rIns="0" bIns="0" rtlCol="0" anchor="ctr"/>
          <a:lstStyle/>
          <a:p>
            <a:pPr indent="0" marL="0">
              <a:buNone/>
            </a:pPr>
            <a:r>
              <a:rPr lang="en-US" sz="1350" dirty="0">
                <a:solidFill>
                  <a:srgbClr val="33434A"/>
                </a:solidFill>
                <a:latin typeface="Calibri" pitchFamily="34" charset="0"/>
                <a:ea typeface="Calibri" pitchFamily="34" charset="-122"/>
                <a:cs typeface="Calibri" pitchFamily="34" charset="-120"/>
              </a:rPr>
              <a:t>we rank the whole catalogue; new products always count as misses</a:t>
            </a:r>
            <a:endParaRPr lang="en-US" sz="1350" dirty="0"/>
          </a:p>
        </p:txBody>
      </p:sp>
      <p:sp>
        <p:nvSpPr>
          <p:cNvPr id="11" name="Shape 8"/>
          <p:cNvSpPr/>
          <p:nvPr/>
        </p:nvSpPr>
        <p:spPr>
          <a:xfrm>
            <a:off x="6583680" y="2971800"/>
            <a:ext cx="5059375" cy="868680"/>
          </a:xfrm>
          <a:prstGeom prst="roundRect">
            <a:avLst>
              <a:gd name="adj" fmla="val 8421"/>
            </a:avLst>
          </a:prstGeom>
          <a:solidFill>
            <a:srgbClr val="FFFFFF"/>
          </a:solidFill>
          <a:ln w="12700">
            <a:solidFill>
              <a:srgbClr val="D5DDDF"/>
            </a:solidFill>
            <a:prstDash val="solid"/>
          </a:ln>
        </p:spPr>
      </p:sp>
      <p:sp>
        <p:nvSpPr>
          <p:cNvPr id="12" name="Text 9"/>
          <p:cNvSpPr txBox="1"/>
          <p:nvPr/>
        </p:nvSpPr>
        <p:spPr>
          <a:xfrm>
            <a:off x="6812280" y="2971800"/>
            <a:ext cx="1737360" cy="868680"/>
          </a:xfrm>
          <a:prstGeom prst="rect">
            <a:avLst/>
          </a:prstGeom>
          <a:noFill/>
          <a:ln/>
        </p:spPr>
        <p:txBody>
          <a:bodyPr wrap="square" lIns="0" tIns="0" rIns="0" bIns="0" rtlCol="0" anchor="ctr"/>
          <a:lstStyle/>
          <a:p>
            <a:pPr indent="0" marL="0">
              <a:buNone/>
            </a:pPr>
            <a:r>
              <a:rPr lang="en-US" sz="1500" b="1" dirty="0">
                <a:solidFill>
                  <a:srgbClr val="13262F"/>
                </a:solidFill>
                <a:latin typeface="Calibri" pitchFamily="34" charset="0"/>
                <a:ea typeface="Calibri" pitchFamily="34" charset="-122"/>
                <a:cs typeface="Calibri" pitchFamily="34" charset="-120"/>
              </a:rPr>
              <a:t>Harder split</a:t>
            </a:r>
            <a:endParaRPr lang="en-US" sz="1500" dirty="0"/>
          </a:p>
        </p:txBody>
      </p:sp>
      <p:sp>
        <p:nvSpPr>
          <p:cNvPr id="13" name="Text 10"/>
          <p:cNvSpPr txBox="1"/>
          <p:nvPr/>
        </p:nvSpPr>
        <p:spPr>
          <a:xfrm>
            <a:off x="8595360" y="2971800"/>
            <a:ext cx="2864815" cy="868680"/>
          </a:xfrm>
          <a:prstGeom prst="rect">
            <a:avLst/>
          </a:prstGeom>
          <a:noFill/>
          <a:ln/>
        </p:spPr>
        <p:txBody>
          <a:bodyPr wrap="square" lIns="0" tIns="0" rIns="0" bIns="0" rtlCol="0" anchor="ctr"/>
          <a:lstStyle/>
          <a:p>
            <a:pPr indent="0" marL="0">
              <a:buNone/>
            </a:pPr>
            <a:r>
              <a:rPr lang="en-US" sz="1350" dirty="0">
                <a:solidFill>
                  <a:srgbClr val="33434A"/>
                </a:solidFill>
                <a:latin typeface="Calibri" pitchFamily="34" charset="0"/>
                <a:ea typeface="Calibri" pitchFamily="34" charset="-122"/>
                <a:cs typeface="Calibri" pitchFamily="34" charset="-120"/>
              </a:rPr>
              <a:t>we predict the following week, not the last day</a:t>
            </a:r>
            <a:endParaRPr lang="en-US" sz="1350" dirty="0"/>
          </a:p>
        </p:txBody>
      </p:sp>
      <p:sp>
        <p:nvSpPr>
          <p:cNvPr id="14" name="Shape 11"/>
          <p:cNvSpPr/>
          <p:nvPr/>
        </p:nvSpPr>
        <p:spPr>
          <a:xfrm>
            <a:off x="6583680" y="3977640"/>
            <a:ext cx="5059375" cy="868680"/>
          </a:xfrm>
          <a:prstGeom prst="roundRect">
            <a:avLst>
              <a:gd name="adj" fmla="val 8421"/>
            </a:avLst>
          </a:prstGeom>
          <a:solidFill>
            <a:srgbClr val="F1F4F4"/>
          </a:solidFill>
          <a:ln/>
        </p:spPr>
      </p:sp>
      <p:sp>
        <p:nvSpPr>
          <p:cNvPr id="15" name="Text 12"/>
          <p:cNvSpPr txBox="1"/>
          <p:nvPr/>
        </p:nvSpPr>
        <p:spPr>
          <a:xfrm>
            <a:off x="6812280" y="3977640"/>
            <a:ext cx="1737360" cy="868680"/>
          </a:xfrm>
          <a:prstGeom prst="rect">
            <a:avLst/>
          </a:prstGeom>
          <a:noFill/>
          <a:ln/>
        </p:spPr>
        <p:txBody>
          <a:bodyPr wrap="square" lIns="0" tIns="0" rIns="0" bIns="0" rtlCol="0" anchor="ctr"/>
          <a:lstStyle/>
          <a:p>
            <a:pPr indent="0" marL="0">
              <a:buNone/>
            </a:pPr>
            <a:r>
              <a:rPr lang="en-US" sz="1500" b="1" dirty="0">
                <a:solidFill>
                  <a:srgbClr val="13262F"/>
                </a:solidFill>
                <a:latin typeface="Calibri" pitchFamily="34" charset="0"/>
                <a:ea typeface="Calibri" pitchFamily="34" charset="-122"/>
                <a:cs typeface="Calibri" pitchFamily="34" charset="-120"/>
              </a:rPr>
              <a:t>Less compute</a:t>
            </a:r>
            <a:endParaRPr lang="en-US" sz="1500" dirty="0"/>
          </a:p>
        </p:txBody>
      </p:sp>
      <p:sp>
        <p:nvSpPr>
          <p:cNvPr id="16" name="Text 13"/>
          <p:cNvSpPr txBox="1"/>
          <p:nvPr/>
        </p:nvSpPr>
        <p:spPr>
          <a:xfrm>
            <a:off x="8595360" y="3977640"/>
            <a:ext cx="2864815" cy="868680"/>
          </a:xfrm>
          <a:prstGeom prst="rect">
            <a:avLst/>
          </a:prstGeom>
          <a:noFill/>
          <a:ln/>
        </p:spPr>
        <p:txBody>
          <a:bodyPr wrap="square" lIns="0" tIns="0" rIns="0" bIns="0" rtlCol="0" anchor="ctr"/>
          <a:lstStyle/>
          <a:p>
            <a:pPr indent="0" marL="0">
              <a:buNone/>
            </a:pPr>
            <a:r>
              <a:rPr lang="en-US" sz="1350" dirty="0">
                <a:solidFill>
                  <a:srgbClr val="33434A"/>
                </a:solidFill>
                <a:latin typeface="Calibri" pitchFamily="34" charset="0"/>
                <a:ea typeface="Calibri" pitchFamily="34" charset="-122"/>
                <a:cs typeface="Calibri" pitchFamily="34" charset="-120"/>
              </a:rPr>
              <a:t>a few epochs on two small GPUs — the paper is heavily tuned</a:t>
            </a:r>
            <a:endParaRPr lang="en-US" sz="1350" dirty="0"/>
          </a:p>
        </p:txBody>
      </p:sp>
      <p:sp>
        <p:nvSpPr>
          <p:cNvPr id="17" name="Shape 14"/>
          <p:cNvSpPr/>
          <p:nvPr/>
        </p:nvSpPr>
        <p:spPr>
          <a:xfrm>
            <a:off x="6583680" y="5074920"/>
            <a:ext cx="5059375" cy="822960"/>
          </a:xfrm>
          <a:prstGeom prst="roundRect">
            <a:avLst>
              <a:gd name="adj" fmla="val 8889"/>
            </a:avLst>
          </a:prstGeom>
          <a:solidFill>
            <a:srgbClr val="D8ECEC"/>
          </a:solidFill>
          <a:ln/>
        </p:spPr>
      </p:sp>
      <p:sp>
        <p:nvSpPr>
          <p:cNvPr id="18" name="Text 15"/>
          <p:cNvSpPr txBox="1"/>
          <p:nvPr/>
        </p:nvSpPr>
        <p:spPr>
          <a:xfrm>
            <a:off x="6812280" y="5120640"/>
            <a:ext cx="4602175" cy="731520"/>
          </a:xfrm>
          <a:prstGeom prst="rect">
            <a:avLst/>
          </a:prstGeom>
          <a:noFill/>
          <a:ln/>
        </p:spPr>
        <p:txBody>
          <a:bodyPr wrap="square" lIns="0" tIns="0" rIns="0" bIns="0" rtlCol="0" anchor="ctr"/>
          <a:lstStyle/>
          <a:p>
            <a:pPr indent="0" marL="0">
              <a:buNone/>
            </a:pPr>
            <a:r>
              <a:rPr lang="en-US" sz="1400" b="1" dirty="0">
                <a:solidFill>
                  <a:srgbClr val="164E57"/>
                </a:solidFill>
                <a:latin typeface="Calibri" pitchFamily="34" charset="0"/>
                <a:ea typeface="Calibri" pitchFamily="34" charset="-122"/>
                <a:cs typeface="Calibri" pitchFamily="34" charset="-120"/>
              </a:rPr>
              <a:t>Not a same-protocol re-run — </a:t>
            </a:r>
            <a:pPr indent="0" marL="0">
              <a:buNone/>
            </a:pPr>
            <a:r>
              <a:rPr lang="en-US" sz="1400" dirty="0">
                <a:solidFill>
                  <a:srgbClr val="33434A"/>
                </a:solidFill>
                <a:latin typeface="Calibri" pitchFamily="34" charset="0"/>
                <a:ea typeface="Calibri" pitchFamily="34" charset="-122"/>
                <a:cs typeface="Calibri" pitchFamily="34" charset="-120"/>
              </a:rPr>
              <a:t>now we have a 2× A40 server and have started experimenting.</a:t>
            </a:r>
            <a:endParaRPr lang="en-US" sz="1400" dirty="0"/>
          </a:p>
        </p:txBody>
      </p:sp>
      <p:sp>
        <p:nvSpPr>
          <p:cNvPr id="19" name="Text 16"/>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5</a:t>
            </a:r>
            <a:endParaRPr lang="en-US" sz="1000" dirty="0"/>
          </a:p>
        </p:txBody>
      </p:sp>
      <p:sp>
        <p:nvSpPr>
          <p:cNvPr id="20" name="Text 17"/>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Hidasi &amp; Czapp, RecSys 2023 (official GRU4Rec REES46 results) as recorded in the literature register; central-model report (validation week, per-event)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PHASE 3 — FEATURE ENGINEERING</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From many columns to a small set a device can compute</a:t>
            </a:r>
            <a:endParaRPr lang="en-US" sz="3000" dirty="0"/>
          </a:p>
        </p:txBody>
      </p:sp>
      <p:sp>
        <p:nvSpPr>
          <p:cNvPr id="4" name="Shape 2"/>
          <p:cNvSpPr/>
          <p:nvPr/>
        </p:nvSpPr>
        <p:spPr>
          <a:xfrm>
            <a:off x="548640" y="1508760"/>
            <a:ext cx="6583680" cy="841248"/>
          </a:xfrm>
          <a:prstGeom prst="roundRect">
            <a:avLst>
              <a:gd name="adj" fmla="val 8696"/>
            </a:avLst>
          </a:prstGeom>
          <a:solidFill>
            <a:srgbClr val="F1F4F4"/>
          </a:solidFill>
          <a:ln/>
        </p:spPr>
      </p:sp>
      <p:sp>
        <p:nvSpPr>
          <p:cNvPr id="5" name="Text 3"/>
          <p:cNvSpPr txBox="1"/>
          <p:nvPr/>
        </p:nvSpPr>
        <p:spPr>
          <a:xfrm>
            <a:off x="822960" y="1508760"/>
            <a:ext cx="2377440" cy="841248"/>
          </a:xfrm>
          <a:prstGeom prst="rect">
            <a:avLst/>
          </a:prstGeom>
          <a:noFill/>
          <a:ln/>
        </p:spPr>
        <p:txBody>
          <a:bodyPr wrap="square" lIns="0" tIns="0" rIns="0" bIns="0" rtlCol="0" anchor="ctr"/>
          <a:lstStyle/>
          <a:p>
            <a:pPr indent="0" marL="0">
              <a:buNone/>
            </a:pPr>
            <a:r>
              <a:rPr lang="en-US" sz="1600" b="1" dirty="0">
                <a:solidFill>
                  <a:srgbClr val="13262F"/>
                </a:solidFill>
                <a:latin typeface="Calibri" pitchFamily="34" charset="0"/>
                <a:ea typeface="Calibri" pitchFamily="34" charset="-122"/>
                <a:cs typeface="Calibri" pitchFamily="34" charset="-120"/>
              </a:rPr>
              <a:t>Tokens</a:t>
            </a:r>
            <a:endParaRPr lang="en-US" sz="1600" dirty="0"/>
          </a:p>
        </p:txBody>
      </p:sp>
      <p:sp>
        <p:nvSpPr>
          <p:cNvPr id="6" name="Text 4"/>
          <p:cNvSpPr txBox="1"/>
          <p:nvPr/>
        </p:nvSpPr>
        <p:spPr>
          <a:xfrm>
            <a:off x="3200400" y="1508760"/>
            <a:ext cx="3749040" cy="841248"/>
          </a:xfrm>
          <a:prstGeom prst="rect">
            <a:avLst/>
          </a:prstGeom>
          <a:noFill/>
          <a:ln/>
        </p:spPr>
        <p:txBody>
          <a:bodyPr wrap="square" lIns="0" tIns="0" rIns="0" bIns="0" rtlCol="0" anchor="ctr"/>
          <a:lstStyle/>
          <a:p>
            <a:pPr indent="0" marL="0">
              <a:buNone/>
            </a:pPr>
            <a:r>
              <a:rPr lang="en-US" sz="1400" dirty="0">
                <a:solidFill>
                  <a:srgbClr val="33434A"/>
                </a:solidFill>
                <a:latin typeface="Calibri" pitchFamily="34" charset="0"/>
                <a:ea typeface="Calibri" pitchFamily="34" charset="-122"/>
                <a:cs typeface="Calibri" pitchFamily="34" charset="-120"/>
              </a:rPr>
              <a:t>item · category · brand</a:t>
            </a:r>
            <a:endParaRPr lang="en-US" sz="1400" dirty="0"/>
          </a:p>
        </p:txBody>
      </p:sp>
      <p:sp>
        <p:nvSpPr>
          <p:cNvPr id="7" name="Shape 5"/>
          <p:cNvSpPr/>
          <p:nvPr/>
        </p:nvSpPr>
        <p:spPr>
          <a:xfrm>
            <a:off x="548640" y="2496312"/>
            <a:ext cx="6583680" cy="841248"/>
          </a:xfrm>
          <a:prstGeom prst="roundRect">
            <a:avLst>
              <a:gd name="adj" fmla="val 8696"/>
            </a:avLst>
          </a:prstGeom>
          <a:solidFill>
            <a:srgbClr val="FFFFFF"/>
          </a:solidFill>
          <a:ln w="12700">
            <a:solidFill>
              <a:srgbClr val="D5DDDF"/>
            </a:solidFill>
            <a:prstDash val="solid"/>
          </a:ln>
        </p:spPr>
      </p:sp>
      <p:sp>
        <p:nvSpPr>
          <p:cNvPr id="8" name="Text 6"/>
          <p:cNvSpPr txBox="1"/>
          <p:nvPr/>
        </p:nvSpPr>
        <p:spPr>
          <a:xfrm>
            <a:off x="822960" y="2496312"/>
            <a:ext cx="2377440" cy="841248"/>
          </a:xfrm>
          <a:prstGeom prst="rect">
            <a:avLst/>
          </a:prstGeom>
          <a:noFill/>
          <a:ln/>
        </p:spPr>
        <p:txBody>
          <a:bodyPr wrap="square" lIns="0" tIns="0" rIns="0" bIns="0" rtlCol="0" anchor="ctr"/>
          <a:lstStyle/>
          <a:p>
            <a:pPr indent="0" marL="0">
              <a:buNone/>
            </a:pPr>
            <a:r>
              <a:rPr lang="en-US" sz="1600" b="1" dirty="0">
                <a:solidFill>
                  <a:srgbClr val="13262F"/>
                </a:solidFill>
                <a:latin typeface="Calibri" pitchFamily="34" charset="0"/>
                <a:ea typeface="Calibri" pitchFamily="34" charset="-122"/>
                <a:cs typeface="Calibri" pitchFamily="34" charset="-120"/>
              </a:rPr>
              <a:t>Numbers</a:t>
            </a:r>
            <a:endParaRPr lang="en-US" sz="1600" dirty="0"/>
          </a:p>
        </p:txBody>
      </p:sp>
      <p:sp>
        <p:nvSpPr>
          <p:cNvPr id="9" name="Text 7"/>
          <p:cNvSpPr txBox="1"/>
          <p:nvPr/>
        </p:nvSpPr>
        <p:spPr>
          <a:xfrm>
            <a:off x="3200400" y="2496312"/>
            <a:ext cx="3749040" cy="841248"/>
          </a:xfrm>
          <a:prstGeom prst="rect">
            <a:avLst/>
          </a:prstGeom>
          <a:noFill/>
          <a:ln/>
        </p:spPr>
        <p:txBody>
          <a:bodyPr wrap="square" lIns="0" tIns="0" rIns="0" bIns="0" rtlCol="0" anchor="ctr"/>
          <a:lstStyle/>
          <a:p>
            <a:pPr indent="0" marL="0">
              <a:buNone/>
            </a:pPr>
            <a:r>
              <a:rPr lang="en-US" sz="1400" dirty="0">
                <a:solidFill>
                  <a:srgbClr val="33434A"/>
                </a:solidFill>
                <a:latin typeface="Calibri" pitchFamily="34" charset="0"/>
                <a:ea typeface="Calibri" pitchFamily="34" charset="-122"/>
                <a:cs typeface="Calibri" pitchFamily="34" charset="-120"/>
              </a:rPr>
              <a:t>price · time since last view · session counts</a:t>
            </a:r>
            <a:endParaRPr lang="en-US" sz="1400" dirty="0"/>
          </a:p>
        </p:txBody>
      </p:sp>
      <p:sp>
        <p:nvSpPr>
          <p:cNvPr id="10" name="Shape 8"/>
          <p:cNvSpPr/>
          <p:nvPr/>
        </p:nvSpPr>
        <p:spPr>
          <a:xfrm>
            <a:off x="548640" y="3483864"/>
            <a:ext cx="6583680" cy="841248"/>
          </a:xfrm>
          <a:prstGeom prst="roundRect">
            <a:avLst>
              <a:gd name="adj" fmla="val 8696"/>
            </a:avLst>
          </a:prstGeom>
          <a:solidFill>
            <a:srgbClr val="F1F4F4"/>
          </a:solidFill>
          <a:ln/>
        </p:spPr>
      </p:sp>
      <p:sp>
        <p:nvSpPr>
          <p:cNvPr id="11" name="Text 9"/>
          <p:cNvSpPr txBox="1"/>
          <p:nvPr/>
        </p:nvSpPr>
        <p:spPr>
          <a:xfrm>
            <a:off x="822960" y="3483864"/>
            <a:ext cx="2377440" cy="841248"/>
          </a:xfrm>
          <a:prstGeom prst="rect">
            <a:avLst/>
          </a:prstGeom>
          <a:noFill/>
          <a:ln/>
        </p:spPr>
        <p:txBody>
          <a:bodyPr wrap="square" lIns="0" tIns="0" rIns="0" bIns="0" rtlCol="0" anchor="ctr"/>
          <a:lstStyle/>
          <a:p>
            <a:pPr indent="0" marL="0">
              <a:buNone/>
            </a:pPr>
            <a:r>
              <a:rPr lang="en-US" sz="1600" b="1" dirty="0">
                <a:solidFill>
                  <a:srgbClr val="13262F"/>
                </a:solidFill>
                <a:latin typeface="Calibri" pitchFamily="34" charset="0"/>
                <a:ea typeface="Calibri" pitchFamily="34" charset="-122"/>
                <a:cs typeface="Calibri" pitchFamily="34" charset="-120"/>
              </a:rPr>
              <a:t>User context</a:t>
            </a:r>
            <a:endParaRPr lang="en-US" sz="1600" dirty="0"/>
          </a:p>
        </p:txBody>
      </p:sp>
      <p:sp>
        <p:nvSpPr>
          <p:cNvPr id="12" name="Text 10"/>
          <p:cNvSpPr txBox="1"/>
          <p:nvPr/>
        </p:nvSpPr>
        <p:spPr>
          <a:xfrm>
            <a:off x="3200400" y="3483864"/>
            <a:ext cx="3749040" cy="841248"/>
          </a:xfrm>
          <a:prstGeom prst="rect">
            <a:avLst/>
          </a:prstGeom>
          <a:noFill/>
          <a:ln/>
        </p:spPr>
        <p:txBody>
          <a:bodyPr wrap="square" lIns="0" tIns="0" rIns="0" bIns="0" rtlCol="0" anchor="ctr"/>
          <a:lstStyle/>
          <a:p>
            <a:pPr indent="0" marL="0">
              <a:buNone/>
            </a:pPr>
            <a:r>
              <a:rPr lang="en-US" sz="1400" dirty="0">
                <a:solidFill>
                  <a:srgbClr val="33434A"/>
                </a:solidFill>
                <a:latin typeface="Calibri" pitchFamily="34" charset="0"/>
                <a:ea typeface="Calibri" pitchFamily="34" charset="-122"/>
                <a:cs typeface="Calibri" pitchFamily="34" charset="-120"/>
              </a:rPr>
              <a:t>brand / category match share · price vs usual</a:t>
            </a:r>
            <a:endParaRPr lang="en-US" sz="1400" dirty="0"/>
          </a:p>
        </p:txBody>
      </p:sp>
      <p:sp>
        <p:nvSpPr>
          <p:cNvPr id="13" name="Shape 11"/>
          <p:cNvSpPr/>
          <p:nvPr/>
        </p:nvSpPr>
        <p:spPr>
          <a:xfrm>
            <a:off x="548640" y="4471416"/>
            <a:ext cx="6583680" cy="841248"/>
          </a:xfrm>
          <a:prstGeom prst="roundRect">
            <a:avLst>
              <a:gd name="adj" fmla="val 8696"/>
            </a:avLst>
          </a:prstGeom>
          <a:solidFill>
            <a:srgbClr val="FFFFFF"/>
          </a:solidFill>
          <a:ln w="12700">
            <a:solidFill>
              <a:srgbClr val="D5DDDF"/>
            </a:solidFill>
            <a:prstDash val="solid"/>
          </a:ln>
        </p:spPr>
      </p:sp>
      <p:sp>
        <p:nvSpPr>
          <p:cNvPr id="14" name="Text 12"/>
          <p:cNvSpPr txBox="1"/>
          <p:nvPr/>
        </p:nvSpPr>
        <p:spPr>
          <a:xfrm>
            <a:off x="822960" y="4471416"/>
            <a:ext cx="2377440" cy="841248"/>
          </a:xfrm>
          <a:prstGeom prst="rect">
            <a:avLst/>
          </a:prstGeom>
          <a:noFill/>
          <a:ln/>
        </p:spPr>
        <p:txBody>
          <a:bodyPr wrap="square" lIns="0" tIns="0" rIns="0" bIns="0" rtlCol="0" anchor="ctr"/>
          <a:lstStyle/>
          <a:p>
            <a:pPr indent="0" marL="0">
              <a:buNone/>
            </a:pPr>
            <a:r>
              <a:rPr lang="en-US" sz="1600" b="1" dirty="0">
                <a:solidFill>
                  <a:srgbClr val="13262F"/>
                </a:solidFill>
                <a:latin typeface="Calibri" pitchFamily="34" charset="0"/>
                <a:ea typeface="Calibri" pitchFamily="34" charset="-122"/>
                <a:cs typeface="Calibri" pitchFamily="34" charset="-120"/>
              </a:rPr>
              <a:t>Quality flags &amp; masks</a:t>
            </a:r>
            <a:endParaRPr lang="en-US" sz="1600" dirty="0"/>
          </a:p>
        </p:txBody>
      </p:sp>
      <p:sp>
        <p:nvSpPr>
          <p:cNvPr id="15" name="Text 13"/>
          <p:cNvSpPr txBox="1"/>
          <p:nvPr/>
        </p:nvSpPr>
        <p:spPr>
          <a:xfrm>
            <a:off x="3200400" y="4471416"/>
            <a:ext cx="3749040" cy="841248"/>
          </a:xfrm>
          <a:prstGeom prst="rect">
            <a:avLst/>
          </a:prstGeom>
          <a:noFill/>
          <a:ln/>
        </p:spPr>
        <p:txBody>
          <a:bodyPr wrap="square" lIns="0" tIns="0" rIns="0" bIns="0" rtlCol="0" anchor="ctr"/>
          <a:lstStyle/>
          <a:p>
            <a:pPr indent="0" marL="0">
              <a:buNone/>
            </a:pPr>
            <a:r>
              <a:rPr lang="en-US" sz="1400" dirty="0">
                <a:solidFill>
                  <a:srgbClr val="33434A"/>
                </a:solidFill>
                <a:latin typeface="Calibri" pitchFamily="34" charset="0"/>
                <a:ea typeface="Calibri" pitchFamily="34" charset="-122"/>
                <a:cs typeface="Calibri" pitchFamily="34" charset="-120"/>
              </a:rPr>
              <a:t>price missing · history available</a:t>
            </a:r>
            <a:endParaRPr lang="en-US" sz="1400" dirty="0"/>
          </a:p>
        </p:txBody>
      </p:sp>
      <p:sp>
        <p:nvSpPr>
          <p:cNvPr id="16" name="Text 14"/>
          <p:cNvSpPr txBox="1"/>
          <p:nvPr/>
        </p:nvSpPr>
        <p:spPr>
          <a:xfrm>
            <a:off x="548640" y="5577840"/>
            <a:ext cx="6583680" cy="457200"/>
          </a:xfrm>
          <a:prstGeom prst="rect">
            <a:avLst/>
          </a:prstGeom>
          <a:noFill/>
          <a:ln/>
        </p:spPr>
        <p:txBody>
          <a:bodyPr wrap="square" lIns="0" tIns="0" rIns="0" bIns="0" rtlCol="0" anchor="t"/>
          <a:lstStyle/>
          <a:p>
            <a:pPr indent="0" marL="0">
              <a:buNone/>
            </a:pPr>
            <a:r>
              <a:rPr lang="en-US" sz="1300" i="1" dirty="0">
                <a:solidFill>
                  <a:srgbClr val="5E6E75"/>
                </a:solidFill>
                <a:latin typeface="Calibri" pitchFamily="34" charset="0"/>
                <a:ea typeface="Calibri" pitchFamily="34" charset="-122"/>
                <a:cs typeface="Calibri" pitchFamily="34" charset="-120"/>
              </a:rPr>
              <a:t>Removing all side features clearly hurts; adding more did not help — so we kept the set.</a:t>
            </a:r>
            <a:endParaRPr lang="en-US" sz="1300" dirty="0"/>
          </a:p>
        </p:txBody>
      </p:sp>
      <p:sp>
        <p:nvSpPr>
          <p:cNvPr id="17" name="Shape 15"/>
          <p:cNvSpPr/>
          <p:nvPr/>
        </p:nvSpPr>
        <p:spPr>
          <a:xfrm>
            <a:off x="7498080" y="1508760"/>
            <a:ext cx="4144975" cy="1371600"/>
          </a:xfrm>
          <a:prstGeom prst="roundRect">
            <a:avLst>
              <a:gd name="adj" fmla="val 5333"/>
            </a:avLst>
          </a:prstGeom>
          <a:solidFill>
            <a:srgbClr val="F1F4F4"/>
          </a:solidFill>
          <a:ln/>
        </p:spPr>
      </p:sp>
      <p:sp>
        <p:nvSpPr>
          <p:cNvPr id="18" name="Text 16"/>
          <p:cNvSpPr txBox="1"/>
          <p:nvPr/>
        </p:nvSpPr>
        <p:spPr>
          <a:xfrm>
            <a:off x="7726680" y="1645920"/>
            <a:ext cx="3687775" cy="685800"/>
          </a:xfrm>
          <a:prstGeom prst="rect">
            <a:avLst/>
          </a:prstGeom>
          <a:noFill/>
          <a:ln/>
        </p:spPr>
        <p:txBody>
          <a:bodyPr wrap="square" lIns="0" tIns="0" rIns="0" bIns="0" rtlCol="0" anchor="t"/>
          <a:lstStyle/>
          <a:p>
            <a:pPr indent="0" marL="0">
              <a:buNone/>
            </a:pPr>
            <a:r>
              <a:rPr lang="en-US" sz="3200" b="1" dirty="0">
                <a:solidFill>
                  <a:srgbClr val="5C6B73"/>
                </a:solidFill>
                <a:latin typeface="Cambria" pitchFamily="34" charset="0"/>
                <a:ea typeface="Cambria" pitchFamily="34" charset="-122"/>
                <a:cs typeface="Cambria" pitchFamily="34" charset="-120"/>
              </a:rPr>
              <a:t>58 → 24</a:t>
            </a:r>
            <a:endParaRPr lang="en-US" sz="3200" dirty="0"/>
          </a:p>
        </p:txBody>
      </p:sp>
      <p:sp>
        <p:nvSpPr>
          <p:cNvPr id="19" name="Text 17"/>
          <p:cNvSpPr txBox="1"/>
          <p:nvPr/>
        </p:nvSpPr>
        <p:spPr>
          <a:xfrm>
            <a:off x="7726680" y="2331720"/>
            <a:ext cx="3687775" cy="45720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input columns (earlier → now)</a:t>
            </a:r>
            <a:endParaRPr lang="en-US" sz="1400" dirty="0"/>
          </a:p>
        </p:txBody>
      </p:sp>
      <p:sp>
        <p:nvSpPr>
          <p:cNvPr id="20" name="Shape 18"/>
          <p:cNvSpPr/>
          <p:nvPr/>
        </p:nvSpPr>
        <p:spPr>
          <a:xfrm>
            <a:off x="7498080" y="3063240"/>
            <a:ext cx="4144975" cy="1371600"/>
          </a:xfrm>
          <a:prstGeom prst="roundRect">
            <a:avLst>
              <a:gd name="adj" fmla="val 5333"/>
            </a:avLst>
          </a:prstGeom>
          <a:solidFill>
            <a:srgbClr val="D8ECEC"/>
          </a:solidFill>
          <a:ln/>
        </p:spPr>
      </p:sp>
      <p:sp>
        <p:nvSpPr>
          <p:cNvPr id="21" name="Text 19"/>
          <p:cNvSpPr txBox="1"/>
          <p:nvPr/>
        </p:nvSpPr>
        <p:spPr>
          <a:xfrm>
            <a:off x="7726680" y="3200400"/>
            <a:ext cx="3687775" cy="685800"/>
          </a:xfrm>
          <a:prstGeom prst="rect">
            <a:avLst/>
          </a:prstGeom>
          <a:noFill/>
          <a:ln/>
        </p:spPr>
        <p:txBody>
          <a:bodyPr wrap="square" lIns="0" tIns="0" rIns="0" bIns="0" rtlCol="0" anchor="t"/>
          <a:lstStyle/>
          <a:p>
            <a:pPr indent="0" marL="0">
              <a:buNone/>
            </a:pPr>
            <a:r>
              <a:rPr lang="en-US" sz="3200" b="1" dirty="0">
                <a:solidFill>
                  <a:srgbClr val="164E57"/>
                </a:solidFill>
                <a:latin typeface="Cambria" pitchFamily="34" charset="0"/>
                <a:ea typeface="Cambria" pitchFamily="34" charset="-122"/>
                <a:cs typeface="Cambria" pitchFamily="34" charset="-120"/>
              </a:rPr>
              <a:t>21 of 24</a:t>
            </a:r>
            <a:endParaRPr lang="en-US" sz="3200" dirty="0"/>
          </a:p>
        </p:txBody>
      </p:sp>
      <p:sp>
        <p:nvSpPr>
          <p:cNvPr id="22" name="Text 20"/>
          <p:cNvSpPr txBox="1"/>
          <p:nvPr/>
        </p:nvSpPr>
        <p:spPr>
          <a:xfrm>
            <a:off x="7726680" y="3886200"/>
            <a:ext cx="3687775" cy="45720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computable on the device itself</a:t>
            </a:r>
            <a:endParaRPr lang="en-US" sz="1400" dirty="0"/>
          </a:p>
        </p:txBody>
      </p:sp>
      <p:sp>
        <p:nvSpPr>
          <p:cNvPr id="23" name="Text 21"/>
          <p:cNvSpPr txBox="1"/>
          <p:nvPr/>
        </p:nvSpPr>
        <p:spPr>
          <a:xfrm>
            <a:off x="7498080" y="4617720"/>
            <a:ext cx="4144975" cy="365760"/>
          </a:xfrm>
          <a:prstGeom prst="rect">
            <a:avLst/>
          </a:prstGeom>
          <a:noFill/>
          <a:ln/>
        </p:spPr>
        <p:txBody>
          <a:bodyPr wrap="square" lIns="0" tIns="0" rIns="0" bIns="0" rtlCol="0" anchor="t"/>
          <a:lstStyle/>
          <a:p>
            <a:pPr indent="0" marL="0">
              <a:buNone/>
            </a:pPr>
            <a:r>
              <a:rPr lang="en-US" sz="1350" dirty="0">
                <a:solidFill>
                  <a:srgbClr val="33434A"/>
                </a:solidFill>
                <a:latin typeface="Calibri" pitchFamily="34" charset="0"/>
                <a:ea typeface="Calibri" pitchFamily="34" charset="-122"/>
                <a:cs typeface="Calibri" pitchFamily="34" charset="-120"/>
              </a:rPr>
              <a:t>No calendar columns survived.</a:t>
            </a:r>
            <a:endParaRPr lang="en-US" sz="1350" dirty="0"/>
          </a:p>
        </p:txBody>
      </p:sp>
      <p:sp>
        <p:nvSpPr>
          <p:cNvPr id="24" name="Text 2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6</a:t>
            </a:r>
            <a:endParaRPr lang="en-US" sz="1000" dirty="0"/>
          </a:p>
        </p:txBody>
      </p:sp>
      <p:sp>
        <p:nvSpPr>
          <p:cNvPr id="25" name="Text 2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Feature dictionary; feature study; feature search; independent review (features)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SCOPE</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What changed from the proposal, and why</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371600"/>
                <a:gridCol w="3017520"/>
                <a:gridCol w="3108960"/>
                <a:gridCol w="3593592"/>
              </a:tblGrid>
              <a:tr h="621792">
                <a:tc>
                  <a:txBody>
                    <a:bodyPr/>
                    <a:lstStyle/>
                    <a:p>
                      <a:pPr indent="0" marL="0">
                        <a:buNone/>
                      </a:pP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Proposal</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Now</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r>
              <a:tr h="621792">
                <a:tc>
                  <a:txBody>
                    <a:bodyPr/>
                    <a:lstStyle/>
                    <a:p>
                      <a:pPr indent="0" marL="0">
                        <a:buNone/>
                      </a:pPr>
                      <a:r>
                        <a:rPr lang="en-US" sz="1400" b="1" dirty="0">
                          <a:solidFill>
                            <a:srgbClr val="13262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400" dirty="0">
                          <a:solidFill>
                            <a:srgbClr val="33434A"/>
                          </a:solidFill>
                          <a:latin typeface="Calibri" pitchFamily="34" charset="0"/>
                          <a:ea typeface="Calibri" pitchFamily="34" charset="-122"/>
                          <a:cs typeface="Calibri" pitchFamily="34" charset="-120"/>
                        </a:rPr>
                        <a:t>Next category, purchase, offers</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400" dirty="0">
                          <a:solidFill>
                            <a:srgbClr val="33434A"/>
                          </a:solidFill>
                          <a:latin typeface="Calibri" pitchFamily="34" charset="0"/>
                          <a:ea typeface="Calibri" pitchFamily="34" charset="-122"/>
                          <a:cs typeface="Calibri" pitchFamily="34" charset="-120"/>
                        </a:rPr>
                        <a:t>Next product viewed</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400" dirty="0">
                          <a:solidFill>
                            <a:srgbClr val="33434A"/>
                          </a:solidFill>
                          <a:latin typeface="Calibri" pitchFamily="34" charset="0"/>
                          <a:ea typeface="Calibri" pitchFamily="34" charset="-122"/>
                          <a:cs typeface="Calibri" pitchFamily="34" charset="-120"/>
                        </a:rPr>
                        <a:t>Harder, standard, has a benchmark</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621792">
                <a:tc>
                  <a:txBody>
                    <a:bodyPr/>
                    <a:lstStyle/>
                    <a:p>
                      <a:pPr indent="0" marL="0">
                        <a:buNone/>
                      </a:pPr>
                      <a:r>
                        <a:rPr lang="en-US" sz="1400" b="1" dirty="0">
                          <a:solidFill>
                            <a:srgbClr val="13262F"/>
                          </a:solidFill>
                          <a:latin typeface="Calibri" pitchFamily="34" charset="0"/>
                          <a:ea typeface="Calibri" pitchFamily="34" charset="-122"/>
                          <a:cs typeface="Calibri" pitchFamily="34" charset="-120"/>
                        </a:rPr>
                        <a:t>Data</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400" dirty="0">
                          <a:solidFill>
                            <a:srgbClr val="33434A"/>
                          </a:solidFill>
                          <a:latin typeface="Calibri" pitchFamily="34" charset="0"/>
                          <a:ea typeface="Calibri" pitchFamily="34" charset="-122"/>
                          <a:cs typeface="Calibri" pitchFamily="34" charset="-120"/>
                        </a:rPr>
                        <a:t>Five public datasets</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400" dirty="0">
                          <a:solidFill>
                            <a:srgbClr val="33434A"/>
                          </a:solidFill>
                          <a:latin typeface="Calibri" pitchFamily="34" charset="0"/>
                          <a:ea typeface="Calibri" pitchFamily="34" charset="-122"/>
                          <a:cs typeface="Calibri" pitchFamily="34" charset="-120"/>
                        </a:rPr>
                        <a:t>REES46 (per-user, timestamped)</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400" dirty="0">
                          <a:solidFill>
                            <a:srgbClr val="33434A"/>
                          </a:solidFill>
                          <a:latin typeface="Calibri" pitchFamily="34" charset="0"/>
                          <a:ea typeface="Calibri" pitchFamily="34" charset="-122"/>
                          <a:cs typeface="Calibri" pitchFamily="34" charset="-120"/>
                        </a:rPr>
                        <a:t>Each user can be simulated as one device</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3262F"/>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400" dirty="0">
                          <a:solidFill>
                            <a:srgbClr val="33434A"/>
                          </a:solidFill>
                          <a:latin typeface="Calibri" pitchFamily="34" charset="0"/>
                          <a:ea typeface="Calibri" pitchFamily="34" charset="-122"/>
                          <a:cs typeface="Calibri" pitchFamily="34" charset="-120"/>
                        </a:rPr>
                        <a:t>NDCG@10, HR@10, AUC</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400" dirty="0">
                          <a:solidFill>
                            <a:srgbClr val="33434A"/>
                          </a:solidFill>
                          <a:latin typeface="Calibri" pitchFamily="34" charset="0"/>
                          <a:ea typeface="Calibri" pitchFamily="34" charset="-122"/>
                          <a:cs typeface="Calibri" pitchFamily="34" charset="-120"/>
                        </a:rPr>
                        <a:t>MRR@20 per user</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400" dirty="0">
                          <a:solidFill>
                            <a:srgbClr val="33434A"/>
                          </a:solidFill>
                          <a:latin typeface="Calibri" pitchFamily="34" charset="0"/>
                          <a:ea typeface="Calibri" pitchFamily="34" charset="-122"/>
                          <a:cs typeface="Calibri" pitchFamily="34" charset="-120"/>
                        </a:rPr>
                        <a:t>Matches a browser serving one user</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621792">
                <a:tc>
                  <a:txBody>
                    <a:bodyPr/>
                    <a:lstStyle/>
                    <a:p>
                      <a:pPr indent="0" marL="0">
                        <a:buNone/>
                      </a:pPr>
                      <a:r>
                        <a:rPr lang="en-US" sz="1400" b="1" dirty="0">
                          <a:solidFill>
                            <a:srgbClr val="13262F"/>
                          </a:solidFill>
                          <a:latin typeface="Calibri" pitchFamily="34" charset="0"/>
                          <a:ea typeface="Calibri" pitchFamily="34" charset="-122"/>
                          <a:cs typeface="Calibri" pitchFamily="34" charset="-120"/>
                        </a:rPr>
                        <a:t>Federated</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400" dirty="0">
                          <a:solidFill>
                            <a:srgbClr val="33434A"/>
                          </a:solidFill>
                          <a:latin typeface="Calibri" pitchFamily="34" charset="0"/>
                          <a:ea typeface="Calibri" pitchFamily="34" charset="-122"/>
                          <a:cs typeface="Calibri" pitchFamily="34" charset="-120"/>
                        </a:rPr>
                        <a:t>FedAvg, FedProx, FedBN, personalised</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400" dirty="0">
                          <a:solidFill>
                            <a:srgbClr val="33434A"/>
                          </a:solidFill>
                          <a:latin typeface="Calibri" pitchFamily="34" charset="0"/>
                          <a:ea typeface="Calibri" pitchFamily="34" charset="-122"/>
                          <a:cs typeface="Calibri" pitchFamily="34" charset="-120"/>
                        </a:rPr>
                        <a:t>Same minus FedBN; + tuned optimizers</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400" dirty="0">
                          <a:solidFill>
                            <a:srgbClr val="33434A"/>
                          </a:solidFill>
                          <a:latin typeface="Calibri" pitchFamily="34" charset="0"/>
                          <a:ea typeface="Calibri" pitchFamily="34" charset="-122"/>
                          <a:cs typeface="Calibri" pitchFamily="34" charset="-120"/>
                        </a:rPr>
                        <a:t>Our model uses layer norm, not batch norm</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3262F"/>
                          </a:solidFill>
                          <a:latin typeface="Calibri" pitchFamily="34" charset="0"/>
                          <a:ea typeface="Calibri" pitchFamily="34" charset="-122"/>
                          <a:cs typeface="Calibri" pitchFamily="34" charset="-120"/>
                        </a:rPr>
                        <a:t>Privacy</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400" dirty="0">
                          <a:solidFill>
                            <a:srgbClr val="33434A"/>
                          </a:solidFill>
                          <a:latin typeface="Calibri" pitchFamily="34" charset="0"/>
                          <a:ea typeface="Calibri" pitchFamily="34" charset="-122"/>
                          <a:cs typeface="Calibri" pitchFamily="34" charset="-120"/>
                        </a:rPr>
                        <a:t>“Various levels”</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400" dirty="0">
                          <a:solidFill>
                            <a:srgbClr val="33434A"/>
                          </a:solidFill>
                          <a:latin typeface="Calibri" pitchFamily="34" charset="0"/>
                          <a:ea typeface="Calibri" pitchFamily="34" charset="-122"/>
                          <a:cs typeface="Calibri" pitchFamily="34" charset="-120"/>
                        </a:rPr>
                        <a:t>DP at ε = 8 and ε = 1</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400" dirty="0">
                          <a:solidFill>
                            <a:srgbClr val="33434A"/>
                          </a:solidFill>
                          <a:latin typeface="Calibri" pitchFamily="34" charset="0"/>
                          <a:ea typeface="Calibri" pitchFamily="34" charset="-122"/>
                          <a:cs typeface="Calibri" pitchFamily="34" charset="-120"/>
                        </a:rPr>
                        <a:t>Makes privacy measurable</a:t>
                      </a:r>
                      <a:endParaRPr lang="en-US" sz="1400" dirty="0">
                        <a:latin typeface="Calibri" charset="0"/>
                        <a:ea typeface="Calibri" charset="0"/>
                        <a:cs typeface="Calibri" charset="0"/>
                      </a:endParaRPr>
                    </a:p>
                  </a:txBody>
                  <a:tcPr marL="101600" marR="101600" marT="76200" marB="762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bl>
          </a:graphicData>
        </a:graphic>
      </p:graphicFrame>
      <p:sp>
        <p:nvSpPr>
          <p:cNvPr id="5" name="Text 2"/>
          <p:cNvSpPr txBox="1"/>
          <p:nvPr/>
        </p:nvSpPr>
        <p:spPr>
          <a:xfrm>
            <a:off x="548640" y="5669280"/>
            <a:ext cx="11094415" cy="365760"/>
          </a:xfrm>
          <a:prstGeom prst="rect">
            <a:avLst/>
          </a:prstGeom>
          <a:noFill/>
          <a:ln/>
        </p:spPr>
        <p:txBody>
          <a:bodyPr wrap="square" lIns="0" tIns="0" rIns="0" bIns="0" rtlCol="0" anchor="t"/>
          <a:lstStyle/>
          <a:p>
            <a:pPr indent="0" marL="0">
              <a:buNone/>
            </a:pPr>
            <a:r>
              <a:rPr lang="en-US" sz="1350" i="1" dirty="0">
                <a:solidFill>
                  <a:srgbClr val="5E6E75"/>
                </a:solidFill>
                <a:latin typeface="Calibri" pitchFamily="34" charset="0"/>
                <a:ea typeface="Calibri" pitchFamily="34" charset="-122"/>
                <a:cs typeface="Calibri" pitchFamily="34" charset="-120"/>
              </a:rPr>
              <a:t>Kept: cloud upper bound · federated and on-device variants · cold start · communication cost · browser check.</a:t>
            </a:r>
            <a:endParaRPr lang="en-US" sz="1350" dirty="0"/>
          </a:p>
        </p:txBody>
      </p:sp>
      <p:sp>
        <p:nvSpPr>
          <p:cNvPr id="6" name="Text 3"/>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7</a:t>
            </a:r>
            <a:endParaRPr lang="en-US" sz="1000" dirty="0"/>
          </a:p>
        </p:txBody>
      </p:sp>
      <p:sp>
        <p:nvSpPr>
          <p:cNvPr id="7" name="Text 4"/>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Research proposal §§3–4; study description; realism audit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PHASE 4 — DATA AND TASK</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Next product, ranked over the whole catalogue</a:t>
            </a:r>
            <a:endParaRPr lang="en-US" sz="3000" dirty="0"/>
          </a:p>
        </p:txBody>
      </p:sp>
      <p:sp>
        <p:nvSpPr>
          <p:cNvPr id="4" name="Shape 2"/>
          <p:cNvSpPr/>
          <p:nvPr/>
        </p:nvSpPr>
        <p:spPr>
          <a:xfrm>
            <a:off x="548640" y="1463040"/>
            <a:ext cx="3515258" cy="1463040"/>
          </a:xfrm>
          <a:prstGeom prst="roundRect">
            <a:avLst>
              <a:gd name="adj" fmla="val 5000"/>
            </a:avLst>
          </a:prstGeom>
          <a:solidFill>
            <a:srgbClr val="F1F4F4"/>
          </a:solidFill>
          <a:ln/>
        </p:spPr>
      </p:sp>
      <p:sp>
        <p:nvSpPr>
          <p:cNvPr id="5" name="Text 3"/>
          <p:cNvSpPr txBox="1"/>
          <p:nvPr/>
        </p:nvSpPr>
        <p:spPr>
          <a:xfrm>
            <a:off x="777240" y="1600200"/>
            <a:ext cx="3058058"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158,486</a:t>
            </a:r>
            <a:endParaRPr lang="en-US" sz="3200" dirty="0"/>
          </a:p>
        </p:txBody>
      </p:sp>
      <p:sp>
        <p:nvSpPr>
          <p:cNvPr id="6" name="Text 4"/>
          <p:cNvSpPr txBox="1"/>
          <p:nvPr/>
        </p:nvSpPr>
        <p:spPr>
          <a:xfrm>
            <a:off x="777240" y="2286000"/>
            <a:ext cx="3058058" cy="54864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products ranked for every prediction</a:t>
            </a:r>
            <a:endParaRPr lang="en-US" sz="1400" dirty="0"/>
          </a:p>
        </p:txBody>
      </p:sp>
      <p:sp>
        <p:nvSpPr>
          <p:cNvPr id="7" name="Shape 5"/>
          <p:cNvSpPr/>
          <p:nvPr/>
        </p:nvSpPr>
        <p:spPr>
          <a:xfrm>
            <a:off x="4338218" y="1463040"/>
            <a:ext cx="3515258" cy="1463040"/>
          </a:xfrm>
          <a:prstGeom prst="roundRect">
            <a:avLst>
              <a:gd name="adj" fmla="val 5000"/>
            </a:avLst>
          </a:prstGeom>
          <a:solidFill>
            <a:srgbClr val="F1F4F4"/>
          </a:solidFill>
          <a:ln/>
        </p:spPr>
      </p:sp>
      <p:sp>
        <p:nvSpPr>
          <p:cNvPr id="8" name="Text 6"/>
          <p:cNvSpPr txBox="1"/>
          <p:nvPr/>
        </p:nvSpPr>
        <p:spPr>
          <a:xfrm>
            <a:off x="4566818" y="1600200"/>
            <a:ext cx="3058058"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131,072</a:t>
            </a:r>
            <a:endParaRPr lang="en-US" sz="3200" dirty="0"/>
          </a:p>
        </p:txBody>
      </p:sp>
      <p:sp>
        <p:nvSpPr>
          <p:cNvPr id="9" name="Text 7"/>
          <p:cNvSpPr txBox="1"/>
          <p:nvPr/>
        </p:nvSpPr>
        <p:spPr>
          <a:xfrm>
            <a:off x="4566818" y="2286000"/>
            <a:ext cx="3058058" cy="54864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users in the main cohort — each one a simulated device</a:t>
            </a:r>
            <a:endParaRPr lang="en-US" sz="1400" dirty="0"/>
          </a:p>
        </p:txBody>
      </p:sp>
      <p:sp>
        <p:nvSpPr>
          <p:cNvPr id="10" name="Shape 8"/>
          <p:cNvSpPr/>
          <p:nvPr/>
        </p:nvSpPr>
        <p:spPr>
          <a:xfrm>
            <a:off x="8127797" y="1463040"/>
            <a:ext cx="3515258" cy="1463040"/>
          </a:xfrm>
          <a:prstGeom prst="roundRect">
            <a:avLst>
              <a:gd name="adj" fmla="val 5000"/>
            </a:avLst>
          </a:prstGeom>
          <a:solidFill>
            <a:srgbClr val="F1F4F4"/>
          </a:solidFill>
          <a:ln/>
        </p:spPr>
      </p:sp>
      <p:sp>
        <p:nvSpPr>
          <p:cNvPr id="11" name="Text 9"/>
          <p:cNvSpPr txBox="1"/>
          <p:nvPr/>
        </p:nvSpPr>
        <p:spPr>
          <a:xfrm>
            <a:off x="8356397" y="1600200"/>
            <a:ext cx="3058058" cy="685800"/>
          </a:xfrm>
          <a:prstGeom prst="rect">
            <a:avLst/>
          </a:prstGeom>
          <a:noFill/>
          <a:ln/>
        </p:spPr>
        <p:txBody>
          <a:bodyPr wrap="square" lIns="0" tIns="0" rIns="0" bIns="0" rtlCol="0" anchor="t"/>
          <a:lstStyle/>
          <a:p>
            <a:pPr indent="0" marL="0">
              <a:buNone/>
            </a:pPr>
            <a:r>
              <a:rPr lang="en-US" sz="3200" b="1" dirty="0">
                <a:solidFill>
                  <a:srgbClr val="1F7A80"/>
                </a:solidFill>
                <a:latin typeface="Cambria" pitchFamily="34" charset="0"/>
                <a:ea typeface="Cambria" pitchFamily="34" charset="-122"/>
                <a:cs typeface="Cambria" pitchFamily="34" charset="-120"/>
              </a:rPr>
              <a:t>1.35 M</a:t>
            </a:r>
            <a:endParaRPr lang="en-US" sz="3200" dirty="0"/>
          </a:p>
        </p:txBody>
      </p:sp>
      <p:sp>
        <p:nvSpPr>
          <p:cNvPr id="12" name="Text 10"/>
          <p:cNvSpPr txBox="1"/>
          <p:nvPr/>
        </p:nvSpPr>
        <p:spPr>
          <a:xfrm>
            <a:off x="8356397" y="2286000"/>
            <a:ext cx="3058058" cy="54864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users behind the realistic full-pool cloud</a:t>
            </a:r>
            <a:endParaRPr lang="en-US" sz="1400" dirty="0"/>
          </a:p>
        </p:txBody>
      </p:sp>
      <p:sp>
        <p:nvSpPr>
          <p:cNvPr id="13" name="Text 11"/>
          <p:cNvSpPr txBox="1"/>
          <p:nvPr/>
        </p:nvSpPr>
        <p:spPr>
          <a:xfrm>
            <a:off x="548640" y="3246120"/>
            <a:ext cx="7315200" cy="320040"/>
          </a:xfrm>
          <a:prstGeom prst="rect">
            <a:avLst/>
          </a:prstGeom>
          <a:noFill/>
          <a:ln/>
        </p:spPr>
        <p:txBody>
          <a:bodyPr wrap="square" lIns="0" tIns="0" rIns="0" bIns="0" rtlCol="0" anchor="t"/>
          <a:lstStyle/>
          <a:p>
            <a:pPr indent="0" marL="0">
              <a:buNone/>
            </a:pPr>
            <a:r>
              <a:rPr lang="en-US" sz="1600" b="1" dirty="0">
                <a:solidFill>
                  <a:srgbClr val="13262F"/>
                </a:solidFill>
                <a:latin typeface="Calibri" pitchFamily="34" charset="0"/>
                <a:ea typeface="Calibri" pitchFamily="34" charset="-122"/>
                <a:cs typeface="Calibri" pitchFamily="34" charset="-120"/>
              </a:rPr>
              <a:t>Chronological split — the model never sees the future</a:t>
            </a:r>
            <a:endParaRPr lang="en-US" sz="1600" dirty="0"/>
          </a:p>
        </p:txBody>
      </p:sp>
      <p:sp>
        <p:nvSpPr>
          <p:cNvPr id="14" name="Shape 12"/>
          <p:cNvSpPr/>
          <p:nvPr/>
        </p:nvSpPr>
        <p:spPr>
          <a:xfrm>
            <a:off x="548640" y="3703320"/>
            <a:ext cx="7729515" cy="548640"/>
          </a:xfrm>
          <a:prstGeom prst="rect">
            <a:avLst/>
          </a:prstGeom>
          <a:solidFill>
            <a:srgbClr val="5C6B73"/>
          </a:solidFill>
          <a:ln/>
        </p:spPr>
      </p:sp>
      <p:sp>
        <p:nvSpPr>
          <p:cNvPr id="15" name="Text 13"/>
          <p:cNvSpPr txBox="1"/>
          <p:nvPr/>
        </p:nvSpPr>
        <p:spPr>
          <a:xfrm>
            <a:off x="640080" y="3703320"/>
            <a:ext cx="7583211"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Training — Oct to 15 Nov 2019</a:t>
            </a:r>
            <a:endParaRPr lang="en-US" sz="1300" dirty="0"/>
          </a:p>
        </p:txBody>
      </p:sp>
      <p:sp>
        <p:nvSpPr>
          <p:cNvPr id="16" name="Shape 14"/>
          <p:cNvSpPr/>
          <p:nvPr/>
        </p:nvSpPr>
        <p:spPr>
          <a:xfrm>
            <a:off x="8314731" y="3703320"/>
            <a:ext cx="1627586" cy="548640"/>
          </a:xfrm>
          <a:prstGeom prst="rect">
            <a:avLst/>
          </a:prstGeom>
          <a:solidFill>
            <a:srgbClr val="1F7A80"/>
          </a:solidFill>
          <a:ln/>
        </p:spPr>
      </p:sp>
      <p:sp>
        <p:nvSpPr>
          <p:cNvPr id="17" name="Text 15"/>
          <p:cNvSpPr txBox="1"/>
          <p:nvPr/>
        </p:nvSpPr>
        <p:spPr>
          <a:xfrm>
            <a:off x="8406171" y="3703320"/>
            <a:ext cx="1481282"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Validation — 16–22 Nov</a:t>
            </a:r>
            <a:endParaRPr lang="en-US" sz="1300" dirty="0"/>
          </a:p>
        </p:txBody>
      </p:sp>
      <p:sp>
        <p:nvSpPr>
          <p:cNvPr id="18" name="Shape 16"/>
          <p:cNvSpPr/>
          <p:nvPr/>
        </p:nvSpPr>
        <p:spPr>
          <a:xfrm>
            <a:off x="9978893" y="3703320"/>
            <a:ext cx="1627586" cy="548640"/>
          </a:xfrm>
          <a:prstGeom prst="rect">
            <a:avLst/>
          </a:prstGeom>
          <a:solidFill>
            <a:srgbClr val="E0932B"/>
          </a:solidFill>
          <a:ln/>
        </p:spPr>
      </p:sp>
      <p:sp>
        <p:nvSpPr>
          <p:cNvPr id="19" name="Text 17"/>
          <p:cNvSpPr txBox="1"/>
          <p:nvPr/>
        </p:nvSpPr>
        <p:spPr>
          <a:xfrm>
            <a:off x="10070333" y="3703320"/>
            <a:ext cx="1481282" cy="548640"/>
          </a:xfrm>
          <a:prstGeom prst="rect">
            <a:avLst/>
          </a:prstGeom>
          <a:noFill/>
          <a:ln/>
        </p:spPr>
        <p:txBody>
          <a:bodyPr wrap="square" lIns="0" tIns="0" rIns="0" bIns="0" rtlCol="0" anchor="ctr"/>
          <a:lstStyle/>
          <a:p>
            <a:pPr indent="0" marL="0">
              <a:buNone/>
            </a:pPr>
            <a:r>
              <a:rPr lang="en-US" sz="1300" b="1" dirty="0">
                <a:solidFill>
                  <a:srgbClr val="13262F"/>
                </a:solidFill>
                <a:latin typeface="Calibri" pitchFamily="34" charset="0"/>
                <a:ea typeface="Calibri" pitchFamily="34" charset="-122"/>
                <a:cs typeface="Calibri" pitchFamily="34" charset="-120"/>
              </a:rPr>
              <a:t>Test — 23–29 Nov (sealed)</a:t>
            </a:r>
            <a:endParaRPr lang="en-US" sz="1300" dirty="0"/>
          </a:p>
        </p:txBody>
      </p:sp>
      <p:sp>
        <p:nvSpPr>
          <p:cNvPr id="20" name="Text 18"/>
          <p:cNvSpPr txBox="1"/>
          <p:nvPr/>
        </p:nvSpPr>
        <p:spPr>
          <a:xfrm>
            <a:off x="548640" y="4572000"/>
            <a:ext cx="11094415" cy="11887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33434A"/>
                </a:solidFill>
                <a:latin typeface="Calibri" pitchFamily="34" charset="0"/>
                <a:ea typeface="Calibri" pitchFamily="34" charset="-122"/>
                <a:cs typeface="Calibri" pitchFamily="34" charset="-120"/>
              </a:rPr>
              <a:t>Users with 5–100 events, so every simulated device has a realistic history.</a:t>
            </a:r>
            <a:endParaRPr lang="en-US" sz="1500" dirty="0"/>
          </a:p>
          <a:p>
            <a:pPr marL="203200" indent="-203200">
              <a:spcAft>
                <a:spcPts val="600"/>
              </a:spcAft>
              <a:buSzPct val="100000"/>
              <a:buChar char="•"/>
            </a:pPr>
            <a:r>
              <a:rPr lang="en-US" sz="1500" dirty="0">
                <a:solidFill>
                  <a:srgbClr val="33434A"/>
                </a:solidFill>
                <a:latin typeface="Calibri" pitchFamily="34" charset="0"/>
                <a:ea typeface="Calibri" pitchFamily="34" charset="-122"/>
                <a:cs typeface="Calibri" pitchFamily="34" charset="-120"/>
              </a:rPr>
              <a:t>Tuning only on a separate calibration subset; the test week is opened once, after everything is locked.</a:t>
            </a:r>
            <a:endParaRPr lang="en-US" sz="1500" dirty="0"/>
          </a:p>
        </p:txBody>
      </p:sp>
      <p:sp>
        <p:nvSpPr>
          <p:cNvPr id="21" name="Text 19"/>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8</a:t>
            </a:r>
            <a:endParaRPr lang="en-US" sz="1000" dirty="0"/>
          </a:p>
        </p:txBody>
      </p:sp>
      <p:sp>
        <p:nvSpPr>
          <p:cNvPr id="22" name="Text 20"/>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Data protocol and population lock; study description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How we keep the comparison fair</a:t>
            </a:r>
            <a:endParaRPr lang="en-US" sz="3000" dirty="0"/>
          </a:p>
        </p:txBody>
      </p:sp>
      <p:sp>
        <p:nvSpPr>
          <p:cNvPr id="4" name="Shape 2"/>
          <p:cNvSpPr/>
          <p:nvPr/>
        </p:nvSpPr>
        <p:spPr>
          <a:xfrm>
            <a:off x="548640" y="1463040"/>
            <a:ext cx="3515258" cy="2011680"/>
          </a:xfrm>
          <a:prstGeom prst="roundRect">
            <a:avLst>
              <a:gd name="adj" fmla="val 3636"/>
            </a:avLst>
          </a:prstGeom>
          <a:solidFill>
            <a:srgbClr val="F1F4F4"/>
          </a:solidFill>
          <a:ln/>
        </p:spPr>
      </p:sp>
      <p:sp>
        <p:nvSpPr>
          <p:cNvPr id="5" name="Shape 3"/>
          <p:cNvSpPr/>
          <p:nvPr/>
        </p:nvSpPr>
        <p:spPr>
          <a:xfrm>
            <a:off x="822960" y="1737360"/>
            <a:ext cx="384048" cy="384048"/>
          </a:xfrm>
          <a:prstGeom prst="ellipse">
            <a:avLst/>
          </a:prstGeom>
          <a:solidFill>
            <a:srgbClr val="1F7A80"/>
          </a:solidFill>
          <a:ln/>
        </p:spPr>
      </p:sp>
      <p:sp>
        <p:nvSpPr>
          <p:cNvPr id="6" name="Text 4"/>
          <p:cNvSpPr txBox="1"/>
          <p:nvPr/>
        </p:nvSpPr>
        <p:spPr>
          <a:xfrm>
            <a:off x="822960" y="1737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371600" y="1764792"/>
            <a:ext cx="2509418" cy="365760"/>
          </a:xfrm>
          <a:prstGeom prst="rect">
            <a:avLst/>
          </a:prstGeom>
          <a:noFill/>
          <a:ln/>
        </p:spPr>
        <p:txBody>
          <a:bodyPr wrap="square" lIns="0" tIns="0" rIns="0" bIns="0" rtlCol="0" anchor="t"/>
          <a:lstStyle/>
          <a:p>
            <a:pPr indent="0" marL="0">
              <a:buNone/>
            </a:pPr>
            <a:r>
              <a:rPr lang="en-US" sz="1800" b="1" dirty="0">
                <a:solidFill>
                  <a:srgbClr val="13262F"/>
                </a:solidFill>
                <a:latin typeface="Cambria" pitchFamily="34" charset="0"/>
                <a:ea typeface="Cambria" pitchFamily="34" charset="-122"/>
                <a:cs typeface="Cambria" pitchFamily="34" charset="-120"/>
              </a:rPr>
              <a:t>Pre-registered</a:t>
            </a:r>
            <a:endParaRPr lang="en-US" sz="1800" dirty="0"/>
          </a:p>
        </p:txBody>
      </p:sp>
      <p:sp>
        <p:nvSpPr>
          <p:cNvPr id="8" name="Text 6"/>
          <p:cNvSpPr txBox="1"/>
          <p:nvPr/>
        </p:nvSpPr>
        <p:spPr>
          <a:xfrm>
            <a:off x="822960" y="2331720"/>
            <a:ext cx="2966618" cy="1005840"/>
          </a:xfrm>
          <a:prstGeom prst="rect">
            <a:avLst/>
          </a:prstGeom>
          <a:noFill/>
          <a:ln/>
        </p:spPr>
        <p:txBody>
          <a:bodyPr wrap="square" lIns="0" tIns="0" rIns="0" bIns="0" rtlCol="0" anchor="t"/>
          <a:lstStyle/>
          <a:p>
            <a:pPr indent="0" marL="0">
              <a:buNone/>
            </a:pPr>
            <a:r>
              <a:rPr lang="en-US" sz="1500" dirty="0">
                <a:solidFill>
                  <a:srgbClr val="33434A"/>
                </a:solidFill>
                <a:latin typeface="Calibri" pitchFamily="34" charset="0"/>
                <a:ea typeface="Calibri" pitchFamily="34" charset="-122"/>
                <a:cs typeface="Calibri" pitchFamily="34" charset="-120"/>
              </a:rPr>
              <a:t>Rules and comparisons are written and sealed before the result is seen.</a:t>
            </a:r>
            <a:endParaRPr lang="en-US" sz="1500" dirty="0"/>
          </a:p>
        </p:txBody>
      </p:sp>
      <p:sp>
        <p:nvSpPr>
          <p:cNvPr id="9" name="Shape 7"/>
          <p:cNvSpPr/>
          <p:nvPr/>
        </p:nvSpPr>
        <p:spPr>
          <a:xfrm>
            <a:off x="4338218" y="1463040"/>
            <a:ext cx="3515258" cy="2011680"/>
          </a:xfrm>
          <a:prstGeom prst="roundRect">
            <a:avLst>
              <a:gd name="adj" fmla="val 3636"/>
            </a:avLst>
          </a:prstGeom>
          <a:solidFill>
            <a:srgbClr val="D8ECEC"/>
          </a:solidFill>
          <a:ln/>
        </p:spPr>
      </p:sp>
      <p:sp>
        <p:nvSpPr>
          <p:cNvPr id="10" name="Shape 8"/>
          <p:cNvSpPr/>
          <p:nvPr/>
        </p:nvSpPr>
        <p:spPr>
          <a:xfrm>
            <a:off x="4612538" y="1737360"/>
            <a:ext cx="384048" cy="384048"/>
          </a:xfrm>
          <a:prstGeom prst="ellipse">
            <a:avLst/>
          </a:prstGeom>
          <a:solidFill>
            <a:srgbClr val="1F7A80"/>
          </a:solidFill>
          <a:ln/>
        </p:spPr>
      </p:sp>
      <p:sp>
        <p:nvSpPr>
          <p:cNvPr id="11" name="Text 9"/>
          <p:cNvSpPr txBox="1"/>
          <p:nvPr/>
        </p:nvSpPr>
        <p:spPr>
          <a:xfrm>
            <a:off x="4612538" y="1737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5161178" y="1764792"/>
            <a:ext cx="2509418" cy="365760"/>
          </a:xfrm>
          <a:prstGeom prst="rect">
            <a:avLst/>
          </a:prstGeom>
          <a:noFill/>
          <a:ln/>
        </p:spPr>
        <p:txBody>
          <a:bodyPr wrap="square" lIns="0" tIns="0" rIns="0" bIns="0" rtlCol="0" anchor="t"/>
          <a:lstStyle/>
          <a:p>
            <a:pPr indent="0" marL="0">
              <a:buNone/>
            </a:pPr>
            <a:r>
              <a:rPr lang="en-US" sz="1800" b="1" dirty="0">
                <a:solidFill>
                  <a:srgbClr val="13262F"/>
                </a:solidFill>
                <a:latin typeface="Cambria" pitchFamily="34" charset="0"/>
                <a:ea typeface="Cambria" pitchFamily="34" charset="-122"/>
                <a:cs typeface="Cambria" pitchFamily="34" charset="-120"/>
              </a:rPr>
              <a:t>Same budget</a:t>
            </a:r>
            <a:endParaRPr lang="en-US" sz="1800" dirty="0"/>
          </a:p>
        </p:txBody>
      </p:sp>
      <p:sp>
        <p:nvSpPr>
          <p:cNvPr id="13" name="Text 11"/>
          <p:cNvSpPr txBox="1"/>
          <p:nvPr/>
        </p:nvSpPr>
        <p:spPr>
          <a:xfrm>
            <a:off x="4612538" y="2331720"/>
            <a:ext cx="2966618" cy="1005840"/>
          </a:xfrm>
          <a:prstGeom prst="rect">
            <a:avLst/>
          </a:prstGeom>
          <a:noFill/>
          <a:ln/>
        </p:spPr>
        <p:txBody>
          <a:bodyPr wrap="square" lIns="0" tIns="0" rIns="0" bIns="0" rtlCol="0" anchor="t"/>
          <a:lstStyle/>
          <a:p>
            <a:pPr indent="0" marL="0">
              <a:buNone/>
            </a:pPr>
            <a:r>
              <a:rPr lang="en-US" sz="1500" dirty="0">
                <a:solidFill>
                  <a:srgbClr val="33434A"/>
                </a:solidFill>
                <a:latin typeface="Calibri" pitchFamily="34" charset="0"/>
                <a:ea typeface="Calibri" pitchFamily="34" charset="-122"/>
                <a:cs typeface="Calibri" pitchFamily="34" charset="-120"/>
              </a:rPr>
              <a:t>Same data, features, evaluator and training exposure for every method.</a:t>
            </a:r>
            <a:endParaRPr lang="en-US" sz="1500" dirty="0"/>
          </a:p>
        </p:txBody>
      </p:sp>
      <p:sp>
        <p:nvSpPr>
          <p:cNvPr id="14" name="Shape 12"/>
          <p:cNvSpPr/>
          <p:nvPr/>
        </p:nvSpPr>
        <p:spPr>
          <a:xfrm>
            <a:off x="8127797" y="1463040"/>
            <a:ext cx="3515258" cy="2011680"/>
          </a:xfrm>
          <a:prstGeom prst="roundRect">
            <a:avLst>
              <a:gd name="adj" fmla="val 3636"/>
            </a:avLst>
          </a:prstGeom>
          <a:solidFill>
            <a:srgbClr val="F1F4F4"/>
          </a:solidFill>
          <a:ln/>
        </p:spPr>
      </p:sp>
      <p:sp>
        <p:nvSpPr>
          <p:cNvPr id="15" name="Shape 13"/>
          <p:cNvSpPr/>
          <p:nvPr/>
        </p:nvSpPr>
        <p:spPr>
          <a:xfrm>
            <a:off x="8402117" y="1737360"/>
            <a:ext cx="384048" cy="384048"/>
          </a:xfrm>
          <a:prstGeom prst="ellipse">
            <a:avLst/>
          </a:prstGeom>
          <a:solidFill>
            <a:srgbClr val="1F7A80"/>
          </a:solidFill>
          <a:ln/>
        </p:spPr>
      </p:sp>
      <p:sp>
        <p:nvSpPr>
          <p:cNvPr id="16" name="Text 14"/>
          <p:cNvSpPr txBox="1"/>
          <p:nvPr/>
        </p:nvSpPr>
        <p:spPr>
          <a:xfrm>
            <a:off x="8402117" y="1737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8950757" y="1764792"/>
            <a:ext cx="2509418" cy="365760"/>
          </a:xfrm>
          <a:prstGeom prst="rect">
            <a:avLst/>
          </a:prstGeom>
          <a:noFill/>
          <a:ln/>
        </p:spPr>
        <p:txBody>
          <a:bodyPr wrap="square" lIns="0" tIns="0" rIns="0" bIns="0" rtlCol="0" anchor="t"/>
          <a:lstStyle/>
          <a:p>
            <a:pPr indent="0" marL="0">
              <a:buNone/>
            </a:pPr>
            <a:r>
              <a:rPr lang="en-US" sz="1800" b="1" dirty="0">
                <a:solidFill>
                  <a:srgbClr val="13262F"/>
                </a:solidFill>
                <a:latin typeface="Cambria" pitchFamily="34" charset="0"/>
                <a:ea typeface="Cambria" pitchFamily="34" charset="-122"/>
                <a:cs typeface="Cambria" pitchFamily="34" charset="-120"/>
              </a:rPr>
              <a:t>Full catalogue</a:t>
            </a:r>
            <a:endParaRPr lang="en-US" sz="1800" dirty="0"/>
          </a:p>
        </p:txBody>
      </p:sp>
      <p:sp>
        <p:nvSpPr>
          <p:cNvPr id="18" name="Text 16"/>
          <p:cNvSpPr txBox="1"/>
          <p:nvPr/>
        </p:nvSpPr>
        <p:spPr>
          <a:xfrm>
            <a:off x="8402117" y="2331720"/>
            <a:ext cx="2966618" cy="1005840"/>
          </a:xfrm>
          <a:prstGeom prst="rect">
            <a:avLst/>
          </a:prstGeom>
          <a:noFill/>
          <a:ln/>
        </p:spPr>
        <p:txBody>
          <a:bodyPr wrap="square" lIns="0" tIns="0" rIns="0" bIns="0" rtlCol="0" anchor="t"/>
          <a:lstStyle/>
          <a:p>
            <a:pPr indent="0" marL="0">
              <a:buNone/>
            </a:pPr>
            <a:r>
              <a:rPr lang="en-US" sz="1500" dirty="0">
                <a:solidFill>
                  <a:srgbClr val="33434A"/>
                </a:solidFill>
                <a:latin typeface="Calibri" pitchFamily="34" charset="0"/>
                <a:ea typeface="Calibri" pitchFamily="34" charset="-122"/>
                <a:cs typeface="Calibri" pitchFamily="34" charset="-120"/>
              </a:rPr>
              <a:t>Exact ranking over every product; no sampled negatives.</a:t>
            </a:r>
            <a:endParaRPr lang="en-US" sz="1500" dirty="0"/>
          </a:p>
        </p:txBody>
      </p:sp>
      <p:sp>
        <p:nvSpPr>
          <p:cNvPr id="19" name="Shape 17"/>
          <p:cNvSpPr/>
          <p:nvPr/>
        </p:nvSpPr>
        <p:spPr>
          <a:xfrm>
            <a:off x="548640" y="3749040"/>
            <a:ext cx="3515258" cy="2011680"/>
          </a:xfrm>
          <a:prstGeom prst="roundRect">
            <a:avLst>
              <a:gd name="adj" fmla="val 3636"/>
            </a:avLst>
          </a:prstGeom>
          <a:solidFill>
            <a:srgbClr val="F1F4F4"/>
          </a:solidFill>
          <a:ln/>
        </p:spPr>
      </p:sp>
      <p:sp>
        <p:nvSpPr>
          <p:cNvPr id="20" name="Shape 18"/>
          <p:cNvSpPr/>
          <p:nvPr/>
        </p:nvSpPr>
        <p:spPr>
          <a:xfrm>
            <a:off x="822960" y="4023360"/>
            <a:ext cx="384048" cy="384048"/>
          </a:xfrm>
          <a:prstGeom prst="ellipse">
            <a:avLst/>
          </a:prstGeom>
          <a:solidFill>
            <a:srgbClr val="1F7A80"/>
          </a:solidFill>
          <a:ln/>
        </p:spPr>
      </p:sp>
      <p:sp>
        <p:nvSpPr>
          <p:cNvPr id="21" name="Text 19"/>
          <p:cNvSpPr txBox="1"/>
          <p:nvPr/>
        </p:nvSpPr>
        <p:spPr>
          <a:xfrm>
            <a:off x="822960" y="4023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1371600" y="4050792"/>
            <a:ext cx="2509418" cy="365760"/>
          </a:xfrm>
          <a:prstGeom prst="rect">
            <a:avLst/>
          </a:prstGeom>
          <a:noFill/>
          <a:ln/>
        </p:spPr>
        <p:txBody>
          <a:bodyPr wrap="square" lIns="0" tIns="0" rIns="0" bIns="0" rtlCol="0" anchor="t"/>
          <a:lstStyle/>
          <a:p>
            <a:pPr indent="0" marL="0">
              <a:buNone/>
            </a:pPr>
            <a:r>
              <a:rPr lang="en-US" sz="1800" b="1" dirty="0">
                <a:solidFill>
                  <a:srgbClr val="13262F"/>
                </a:solidFill>
                <a:latin typeface="Cambria" pitchFamily="34" charset="0"/>
                <a:ea typeface="Cambria" pitchFamily="34" charset="-122"/>
                <a:cs typeface="Cambria" pitchFamily="34" charset="-120"/>
              </a:rPr>
              <a:t>Paired statistics</a:t>
            </a:r>
            <a:endParaRPr lang="en-US" sz="1800" dirty="0"/>
          </a:p>
        </p:txBody>
      </p:sp>
      <p:sp>
        <p:nvSpPr>
          <p:cNvPr id="23" name="Text 21"/>
          <p:cNvSpPr txBox="1"/>
          <p:nvPr/>
        </p:nvSpPr>
        <p:spPr>
          <a:xfrm>
            <a:off x="822960" y="4617720"/>
            <a:ext cx="2966618" cy="1005840"/>
          </a:xfrm>
          <a:prstGeom prst="rect">
            <a:avLst/>
          </a:prstGeom>
          <a:noFill/>
          <a:ln/>
        </p:spPr>
        <p:txBody>
          <a:bodyPr wrap="square" lIns="0" tIns="0" rIns="0" bIns="0" rtlCol="0" anchor="t"/>
          <a:lstStyle/>
          <a:p>
            <a:pPr indent="0" marL="0">
              <a:buNone/>
            </a:pPr>
            <a:r>
              <a:rPr lang="en-US" sz="1500" dirty="0">
                <a:solidFill>
                  <a:srgbClr val="33434A"/>
                </a:solidFill>
                <a:latin typeface="Calibri" pitchFamily="34" charset="0"/>
                <a:ea typeface="Calibri" pitchFamily="34" charset="-122"/>
                <a:cs typeface="Calibri" pitchFamily="34" charset="-120"/>
              </a:rPr>
              <a:t>Same users for every comparison; two seeds for the main methods.</a:t>
            </a:r>
            <a:endParaRPr lang="en-US" sz="1500" dirty="0"/>
          </a:p>
        </p:txBody>
      </p:sp>
      <p:sp>
        <p:nvSpPr>
          <p:cNvPr id="24" name="Shape 22"/>
          <p:cNvSpPr/>
          <p:nvPr/>
        </p:nvSpPr>
        <p:spPr>
          <a:xfrm>
            <a:off x="4338218" y="3749040"/>
            <a:ext cx="3515258" cy="2011680"/>
          </a:xfrm>
          <a:prstGeom prst="roundRect">
            <a:avLst>
              <a:gd name="adj" fmla="val 3636"/>
            </a:avLst>
          </a:prstGeom>
          <a:solidFill>
            <a:srgbClr val="D8ECEC"/>
          </a:solidFill>
          <a:ln/>
        </p:spPr>
      </p:sp>
      <p:sp>
        <p:nvSpPr>
          <p:cNvPr id="25" name="Shape 23"/>
          <p:cNvSpPr/>
          <p:nvPr/>
        </p:nvSpPr>
        <p:spPr>
          <a:xfrm>
            <a:off x="4612538" y="4023360"/>
            <a:ext cx="384048" cy="384048"/>
          </a:xfrm>
          <a:prstGeom prst="ellipse">
            <a:avLst/>
          </a:prstGeom>
          <a:solidFill>
            <a:srgbClr val="1F7A80"/>
          </a:solidFill>
          <a:ln/>
        </p:spPr>
      </p:sp>
      <p:sp>
        <p:nvSpPr>
          <p:cNvPr id="26" name="Text 24"/>
          <p:cNvSpPr txBox="1"/>
          <p:nvPr/>
        </p:nvSpPr>
        <p:spPr>
          <a:xfrm>
            <a:off x="4612538" y="4023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txBox="1"/>
          <p:nvPr/>
        </p:nvSpPr>
        <p:spPr>
          <a:xfrm>
            <a:off x="5161178" y="4050792"/>
            <a:ext cx="2509418" cy="365760"/>
          </a:xfrm>
          <a:prstGeom prst="rect">
            <a:avLst/>
          </a:prstGeom>
          <a:noFill/>
          <a:ln/>
        </p:spPr>
        <p:txBody>
          <a:bodyPr wrap="square" lIns="0" tIns="0" rIns="0" bIns="0" rtlCol="0" anchor="t"/>
          <a:lstStyle/>
          <a:p>
            <a:pPr indent="0" marL="0">
              <a:buNone/>
            </a:pPr>
            <a:r>
              <a:rPr lang="en-US" sz="1800" b="1" dirty="0">
                <a:solidFill>
                  <a:srgbClr val="13262F"/>
                </a:solidFill>
                <a:latin typeface="Cambria" pitchFamily="34" charset="0"/>
                <a:ea typeface="Cambria" pitchFamily="34" charset="-122"/>
                <a:cs typeface="Cambria" pitchFamily="34" charset="-120"/>
              </a:rPr>
              <a:t>One test look</a:t>
            </a:r>
            <a:endParaRPr lang="en-US" sz="1800" dirty="0"/>
          </a:p>
        </p:txBody>
      </p:sp>
      <p:sp>
        <p:nvSpPr>
          <p:cNvPr id="28" name="Text 26"/>
          <p:cNvSpPr txBox="1"/>
          <p:nvPr/>
        </p:nvSpPr>
        <p:spPr>
          <a:xfrm>
            <a:off x="4612538" y="4617720"/>
            <a:ext cx="2966618" cy="1005840"/>
          </a:xfrm>
          <a:prstGeom prst="rect">
            <a:avLst/>
          </a:prstGeom>
          <a:noFill/>
          <a:ln/>
        </p:spPr>
        <p:txBody>
          <a:bodyPr wrap="square" lIns="0" tIns="0" rIns="0" bIns="0" rtlCol="0" anchor="t"/>
          <a:lstStyle/>
          <a:p>
            <a:pPr indent="0" marL="0">
              <a:buNone/>
            </a:pPr>
            <a:r>
              <a:rPr lang="en-US" sz="1500" dirty="0">
                <a:solidFill>
                  <a:srgbClr val="33434A"/>
                </a:solidFill>
                <a:latin typeface="Calibri" pitchFamily="34" charset="0"/>
                <a:ea typeface="Calibri" pitchFamily="34" charset="-122"/>
                <a:cs typeface="Calibri" pitchFamily="34" charset="-120"/>
              </a:rPr>
              <a:t>Everything is locked, then the test week is opened once.</a:t>
            </a:r>
            <a:endParaRPr lang="en-US" sz="1500" dirty="0"/>
          </a:p>
        </p:txBody>
      </p:sp>
      <p:sp>
        <p:nvSpPr>
          <p:cNvPr id="29" name="Shape 27"/>
          <p:cNvSpPr/>
          <p:nvPr/>
        </p:nvSpPr>
        <p:spPr>
          <a:xfrm>
            <a:off x="8127797" y="3749040"/>
            <a:ext cx="3515258" cy="2011680"/>
          </a:xfrm>
          <a:prstGeom prst="roundRect">
            <a:avLst>
              <a:gd name="adj" fmla="val 3636"/>
            </a:avLst>
          </a:prstGeom>
          <a:solidFill>
            <a:srgbClr val="F1F4F4"/>
          </a:solidFill>
          <a:ln/>
        </p:spPr>
      </p:sp>
      <p:sp>
        <p:nvSpPr>
          <p:cNvPr id="30" name="Shape 28"/>
          <p:cNvSpPr/>
          <p:nvPr/>
        </p:nvSpPr>
        <p:spPr>
          <a:xfrm>
            <a:off x="8402117" y="4023360"/>
            <a:ext cx="384048" cy="384048"/>
          </a:xfrm>
          <a:prstGeom prst="ellipse">
            <a:avLst/>
          </a:prstGeom>
          <a:solidFill>
            <a:srgbClr val="1F7A80"/>
          </a:solidFill>
          <a:ln/>
        </p:spPr>
      </p:sp>
      <p:sp>
        <p:nvSpPr>
          <p:cNvPr id="31" name="Text 29"/>
          <p:cNvSpPr txBox="1"/>
          <p:nvPr/>
        </p:nvSpPr>
        <p:spPr>
          <a:xfrm>
            <a:off x="8402117" y="4023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txBox="1"/>
          <p:nvPr/>
        </p:nvSpPr>
        <p:spPr>
          <a:xfrm>
            <a:off x="8950757" y="4050792"/>
            <a:ext cx="2509418" cy="365760"/>
          </a:xfrm>
          <a:prstGeom prst="rect">
            <a:avLst/>
          </a:prstGeom>
          <a:noFill/>
          <a:ln/>
        </p:spPr>
        <p:txBody>
          <a:bodyPr wrap="square" lIns="0" tIns="0" rIns="0" bIns="0" rtlCol="0" anchor="t"/>
          <a:lstStyle/>
          <a:p>
            <a:pPr indent="0" marL="0">
              <a:buNone/>
            </a:pPr>
            <a:r>
              <a:rPr lang="en-US" sz="1800" b="1" dirty="0">
                <a:solidFill>
                  <a:srgbClr val="13262F"/>
                </a:solidFill>
                <a:latin typeface="Cambria" pitchFamily="34" charset="0"/>
                <a:ea typeface="Cambria" pitchFamily="34" charset="-122"/>
                <a:cs typeface="Cambria" pitchFamily="34" charset="-120"/>
              </a:rPr>
              <a:t>Independent review</a:t>
            </a:r>
            <a:endParaRPr lang="en-US" sz="1800" dirty="0"/>
          </a:p>
        </p:txBody>
      </p:sp>
      <p:sp>
        <p:nvSpPr>
          <p:cNvPr id="33" name="Text 31"/>
          <p:cNvSpPr txBox="1"/>
          <p:nvPr/>
        </p:nvSpPr>
        <p:spPr>
          <a:xfrm>
            <a:off x="8402117" y="4617720"/>
            <a:ext cx="2966618" cy="1005840"/>
          </a:xfrm>
          <a:prstGeom prst="rect">
            <a:avLst/>
          </a:prstGeom>
          <a:noFill/>
          <a:ln/>
        </p:spPr>
        <p:txBody>
          <a:bodyPr wrap="square" lIns="0" tIns="0" rIns="0" bIns="0" rtlCol="0" anchor="t"/>
          <a:lstStyle/>
          <a:p>
            <a:pPr indent="0" marL="0">
              <a:buNone/>
            </a:pPr>
            <a:r>
              <a:rPr lang="en-US" sz="1500" dirty="0">
                <a:solidFill>
                  <a:srgbClr val="33434A"/>
                </a:solidFill>
                <a:latin typeface="Calibri" pitchFamily="34" charset="0"/>
                <a:ea typeface="Calibri" pitchFamily="34" charset="-122"/>
                <a:cs typeface="Calibri" pitchFamily="34" charset="-120"/>
              </a:rPr>
              <a:t>Every stage is checked by an independent reviewer before use.</a:t>
            </a:r>
            <a:endParaRPr lang="en-US" sz="1500" dirty="0"/>
          </a:p>
        </p:txBody>
      </p:sp>
      <p:sp>
        <p:nvSpPr>
          <p:cNvPr id="34" name="Text 3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9</a:t>
            </a:r>
            <a:endParaRPr lang="en-US" sz="1000" dirty="0"/>
          </a:p>
        </p:txBody>
      </p:sp>
      <p:sp>
        <p:nvSpPr>
          <p:cNvPr id="35" name="Text 3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Evaluation contract; study description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DISCUSSION / DECISION 1</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Task, benchmark and yardstick</a:t>
            </a:r>
            <a:endParaRPr lang="en-US" sz="3000" dirty="0"/>
          </a:p>
        </p:txBody>
      </p:sp>
      <p:sp>
        <p:nvSpPr>
          <p:cNvPr id="4" name="Shape 2"/>
          <p:cNvSpPr/>
          <p:nvPr/>
        </p:nvSpPr>
        <p:spPr>
          <a:xfrm>
            <a:off x="548640" y="1600200"/>
            <a:ext cx="11094415" cy="1389888"/>
          </a:xfrm>
          <a:prstGeom prst="roundRect">
            <a:avLst>
              <a:gd name="adj" fmla="val 5263"/>
            </a:avLst>
          </a:prstGeom>
          <a:solidFill>
            <a:srgbClr val="1D3640"/>
          </a:solidFill>
          <a:ln/>
        </p:spPr>
      </p:sp>
      <p:sp>
        <p:nvSpPr>
          <p:cNvPr id="5" name="Shape 3"/>
          <p:cNvSpPr/>
          <p:nvPr/>
        </p:nvSpPr>
        <p:spPr>
          <a:xfrm>
            <a:off x="822960" y="2020824"/>
            <a:ext cx="548640" cy="548640"/>
          </a:xfrm>
          <a:prstGeom prst="ellipse">
            <a:avLst/>
          </a:prstGeom>
          <a:solidFill>
            <a:srgbClr val="E0932B"/>
          </a:solidFill>
          <a:ln/>
        </p:spPr>
      </p:sp>
      <p:sp>
        <p:nvSpPr>
          <p:cNvPr id="6" name="Text 4"/>
          <p:cNvSpPr txBox="1"/>
          <p:nvPr/>
        </p:nvSpPr>
        <p:spPr>
          <a:xfrm>
            <a:off x="822960" y="2020824"/>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673352"/>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Do you agree next product is the right task?</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Next category had nothing published to compare with.</a:t>
            </a:r>
            <a:endParaRPr lang="en-US" sz="1800" dirty="0"/>
          </a:p>
        </p:txBody>
      </p:sp>
      <p:sp>
        <p:nvSpPr>
          <p:cNvPr id="8" name="Shape 6"/>
          <p:cNvSpPr/>
          <p:nvPr/>
        </p:nvSpPr>
        <p:spPr>
          <a:xfrm>
            <a:off x="548640" y="3191256"/>
            <a:ext cx="11094415" cy="1389888"/>
          </a:xfrm>
          <a:prstGeom prst="roundRect">
            <a:avLst>
              <a:gd name="adj" fmla="val 5263"/>
            </a:avLst>
          </a:prstGeom>
          <a:solidFill>
            <a:srgbClr val="1D3640"/>
          </a:solidFill>
          <a:ln/>
        </p:spPr>
      </p:sp>
      <p:sp>
        <p:nvSpPr>
          <p:cNvPr id="9" name="Shape 7"/>
          <p:cNvSpPr/>
          <p:nvPr/>
        </p:nvSpPr>
        <p:spPr>
          <a:xfrm>
            <a:off x="822960" y="3611880"/>
            <a:ext cx="548640" cy="548640"/>
          </a:xfrm>
          <a:prstGeom prst="ellipse">
            <a:avLst/>
          </a:prstGeom>
          <a:solidFill>
            <a:srgbClr val="E0932B"/>
          </a:solidFill>
          <a:ln/>
        </p:spPr>
      </p:sp>
      <p:sp>
        <p:nvSpPr>
          <p:cNvPr id="10" name="Text 8"/>
          <p:cNvSpPr txBox="1"/>
          <p:nvPr/>
        </p:nvSpPr>
        <p:spPr>
          <a:xfrm>
            <a:off x="822960" y="3611880"/>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45920" y="3264408"/>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Should we re-run the published benchmark protocol on our new server?</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It would tell us directly whether we are stronger or weaker.</a:t>
            </a:r>
            <a:endParaRPr lang="en-US" sz="1800" dirty="0"/>
          </a:p>
        </p:txBody>
      </p:sp>
      <p:sp>
        <p:nvSpPr>
          <p:cNvPr id="12" name="Shape 10"/>
          <p:cNvSpPr/>
          <p:nvPr/>
        </p:nvSpPr>
        <p:spPr>
          <a:xfrm>
            <a:off x="548640" y="4782312"/>
            <a:ext cx="11094415" cy="1389888"/>
          </a:xfrm>
          <a:prstGeom prst="roundRect">
            <a:avLst>
              <a:gd name="adj" fmla="val 5263"/>
            </a:avLst>
          </a:prstGeom>
          <a:solidFill>
            <a:srgbClr val="1D3640"/>
          </a:solidFill>
          <a:ln/>
        </p:spPr>
      </p:sp>
      <p:sp>
        <p:nvSpPr>
          <p:cNvPr id="13" name="Shape 11"/>
          <p:cNvSpPr/>
          <p:nvPr/>
        </p:nvSpPr>
        <p:spPr>
          <a:xfrm>
            <a:off x="822960" y="5202936"/>
            <a:ext cx="548640" cy="548640"/>
          </a:xfrm>
          <a:prstGeom prst="ellipse">
            <a:avLst/>
          </a:prstGeom>
          <a:solidFill>
            <a:srgbClr val="E0932B"/>
          </a:solidFill>
          <a:ln/>
        </p:spPr>
      </p:sp>
      <p:sp>
        <p:nvSpPr>
          <p:cNvPr id="14" name="Text 12"/>
          <p:cNvSpPr txBox="1"/>
          <p:nvPr/>
        </p:nvSpPr>
        <p:spPr>
          <a:xfrm>
            <a:off x="822960" y="5202936"/>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645920" y="4855464"/>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Retention against which cloud: the matched 131k users or the 1.35M full pool?</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We plan to report both — which should lead?</a:t>
            </a:r>
            <a:endParaRPr lang="en-US" sz="180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10</a:t>
            </a:r>
            <a:endParaRPr lang="en-US" sz="1000" dirty="0"/>
          </a:p>
        </p:txBody>
      </p:sp>
      <p:sp>
        <p:nvSpPr>
          <p:cNvPr id="17" name="Text 15"/>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A9C0C4"/>
                </a:solidFill>
                <a:latin typeface="Calibri" pitchFamily="34" charset="0"/>
                <a:ea typeface="Calibri" pitchFamily="34" charset="-122"/>
                <a:cs typeface="Calibri" pitchFamily="34" charset="-120"/>
              </a:rPr>
              <a:t>Context: phases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BACKBONE CONTEST</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SASRec won the pre-registered contest against GRU</a:t>
            </a:r>
            <a:endParaRPr lang="en-US" sz="3000" dirty="0"/>
          </a:p>
        </p:txBody>
      </p:sp>
      <p:graphicFrame>
        <p:nvGraphicFramePr>
          <p:cNvPr id="4" name="Chart 0" descr=""/>
          <p:cNvGraphicFramePr/>
          <p:nvPr/>
        </p:nvGraphicFramePr>
        <p:xfrm>
          <a:off x="548640" y="137160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463040"/>
            <a:ext cx="3962095" cy="1737360"/>
          </a:xfrm>
          <a:prstGeom prst="roundRect">
            <a:avLst>
              <a:gd name="adj" fmla="val 4211"/>
            </a:avLst>
          </a:prstGeom>
          <a:solidFill>
            <a:srgbClr val="D8ECEC"/>
          </a:solidFill>
          <a:ln/>
        </p:spPr>
      </p:sp>
      <p:sp>
        <p:nvSpPr>
          <p:cNvPr id="6" name="Text 3"/>
          <p:cNvSpPr txBox="1"/>
          <p:nvPr/>
        </p:nvSpPr>
        <p:spPr>
          <a:xfrm>
            <a:off x="7955280" y="1600200"/>
            <a:ext cx="3413455" cy="457200"/>
          </a:xfrm>
          <a:prstGeom prst="rect">
            <a:avLst/>
          </a:prstGeom>
          <a:noFill/>
          <a:ln/>
        </p:spPr>
        <p:txBody>
          <a:bodyPr wrap="square" lIns="0" tIns="0" rIns="0" bIns="0" rtlCol="0" anchor="t"/>
          <a:lstStyle/>
          <a:p>
            <a:pPr indent="0" marL="0">
              <a:buNone/>
            </a:pPr>
            <a:r>
              <a:rPr lang="en-US" sz="2200" b="1" dirty="0">
                <a:solidFill>
                  <a:srgbClr val="164E57"/>
                </a:solidFill>
                <a:latin typeface="Cambria" pitchFamily="34" charset="0"/>
                <a:ea typeface="Cambria" pitchFamily="34" charset="-122"/>
                <a:cs typeface="Cambria" pitchFamily="34" charset="-120"/>
              </a:rPr>
              <a:t>SASRec selected</a:t>
            </a:r>
            <a:endParaRPr lang="en-US" sz="2200" dirty="0"/>
          </a:p>
        </p:txBody>
      </p:sp>
      <p:sp>
        <p:nvSpPr>
          <p:cNvPr id="7" name="Text 4"/>
          <p:cNvSpPr txBox="1"/>
          <p:nvPr/>
        </p:nvSpPr>
        <p:spPr>
          <a:xfrm>
            <a:off x="7955280" y="2103120"/>
            <a:ext cx="3413455" cy="91440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by the rule fixed before any result; stable across both seeds.</a:t>
            </a:r>
            <a:endParaRPr lang="en-US" sz="1400" dirty="0"/>
          </a:p>
        </p:txBody>
      </p:sp>
      <p:sp>
        <p:nvSpPr>
          <p:cNvPr id="8" name="Shape 5"/>
          <p:cNvSpPr/>
          <p:nvPr/>
        </p:nvSpPr>
        <p:spPr>
          <a:xfrm>
            <a:off x="7680960" y="3383280"/>
            <a:ext cx="3962095" cy="1737360"/>
          </a:xfrm>
          <a:prstGeom prst="roundRect">
            <a:avLst>
              <a:gd name="adj" fmla="val 4211"/>
            </a:avLst>
          </a:prstGeom>
          <a:solidFill>
            <a:srgbClr val="FBEBD3"/>
          </a:solidFill>
          <a:ln/>
        </p:spPr>
      </p:sp>
      <p:sp>
        <p:nvSpPr>
          <p:cNvPr id="9" name="Text 6"/>
          <p:cNvSpPr txBox="1"/>
          <p:nvPr/>
        </p:nvSpPr>
        <p:spPr>
          <a:xfrm>
            <a:off x="7955280" y="3520440"/>
            <a:ext cx="3413455" cy="457200"/>
          </a:xfrm>
          <a:prstGeom prst="rect">
            <a:avLst/>
          </a:prstGeom>
          <a:noFill/>
          <a:ln/>
        </p:spPr>
        <p:txBody>
          <a:bodyPr wrap="square" lIns="0" tIns="0" rIns="0" bIns="0" rtlCol="0" anchor="t"/>
          <a:lstStyle/>
          <a:p>
            <a:pPr indent="0" marL="0">
              <a:buNone/>
            </a:pPr>
            <a:r>
              <a:rPr lang="en-US" sz="2200" b="1" dirty="0">
                <a:solidFill>
                  <a:srgbClr val="9A5A0C"/>
                </a:solidFill>
                <a:latin typeface="Cambria" pitchFamily="34" charset="0"/>
                <a:ea typeface="Cambria" pitchFamily="34" charset="-122"/>
                <a:cs typeface="Cambria" pitchFamily="34" charset="-120"/>
              </a:rPr>
              <a:t>Honest caveat</a:t>
            </a:r>
            <a:endParaRPr lang="en-US" sz="2200" dirty="0"/>
          </a:p>
        </p:txBody>
      </p:sp>
      <p:sp>
        <p:nvSpPr>
          <p:cNvPr id="10" name="Text 7"/>
          <p:cNvSpPr txBox="1"/>
          <p:nvPr/>
        </p:nvSpPr>
        <p:spPr>
          <a:xfrm>
            <a:off x="7955280" y="4023360"/>
            <a:ext cx="3413455" cy="91440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At the fixed end of training GRU is ahead — disclosed in the thesis.</a:t>
            </a:r>
            <a:endParaRPr lang="en-US" sz="1400" dirty="0"/>
          </a:p>
        </p:txBody>
      </p:sp>
      <p:sp>
        <p:nvSpPr>
          <p:cNvPr id="11" name="Text 8"/>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11</a:t>
            </a:r>
            <a:endParaRPr lang="en-US" sz="1000" dirty="0"/>
          </a:p>
        </p:txBody>
      </p:sp>
      <p:sp>
        <p:nvSpPr>
          <p:cNvPr id="12" name="Text 9"/>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Contest result; contest diagnostics (decision log, 28 Sep)</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MODEL SIZES</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A large cloud model and a device model sized for a browser</a:t>
            </a:r>
            <a:endParaRPr lang="en-US" sz="3000" dirty="0"/>
          </a:p>
        </p:txBody>
      </p:sp>
      <p:sp>
        <p:nvSpPr>
          <p:cNvPr id="4" name="Shape 2"/>
          <p:cNvSpPr/>
          <p:nvPr/>
        </p:nvSpPr>
        <p:spPr>
          <a:xfrm>
            <a:off x="548640" y="1463040"/>
            <a:ext cx="4023360" cy="1554480"/>
          </a:xfrm>
          <a:prstGeom prst="roundRect">
            <a:avLst>
              <a:gd name="adj" fmla="val 4706"/>
            </a:avLst>
          </a:prstGeom>
          <a:solidFill>
            <a:srgbClr val="E6EAEC"/>
          </a:solidFill>
          <a:ln/>
        </p:spPr>
      </p:sp>
      <p:sp>
        <p:nvSpPr>
          <p:cNvPr id="5" name="Text 3"/>
          <p:cNvSpPr txBox="1"/>
          <p:nvPr/>
        </p:nvSpPr>
        <p:spPr>
          <a:xfrm>
            <a:off x="777240" y="1600200"/>
            <a:ext cx="3566160" cy="685800"/>
          </a:xfrm>
          <a:prstGeom prst="rect">
            <a:avLst/>
          </a:prstGeom>
          <a:noFill/>
          <a:ln/>
        </p:spPr>
        <p:txBody>
          <a:bodyPr wrap="square" lIns="0" tIns="0" rIns="0" bIns="0" rtlCol="0" anchor="t"/>
          <a:lstStyle/>
          <a:p>
            <a:pPr indent="0" marL="0">
              <a:buNone/>
            </a:pPr>
            <a:r>
              <a:rPr lang="en-US" sz="3200" b="1" dirty="0">
                <a:solidFill>
                  <a:srgbClr val="5C6B73"/>
                </a:solidFill>
                <a:latin typeface="Cambria" pitchFamily="34" charset="0"/>
                <a:ea typeface="Cambria" pitchFamily="34" charset="-122"/>
                <a:cs typeface="Cambria" pitchFamily="34" charset="-120"/>
              </a:rPr>
              <a:t>84 M</a:t>
            </a:r>
            <a:endParaRPr lang="en-US" sz="3200" dirty="0"/>
          </a:p>
        </p:txBody>
      </p:sp>
      <p:sp>
        <p:nvSpPr>
          <p:cNvPr id="6" name="Text 4"/>
          <p:cNvSpPr txBox="1"/>
          <p:nvPr/>
        </p:nvSpPr>
        <p:spPr>
          <a:xfrm>
            <a:off x="777240" y="2286000"/>
            <a:ext cx="3566160" cy="64008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parameters — cloud model</a:t>
            </a:r>
            <a:endParaRPr lang="en-US" sz="1400" dirty="0"/>
          </a:p>
        </p:txBody>
      </p:sp>
      <p:sp>
        <p:nvSpPr>
          <p:cNvPr id="7" name="Shape 5"/>
          <p:cNvSpPr/>
          <p:nvPr/>
        </p:nvSpPr>
        <p:spPr>
          <a:xfrm>
            <a:off x="548640" y="3246120"/>
            <a:ext cx="4023360" cy="1554480"/>
          </a:xfrm>
          <a:prstGeom prst="roundRect">
            <a:avLst>
              <a:gd name="adj" fmla="val 4706"/>
            </a:avLst>
          </a:prstGeom>
          <a:solidFill>
            <a:srgbClr val="D8ECEC"/>
          </a:solidFill>
          <a:ln/>
        </p:spPr>
      </p:sp>
      <p:sp>
        <p:nvSpPr>
          <p:cNvPr id="8" name="Text 6"/>
          <p:cNvSpPr txBox="1"/>
          <p:nvPr/>
        </p:nvSpPr>
        <p:spPr>
          <a:xfrm>
            <a:off x="777240" y="3383280"/>
            <a:ext cx="3566160" cy="685800"/>
          </a:xfrm>
          <a:prstGeom prst="rect">
            <a:avLst/>
          </a:prstGeom>
          <a:noFill/>
          <a:ln/>
        </p:spPr>
        <p:txBody>
          <a:bodyPr wrap="square" lIns="0" tIns="0" rIns="0" bIns="0" rtlCol="0" anchor="t"/>
          <a:lstStyle/>
          <a:p>
            <a:pPr indent="0" marL="0">
              <a:buNone/>
            </a:pPr>
            <a:r>
              <a:rPr lang="en-US" sz="3200" b="1" dirty="0">
                <a:solidFill>
                  <a:srgbClr val="164E57"/>
                </a:solidFill>
                <a:latin typeface="Cambria" pitchFamily="34" charset="0"/>
                <a:ea typeface="Cambria" pitchFamily="34" charset="-122"/>
                <a:cs typeface="Cambria" pitchFamily="34" charset="-120"/>
              </a:rPr>
              <a:t>21 M</a:t>
            </a:r>
            <a:endParaRPr lang="en-US" sz="3200" dirty="0"/>
          </a:p>
        </p:txBody>
      </p:sp>
      <p:sp>
        <p:nvSpPr>
          <p:cNvPr id="9" name="Text 7"/>
          <p:cNvSpPr txBox="1"/>
          <p:nvPr/>
        </p:nvSpPr>
        <p:spPr>
          <a:xfrm>
            <a:off x="777240" y="4069080"/>
            <a:ext cx="3566160" cy="64008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parameters — device model</a:t>
            </a:r>
            <a:endParaRPr lang="en-US" sz="1400" dirty="0"/>
          </a:p>
        </p:txBody>
      </p:sp>
      <p:graphicFrame>
        <p:nvGraphicFramePr>
          <p:cNvPr id="10" name="Chart 0" descr=""/>
          <p:cNvGraphicFramePr/>
          <p:nvPr/>
        </p:nvGraphicFramePr>
        <p:xfrm>
          <a:off x="5029200" y="1371600"/>
          <a:ext cx="6613855" cy="448056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548640" y="5029200"/>
            <a:ext cx="4023360" cy="548640"/>
          </a:xfrm>
          <a:prstGeom prst="rect">
            <a:avLst/>
          </a:prstGeom>
          <a:noFill/>
          <a:ln/>
        </p:spPr>
        <p:txBody>
          <a:bodyPr wrap="square" lIns="0" tIns="0" rIns="0" bIns="0" rtlCol="0" anchor="t"/>
          <a:lstStyle/>
          <a:p>
            <a:pPr indent="0" marL="0">
              <a:buNone/>
            </a:pPr>
            <a:r>
              <a:rPr lang="en-US" sz="1400" i="1" dirty="0">
                <a:solidFill>
                  <a:srgbClr val="5E6E75"/>
                </a:solidFill>
                <a:latin typeface="Calibri" pitchFamily="34" charset="0"/>
                <a:ea typeface="Calibri" pitchFamily="34" charset="-122"/>
                <a:cs typeface="Calibri" pitchFamily="34" charset="-120"/>
              </a:rPr>
              <a:t>Only the device-size model fits the cap.</a:t>
            </a:r>
            <a:endParaRPr lang="en-US" sz="1400" dirty="0"/>
          </a:p>
        </p:txBody>
      </p:sp>
      <p:sp>
        <p:nvSpPr>
          <p:cNvPr id="12" name="Text 9"/>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12</a:t>
            </a:r>
            <a:endParaRPr lang="en-US" sz="1000" dirty="0"/>
          </a:p>
        </p:txBody>
      </p:sp>
      <p:sp>
        <p:nvSpPr>
          <p:cNvPr id="13" name="Text 10"/>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Architecture lock (parameters, bytes per visit); review synthesis (frozen tables)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WHAT IS COMPARED</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Every method, placed by what leaves the device</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743200"/>
                <a:gridCol w="5394960"/>
                <a:gridCol w="2953512"/>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Privacy level</a:t>
                      </a:r>
                      <a:endParaRPr lang="en-US" sz="14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Methods</a:t>
                      </a:r>
                      <a:endParaRPr lang="en-US" sz="14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leaves the device</a:t>
                      </a:r>
                      <a:endParaRPr lang="en-US" sz="14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r>
              <a:tr h="54864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Cloud</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5C6B73"/>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Large cloud model · small cloud model · full-pool cloud</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Raw events</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4864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Cloud-trained, runs on device</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4F6A73"/>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Small model shipped to the device (ONNX)</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Raw events, once</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4864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Pretrained on opted-in users</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9A5A0C"/>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Pretrained → + federated → + frozen item tables</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Opted-in: events · others: updates</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4864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Federated</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F7A80"/>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FedAvg · FedProx · personal vector · 8-bit uploads</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Model updates</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4864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Federated + DP</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64E57"/>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DP at ε = 8 and ε = 1</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Noised updates</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48640">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On-device</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E0932B"/>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Local-only model · models fine-tuned on the device</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Nothing</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48640">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Baselines</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A7B1B6"/>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Last viewed item · popularity · session kNN</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bl>
          </a:graphicData>
        </a:graphic>
      </p:graphicFrame>
      <p:sp>
        <p:nvSpPr>
          <p:cNvPr id="5" name="Text 2"/>
          <p:cNvSpPr txBox="1"/>
          <p:nvPr/>
        </p:nvSpPr>
        <p:spPr>
          <a:xfrm>
            <a:off x="548640" y="5897880"/>
            <a:ext cx="11094415" cy="320040"/>
          </a:xfrm>
          <a:prstGeom prst="rect">
            <a:avLst/>
          </a:prstGeom>
          <a:noFill/>
          <a:ln/>
        </p:spPr>
        <p:txBody>
          <a:bodyPr wrap="square" lIns="0" tIns="0" rIns="0" bIns="0" rtlCol="0" anchor="t"/>
          <a:lstStyle/>
          <a:p>
            <a:pPr indent="0" marL="0">
              <a:buNone/>
            </a:pPr>
            <a:r>
              <a:rPr lang="en-US" sz="1300" i="1" dirty="0">
                <a:solidFill>
                  <a:srgbClr val="5E6E75"/>
                </a:solidFill>
                <a:latin typeface="Calibri" pitchFamily="34" charset="0"/>
                <a:ea typeface="Calibri" pitchFamily="34" charset="-122"/>
                <a:cs typeface="Calibri" pitchFamily="34" charset="-120"/>
              </a:rPr>
              <a:t>Every method is also compared with “last viewed item” — a free device rule with no training.</a:t>
            </a:r>
            <a:endParaRPr lang="en-US" sz="1300" dirty="0"/>
          </a:p>
        </p:txBody>
      </p:sp>
      <p:sp>
        <p:nvSpPr>
          <p:cNvPr id="6" name="Text 3"/>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13</a:t>
            </a:r>
            <a:endParaRPr lang="en-US" sz="1000" dirty="0"/>
          </a:p>
        </p:txBody>
      </p:sp>
      <p:sp>
        <p:nvSpPr>
          <p:cNvPr id="7" name="Text 4"/>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Privacy matrix (pre-registered, revised after the independent review)</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DISCUSSION / DECISION 2</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Which deployment should be the headline answer for Edge?</a:t>
            </a:r>
            <a:endParaRPr lang="en-US" sz="3000" dirty="0"/>
          </a:p>
        </p:txBody>
      </p:sp>
      <p:sp>
        <p:nvSpPr>
          <p:cNvPr id="4" name="Shape 2"/>
          <p:cNvSpPr/>
          <p:nvPr/>
        </p:nvSpPr>
        <p:spPr>
          <a:xfrm>
            <a:off x="548640" y="1600200"/>
            <a:ext cx="11094415" cy="2185416"/>
          </a:xfrm>
          <a:prstGeom prst="roundRect">
            <a:avLst>
              <a:gd name="adj" fmla="val 3347"/>
            </a:avLst>
          </a:prstGeom>
          <a:solidFill>
            <a:srgbClr val="1D3640"/>
          </a:solidFill>
          <a:ln/>
        </p:spPr>
      </p:sp>
      <p:sp>
        <p:nvSpPr>
          <p:cNvPr id="5" name="Shape 3"/>
          <p:cNvSpPr/>
          <p:nvPr/>
        </p:nvSpPr>
        <p:spPr>
          <a:xfrm>
            <a:off x="822960" y="2418588"/>
            <a:ext cx="548640" cy="548640"/>
          </a:xfrm>
          <a:prstGeom prst="ellipse">
            <a:avLst/>
          </a:prstGeom>
          <a:solidFill>
            <a:srgbClr val="E0932B"/>
          </a:solidFill>
          <a:ln/>
        </p:spPr>
      </p:sp>
      <p:sp>
        <p:nvSpPr>
          <p:cNvPr id="6" name="Text 4"/>
          <p:cNvSpPr txBox="1"/>
          <p:nvPr/>
        </p:nvSpPr>
        <p:spPr>
          <a:xfrm>
            <a:off x="822960" y="2418588"/>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673352"/>
            <a:ext cx="9722815" cy="203911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Plain federated, or pretrained-then-federated, or cloud model fine-tuned on the device?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The independent review recommends the pretrained branch — it mirrors how browsers ship features.</a:t>
            </a:r>
            <a:endParaRPr lang="en-US" sz="1800" dirty="0"/>
          </a:p>
        </p:txBody>
      </p:sp>
      <p:sp>
        <p:nvSpPr>
          <p:cNvPr id="8" name="Shape 6"/>
          <p:cNvSpPr/>
          <p:nvPr/>
        </p:nvSpPr>
        <p:spPr>
          <a:xfrm>
            <a:off x="548640" y="3986784"/>
            <a:ext cx="11094415" cy="2185416"/>
          </a:xfrm>
          <a:prstGeom prst="roundRect">
            <a:avLst>
              <a:gd name="adj" fmla="val 3347"/>
            </a:avLst>
          </a:prstGeom>
          <a:solidFill>
            <a:srgbClr val="1D3640"/>
          </a:solidFill>
          <a:ln/>
        </p:spPr>
      </p:sp>
      <p:sp>
        <p:nvSpPr>
          <p:cNvPr id="9" name="Shape 7"/>
          <p:cNvSpPr/>
          <p:nvPr/>
        </p:nvSpPr>
        <p:spPr>
          <a:xfrm>
            <a:off x="822960" y="4805172"/>
            <a:ext cx="548640" cy="548640"/>
          </a:xfrm>
          <a:prstGeom prst="ellipse">
            <a:avLst/>
          </a:prstGeom>
          <a:solidFill>
            <a:srgbClr val="E0932B"/>
          </a:solidFill>
          <a:ln/>
        </p:spPr>
      </p:sp>
      <p:sp>
        <p:nvSpPr>
          <p:cNvPr id="10" name="Text 8"/>
          <p:cNvSpPr txBox="1"/>
          <p:nvPr/>
        </p:nvSpPr>
        <p:spPr>
          <a:xfrm>
            <a:off x="822960" y="4805172"/>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45920" y="4059936"/>
            <a:ext cx="9722815" cy="203911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Should “last viewed item” be the floor every method must beat?</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It needs no training and sends nothing.</a:t>
            </a:r>
            <a:endParaRPr lang="en-US" sz="1800" dirty="0"/>
          </a:p>
        </p:txBody>
      </p:sp>
      <p:sp>
        <p:nvSpPr>
          <p:cNvPr id="12" name="Text 10"/>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14</a:t>
            </a:r>
            <a:endParaRPr lang="en-US" sz="1000" dirty="0"/>
          </a:p>
        </p:txBody>
      </p:sp>
      <p:sp>
        <p:nvSpPr>
          <p:cNvPr id="13" name="Text 11"/>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A9C0C4"/>
                </a:solidFill>
                <a:latin typeface="Calibri" pitchFamily="34" charset="0"/>
                <a:ea typeface="Calibri" pitchFamily="34" charset="-122"/>
                <a:cs typeface="Calibri" pitchFamily="34" charset="-120"/>
              </a:rPr>
              <a:t>Context: comparison matrix</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FEDERATED LEARNING</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Our first federated setup was wrong — and we fixed it</a:t>
            </a:r>
            <a:endParaRPr lang="en-US" sz="3000" dirty="0"/>
          </a:p>
        </p:txBody>
      </p:sp>
      <p:sp>
        <p:nvSpPr>
          <p:cNvPr id="4" name="Shape 2"/>
          <p:cNvSpPr/>
          <p:nvPr/>
        </p:nvSpPr>
        <p:spPr>
          <a:xfrm>
            <a:off x="548640" y="1463040"/>
            <a:ext cx="3515258" cy="3566160"/>
          </a:xfrm>
          <a:prstGeom prst="roundRect">
            <a:avLst>
              <a:gd name="adj" fmla="val 2081"/>
            </a:avLst>
          </a:prstGeom>
          <a:solidFill>
            <a:srgbClr val="FBEBD3"/>
          </a:solidFill>
          <a:ln/>
        </p:spPr>
      </p:sp>
      <p:sp>
        <p:nvSpPr>
          <p:cNvPr id="5" name="Text 3"/>
          <p:cNvSpPr txBox="1"/>
          <p:nvPr/>
        </p:nvSpPr>
        <p:spPr>
          <a:xfrm>
            <a:off x="822960" y="1691640"/>
            <a:ext cx="2966618" cy="274320"/>
          </a:xfrm>
          <a:prstGeom prst="rect">
            <a:avLst/>
          </a:prstGeom>
          <a:noFill/>
          <a:ln/>
        </p:spPr>
        <p:txBody>
          <a:bodyPr wrap="square" lIns="0" tIns="0" rIns="0" bIns="0" rtlCol="0" anchor="t"/>
          <a:lstStyle/>
          <a:p>
            <a:pPr indent="0" marL="0">
              <a:buNone/>
            </a:pPr>
            <a:r>
              <a:rPr lang="en-US" sz="1300" b="1" spc="200" kern="0" dirty="0">
                <a:solidFill>
                  <a:srgbClr val="9A5A0C"/>
                </a:solidFill>
                <a:latin typeface="Calibri" pitchFamily="34" charset="0"/>
                <a:ea typeface="Calibri" pitchFamily="34" charset="-122"/>
                <a:cs typeface="Calibri" pitchFamily="34" charset="-120"/>
              </a:rPr>
              <a:t>WHAT WE DID</a:t>
            </a:r>
            <a:endParaRPr lang="en-US" sz="1300" dirty="0"/>
          </a:p>
        </p:txBody>
      </p:sp>
      <p:sp>
        <p:nvSpPr>
          <p:cNvPr id="6" name="Text 4"/>
          <p:cNvSpPr txBox="1"/>
          <p:nvPr/>
        </p:nvSpPr>
        <p:spPr>
          <a:xfrm>
            <a:off x="822960" y="2148840"/>
            <a:ext cx="2966618" cy="2743200"/>
          </a:xfrm>
          <a:prstGeom prst="rect">
            <a:avLst/>
          </a:prstGeom>
          <a:noFill/>
          <a:ln/>
        </p:spPr>
        <p:txBody>
          <a:bodyPr wrap="square" lIns="0" tIns="0" rIns="0" bIns="0" rtlCol="0" anchor="t"/>
          <a:lstStyle/>
          <a:p>
            <a:pPr marL="203200" indent="-203200">
              <a:spcAft>
                <a:spcPts val="1200"/>
              </a:spcAft>
              <a:buSzPct val="100000"/>
              <a:buChar char="•"/>
            </a:pPr>
            <a:r>
              <a:rPr lang="en-US" sz="1550" dirty="0">
                <a:solidFill>
                  <a:srgbClr val="13262F"/>
                </a:solidFill>
                <a:latin typeface="Calibri" pitchFamily="34" charset="0"/>
                <a:ea typeface="Calibri" pitchFamily="34" charset="-122"/>
                <a:cs typeface="Calibri" pitchFamily="34" charset="-120"/>
              </a:rPr>
              <a:t>Started from an untrained model (random item tables)</a:t>
            </a:r>
            <a:endParaRPr lang="en-US" sz="1550" dirty="0"/>
          </a:p>
          <a:p>
            <a:pPr marL="203200" indent="-203200">
              <a:spcAft>
                <a:spcPts val="1200"/>
              </a:spcAft>
              <a:buSzPct val="100000"/>
              <a:buChar char="•"/>
            </a:pPr>
            <a:r>
              <a:rPr lang="en-US" sz="1550" dirty="0">
                <a:solidFill>
                  <a:srgbClr val="13262F"/>
                </a:solidFill>
                <a:latin typeface="Calibri" pitchFamily="34" charset="0"/>
                <a:ea typeface="Calibri" pitchFamily="34" charset="-122"/>
                <a:cs typeface="Calibri" pitchFamily="34" charset="-120"/>
              </a:rPr>
              <a:t>Reused the cloud's training settings</a:t>
            </a:r>
            <a:endParaRPr lang="en-US" sz="1550" dirty="0"/>
          </a:p>
          <a:p>
            <a:pPr marL="203200" indent="-203200">
              <a:spcAft>
                <a:spcPts val="1200"/>
              </a:spcAft>
              <a:buSzPct val="100000"/>
              <a:buChar char="•"/>
            </a:pPr>
            <a:r>
              <a:rPr lang="en-US" sz="1550" dirty="0">
                <a:solidFill>
                  <a:srgbClr val="13262F"/>
                </a:solidFill>
                <a:latin typeface="Calibri" pitchFamily="34" charset="0"/>
                <a:ea typeface="Calibri" pitchFamily="34" charset="-122"/>
                <a:cs typeface="Calibri" pitchFamily="34" charset="-120"/>
              </a:rPr>
              <a:t>No server optimizer; client optimizer reset every visit</a:t>
            </a:r>
            <a:endParaRPr lang="en-US" sz="1550" dirty="0"/>
          </a:p>
        </p:txBody>
      </p:sp>
      <p:sp>
        <p:nvSpPr>
          <p:cNvPr id="7" name="Shape 5"/>
          <p:cNvSpPr/>
          <p:nvPr/>
        </p:nvSpPr>
        <p:spPr>
          <a:xfrm>
            <a:off x="4082186" y="3063240"/>
            <a:ext cx="237744" cy="365760"/>
          </a:xfrm>
          <a:prstGeom prst="rightArrow">
            <a:avLst/>
          </a:prstGeom>
          <a:solidFill>
            <a:srgbClr val="A7B1B6"/>
          </a:solidFill>
          <a:ln/>
        </p:spPr>
      </p:sp>
      <p:sp>
        <p:nvSpPr>
          <p:cNvPr id="8" name="Shape 6"/>
          <p:cNvSpPr/>
          <p:nvPr/>
        </p:nvSpPr>
        <p:spPr>
          <a:xfrm>
            <a:off x="4338218" y="1463040"/>
            <a:ext cx="3515258" cy="3566160"/>
          </a:xfrm>
          <a:prstGeom prst="roundRect">
            <a:avLst>
              <a:gd name="adj" fmla="val 2081"/>
            </a:avLst>
          </a:prstGeom>
          <a:solidFill>
            <a:srgbClr val="F1F4F4"/>
          </a:solidFill>
          <a:ln/>
        </p:spPr>
      </p:sp>
      <p:sp>
        <p:nvSpPr>
          <p:cNvPr id="9" name="Text 7"/>
          <p:cNvSpPr txBox="1"/>
          <p:nvPr/>
        </p:nvSpPr>
        <p:spPr>
          <a:xfrm>
            <a:off x="4612538" y="1691640"/>
            <a:ext cx="2966618" cy="274320"/>
          </a:xfrm>
          <a:prstGeom prst="rect">
            <a:avLst/>
          </a:prstGeom>
          <a:noFill/>
          <a:ln/>
        </p:spPr>
        <p:txBody>
          <a:bodyPr wrap="square" lIns="0" tIns="0" rIns="0" bIns="0" rtlCol="0" anchor="t"/>
          <a:lstStyle/>
          <a:p>
            <a:pPr indent="0" marL="0">
              <a:buNone/>
            </a:pPr>
            <a:r>
              <a:rPr lang="en-US" sz="1300" b="1" spc="200" kern="0" dirty="0">
                <a:solidFill>
                  <a:srgbClr val="5C6B73"/>
                </a:solidFill>
                <a:latin typeface="Calibri" pitchFamily="34" charset="0"/>
                <a:ea typeface="Calibri" pitchFamily="34" charset="-122"/>
                <a:cs typeface="Calibri" pitchFamily="34" charset="-120"/>
              </a:rPr>
              <a:t>WHAT IT CAUSED</a:t>
            </a:r>
            <a:endParaRPr lang="en-US" sz="1300" dirty="0"/>
          </a:p>
        </p:txBody>
      </p:sp>
      <p:sp>
        <p:nvSpPr>
          <p:cNvPr id="10" name="Text 8"/>
          <p:cNvSpPr txBox="1"/>
          <p:nvPr/>
        </p:nvSpPr>
        <p:spPr>
          <a:xfrm>
            <a:off x="4612538" y="2148840"/>
            <a:ext cx="2966618" cy="2743200"/>
          </a:xfrm>
          <a:prstGeom prst="rect">
            <a:avLst/>
          </a:prstGeom>
          <a:noFill/>
          <a:ln/>
        </p:spPr>
        <p:txBody>
          <a:bodyPr wrap="square" lIns="0" tIns="0" rIns="0" bIns="0" rtlCol="0" anchor="t"/>
          <a:lstStyle/>
          <a:p>
            <a:pPr marL="203200" indent="-203200">
              <a:spcAft>
                <a:spcPts val="1200"/>
              </a:spcAft>
              <a:buSzPct val="100000"/>
              <a:buChar char="•"/>
            </a:pPr>
            <a:r>
              <a:rPr lang="en-US" sz="1550" dirty="0">
                <a:solidFill>
                  <a:srgbClr val="13262F"/>
                </a:solidFill>
                <a:latin typeface="Calibri" pitchFamily="34" charset="0"/>
                <a:ea typeface="Calibri" pitchFamily="34" charset="-122"/>
                <a:cs typeface="Calibri" pitchFamily="34" charset="-120"/>
              </a:rPr>
              <a:t>Federated far below the cloud on calibration users (≈ 20%)</a:t>
            </a:r>
            <a:endParaRPr lang="en-US" sz="1550" dirty="0"/>
          </a:p>
          <a:p>
            <a:pPr marL="203200" indent="-203200">
              <a:spcAft>
                <a:spcPts val="1200"/>
              </a:spcAft>
              <a:buSzPct val="100000"/>
              <a:buChar char="•"/>
            </a:pPr>
            <a:r>
              <a:rPr lang="en-US" sz="1550" dirty="0">
                <a:solidFill>
                  <a:srgbClr val="13262F"/>
                </a:solidFill>
                <a:latin typeface="Calibri" pitchFamily="34" charset="0"/>
                <a:ea typeface="Calibri" pitchFamily="34" charset="-122"/>
                <a:cs typeface="Calibri" pitchFamily="34" charset="-120"/>
              </a:rPr>
              <a:t>Even below the free “last viewed item” rule</a:t>
            </a:r>
            <a:endParaRPr lang="en-US" sz="1550" dirty="0"/>
          </a:p>
          <a:p>
            <a:pPr marL="203200" indent="-203200">
              <a:spcAft>
                <a:spcPts val="1200"/>
              </a:spcAft>
              <a:buSzPct val="100000"/>
              <a:buChar char="•"/>
            </a:pPr>
            <a:r>
              <a:rPr lang="en-US" sz="1550" dirty="0">
                <a:solidFill>
                  <a:srgbClr val="13262F"/>
                </a:solidFill>
                <a:latin typeface="Calibri" pitchFamily="34" charset="0"/>
                <a:ea typeface="Calibri" pitchFamily="34" charset="-122"/>
                <a:cs typeface="Calibri" pitchFamily="34" charset="-120"/>
              </a:rPr>
              <a:t>A warning from tuning users — not a final result</a:t>
            </a:r>
            <a:endParaRPr lang="en-US" sz="1550" dirty="0"/>
          </a:p>
        </p:txBody>
      </p:sp>
      <p:sp>
        <p:nvSpPr>
          <p:cNvPr id="11" name="Shape 9"/>
          <p:cNvSpPr/>
          <p:nvPr/>
        </p:nvSpPr>
        <p:spPr>
          <a:xfrm>
            <a:off x="7871765" y="3063240"/>
            <a:ext cx="237744" cy="365760"/>
          </a:xfrm>
          <a:prstGeom prst="rightArrow">
            <a:avLst/>
          </a:prstGeom>
          <a:solidFill>
            <a:srgbClr val="A7B1B6"/>
          </a:solidFill>
          <a:ln/>
        </p:spPr>
      </p:sp>
      <p:sp>
        <p:nvSpPr>
          <p:cNvPr id="12" name="Shape 10"/>
          <p:cNvSpPr/>
          <p:nvPr/>
        </p:nvSpPr>
        <p:spPr>
          <a:xfrm>
            <a:off x="8127797" y="1463040"/>
            <a:ext cx="3515258" cy="3566160"/>
          </a:xfrm>
          <a:prstGeom prst="roundRect">
            <a:avLst>
              <a:gd name="adj" fmla="val 2081"/>
            </a:avLst>
          </a:prstGeom>
          <a:solidFill>
            <a:srgbClr val="D8ECEC"/>
          </a:solidFill>
          <a:ln/>
        </p:spPr>
      </p:sp>
      <p:sp>
        <p:nvSpPr>
          <p:cNvPr id="13" name="Text 11"/>
          <p:cNvSpPr txBox="1"/>
          <p:nvPr/>
        </p:nvSpPr>
        <p:spPr>
          <a:xfrm>
            <a:off x="8402117" y="1691640"/>
            <a:ext cx="2966618" cy="274320"/>
          </a:xfrm>
          <a:prstGeom prst="rect">
            <a:avLst/>
          </a:prstGeom>
          <a:noFill/>
          <a:ln/>
        </p:spPr>
        <p:txBody>
          <a:bodyPr wrap="square" lIns="0" tIns="0" rIns="0" bIns="0" rtlCol="0" anchor="t"/>
          <a:lstStyle/>
          <a:p>
            <a:pPr indent="0" marL="0">
              <a:buNone/>
            </a:pPr>
            <a:r>
              <a:rPr lang="en-US" sz="1300" b="1" spc="200" kern="0" dirty="0">
                <a:solidFill>
                  <a:srgbClr val="164E57"/>
                </a:solidFill>
                <a:latin typeface="Calibri" pitchFamily="34" charset="0"/>
                <a:ea typeface="Calibri" pitchFamily="34" charset="-122"/>
                <a:cs typeface="Calibri" pitchFamily="34" charset="-120"/>
              </a:rPr>
              <a:t>WHAT WE CHANGED</a:t>
            </a:r>
            <a:endParaRPr lang="en-US" sz="1300" dirty="0"/>
          </a:p>
        </p:txBody>
      </p:sp>
      <p:sp>
        <p:nvSpPr>
          <p:cNvPr id="14" name="Text 12"/>
          <p:cNvSpPr txBox="1"/>
          <p:nvPr/>
        </p:nvSpPr>
        <p:spPr>
          <a:xfrm>
            <a:off x="8402117" y="2148840"/>
            <a:ext cx="2966618" cy="2743200"/>
          </a:xfrm>
          <a:prstGeom prst="rect">
            <a:avLst/>
          </a:prstGeom>
          <a:noFill/>
          <a:ln/>
        </p:spPr>
        <p:txBody>
          <a:bodyPr wrap="square" lIns="0" tIns="0" rIns="0" bIns="0" rtlCol="0" anchor="t"/>
          <a:lstStyle/>
          <a:p>
            <a:pPr marL="203200" indent="-203200">
              <a:spcAft>
                <a:spcPts val="1200"/>
              </a:spcAft>
              <a:buSzPct val="100000"/>
              <a:buChar char="•"/>
            </a:pPr>
            <a:r>
              <a:rPr lang="en-US" sz="1550" dirty="0">
                <a:solidFill>
                  <a:srgbClr val="13262F"/>
                </a:solidFill>
                <a:latin typeface="Calibri" pitchFamily="34" charset="0"/>
                <a:ea typeface="Calibri" pitchFamily="34" charset="-122"/>
                <a:cs typeface="Calibri" pitchFamily="34" charset="-120"/>
              </a:rPr>
              <a:t>Tuning ladder: +46% so far (learning rate, then server optimizer)</a:t>
            </a:r>
            <a:endParaRPr lang="en-US" sz="1550" dirty="0"/>
          </a:p>
          <a:p>
            <a:pPr marL="203200" indent="-203200">
              <a:spcAft>
                <a:spcPts val="1200"/>
              </a:spcAft>
              <a:buSzPct val="100000"/>
              <a:buChar char="•"/>
            </a:pPr>
            <a:r>
              <a:rPr lang="en-US" sz="1550" dirty="0">
                <a:solidFill>
                  <a:srgbClr val="13262F"/>
                </a:solidFill>
                <a:latin typeface="Calibri" pitchFamily="34" charset="0"/>
                <a:ea typeface="Calibri" pitchFamily="34" charset="-122"/>
                <a:cs typeface="Calibri" pitchFamily="34" charset="-120"/>
              </a:rPr>
              <a:t>Pretrained model ready — federated starts from it next</a:t>
            </a:r>
            <a:endParaRPr lang="en-US" sz="1550" dirty="0"/>
          </a:p>
          <a:p>
            <a:pPr marL="203200" indent="-203200">
              <a:spcAft>
                <a:spcPts val="1200"/>
              </a:spcAft>
              <a:buSzPct val="100000"/>
              <a:buChar char="•"/>
            </a:pPr>
            <a:r>
              <a:rPr lang="en-US" sz="1550" dirty="0">
                <a:solidFill>
                  <a:srgbClr val="13262F"/>
                </a:solidFill>
                <a:latin typeface="Calibri" pitchFamily="34" charset="0"/>
                <a:ea typeface="Calibri" pitchFamily="34" charset="-122"/>
                <a:cs typeface="Calibri" pitchFamily="34" charset="-120"/>
              </a:rPr>
              <a:t>Fixed before any final result is read</a:t>
            </a:r>
            <a:endParaRPr lang="en-US" sz="1550" dirty="0"/>
          </a:p>
        </p:txBody>
      </p:sp>
      <p:sp>
        <p:nvSpPr>
          <p:cNvPr id="15" name="Shape 13"/>
          <p:cNvSpPr/>
          <p:nvPr/>
        </p:nvSpPr>
        <p:spPr>
          <a:xfrm>
            <a:off x="548640" y="5257800"/>
            <a:ext cx="11094415" cy="731520"/>
          </a:xfrm>
          <a:prstGeom prst="roundRect">
            <a:avLst>
              <a:gd name="adj" fmla="val 10000"/>
            </a:avLst>
          </a:prstGeom>
          <a:solidFill>
            <a:srgbClr val="13262F"/>
          </a:solidFill>
          <a:ln/>
        </p:spPr>
      </p:sp>
      <p:sp>
        <p:nvSpPr>
          <p:cNvPr id="16" name="Text 14"/>
          <p:cNvSpPr txBox="1"/>
          <p:nvPr/>
        </p:nvSpPr>
        <p:spPr>
          <a:xfrm>
            <a:off x="822960" y="5257800"/>
            <a:ext cx="10545775"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gap mainly reflected our setup, not federated learning itself.</a:t>
            </a:r>
            <a:endParaRPr lang="en-US" sz="1800" dirty="0"/>
          </a:p>
        </p:txBody>
      </p:sp>
      <p:sp>
        <p:nvSpPr>
          <p:cNvPr id="17" name="Text 15"/>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15</a:t>
            </a:r>
            <a:endParaRPr lang="en-US" sz="1000" dirty="0"/>
          </a:p>
        </p:txBody>
      </p:sp>
      <p:sp>
        <p:nvSpPr>
          <p:cNvPr id="18" name="Text 16"/>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Realism audit; federated ladder research; independent review; ladder register</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FEDERATED IMPROVEMENT LADDER</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One change at a time, each kept only if it helps</a:t>
            </a:r>
            <a:endParaRPr lang="en-US" sz="3000" dirty="0"/>
          </a:p>
        </p:txBody>
      </p:sp>
      <p:graphicFrame>
        <p:nvGraphicFramePr>
          <p:cNvPr id="4" name="Chart 0" descr=""/>
          <p:cNvGraphicFramePr/>
          <p:nvPr/>
        </p:nvGraphicFramePr>
        <p:xfrm>
          <a:off x="548640" y="1371600"/>
          <a:ext cx="585216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766560" y="1417320"/>
            <a:ext cx="4876495" cy="365760"/>
          </a:xfrm>
          <a:prstGeom prst="rect">
            <a:avLst/>
          </a:prstGeom>
          <a:noFill/>
          <a:ln/>
        </p:spPr>
        <p:txBody>
          <a:bodyPr wrap="square" lIns="0" tIns="0" rIns="0" bIns="0" rtlCol="0" anchor="t"/>
          <a:lstStyle/>
          <a:p>
            <a:pPr indent="0" marL="0">
              <a:buNone/>
            </a:pPr>
            <a:r>
              <a:rPr lang="en-US" sz="1700" b="1" dirty="0">
                <a:solidFill>
                  <a:srgbClr val="13262F"/>
                </a:solidFill>
                <a:latin typeface="Cambria" pitchFamily="34" charset="0"/>
                <a:ea typeface="Cambria" pitchFamily="34" charset="-122"/>
                <a:cs typeface="Cambria" pitchFamily="34" charset="-120"/>
              </a:rPr>
              <a:t>Stages</a:t>
            </a:r>
            <a:endParaRPr lang="en-US" sz="1700" dirty="0"/>
          </a:p>
        </p:txBody>
      </p:sp>
      <p:sp>
        <p:nvSpPr>
          <p:cNvPr id="6" name="Text 3"/>
          <p:cNvSpPr txBox="1"/>
          <p:nvPr/>
        </p:nvSpPr>
        <p:spPr>
          <a:xfrm>
            <a:off x="6766560" y="1920240"/>
            <a:ext cx="3779215" cy="457200"/>
          </a:xfrm>
          <a:prstGeom prst="rect">
            <a:avLst/>
          </a:prstGeom>
          <a:noFill/>
          <a:ln/>
        </p:spPr>
        <p:txBody>
          <a:bodyPr wrap="square" lIns="0" tIns="0" rIns="0" bIns="0" rtlCol="0" anchor="ctr"/>
          <a:lstStyle/>
          <a:p>
            <a:pPr indent="0" marL="0">
              <a:buNone/>
            </a:pPr>
            <a:r>
              <a:rPr lang="en-US" sz="1500" dirty="0">
                <a:solidFill>
                  <a:srgbClr val="13262F"/>
                </a:solidFill>
                <a:latin typeface="Calibri" pitchFamily="34" charset="0"/>
                <a:ea typeface="Calibri" pitchFamily="34" charset="-122"/>
                <a:cs typeface="Calibri" pitchFamily="34" charset="-120"/>
              </a:rPr>
              <a:t>Client learning rate</a:t>
            </a:r>
            <a:endParaRPr lang="en-US" sz="1500" dirty="0"/>
          </a:p>
        </p:txBody>
      </p:sp>
      <p:sp>
        <p:nvSpPr>
          <p:cNvPr id="7" name="Shape 4"/>
          <p:cNvSpPr/>
          <p:nvPr/>
        </p:nvSpPr>
        <p:spPr>
          <a:xfrm>
            <a:off x="10637215" y="1993392"/>
            <a:ext cx="1005840" cy="310896"/>
          </a:xfrm>
          <a:prstGeom prst="roundRect">
            <a:avLst>
              <a:gd name="adj" fmla="val 50000"/>
            </a:avLst>
          </a:prstGeom>
          <a:solidFill>
            <a:srgbClr val="5C6B73"/>
          </a:solidFill>
          <a:ln/>
        </p:spPr>
      </p:sp>
      <p:sp>
        <p:nvSpPr>
          <p:cNvPr id="8" name="Text 5"/>
          <p:cNvSpPr txBox="1"/>
          <p:nvPr/>
        </p:nvSpPr>
        <p:spPr>
          <a:xfrm>
            <a:off x="10637215" y="1993392"/>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9" name="Text 6"/>
          <p:cNvSpPr txBox="1"/>
          <p:nvPr/>
        </p:nvSpPr>
        <p:spPr>
          <a:xfrm>
            <a:off x="6766560" y="2487168"/>
            <a:ext cx="3779215" cy="457200"/>
          </a:xfrm>
          <a:prstGeom prst="rect">
            <a:avLst/>
          </a:prstGeom>
          <a:noFill/>
          <a:ln/>
        </p:spPr>
        <p:txBody>
          <a:bodyPr wrap="square" lIns="0" tIns="0" rIns="0" bIns="0" rtlCol="0" anchor="ctr"/>
          <a:lstStyle/>
          <a:p>
            <a:pPr indent="0" marL="0">
              <a:buNone/>
            </a:pPr>
            <a:r>
              <a:rPr lang="en-US" sz="1500" dirty="0">
                <a:solidFill>
                  <a:srgbClr val="13262F"/>
                </a:solidFill>
                <a:latin typeface="Calibri" pitchFamily="34" charset="0"/>
                <a:ea typeface="Calibri" pitchFamily="34" charset="-122"/>
                <a:cs typeface="Calibri" pitchFamily="34" charset="-120"/>
              </a:rPr>
              <a:t>Server optimizer</a:t>
            </a:r>
            <a:endParaRPr lang="en-US" sz="1500" dirty="0"/>
          </a:p>
        </p:txBody>
      </p:sp>
      <p:sp>
        <p:nvSpPr>
          <p:cNvPr id="10" name="Shape 7"/>
          <p:cNvSpPr/>
          <p:nvPr/>
        </p:nvSpPr>
        <p:spPr>
          <a:xfrm>
            <a:off x="10637215" y="2560320"/>
            <a:ext cx="1005840" cy="310896"/>
          </a:xfrm>
          <a:prstGeom prst="roundRect">
            <a:avLst>
              <a:gd name="adj" fmla="val 50000"/>
            </a:avLst>
          </a:prstGeom>
          <a:solidFill>
            <a:srgbClr val="5C6B73"/>
          </a:solidFill>
          <a:ln/>
        </p:spPr>
      </p:sp>
      <p:sp>
        <p:nvSpPr>
          <p:cNvPr id="11" name="Text 8"/>
          <p:cNvSpPr txBox="1"/>
          <p:nvPr/>
        </p:nvSpPr>
        <p:spPr>
          <a:xfrm>
            <a:off x="10637215" y="2560320"/>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12" name="Text 9"/>
          <p:cNvSpPr txBox="1"/>
          <p:nvPr/>
        </p:nvSpPr>
        <p:spPr>
          <a:xfrm>
            <a:off x="6766560" y="3054096"/>
            <a:ext cx="3779215" cy="457200"/>
          </a:xfrm>
          <a:prstGeom prst="rect">
            <a:avLst/>
          </a:prstGeom>
          <a:noFill/>
          <a:ln/>
        </p:spPr>
        <p:txBody>
          <a:bodyPr wrap="square" lIns="0" tIns="0" rIns="0" bIns="0" rtlCol="0" anchor="ctr"/>
          <a:lstStyle/>
          <a:p>
            <a:pPr indent="0" marL="0">
              <a:buNone/>
            </a:pPr>
            <a:r>
              <a:rPr lang="en-US" sz="1500" dirty="0">
                <a:solidFill>
                  <a:srgbClr val="13262F"/>
                </a:solidFill>
                <a:latin typeface="Calibri" pitchFamily="34" charset="0"/>
                <a:ea typeface="Calibri" pitchFamily="34" charset="-122"/>
                <a:cs typeface="Calibri" pitchFamily="34" charset="-120"/>
              </a:rPr>
              <a:t>Learning-rate shape × client optimizer</a:t>
            </a:r>
            <a:endParaRPr lang="en-US" sz="1500" dirty="0"/>
          </a:p>
        </p:txBody>
      </p:sp>
      <p:sp>
        <p:nvSpPr>
          <p:cNvPr id="13" name="Shape 10"/>
          <p:cNvSpPr/>
          <p:nvPr/>
        </p:nvSpPr>
        <p:spPr>
          <a:xfrm>
            <a:off x="10637215" y="3127248"/>
            <a:ext cx="1005840" cy="310896"/>
          </a:xfrm>
          <a:prstGeom prst="roundRect">
            <a:avLst>
              <a:gd name="adj" fmla="val 50000"/>
            </a:avLst>
          </a:prstGeom>
          <a:solidFill>
            <a:srgbClr val="1F7A80"/>
          </a:solidFill>
          <a:ln/>
        </p:spPr>
      </p:sp>
      <p:sp>
        <p:nvSpPr>
          <p:cNvPr id="14" name="Text 11"/>
          <p:cNvSpPr txBox="1"/>
          <p:nvPr/>
        </p:nvSpPr>
        <p:spPr>
          <a:xfrm>
            <a:off x="10637215" y="3127248"/>
            <a:ext cx="10058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running</a:t>
            </a:r>
            <a:endParaRPr lang="en-US" sz="1100" dirty="0"/>
          </a:p>
        </p:txBody>
      </p:sp>
      <p:sp>
        <p:nvSpPr>
          <p:cNvPr id="15" name="Text 12"/>
          <p:cNvSpPr txBox="1"/>
          <p:nvPr/>
        </p:nvSpPr>
        <p:spPr>
          <a:xfrm>
            <a:off x="6766560" y="3621024"/>
            <a:ext cx="3779215" cy="457200"/>
          </a:xfrm>
          <a:prstGeom prst="rect">
            <a:avLst/>
          </a:prstGeom>
          <a:noFill/>
          <a:ln/>
        </p:spPr>
        <p:txBody>
          <a:bodyPr wrap="square" lIns="0" tIns="0" rIns="0" bIns="0" rtlCol="0" anchor="ctr"/>
          <a:lstStyle/>
          <a:p>
            <a:pPr indent="0" marL="0">
              <a:buNone/>
            </a:pPr>
            <a:r>
              <a:rPr lang="en-US" sz="1500" dirty="0">
                <a:solidFill>
                  <a:srgbClr val="13262F"/>
                </a:solidFill>
                <a:latin typeface="Calibri" pitchFamily="34" charset="0"/>
                <a:ea typeface="Calibri" pitchFamily="34" charset="-122"/>
                <a:cs typeface="Calibri" pitchFamily="34" charset="-120"/>
              </a:rPr>
              <a:t>Local passes and batch size</a:t>
            </a:r>
            <a:endParaRPr lang="en-US" sz="1500" dirty="0"/>
          </a:p>
        </p:txBody>
      </p:sp>
      <p:sp>
        <p:nvSpPr>
          <p:cNvPr id="16" name="Shape 13"/>
          <p:cNvSpPr/>
          <p:nvPr/>
        </p:nvSpPr>
        <p:spPr>
          <a:xfrm>
            <a:off x="10637215" y="3694176"/>
            <a:ext cx="1005840" cy="310896"/>
          </a:xfrm>
          <a:prstGeom prst="roundRect">
            <a:avLst>
              <a:gd name="adj" fmla="val 50000"/>
            </a:avLst>
          </a:prstGeom>
          <a:solidFill>
            <a:srgbClr val="E6EAEC"/>
          </a:solidFill>
          <a:ln/>
        </p:spPr>
      </p:sp>
      <p:sp>
        <p:nvSpPr>
          <p:cNvPr id="17" name="Text 14"/>
          <p:cNvSpPr txBox="1"/>
          <p:nvPr/>
        </p:nvSpPr>
        <p:spPr>
          <a:xfrm>
            <a:off x="10637215" y="3694176"/>
            <a:ext cx="1005840" cy="310896"/>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next</a:t>
            </a:r>
            <a:endParaRPr lang="en-US" sz="1100" dirty="0"/>
          </a:p>
        </p:txBody>
      </p:sp>
      <p:sp>
        <p:nvSpPr>
          <p:cNvPr id="18" name="Text 15"/>
          <p:cNvSpPr txBox="1"/>
          <p:nvPr/>
        </p:nvSpPr>
        <p:spPr>
          <a:xfrm>
            <a:off x="6766560" y="4187952"/>
            <a:ext cx="3779215" cy="457200"/>
          </a:xfrm>
          <a:prstGeom prst="rect">
            <a:avLst/>
          </a:prstGeom>
          <a:noFill/>
          <a:ln/>
        </p:spPr>
        <p:txBody>
          <a:bodyPr wrap="square" lIns="0" tIns="0" rIns="0" bIns="0" rtlCol="0" anchor="ctr"/>
          <a:lstStyle/>
          <a:p>
            <a:pPr indent="0" marL="0">
              <a:buNone/>
            </a:pPr>
            <a:r>
              <a:rPr lang="en-US" sz="1500" dirty="0">
                <a:solidFill>
                  <a:srgbClr val="13262F"/>
                </a:solidFill>
                <a:latin typeface="Calibri" pitchFamily="34" charset="0"/>
                <a:ea typeface="Calibri" pitchFamily="34" charset="-122"/>
                <a:cs typeface="Calibri" pitchFamily="34" charset="-120"/>
              </a:rPr>
              <a:t>Start from the pretrained model</a:t>
            </a:r>
            <a:endParaRPr lang="en-US" sz="1500" dirty="0"/>
          </a:p>
        </p:txBody>
      </p:sp>
      <p:sp>
        <p:nvSpPr>
          <p:cNvPr id="19" name="Shape 16"/>
          <p:cNvSpPr/>
          <p:nvPr/>
        </p:nvSpPr>
        <p:spPr>
          <a:xfrm>
            <a:off x="10637215" y="4261104"/>
            <a:ext cx="1005840" cy="310896"/>
          </a:xfrm>
          <a:prstGeom prst="roundRect">
            <a:avLst>
              <a:gd name="adj" fmla="val 50000"/>
            </a:avLst>
          </a:prstGeom>
          <a:solidFill>
            <a:srgbClr val="E6EAEC"/>
          </a:solidFill>
          <a:ln/>
        </p:spPr>
      </p:sp>
      <p:sp>
        <p:nvSpPr>
          <p:cNvPr id="20" name="Text 17"/>
          <p:cNvSpPr txBox="1"/>
          <p:nvPr/>
        </p:nvSpPr>
        <p:spPr>
          <a:xfrm>
            <a:off x="10637215" y="4261104"/>
            <a:ext cx="1005840" cy="310896"/>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next</a:t>
            </a:r>
            <a:endParaRPr lang="en-US" sz="1100" dirty="0"/>
          </a:p>
        </p:txBody>
      </p:sp>
      <p:sp>
        <p:nvSpPr>
          <p:cNvPr id="21" name="Text 18"/>
          <p:cNvSpPr txBox="1"/>
          <p:nvPr/>
        </p:nvSpPr>
        <p:spPr>
          <a:xfrm>
            <a:off x="6766560" y="4754880"/>
            <a:ext cx="3779215" cy="457200"/>
          </a:xfrm>
          <a:prstGeom prst="rect">
            <a:avLst/>
          </a:prstGeom>
          <a:noFill/>
          <a:ln/>
        </p:spPr>
        <p:txBody>
          <a:bodyPr wrap="square" lIns="0" tIns="0" rIns="0" bIns="0" rtlCol="0" anchor="ctr"/>
          <a:lstStyle/>
          <a:p>
            <a:pPr indent="0" marL="0">
              <a:buNone/>
            </a:pPr>
            <a:r>
              <a:rPr lang="en-US" sz="1500" dirty="0">
                <a:solidFill>
                  <a:srgbClr val="13262F"/>
                </a:solidFill>
                <a:latin typeface="Calibri" pitchFamily="34" charset="0"/>
                <a:ea typeface="Calibri" pitchFamily="34" charset="-122"/>
                <a:cs typeface="Calibri" pitchFamily="34" charset="-120"/>
              </a:rPr>
              <a:t>Freeze the item tables</a:t>
            </a:r>
            <a:endParaRPr lang="en-US" sz="1500" dirty="0"/>
          </a:p>
        </p:txBody>
      </p:sp>
      <p:sp>
        <p:nvSpPr>
          <p:cNvPr id="22" name="Shape 19"/>
          <p:cNvSpPr/>
          <p:nvPr/>
        </p:nvSpPr>
        <p:spPr>
          <a:xfrm>
            <a:off x="10637215" y="4828032"/>
            <a:ext cx="1005840" cy="310896"/>
          </a:xfrm>
          <a:prstGeom prst="roundRect">
            <a:avLst>
              <a:gd name="adj" fmla="val 50000"/>
            </a:avLst>
          </a:prstGeom>
          <a:solidFill>
            <a:srgbClr val="E6EAEC"/>
          </a:solidFill>
          <a:ln/>
        </p:spPr>
      </p:sp>
      <p:sp>
        <p:nvSpPr>
          <p:cNvPr id="23" name="Text 20"/>
          <p:cNvSpPr txBox="1"/>
          <p:nvPr/>
        </p:nvSpPr>
        <p:spPr>
          <a:xfrm>
            <a:off x="10637215" y="4828032"/>
            <a:ext cx="1005840" cy="310896"/>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next</a:t>
            </a:r>
            <a:endParaRPr lang="en-US" sz="1100" dirty="0"/>
          </a:p>
        </p:txBody>
      </p:sp>
      <p:sp>
        <p:nvSpPr>
          <p:cNvPr id="24" name="Text 21"/>
          <p:cNvSpPr txBox="1"/>
          <p:nvPr/>
        </p:nvSpPr>
        <p:spPr>
          <a:xfrm>
            <a:off x="6766560" y="5440680"/>
            <a:ext cx="4876495" cy="365760"/>
          </a:xfrm>
          <a:prstGeom prst="rect">
            <a:avLst/>
          </a:prstGeom>
          <a:noFill/>
          <a:ln/>
        </p:spPr>
        <p:txBody>
          <a:bodyPr wrap="square" lIns="0" tIns="0" rIns="0" bIns="0" rtlCol="0" anchor="t"/>
          <a:lstStyle/>
          <a:p>
            <a:pPr indent="0" marL="0">
              <a:buNone/>
            </a:pPr>
            <a:r>
              <a:rPr lang="en-US" sz="1350" i="1" dirty="0">
                <a:solidFill>
                  <a:srgbClr val="5E6E75"/>
                </a:solidFill>
                <a:latin typeface="Calibri" pitchFamily="34" charset="0"/>
                <a:ea typeface="Calibri" pitchFamily="34" charset="-122"/>
                <a:cs typeface="Calibri" pitchFamily="34" charset="-120"/>
              </a:rPr>
              <a:t>A stage stays only if it gains ≥ 0.002.</a:t>
            </a:r>
            <a:endParaRPr lang="en-US" sz="1350" dirty="0"/>
          </a:p>
        </p:txBody>
      </p:sp>
      <p:sp>
        <p:nvSpPr>
          <p:cNvPr id="25" name="Text 2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16</a:t>
            </a:r>
            <a:endParaRPr lang="en-US" sz="1000" dirty="0"/>
          </a:p>
        </p:txBody>
      </p:sp>
      <p:sp>
        <p:nvSpPr>
          <p:cNvPr id="26" name="Text 2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Improvement-ladder register; ladder stage registrations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PRIVACY</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What the guarantee covers — and what it does not</a:t>
            </a:r>
            <a:endParaRPr lang="en-US" sz="3000" dirty="0"/>
          </a:p>
        </p:txBody>
      </p:sp>
      <p:sp>
        <p:nvSpPr>
          <p:cNvPr id="4" name="Shape 2"/>
          <p:cNvSpPr/>
          <p:nvPr/>
        </p:nvSpPr>
        <p:spPr>
          <a:xfrm>
            <a:off x="548640" y="1463040"/>
            <a:ext cx="2423160" cy="1463040"/>
          </a:xfrm>
          <a:prstGeom prst="roundRect">
            <a:avLst>
              <a:gd name="adj" fmla="val 5000"/>
            </a:avLst>
          </a:prstGeom>
          <a:solidFill>
            <a:srgbClr val="D8ECEC"/>
          </a:solidFill>
          <a:ln/>
        </p:spPr>
      </p:sp>
      <p:sp>
        <p:nvSpPr>
          <p:cNvPr id="5" name="Text 3"/>
          <p:cNvSpPr txBox="1"/>
          <p:nvPr/>
        </p:nvSpPr>
        <p:spPr>
          <a:xfrm>
            <a:off x="822960" y="1572768"/>
            <a:ext cx="1920240" cy="640080"/>
          </a:xfrm>
          <a:prstGeom prst="rect">
            <a:avLst/>
          </a:prstGeom>
          <a:noFill/>
          <a:ln/>
        </p:spPr>
        <p:txBody>
          <a:bodyPr wrap="square" lIns="0" tIns="0" rIns="0" bIns="0" rtlCol="0" anchor="t"/>
          <a:lstStyle/>
          <a:p>
            <a:pPr indent="0" marL="0">
              <a:buNone/>
            </a:pPr>
            <a:r>
              <a:rPr lang="en-US" sz="3400" b="1" dirty="0">
                <a:solidFill>
                  <a:srgbClr val="164E57"/>
                </a:solidFill>
                <a:latin typeface="Cambria" pitchFamily="34" charset="0"/>
                <a:ea typeface="Cambria" pitchFamily="34" charset="-122"/>
                <a:cs typeface="Cambria" pitchFamily="34" charset="-120"/>
              </a:rPr>
              <a:t>ε = 8</a:t>
            </a:r>
            <a:endParaRPr lang="en-US" sz="3400" dirty="0"/>
          </a:p>
        </p:txBody>
      </p:sp>
      <p:sp>
        <p:nvSpPr>
          <p:cNvPr id="6" name="Text 4"/>
          <p:cNvSpPr txBox="1"/>
          <p:nvPr/>
        </p:nvSpPr>
        <p:spPr>
          <a:xfrm>
            <a:off x="822960" y="2286000"/>
            <a:ext cx="1920240" cy="45720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moderate</a:t>
            </a:r>
            <a:endParaRPr lang="en-US" sz="1400" dirty="0"/>
          </a:p>
        </p:txBody>
      </p:sp>
      <p:sp>
        <p:nvSpPr>
          <p:cNvPr id="7" name="Shape 5"/>
          <p:cNvSpPr/>
          <p:nvPr/>
        </p:nvSpPr>
        <p:spPr>
          <a:xfrm>
            <a:off x="3200400" y="1463040"/>
            <a:ext cx="2423160" cy="1463040"/>
          </a:xfrm>
          <a:prstGeom prst="roundRect">
            <a:avLst>
              <a:gd name="adj" fmla="val 5000"/>
            </a:avLst>
          </a:prstGeom>
          <a:solidFill>
            <a:srgbClr val="D8ECEC"/>
          </a:solidFill>
          <a:ln/>
        </p:spPr>
      </p:sp>
      <p:sp>
        <p:nvSpPr>
          <p:cNvPr id="8" name="Text 6"/>
          <p:cNvSpPr txBox="1"/>
          <p:nvPr/>
        </p:nvSpPr>
        <p:spPr>
          <a:xfrm>
            <a:off x="3474720" y="1572768"/>
            <a:ext cx="1920240" cy="640080"/>
          </a:xfrm>
          <a:prstGeom prst="rect">
            <a:avLst/>
          </a:prstGeom>
          <a:noFill/>
          <a:ln/>
        </p:spPr>
        <p:txBody>
          <a:bodyPr wrap="square" lIns="0" tIns="0" rIns="0" bIns="0" rtlCol="0" anchor="t"/>
          <a:lstStyle/>
          <a:p>
            <a:pPr indent="0" marL="0">
              <a:buNone/>
            </a:pPr>
            <a:r>
              <a:rPr lang="en-US" sz="3400" b="1" dirty="0">
                <a:solidFill>
                  <a:srgbClr val="164E57"/>
                </a:solidFill>
                <a:latin typeface="Cambria" pitchFamily="34" charset="0"/>
                <a:ea typeface="Cambria" pitchFamily="34" charset="-122"/>
                <a:cs typeface="Cambria" pitchFamily="34" charset="-120"/>
              </a:rPr>
              <a:t>ε = 1</a:t>
            </a:r>
            <a:endParaRPr lang="en-US" sz="3400" dirty="0"/>
          </a:p>
        </p:txBody>
      </p:sp>
      <p:sp>
        <p:nvSpPr>
          <p:cNvPr id="9" name="Text 7"/>
          <p:cNvSpPr txBox="1"/>
          <p:nvPr/>
        </p:nvSpPr>
        <p:spPr>
          <a:xfrm>
            <a:off x="3474720" y="2286000"/>
            <a:ext cx="1920240" cy="45720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strong</a:t>
            </a:r>
            <a:endParaRPr lang="en-US" sz="1400" dirty="0"/>
          </a:p>
        </p:txBody>
      </p:sp>
      <p:sp>
        <p:nvSpPr>
          <p:cNvPr id="10" name="Text 8"/>
          <p:cNvSpPr txBox="1"/>
          <p:nvPr/>
        </p:nvSpPr>
        <p:spPr>
          <a:xfrm>
            <a:off x="548640" y="3200400"/>
            <a:ext cx="5120640" cy="201168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33434A"/>
                </a:solidFill>
                <a:latin typeface="Calibri" pitchFamily="34" charset="0"/>
                <a:ea typeface="Calibri" pitchFamily="34" charset="-122"/>
                <a:cs typeface="Calibri" pitchFamily="34" charset="-120"/>
              </a:rPr>
              <a:t>Per-user guarantee: one user's whole history barely changes the model.</a:t>
            </a:r>
            <a:endParaRPr lang="en-US" sz="1500" dirty="0"/>
          </a:p>
          <a:p>
            <a:pPr marL="203200" indent="-203200">
              <a:spcAft>
                <a:spcPts val="600"/>
              </a:spcAft>
              <a:buSzPct val="100000"/>
              <a:buChar char="•"/>
            </a:pPr>
            <a:r>
              <a:rPr lang="en-US" sz="1500" dirty="0">
                <a:solidFill>
                  <a:srgbClr val="33434A"/>
                </a:solidFill>
                <a:latin typeface="Calibri" pitchFamily="34" charset="0"/>
                <a:ea typeface="Calibri" pitchFamily="34" charset="-122"/>
                <a:cs typeface="Calibri" pitchFamily="34" charset="-120"/>
              </a:rPr>
              <a:t>Adversary: an honest-but-curious browser vendor.</a:t>
            </a:r>
            <a:endParaRPr lang="en-US" sz="1500" dirty="0"/>
          </a:p>
        </p:txBody>
      </p:sp>
      <p:sp>
        <p:nvSpPr>
          <p:cNvPr id="11" name="Shape 9"/>
          <p:cNvSpPr/>
          <p:nvPr/>
        </p:nvSpPr>
        <p:spPr>
          <a:xfrm>
            <a:off x="6309360" y="1463040"/>
            <a:ext cx="5333695" cy="2651760"/>
          </a:xfrm>
          <a:prstGeom prst="roundRect">
            <a:avLst>
              <a:gd name="adj" fmla="val 2759"/>
            </a:avLst>
          </a:prstGeom>
          <a:solidFill>
            <a:srgbClr val="FBEBD3"/>
          </a:solidFill>
          <a:ln/>
        </p:spPr>
      </p:sp>
      <p:sp>
        <p:nvSpPr>
          <p:cNvPr id="12" name="Text 10"/>
          <p:cNvSpPr txBox="1"/>
          <p:nvPr/>
        </p:nvSpPr>
        <p:spPr>
          <a:xfrm>
            <a:off x="6583680" y="1600200"/>
            <a:ext cx="4785055" cy="365760"/>
          </a:xfrm>
          <a:prstGeom prst="rect">
            <a:avLst/>
          </a:prstGeom>
          <a:noFill/>
          <a:ln/>
        </p:spPr>
        <p:txBody>
          <a:bodyPr wrap="square" lIns="0" tIns="0" rIns="0" bIns="0" rtlCol="0" anchor="t"/>
          <a:lstStyle/>
          <a:p>
            <a:pPr indent="0" marL="0">
              <a:buNone/>
            </a:pPr>
            <a:r>
              <a:rPr lang="en-US" sz="1700" b="1" dirty="0">
                <a:solidFill>
                  <a:srgbClr val="9A5A0C"/>
                </a:solidFill>
                <a:latin typeface="Cambria" pitchFamily="34" charset="0"/>
                <a:ea typeface="Cambria" pitchFamily="34" charset="-122"/>
                <a:cs typeface="Cambria" pitchFamily="34" charset="-120"/>
              </a:rPr>
              <a:t>Stated limits</a:t>
            </a:r>
            <a:endParaRPr lang="en-US" sz="1700" dirty="0"/>
          </a:p>
        </p:txBody>
      </p:sp>
      <p:sp>
        <p:nvSpPr>
          <p:cNvPr id="13" name="Text 11"/>
          <p:cNvSpPr txBox="1"/>
          <p:nvPr/>
        </p:nvSpPr>
        <p:spPr>
          <a:xfrm>
            <a:off x="6583680" y="2103120"/>
            <a:ext cx="4785055" cy="310896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rgbClr val="33434A"/>
                </a:solidFill>
                <a:latin typeface="Calibri" pitchFamily="34" charset="0"/>
                <a:ea typeface="Calibri" pitchFamily="34" charset="-122"/>
                <a:cs typeface="Calibri" pitchFamily="34" charset="-120"/>
              </a:rPr>
              <a:t>Without DP, an update can reveal which products a user viewed.</a:t>
            </a:r>
            <a:endParaRPr lang="en-US" sz="1500" dirty="0"/>
          </a:p>
          <a:p>
            <a:pPr marL="203200" indent="-203200">
              <a:spcAft>
                <a:spcPts val="1200"/>
              </a:spcAft>
              <a:buSzPct val="100000"/>
              <a:buChar char="•"/>
            </a:pPr>
            <a:r>
              <a:rPr lang="en-US" sz="1500" dirty="0">
                <a:solidFill>
                  <a:srgbClr val="33434A"/>
                </a:solidFill>
                <a:latin typeface="Calibri" pitchFamily="34" charset="0"/>
                <a:ea typeface="Calibri" pitchFamily="34" charset="-122"/>
                <a:cs typeface="Calibri" pitchFamily="34" charset="-120"/>
              </a:rPr>
              <a:t>Secure aggregation is not simulated.</a:t>
            </a:r>
            <a:endParaRPr lang="en-US" sz="1500" dirty="0"/>
          </a:p>
          <a:p>
            <a:pPr marL="203200" indent="-203200">
              <a:spcAft>
                <a:spcPts val="1200"/>
              </a:spcAft>
              <a:buSzPct val="100000"/>
              <a:buChar char="•"/>
            </a:pPr>
            <a:r>
              <a:rPr lang="en-US" sz="1500" dirty="0">
                <a:solidFill>
                  <a:srgbClr val="33434A"/>
                </a:solidFill>
                <a:latin typeface="Calibri" pitchFamily="34" charset="0"/>
                <a:ea typeface="Calibri" pitchFamily="34" charset="-122"/>
                <a:cs typeface="Calibri" pitchFamily="34" charset="-120"/>
              </a:rPr>
              <a:t>Frozen item tables reduce this leak, not remove it.</a:t>
            </a:r>
            <a:endParaRPr lang="en-US" sz="1500" dirty="0"/>
          </a:p>
        </p:txBody>
      </p:sp>
      <p:sp>
        <p:nvSpPr>
          <p:cNvPr id="14" name="Text 1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17</a:t>
            </a:r>
            <a:endParaRPr lang="en-US" sz="1000" dirty="0"/>
          </a:p>
        </p:txBody>
      </p:sp>
      <p:sp>
        <p:nvSpPr>
          <p:cNvPr id="15" name="Text 1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Privacy statement and threat model (registered after the review)</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REALISTIC DEPLOYMENT BRANCH</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How a browser would actually ship it</a:t>
            </a:r>
            <a:endParaRPr lang="en-US" sz="3000" dirty="0"/>
          </a:p>
        </p:txBody>
      </p:sp>
      <p:sp>
        <p:nvSpPr>
          <p:cNvPr id="4" name="Shape 2"/>
          <p:cNvSpPr/>
          <p:nvPr/>
        </p:nvSpPr>
        <p:spPr>
          <a:xfrm>
            <a:off x="548640" y="1645920"/>
            <a:ext cx="3246120" cy="2194560"/>
          </a:xfrm>
          <a:prstGeom prst="roundRect">
            <a:avLst>
              <a:gd name="adj" fmla="val 3333"/>
            </a:avLst>
          </a:prstGeom>
          <a:solidFill>
            <a:srgbClr val="FBEBD3"/>
          </a:solidFill>
          <a:ln/>
        </p:spPr>
      </p:sp>
      <p:sp>
        <p:nvSpPr>
          <p:cNvPr id="5" name="Shape 3"/>
          <p:cNvSpPr/>
          <p:nvPr/>
        </p:nvSpPr>
        <p:spPr>
          <a:xfrm>
            <a:off x="777240" y="1874520"/>
            <a:ext cx="457200" cy="457200"/>
          </a:xfrm>
          <a:prstGeom prst="ellipse">
            <a:avLst/>
          </a:prstGeom>
          <a:solidFill>
            <a:srgbClr val="9A5A0C"/>
          </a:solidFill>
          <a:ln/>
        </p:spPr>
      </p:sp>
      <p:sp>
        <p:nvSpPr>
          <p:cNvPr id="6" name="Text 4"/>
          <p:cNvSpPr txBox="1"/>
          <p:nvPr/>
        </p:nvSpPr>
        <p:spPr>
          <a:xfrm>
            <a:off x="777240" y="1874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417320" y="1874520"/>
            <a:ext cx="2240280" cy="548640"/>
          </a:xfrm>
          <a:prstGeom prst="rect">
            <a:avLst/>
          </a:prstGeom>
          <a:noFill/>
          <a:ln/>
        </p:spPr>
        <p:txBody>
          <a:bodyPr wrap="square" lIns="0" tIns="0" rIns="0" bIns="0" rtlCol="0" anchor="ctr"/>
          <a:lstStyle/>
          <a:p>
            <a:pPr indent="0" marL="0">
              <a:buNone/>
            </a:pPr>
            <a:r>
              <a:rPr lang="en-US" sz="1700" b="1" dirty="0">
                <a:solidFill>
                  <a:srgbClr val="13262F"/>
                </a:solidFill>
                <a:latin typeface="Cambria" pitchFamily="34" charset="0"/>
                <a:ea typeface="Cambria" pitchFamily="34" charset="-122"/>
                <a:cs typeface="Cambria" pitchFamily="34" charset="-120"/>
              </a:rPr>
              <a:t>Pretrain on opted-in users</a:t>
            </a:r>
            <a:endParaRPr lang="en-US" sz="1700" dirty="0"/>
          </a:p>
        </p:txBody>
      </p:sp>
      <p:sp>
        <p:nvSpPr>
          <p:cNvPr id="8" name="Text 6"/>
          <p:cNvSpPr txBox="1"/>
          <p:nvPr/>
        </p:nvSpPr>
        <p:spPr>
          <a:xfrm>
            <a:off x="777240" y="2651760"/>
            <a:ext cx="2788920" cy="1097280"/>
          </a:xfrm>
          <a:prstGeom prst="rect">
            <a:avLst/>
          </a:prstGeom>
          <a:noFill/>
          <a:ln/>
        </p:spPr>
        <p:txBody>
          <a:bodyPr wrap="square" lIns="0" tIns="0" rIns="0" bIns="0" rtlCol="0" anchor="t"/>
          <a:lstStyle/>
          <a:p>
            <a:pPr indent="0" marL="0">
              <a:buNone/>
            </a:pPr>
            <a:r>
              <a:rPr lang="en-US" sz="1500" dirty="0">
                <a:solidFill>
                  <a:srgbClr val="33434A"/>
                </a:solidFill>
                <a:latin typeface="Calibri" pitchFamily="34" charset="0"/>
                <a:ea typeface="Calibri" pitchFamily="34" charset="-122"/>
                <a:cs typeface="Calibri" pitchFamily="34" charset="-120"/>
              </a:rPr>
              <a:t>≈ 1.2M users who share data; none of them in the main cohort</a:t>
            </a:r>
            <a:endParaRPr lang="en-US" sz="1500" dirty="0"/>
          </a:p>
        </p:txBody>
      </p:sp>
      <p:sp>
        <p:nvSpPr>
          <p:cNvPr id="9" name="Shape 7"/>
          <p:cNvSpPr/>
          <p:nvPr/>
        </p:nvSpPr>
        <p:spPr>
          <a:xfrm>
            <a:off x="3886200" y="2560320"/>
            <a:ext cx="384048" cy="411480"/>
          </a:xfrm>
          <a:prstGeom prst="rightArrow">
            <a:avLst/>
          </a:prstGeom>
          <a:solidFill>
            <a:srgbClr val="A7B1B6"/>
          </a:solidFill>
          <a:ln/>
        </p:spPr>
      </p:sp>
      <p:sp>
        <p:nvSpPr>
          <p:cNvPr id="10" name="Shape 8"/>
          <p:cNvSpPr/>
          <p:nvPr/>
        </p:nvSpPr>
        <p:spPr>
          <a:xfrm>
            <a:off x="4361688" y="1645920"/>
            <a:ext cx="3246120" cy="2194560"/>
          </a:xfrm>
          <a:prstGeom prst="roundRect">
            <a:avLst>
              <a:gd name="adj" fmla="val 3333"/>
            </a:avLst>
          </a:prstGeom>
          <a:solidFill>
            <a:srgbClr val="D8ECEC"/>
          </a:solidFill>
          <a:ln/>
        </p:spPr>
      </p:sp>
      <p:sp>
        <p:nvSpPr>
          <p:cNvPr id="11" name="Shape 9"/>
          <p:cNvSpPr/>
          <p:nvPr/>
        </p:nvSpPr>
        <p:spPr>
          <a:xfrm>
            <a:off x="4590288" y="1874520"/>
            <a:ext cx="457200" cy="457200"/>
          </a:xfrm>
          <a:prstGeom prst="ellipse">
            <a:avLst/>
          </a:prstGeom>
          <a:solidFill>
            <a:srgbClr val="164E57"/>
          </a:solidFill>
          <a:ln/>
        </p:spPr>
      </p:sp>
      <p:sp>
        <p:nvSpPr>
          <p:cNvPr id="12" name="Text 10"/>
          <p:cNvSpPr txBox="1"/>
          <p:nvPr/>
        </p:nvSpPr>
        <p:spPr>
          <a:xfrm>
            <a:off x="4590288" y="1874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5230368" y="1874520"/>
            <a:ext cx="2240280" cy="548640"/>
          </a:xfrm>
          <a:prstGeom prst="rect">
            <a:avLst/>
          </a:prstGeom>
          <a:noFill/>
          <a:ln/>
        </p:spPr>
        <p:txBody>
          <a:bodyPr wrap="square" lIns="0" tIns="0" rIns="0" bIns="0" rtlCol="0" anchor="ctr"/>
          <a:lstStyle/>
          <a:p>
            <a:pPr indent="0" marL="0">
              <a:buNone/>
            </a:pPr>
            <a:r>
              <a:rPr lang="en-US" sz="1700" b="1" dirty="0">
                <a:solidFill>
                  <a:srgbClr val="13262F"/>
                </a:solidFill>
                <a:latin typeface="Cambria" pitchFamily="34" charset="0"/>
                <a:ea typeface="Cambria" pitchFamily="34" charset="-122"/>
                <a:cs typeface="Cambria" pitchFamily="34" charset="-120"/>
              </a:rPr>
              <a:t>Federated on private users</a:t>
            </a:r>
            <a:endParaRPr lang="en-US" sz="1700" dirty="0"/>
          </a:p>
        </p:txBody>
      </p:sp>
      <p:sp>
        <p:nvSpPr>
          <p:cNvPr id="14" name="Text 12"/>
          <p:cNvSpPr txBox="1"/>
          <p:nvPr/>
        </p:nvSpPr>
        <p:spPr>
          <a:xfrm>
            <a:off x="4590288" y="2651760"/>
            <a:ext cx="2788920" cy="1097280"/>
          </a:xfrm>
          <a:prstGeom prst="rect">
            <a:avLst/>
          </a:prstGeom>
          <a:noFill/>
          <a:ln/>
        </p:spPr>
        <p:txBody>
          <a:bodyPr wrap="square" lIns="0" tIns="0" rIns="0" bIns="0" rtlCol="0" anchor="t"/>
          <a:lstStyle/>
          <a:p>
            <a:pPr indent="0" marL="0">
              <a:buNone/>
            </a:pPr>
            <a:r>
              <a:rPr lang="en-US" sz="1500" dirty="0">
                <a:solidFill>
                  <a:srgbClr val="33434A"/>
                </a:solidFill>
                <a:latin typeface="Calibri" pitchFamily="34" charset="0"/>
                <a:ea typeface="Calibri" pitchFamily="34" charset="-122"/>
                <a:cs typeface="Calibri" pitchFamily="34" charset="-120"/>
              </a:rPr>
              <a:t>Start from the pretrained model; private users send only updates</a:t>
            </a:r>
            <a:endParaRPr lang="en-US" sz="1500" dirty="0"/>
          </a:p>
        </p:txBody>
      </p:sp>
      <p:sp>
        <p:nvSpPr>
          <p:cNvPr id="15" name="Shape 13"/>
          <p:cNvSpPr/>
          <p:nvPr/>
        </p:nvSpPr>
        <p:spPr>
          <a:xfrm>
            <a:off x="7699248" y="2560320"/>
            <a:ext cx="384048" cy="411480"/>
          </a:xfrm>
          <a:prstGeom prst="rightArrow">
            <a:avLst/>
          </a:prstGeom>
          <a:solidFill>
            <a:srgbClr val="A7B1B6"/>
          </a:solidFill>
          <a:ln/>
        </p:spPr>
      </p:sp>
      <p:sp>
        <p:nvSpPr>
          <p:cNvPr id="16" name="Shape 14"/>
          <p:cNvSpPr/>
          <p:nvPr/>
        </p:nvSpPr>
        <p:spPr>
          <a:xfrm>
            <a:off x="8174736" y="1645920"/>
            <a:ext cx="3246120" cy="2194560"/>
          </a:xfrm>
          <a:prstGeom prst="roundRect">
            <a:avLst>
              <a:gd name="adj" fmla="val 3333"/>
            </a:avLst>
          </a:prstGeom>
          <a:solidFill>
            <a:srgbClr val="F1F4F4"/>
          </a:solidFill>
          <a:ln/>
        </p:spPr>
      </p:sp>
      <p:sp>
        <p:nvSpPr>
          <p:cNvPr id="17" name="Shape 15"/>
          <p:cNvSpPr/>
          <p:nvPr/>
        </p:nvSpPr>
        <p:spPr>
          <a:xfrm>
            <a:off x="8403336" y="1874520"/>
            <a:ext cx="457200" cy="457200"/>
          </a:xfrm>
          <a:prstGeom prst="ellipse">
            <a:avLst/>
          </a:prstGeom>
          <a:solidFill>
            <a:srgbClr val="13262F"/>
          </a:solidFill>
          <a:ln/>
        </p:spPr>
      </p:sp>
      <p:sp>
        <p:nvSpPr>
          <p:cNvPr id="18" name="Text 16"/>
          <p:cNvSpPr txBox="1"/>
          <p:nvPr/>
        </p:nvSpPr>
        <p:spPr>
          <a:xfrm>
            <a:off x="8403336" y="1874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9043416" y="1874520"/>
            <a:ext cx="2240280" cy="548640"/>
          </a:xfrm>
          <a:prstGeom prst="rect">
            <a:avLst/>
          </a:prstGeom>
          <a:noFill/>
          <a:ln/>
        </p:spPr>
        <p:txBody>
          <a:bodyPr wrap="square" lIns="0" tIns="0" rIns="0" bIns="0" rtlCol="0" anchor="ctr"/>
          <a:lstStyle/>
          <a:p>
            <a:pPr indent="0" marL="0">
              <a:buNone/>
            </a:pPr>
            <a:r>
              <a:rPr lang="en-US" sz="1700" b="1" dirty="0">
                <a:solidFill>
                  <a:srgbClr val="13262F"/>
                </a:solidFill>
                <a:latin typeface="Cambria" pitchFamily="34" charset="0"/>
                <a:ea typeface="Cambria" pitchFamily="34" charset="-122"/>
                <a:cs typeface="Cambria" pitchFamily="34" charset="-120"/>
              </a:rPr>
              <a:t>Freeze the item tables</a:t>
            </a:r>
            <a:endParaRPr lang="en-US" sz="1700" dirty="0"/>
          </a:p>
        </p:txBody>
      </p:sp>
      <p:sp>
        <p:nvSpPr>
          <p:cNvPr id="20" name="Text 18"/>
          <p:cNvSpPr txBox="1"/>
          <p:nvPr/>
        </p:nvSpPr>
        <p:spPr>
          <a:xfrm>
            <a:off x="8403336" y="2651760"/>
            <a:ext cx="2788920" cy="1097280"/>
          </a:xfrm>
          <a:prstGeom prst="rect">
            <a:avLst/>
          </a:prstGeom>
          <a:noFill/>
          <a:ln/>
        </p:spPr>
        <p:txBody>
          <a:bodyPr wrap="square" lIns="0" tIns="0" rIns="0" bIns="0" rtlCol="0" anchor="t"/>
          <a:lstStyle/>
          <a:p>
            <a:pPr indent="0" marL="0">
              <a:buNone/>
            </a:pPr>
            <a:r>
              <a:rPr lang="en-US" sz="1500" dirty="0">
                <a:solidFill>
                  <a:srgbClr val="33434A"/>
                </a:solidFill>
                <a:latin typeface="Calibri" pitchFamily="34" charset="0"/>
                <a:ea typeface="Calibri" pitchFamily="34" charset="-122"/>
                <a:cs typeface="Calibri" pitchFamily="34" charset="-120"/>
              </a:rPr>
              <a:t>Only a small encoder moves: about 1 MB each way</a:t>
            </a:r>
            <a:endParaRPr lang="en-US" sz="1500" dirty="0"/>
          </a:p>
        </p:txBody>
      </p:sp>
      <p:sp>
        <p:nvSpPr>
          <p:cNvPr id="21" name="Shape 19"/>
          <p:cNvSpPr/>
          <p:nvPr/>
        </p:nvSpPr>
        <p:spPr>
          <a:xfrm>
            <a:off x="548640" y="4206240"/>
            <a:ext cx="11094415" cy="1371600"/>
          </a:xfrm>
          <a:prstGeom prst="roundRect">
            <a:avLst>
              <a:gd name="adj" fmla="val 5333"/>
            </a:avLst>
          </a:prstGeom>
          <a:solidFill>
            <a:srgbClr val="FFFFFF"/>
          </a:solidFill>
          <a:ln w="12700">
            <a:solidFill>
              <a:srgbClr val="D5DDDF"/>
            </a:solidFill>
            <a:prstDash val="solid"/>
          </a:ln>
        </p:spPr>
      </p:sp>
      <p:sp>
        <p:nvSpPr>
          <p:cNvPr id="22" name="Text 20"/>
          <p:cNvSpPr txBox="1"/>
          <p:nvPr/>
        </p:nvSpPr>
        <p:spPr>
          <a:xfrm>
            <a:off x="822960" y="4315968"/>
            <a:ext cx="10545775" cy="457200"/>
          </a:xfrm>
          <a:prstGeom prst="rect">
            <a:avLst/>
          </a:prstGeom>
          <a:noFill/>
          <a:ln/>
        </p:spPr>
        <p:txBody>
          <a:bodyPr wrap="square" lIns="0" tIns="0" rIns="0" bIns="0" rtlCol="0" anchor="t"/>
          <a:lstStyle/>
          <a:p>
            <a:pPr indent="0" marL="0">
              <a:buNone/>
            </a:pPr>
            <a:r>
              <a:rPr lang="en-US" sz="1600" b="1" dirty="0">
                <a:solidFill>
                  <a:srgbClr val="164E57"/>
                </a:solidFill>
                <a:latin typeface="Calibri" pitchFamily="34" charset="0"/>
                <a:ea typeface="Calibri" pitchFamily="34" charset="-122"/>
                <a:cs typeface="Calibri" pitchFamily="34" charset="-120"/>
              </a:rPr>
              <a:t>This directly fixes our first mistake: federated training no longer starts from an untrained model.</a:t>
            </a:r>
            <a:endParaRPr lang="en-US" sz="1600" dirty="0"/>
          </a:p>
        </p:txBody>
      </p:sp>
      <p:sp>
        <p:nvSpPr>
          <p:cNvPr id="23" name="Text 21"/>
          <p:cNvSpPr txBox="1"/>
          <p:nvPr/>
        </p:nvSpPr>
        <p:spPr>
          <a:xfrm>
            <a:off x="822960" y="4846320"/>
            <a:ext cx="10545775" cy="548640"/>
          </a:xfrm>
          <a:prstGeom prst="rect">
            <a:avLst/>
          </a:prstGeom>
          <a:noFill/>
          <a:ln/>
        </p:spPr>
        <p:txBody>
          <a:bodyPr wrap="square" lIns="0" tIns="0" rIns="0" bIns="0" rtlCol="0" anchor="t"/>
          <a:lstStyle/>
          <a:p>
            <a:pPr indent="0" marL="0">
              <a:buNone/>
            </a:pPr>
            <a:r>
              <a:rPr lang="en-US" sz="1450" dirty="0">
                <a:solidFill>
                  <a:srgbClr val="33434A"/>
                </a:solidFill>
                <a:latin typeface="Calibri" pitchFamily="34" charset="0"/>
                <a:ea typeface="Calibri" pitchFamily="34" charset="-122"/>
                <a:cs typeface="Calibri" pitchFamily="34" charset="-120"/>
              </a:rPr>
              <a:t>Judged against the full-pool cloud. Pretraining has finished; federated training from it is next. Results sealed until the first read.</a:t>
            </a:r>
            <a:endParaRPr lang="en-US" sz="1450" dirty="0"/>
          </a:p>
        </p:txBody>
      </p:sp>
      <p:sp>
        <p:nvSpPr>
          <p:cNvPr id="24" name="Text 2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18</a:t>
            </a:r>
            <a:endParaRPr lang="en-US" sz="1000" dirty="0"/>
          </a:p>
        </p:txBody>
      </p:sp>
      <p:sp>
        <p:nvSpPr>
          <p:cNvPr id="25" name="Text 2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Warm-start registration and its review; pretraining cohort build</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DISCUSSION / DECISION 3</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Federated effort, privacy and the deployment story</a:t>
            </a:r>
            <a:endParaRPr lang="en-US" sz="3000" dirty="0"/>
          </a:p>
        </p:txBody>
      </p:sp>
      <p:sp>
        <p:nvSpPr>
          <p:cNvPr id="4" name="Shape 2"/>
          <p:cNvSpPr/>
          <p:nvPr/>
        </p:nvSpPr>
        <p:spPr>
          <a:xfrm>
            <a:off x="548640" y="1600200"/>
            <a:ext cx="11094415" cy="1389888"/>
          </a:xfrm>
          <a:prstGeom prst="roundRect">
            <a:avLst>
              <a:gd name="adj" fmla="val 5263"/>
            </a:avLst>
          </a:prstGeom>
          <a:solidFill>
            <a:srgbClr val="1D3640"/>
          </a:solidFill>
          <a:ln/>
        </p:spPr>
      </p:sp>
      <p:sp>
        <p:nvSpPr>
          <p:cNvPr id="5" name="Shape 3"/>
          <p:cNvSpPr/>
          <p:nvPr/>
        </p:nvSpPr>
        <p:spPr>
          <a:xfrm>
            <a:off x="822960" y="2020824"/>
            <a:ext cx="548640" cy="548640"/>
          </a:xfrm>
          <a:prstGeom prst="ellipse">
            <a:avLst/>
          </a:prstGeom>
          <a:solidFill>
            <a:srgbClr val="E0932B"/>
          </a:solidFill>
          <a:ln/>
        </p:spPr>
      </p:sp>
      <p:sp>
        <p:nvSpPr>
          <p:cNvPr id="6" name="Text 4"/>
          <p:cNvSpPr txBox="1"/>
          <p:nvPr/>
        </p:nvSpPr>
        <p:spPr>
          <a:xfrm>
            <a:off x="822960" y="2020824"/>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673352"/>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How much tuning effort is fair for federated learning?</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Our ladder stops when a stage gains less than 0.002.</a:t>
            </a:r>
            <a:endParaRPr lang="en-US" sz="1800" dirty="0"/>
          </a:p>
        </p:txBody>
      </p:sp>
      <p:sp>
        <p:nvSpPr>
          <p:cNvPr id="8" name="Shape 6"/>
          <p:cNvSpPr/>
          <p:nvPr/>
        </p:nvSpPr>
        <p:spPr>
          <a:xfrm>
            <a:off x="548640" y="3191256"/>
            <a:ext cx="11094415" cy="1389888"/>
          </a:xfrm>
          <a:prstGeom prst="roundRect">
            <a:avLst>
              <a:gd name="adj" fmla="val 5263"/>
            </a:avLst>
          </a:prstGeom>
          <a:solidFill>
            <a:srgbClr val="1D3640"/>
          </a:solidFill>
          <a:ln/>
        </p:spPr>
      </p:sp>
      <p:sp>
        <p:nvSpPr>
          <p:cNvPr id="9" name="Shape 7"/>
          <p:cNvSpPr/>
          <p:nvPr/>
        </p:nvSpPr>
        <p:spPr>
          <a:xfrm>
            <a:off x="822960" y="3611880"/>
            <a:ext cx="548640" cy="548640"/>
          </a:xfrm>
          <a:prstGeom prst="ellipse">
            <a:avLst/>
          </a:prstGeom>
          <a:solidFill>
            <a:srgbClr val="E0932B"/>
          </a:solidFill>
          <a:ln/>
        </p:spPr>
      </p:sp>
      <p:sp>
        <p:nvSpPr>
          <p:cNvPr id="10" name="Text 8"/>
          <p:cNvSpPr txBox="1"/>
          <p:nvPr/>
        </p:nvSpPr>
        <p:spPr>
          <a:xfrm>
            <a:off x="822960" y="3611880"/>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45920" y="3264408"/>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DP at ε = 8 and ε = 1 enough, or do you want a curve?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One more level costs about half a day (estimate).</a:t>
            </a:r>
            <a:endParaRPr lang="en-US" sz="1800" dirty="0"/>
          </a:p>
        </p:txBody>
      </p:sp>
      <p:sp>
        <p:nvSpPr>
          <p:cNvPr id="12" name="Shape 10"/>
          <p:cNvSpPr/>
          <p:nvPr/>
        </p:nvSpPr>
        <p:spPr>
          <a:xfrm>
            <a:off x="548640" y="4782312"/>
            <a:ext cx="11094415" cy="1389888"/>
          </a:xfrm>
          <a:prstGeom prst="roundRect">
            <a:avLst>
              <a:gd name="adj" fmla="val 5263"/>
            </a:avLst>
          </a:prstGeom>
          <a:solidFill>
            <a:srgbClr val="1D3640"/>
          </a:solidFill>
          <a:ln/>
        </p:spPr>
      </p:sp>
      <p:sp>
        <p:nvSpPr>
          <p:cNvPr id="13" name="Shape 11"/>
          <p:cNvSpPr/>
          <p:nvPr/>
        </p:nvSpPr>
        <p:spPr>
          <a:xfrm>
            <a:off x="822960" y="5202936"/>
            <a:ext cx="548640" cy="548640"/>
          </a:xfrm>
          <a:prstGeom prst="ellipse">
            <a:avLst/>
          </a:prstGeom>
          <a:solidFill>
            <a:srgbClr val="E0932B"/>
          </a:solidFill>
          <a:ln/>
        </p:spPr>
      </p:sp>
      <p:sp>
        <p:nvSpPr>
          <p:cNvPr id="14" name="Text 12"/>
          <p:cNvSpPr txBox="1"/>
          <p:nvPr/>
        </p:nvSpPr>
        <p:spPr>
          <a:xfrm>
            <a:off x="822960" y="5202936"/>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645920" y="4855464"/>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pretraining on opted-in users a realistic assumption for Edge?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If yes, it becomes the headline Edge answer.</a:t>
            </a:r>
            <a:endParaRPr lang="en-US" sz="180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19</a:t>
            </a:r>
            <a:endParaRPr lang="en-US" sz="1000" dirty="0"/>
          </a:p>
        </p:txBody>
      </p:sp>
      <p:sp>
        <p:nvSpPr>
          <p:cNvPr id="17" name="Text 15"/>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A9C0C4"/>
                </a:solidFill>
                <a:latin typeface="Calibri" pitchFamily="34" charset="0"/>
                <a:ea typeface="Calibri" pitchFamily="34" charset="-122"/>
                <a:cs typeface="Calibri" pitchFamily="34" charset="-120"/>
              </a:rPr>
              <a:t>Context: federated slides and privacy</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ON-DEVICE AND COLD START</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What runs on the device, and who it serves</a:t>
            </a:r>
            <a:endParaRPr lang="en-US" sz="3000" dirty="0"/>
          </a:p>
        </p:txBody>
      </p:sp>
      <p:sp>
        <p:nvSpPr>
          <p:cNvPr id="4" name="Text 2"/>
          <p:cNvSpPr txBox="1"/>
          <p:nvPr/>
        </p:nvSpPr>
        <p:spPr>
          <a:xfrm>
            <a:off x="548640" y="1417320"/>
            <a:ext cx="5486400" cy="365760"/>
          </a:xfrm>
          <a:prstGeom prst="rect">
            <a:avLst/>
          </a:prstGeom>
          <a:noFill/>
          <a:ln/>
        </p:spPr>
        <p:txBody>
          <a:bodyPr wrap="square" lIns="0" tIns="0" rIns="0" bIns="0" rtlCol="0" anchor="t"/>
          <a:lstStyle/>
          <a:p>
            <a:pPr indent="0" marL="0">
              <a:buNone/>
            </a:pPr>
            <a:r>
              <a:rPr lang="en-US" sz="1700" b="1" dirty="0">
                <a:solidFill>
                  <a:srgbClr val="13262F"/>
                </a:solidFill>
                <a:latin typeface="Cambria" pitchFamily="34" charset="0"/>
                <a:ea typeface="Cambria" pitchFamily="34" charset="-122"/>
                <a:cs typeface="Cambria" pitchFamily="34" charset="-120"/>
              </a:rPr>
              <a:t>On the device</a:t>
            </a:r>
            <a:endParaRPr lang="en-US" sz="1700" dirty="0"/>
          </a:p>
        </p:txBody>
      </p:sp>
      <p:sp>
        <p:nvSpPr>
          <p:cNvPr id="5" name="Shape 3"/>
          <p:cNvSpPr/>
          <p:nvPr/>
        </p:nvSpPr>
        <p:spPr>
          <a:xfrm>
            <a:off x="548640" y="1874520"/>
            <a:ext cx="5394960" cy="786384"/>
          </a:xfrm>
          <a:prstGeom prst="roundRect">
            <a:avLst>
              <a:gd name="adj" fmla="val 9302"/>
            </a:avLst>
          </a:prstGeom>
          <a:solidFill>
            <a:srgbClr val="F1F4F4"/>
          </a:solidFill>
          <a:ln/>
        </p:spPr>
      </p:sp>
      <p:sp>
        <p:nvSpPr>
          <p:cNvPr id="6" name="Text 4"/>
          <p:cNvSpPr txBox="1"/>
          <p:nvPr/>
        </p:nvSpPr>
        <p:spPr>
          <a:xfrm>
            <a:off x="822960" y="1947672"/>
            <a:ext cx="4846320" cy="365760"/>
          </a:xfrm>
          <a:prstGeom prst="rect">
            <a:avLst/>
          </a:prstGeom>
          <a:noFill/>
          <a:ln/>
        </p:spPr>
        <p:txBody>
          <a:bodyPr wrap="square" lIns="0" tIns="0" rIns="0" bIns="0" rtlCol="0" anchor="t"/>
          <a:lstStyle/>
          <a:p>
            <a:pPr indent="0" marL="0">
              <a:buNone/>
            </a:pPr>
            <a:r>
              <a:rPr lang="en-US" sz="1500" b="1" dirty="0">
                <a:solidFill>
                  <a:srgbClr val="13262F"/>
                </a:solidFill>
                <a:latin typeface="Calibri" pitchFamily="34" charset="0"/>
                <a:ea typeface="Calibri" pitchFamily="34" charset="-122"/>
                <a:cs typeface="Calibri" pitchFamily="34" charset="-120"/>
              </a:rPr>
              <a:t>Local-only model</a:t>
            </a:r>
            <a:endParaRPr lang="en-US" sz="1500" dirty="0"/>
          </a:p>
        </p:txBody>
      </p:sp>
      <p:sp>
        <p:nvSpPr>
          <p:cNvPr id="7" name="Text 5"/>
          <p:cNvSpPr txBox="1"/>
          <p:nvPr/>
        </p:nvSpPr>
        <p:spPr>
          <a:xfrm>
            <a:off x="822960" y="2295144"/>
            <a:ext cx="4846320" cy="320040"/>
          </a:xfrm>
          <a:prstGeom prst="rect">
            <a:avLst/>
          </a:prstGeom>
          <a:noFill/>
          <a:ln/>
        </p:spPr>
        <p:txBody>
          <a:bodyPr wrap="square" lIns="0" tIns="0" rIns="0" bIns="0" rtlCol="0" anchor="t"/>
          <a:lstStyle/>
          <a:p>
            <a:pPr indent="0" marL="0">
              <a:buNone/>
            </a:pPr>
            <a:r>
              <a:rPr lang="en-US" sz="1350" dirty="0">
                <a:solidFill>
                  <a:srgbClr val="33434A"/>
                </a:solidFill>
                <a:latin typeface="Calibri" pitchFamily="34" charset="0"/>
                <a:ea typeface="Calibri" pitchFamily="34" charset="-122"/>
                <a:cs typeface="Calibri" pitchFamily="34" charset="-120"/>
              </a:rPr>
              <a:t>a control, not a product</a:t>
            </a:r>
            <a:endParaRPr lang="en-US" sz="1350" dirty="0"/>
          </a:p>
        </p:txBody>
      </p:sp>
      <p:sp>
        <p:nvSpPr>
          <p:cNvPr id="8" name="Shape 6"/>
          <p:cNvSpPr/>
          <p:nvPr/>
        </p:nvSpPr>
        <p:spPr>
          <a:xfrm>
            <a:off x="548640" y="2788920"/>
            <a:ext cx="5394960" cy="786384"/>
          </a:xfrm>
          <a:prstGeom prst="roundRect">
            <a:avLst>
              <a:gd name="adj" fmla="val 9302"/>
            </a:avLst>
          </a:prstGeom>
          <a:solidFill>
            <a:srgbClr val="F1F4F4"/>
          </a:solidFill>
          <a:ln/>
        </p:spPr>
      </p:sp>
      <p:sp>
        <p:nvSpPr>
          <p:cNvPr id="9" name="Text 7"/>
          <p:cNvSpPr txBox="1"/>
          <p:nvPr/>
        </p:nvSpPr>
        <p:spPr>
          <a:xfrm>
            <a:off x="822960" y="2862072"/>
            <a:ext cx="4846320" cy="365760"/>
          </a:xfrm>
          <a:prstGeom prst="rect">
            <a:avLst/>
          </a:prstGeom>
          <a:noFill/>
          <a:ln/>
        </p:spPr>
        <p:txBody>
          <a:bodyPr wrap="square" lIns="0" tIns="0" rIns="0" bIns="0" rtlCol="0" anchor="t"/>
          <a:lstStyle/>
          <a:p>
            <a:pPr indent="0" marL="0">
              <a:buNone/>
            </a:pPr>
            <a:r>
              <a:rPr lang="en-US" sz="1500" b="1" dirty="0">
                <a:solidFill>
                  <a:srgbClr val="13262F"/>
                </a:solidFill>
                <a:latin typeface="Calibri" pitchFamily="34" charset="0"/>
                <a:ea typeface="Calibri" pitchFamily="34" charset="-122"/>
                <a:cs typeface="Calibri" pitchFamily="34" charset="-120"/>
              </a:rPr>
              <a:t>Cloud model, fine-tuned locally</a:t>
            </a:r>
            <a:endParaRPr lang="en-US" sz="1500" dirty="0"/>
          </a:p>
        </p:txBody>
      </p:sp>
      <p:sp>
        <p:nvSpPr>
          <p:cNvPr id="10" name="Text 8"/>
          <p:cNvSpPr txBox="1"/>
          <p:nvPr/>
        </p:nvSpPr>
        <p:spPr>
          <a:xfrm>
            <a:off x="822960" y="3209544"/>
            <a:ext cx="4846320" cy="320040"/>
          </a:xfrm>
          <a:prstGeom prst="rect">
            <a:avLst/>
          </a:prstGeom>
          <a:noFill/>
          <a:ln/>
        </p:spPr>
        <p:txBody>
          <a:bodyPr wrap="square" lIns="0" tIns="0" rIns="0" bIns="0" rtlCol="0" anchor="t"/>
          <a:lstStyle/>
          <a:p>
            <a:pPr indent="0" marL="0">
              <a:buNone/>
            </a:pPr>
            <a:r>
              <a:rPr lang="en-US" sz="1350" dirty="0">
                <a:solidFill>
                  <a:srgbClr val="33434A"/>
                </a:solidFill>
                <a:latin typeface="Calibri" pitchFamily="34" charset="0"/>
                <a:ea typeface="Calibri" pitchFamily="34" charset="-122"/>
                <a:cs typeface="Calibri" pitchFamily="34" charset="-120"/>
              </a:rPr>
              <a:t>download once, adapt</a:t>
            </a:r>
            <a:endParaRPr lang="en-US" sz="1350" dirty="0"/>
          </a:p>
        </p:txBody>
      </p:sp>
      <p:sp>
        <p:nvSpPr>
          <p:cNvPr id="11" name="Shape 9"/>
          <p:cNvSpPr/>
          <p:nvPr/>
        </p:nvSpPr>
        <p:spPr>
          <a:xfrm>
            <a:off x="548640" y="3703320"/>
            <a:ext cx="5394960" cy="786384"/>
          </a:xfrm>
          <a:prstGeom prst="roundRect">
            <a:avLst>
              <a:gd name="adj" fmla="val 9302"/>
            </a:avLst>
          </a:prstGeom>
          <a:solidFill>
            <a:srgbClr val="FBEBD3"/>
          </a:solidFill>
          <a:ln/>
        </p:spPr>
      </p:sp>
      <p:sp>
        <p:nvSpPr>
          <p:cNvPr id="12" name="Text 10"/>
          <p:cNvSpPr txBox="1"/>
          <p:nvPr/>
        </p:nvSpPr>
        <p:spPr>
          <a:xfrm>
            <a:off x="822960" y="3776472"/>
            <a:ext cx="4846320" cy="365760"/>
          </a:xfrm>
          <a:prstGeom prst="rect">
            <a:avLst/>
          </a:prstGeom>
          <a:noFill/>
          <a:ln/>
        </p:spPr>
        <p:txBody>
          <a:bodyPr wrap="square" lIns="0" tIns="0" rIns="0" bIns="0" rtlCol="0" anchor="t"/>
          <a:lstStyle/>
          <a:p>
            <a:pPr indent="0" marL="0">
              <a:buNone/>
            </a:pPr>
            <a:r>
              <a:rPr lang="en-US" sz="1500" b="1" dirty="0">
                <a:solidFill>
                  <a:srgbClr val="13262F"/>
                </a:solidFill>
                <a:latin typeface="Calibri" pitchFamily="34" charset="0"/>
                <a:ea typeface="Calibri" pitchFamily="34" charset="-122"/>
                <a:cs typeface="Calibri" pitchFamily="34" charset="-120"/>
              </a:rPr>
              <a:t>Pretrained model, fine-tuned locally</a:t>
            </a:r>
            <a:endParaRPr lang="en-US" sz="1500" dirty="0"/>
          </a:p>
        </p:txBody>
      </p:sp>
      <p:sp>
        <p:nvSpPr>
          <p:cNvPr id="13" name="Text 11"/>
          <p:cNvSpPr txBox="1"/>
          <p:nvPr/>
        </p:nvSpPr>
        <p:spPr>
          <a:xfrm>
            <a:off x="822960" y="4123944"/>
            <a:ext cx="4846320" cy="320040"/>
          </a:xfrm>
          <a:prstGeom prst="rect">
            <a:avLst/>
          </a:prstGeom>
          <a:noFill/>
          <a:ln/>
        </p:spPr>
        <p:txBody>
          <a:bodyPr wrap="square" lIns="0" tIns="0" rIns="0" bIns="0" rtlCol="0" anchor="t"/>
          <a:lstStyle/>
          <a:p>
            <a:pPr indent="0" marL="0">
              <a:buNone/>
            </a:pPr>
            <a:r>
              <a:rPr lang="en-US" sz="1350" dirty="0">
                <a:solidFill>
                  <a:srgbClr val="33434A"/>
                </a:solidFill>
                <a:latin typeface="Calibri" pitchFamily="34" charset="0"/>
                <a:ea typeface="Calibri" pitchFamily="34" charset="-122"/>
                <a:cs typeface="Calibri" pitchFamily="34" charset="-120"/>
              </a:rPr>
              <a:t>cleanest download-only option</a:t>
            </a:r>
            <a:endParaRPr lang="en-US" sz="1350" dirty="0"/>
          </a:p>
        </p:txBody>
      </p:sp>
      <p:sp>
        <p:nvSpPr>
          <p:cNvPr id="14" name="Text 12"/>
          <p:cNvSpPr txBox="1"/>
          <p:nvPr/>
        </p:nvSpPr>
        <p:spPr>
          <a:xfrm>
            <a:off x="548640" y="4754880"/>
            <a:ext cx="4206240" cy="347472"/>
          </a:xfrm>
          <a:prstGeom prst="rect">
            <a:avLst/>
          </a:prstGeom>
          <a:noFill/>
          <a:ln/>
        </p:spPr>
        <p:txBody>
          <a:bodyPr wrap="square" lIns="0" tIns="0" rIns="0" bIns="0" rtlCol="0" anchor="ctr"/>
          <a:lstStyle/>
          <a:p>
            <a:pPr indent="0" marL="0">
              <a:buNone/>
            </a:pPr>
            <a:r>
              <a:rPr lang="en-US" sz="1350" dirty="0">
                <a:solidFill>
                  <a:srgbClr val="33434A"/>
                </a:solidFill>
                <a:latin typeface="Calibri" pitchFamily="34" charset="0"/>
                <a:ea typeface="Calibri" pitchFamily="34" charset="-122"/>
                <a:cs typeface="Calibri" pitchFamily="34" charset="-120"/>
              </a:rPr>
              <a:t>Export — ONNX, full and 8-bit</a:t>
            </a:r>
            <a:endParaRPr lang="en-US" sz="1350" dirty="0"/>
          </a:p>
        </p:txBody>
      </p:sp>
      <p:sp>
        <p:nvSpPr>
          <p:cNvPr id="15" name="Shape 13"/>
          <p:cNvSpPr/>
          <p:nvPr/>
        </p:nvSpPr>
        <p:spPr>
          <a:xfrm>
            <a:off x="4846320" y="4773168"/>
            <a:ext cx="1097280" cy="310896"/>
          </a:xfrm>
          <a:prstGeom prst="roundRect">
            <a:avLst>
              <a:gd name="adj" fmla="val 50000"/>
            </a:avLst>
          </a:prstGeom>
          <a:solidFill>
            <a:srgbClr val="5C6B73"/>
          </a:solidFill>
          <a:ln/>
        </p:spPr>
      </p:sp>
      <p:sp>
        <p:nvSpPr>
          <p:cNvPr id="16" name="Text 14"/>
          <p:cNvSpPr txBox="1"/>
          <p:nvPr/>
        </p:nvSpPr>
        <p:spPr>
          <a:xfrm>
            <a:off x="4846320" y="4773168"/>
            <a:ext cx="10972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17" name="Text 15"/>
          <p:cNvSpPr txBox="1"/>
          <p:nvPr/>
        </p:nvSpPr>
        <p:spPr>
          <a:xfrm>
            <a:off x="548640" y="5166360"/>
            <a:ext cx="4206240" cy="347472"/>
          </a:xfrm>
          <a:prstGeom prst="rect">
            <a:avLst/>
          </a:prstGeom>
          <a:noFill/>
          <a:ln/>
        </p:spPr>
        <p:txBody>
          <a:bodyPr wrap="square" lIns="0" tIns="0" rIns="0" bIns="0" rtlCol="0" anchor="ctr"/>
          <a:lstStyle/>
          <a:p>
            <a:pPr indent="0" marL="0">
              <a:buNone/>
            </a:pPr>
            <a:r>
              <a:rPr lang="en-US" sz="1350" dirty="0">
                <a:solidFill>
                  <a:srgbClr val="33434A"/>
                </a:solidFill>
                <a:latin typeface="Calibri" pitchFamily="34" charset="0"/>
                <a:ea typeface="Calibri" pitchFamily="34" charset="-122"/>
                <a:cs typeface="Calibri" pitchFamily="34" charset="-120"/>
              </a:rPr>
              <a:t>Latency — single-thread CPU</a:t>
            </a:r>
            <a:endParaRPr lang="en-US" sz="1350" dirty="0"/>
          </a:p>
        </p:txBody>
      </p:sp>
      <p:sp>
        <p:nvSpPr>
          <p:cNvPr id="18" name="Shape 16"/>
          <p:cNvSpPr/>
          <p:nvPr/>
        </p:nvSpPr>
        <p:spPr>
          <a:xfrm>
            <a:off x="4846320" y="5184648"/>
            <a:ext cx="1097280" cy="310896"/>
          </a:xfrm>
          <a:prstGeom prst="roundRect">
            <a:avLst>
              <a:gd name="adj" fmla="val 50000"/>
            </a:avLst>
          </a:prstGeom>
          <a:solidFill>
            <a:srgbClr val="1F7A80"/>
          </a:solidFill>
          <a:ln/>
        </p:spPr>
      </p:sp>
      <p:sp>
        <p:nvSpPr>
          <p:cNvPr id="19" name="Text 17"/>
          <p:cNvSpPr txBox="1"/>
          <p:nvPr/>
        </p:nvSpPr>
        <p:spPr>
          <a:xfrm>
            <a:off x="4846320" y="5184648"/>
            <a:ext cx="10972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running</a:t>
            </a:r>
            <a:endParaRPr lang="en-US" sz="1100" dirty="0"/>
          </a:p>
        </p:txBody>
      </p:sp>
      <p:sp>
        <p:nvSpPr>
          <p:cNvPr id="20" name="Text 18"/>
          <p:cNvSpPr txBox="1"/>
          <p:nvPr/>
        </p:nvSpPr>
        <p:spPr>
          <a:xfrm>
            <a:off x="548640" y="5577840"/>
            <a:ext cx="4206240" cy="347472"/>
          </a:xfrm>
          <a:prstGeom prst="rect">
            <a:avLst/>
          </a:prstGeom>
          <a:noFill/>
          <a:ln/>
        </p:spPr>
        <p:txBody>
          <a:bodyPr wrap="square" lIns="0" tIns="0" rIns="0" bIns="0" rtlCol="0" anchor="ctr"/>
          <a:lstStyle/>
          <a:p>
            <a:pPr indent="0" marL="0">
              <a:buNone/>
            </a:pPr>
            <a:r>
              <a:rPr lang="en-US" sz="1350" dirty="0">
                <a:solidFill>
                  <a:srgbClr val="33434A"/>
                </a:solidFill>
                <a:latin typeface="Calibri" pitchFamily="34" charset="0"/>
                <a:ea typeface="Calibri" pitchFamily="34" charset="-122"/>
                <a:cs typeface="Calibri" pitchFamily="34" charset="-120"/>
              </a:rPr>
              <a:t>Browser — Edge on a laptop</a:t>
            </a:r>
            <a:endParaRPr lang="en-US" sz="1350" dirty="0"/>
          </a:p>
        </p:txBody>
      </p:sp>
      <p:sp>
        <p:nvSpPr>
          <p:cNvPr id="21" name="Shape 19"/>
          <p:cNvSpPr/>
          <p:nvPr/>
        </p:nvSpPr>
        <p:spPr>
          <a:xfrm>
            <a:off x="4846320" y="5596128"/>
            <a:ext cx="1097280" cy="310896"/>
          </a:xfrm>
          <a:prstGeom prst="roundRect">
            <a:avLst>
              <a:gd name="adj" fmla="val 50000"/>
            </a:avLst>
          </a:prstGeom>
          <a:solidFill>
            <a:srgbClr val="E6EAEC"/>
          </a:solidFill>
          <a:ln/>
        </p:spPr>
      </p:sp>
      <p:sp>
        <p:nvSpPr>
          <p:cNvPr id="22" name="Text 20"/>
          <p:cNvSpPr txBox="1"/>
          <p:nvPr/>
        </p:nvSpPr>
        <p:spPr>
          <a:xfrm>
            <a:off x="4846320" y="5596128"/>
            <a:ext cx="1097280" cy="310896"/>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next</a:t>
            </a:r>
            <a:endParaRPr lang="en-US" sz="1100" dirty="0"/>
          </a:p>
        </p:txBody>
      </p:sp>
      <p:sp>
        <p:nvSpPr>
          <p:cNvPr id="23" name="Text 21"/>
          <p:cNvSpPr txBox="1"/>
          <p:nvPr/>
        </p:nvSpPr>
        <p:spPr>
          <a:xfrm>
            <a:off x="6400800" y="1417320"/>
            <a:ext cx="5242255" cy="365760"/>
          </a:xfrm>
          <a:prstGeom prst="rect">
            <a:avLst/>
          </a:prstGeom>
          <a:noFill/>
          <a:ln/>
        </p:spPr>
        <p:txBody>
          <a:bodyPr wrap="square" lIns="0" tIns="0" rIns="0" bIns="0" rtlCol="0" anchor="t"/>
          <a:lstStyle/>
          <a:p>
            <a:pPr indent="0" marL="0">
              <a:buNone/>
            </a:pPr>
            <a:r>
              <a:rPr lang="en-US" sz="1700" b="1" dirty="0">
                <a:solidFill>
                  <a:srgbClr val="13262F"/>
                </a:solidFill>
                <a:latin typeface="Cambria" pitchFamily="34" charset="0"/>
                <a:ea typeface="Cambria" pitchFamily="34" charset="-122"/>
                <a:cs typeface="Cambria" pitchFamily="34" charset="-120"/>
              </a:rPr>
              <a:t>Cold start</a:t>
            </a:r>
            <a:endParaRPr lang="en-US" sz="1700" dirty="0"/>
          </a:p>
        </p:txBody>
      </p:sp>
      <p:sp>
        <p:nvSpPr>
          <p:cNvPr id="24" name="Shape 22"/>
          <p:cNvSpPr/>
          <p:nvPr/>
        </p:nvSpPr>
        <p:spPr>
          <a:xfrm>
            <a:off x="6400800" y="1874520"/>
            <a:ext cx="5242255" cy="786384"/>
          </a:xfrm>
          <a:prstGeom prst="roundRect">
            <a:avLst>
              <a:gd name="adj" fmla="val 9302"/>
            </a:avLst>
          </a:prstGeom>
          <a:solidFill>
            <a:srgbClr val="F1F4F4"/>
          </a:solidFill>
          <a:ln/>
        </p:spPr>
      </p:sp>
      <p:sp>
        <p:nvSpPr>
          <p:cNvPr id="25" name="Text 23"/>
          <p:cNvSpPr txBox="1"/>
          <p:nvPr/>
        </p:nvSpPr>
        <p:spPr>
          <a:xfrm>
            <a:off x="6675120" y="1947672"/>
            <a:ext cx="4693615" cy="365760"/>
          </a:xfrm>
          <a:prstGeom prst="rect">
            <a:avLst/>
          </a:prstGeom>
          <a:noFill/>
          <a:ln/>
        </p:spPr>
        <p:txBody>
          <a:bodyPr wrap="square" lIns="0" tIns="0" rIns="0" bIns="0" rtlCol="0" anchor="t"/>
          <a:lstStyle/>
          <a:p>
            <a:pPr indent="0" marL="0">
              <a:buNone/>
            </a:pPr>
            <a:r>
              <a:rPr lang="en-US" sz="1500" b="1" dirty="0">
                <a:solidFill>
                  <a:srgbClr val="13262F"/>
                </a:solidFill>
                <a:latin typeface="Calibri" pitchFamily="34" charset="0"/>
                <a:ea typeface="Calibri" pitchFamily="34" charset="-122"/>
                <a:cs typeface="Calibri" pitchFamily="34" charset="-120"/>
              </a:rPr>
              <a:t>Users who never took part</a:t>
            </a:r>
            <a:endParaRPr lang="en-US" sz="1500" dirty="0"/>
          </a:p>
        </p:txBody>
      </p:sp>
      <p:sp>
        <p:nvSpPr>
          <p:cNvPr id="26" name="Text 24"/>
          <p:cNvSpPr txBox="1"/>
          <p:nvPr/>
        </p:nvSpPr>
        <p:spPr>
          <a:xfrm>
            <a:off x="6675120" y="2295144"/>
            <a:ext cx="4693615" cy="320040"/>
          </a:xfrm>
          <a:prstGeom prst="rect">
            <a:avLst/>
          </a:prstGeom>
          <a:noFill/>
          <a:ln/>
        </p:spPr>
        <p:txBody>
          <a:bodyPr wrap="square" lIns="0" tIns="0" rIns="0" bIns="0" rtlCol="0" anchor="t"/>
          <a:lstStyle/>
          <a:p>
            <a:pPr indent="0" marL="0">
              <a:buNone/>
            </a:pPr>
            <a:r>
              <a:rPr lang="en-US" sz="1350" dirty="0">
                <a:solidFill>
                  <a:srgbClr val="33434A"/>
                </a:solidFill>
                <a:latin typeface="Calibri" pitchFamily="34" charset="0"/>
                <a:ea typeface="Calibri" pitchFamily="34" charset="-122"/>
                <a:cs typeface="Calibri" pitchFamily="34" charset="-120"/>
              </a:rPr>
              <a:t>does the model still serve them?</a:t>
            </a:r>
            <a:endParaRPr lang="en-US" sz="1350" dirty="0"/>
          </a:p>
        </p:txBody>
      </p:sp>
      <p:sp>
        <p:nvSpPr>
          <p:cNvPr id="27" name="Shape 25"/>
          <p:cNvSpPr/>
          <p:nvPr/>
        </p:nvSpPr>
        <p:spPr>
          <a:xfrm>
            <a:off x="6400800" y="2788920"/>
            <a:ext cx="5242255" cy="786384"/>
          </a:xfrm>
          <a:prstGeom prst="roundRect">
            <a:avLst>
              <a:gd name="adj" fmla="val 9302"/>
            </a:avLst>
          </a:prstGeom>
          <a:solidFill>
            <a:srgbClr val="F1F4F4"/>
          </a:solidFill>
          <a:ln/>
        </p:spPr>
      </p:sp>
      <p:sp>
        <p:nvSpPr>
          <p:cNvPr id="28" name="Text 26"/>
          <p:cNvSpPr txBox="1"/>
          <p:nvPr/>
        </p:nvSpPr>
        <p:spPr>
          <a:xfrm>
            <a:off x="6675120" y="2862072"/>
            <a:ext cx="4693615" cy="365760"/>
          </a:xfrm>
          <a:prstGeom prst="rect">
            <a:avLst/>
          </a:prstGeom>
          <a:noFill/>
          <a:ln/>
        </p:spPr>
        <p:txBody>
          <a:bodyPr wrap="square" lIns="0" tIns="0" rIns="0" bIns="0" rtlCol="0" anchor="t"/>
          <a:lstStyle/>
          <a:p>
            <a:pPr indent="0" marL="0">
              <a:buNone/>
            </a:pPr>
            <a:r>
              <a:rPr lang="en-US" sz="1500" b="1" dirty="0">
                <a:solidFill>
                  <a:srgbClr val="13262F"/>
                </a:solidFill>
                <a:latin typeface="Calibri" pitchFamily="34" charset="0"/>
                <a:ea typeface="Calibri" pitchFamily="34" charset="-122"/>
                <a:cs typeface="Calibri" pitchFamily="34" charset="-120"/>
              </a:rPr>
              <a:t>Users with no history at all</a:t>
            </a:r>
            <a:endParaRPr lang="en-US" sz="1500" dirty="0"/>
          </a:p>
        </p:txBody>
      </p:sp>
      <p:sp>
        <p:nvSpPr>
          <p:cNvPr id="29" name="Text 27"/>
          <p:cNvSpPr txBox="1"/>
          <p:nvPr/>
        </p:nvSpPr>
        <p:spPr>
          <a:xfrm>
            <a:off x="6675120" y="3209544"/>
            <a:ext cx="4693615" cy="320040"/>
          </a:xfrm>
          <a:prstGeom prst="rect">
            <a:avLst/>
          </a:prstGeom>
          <a:noFill/>
          <a:ln/>
        </p:spPr>
        <p:txBody>
          <a:bodyPr wrap="square" lIns="0" tIns="0" rIns="0" bIns="0" rtlCol="0" anchor="t"/>
          <a:lstStyle/>
          <a:p>
            <a:pPr indent="0" marL="0">
              <a:buNone/>
            </a:pPr>
            <a:r>
              <a:rPr lang="en-US" sz="1350" dirty="0">
                <a:solidFill>
                  <a:srgbClr val="33434A"/>
                </a:solidFill>
                <a:latin typeface="Calibri" pitchFamily="34" charset="0"/>
                <a:ea typeface="Calibri" pitchFamily="34" charset="-122"/>
                <a:cs typeface="Calibri" pitchFamily="34" charset="-120"/>
              </a:rPr>
              <a:t>what can any method do?</a:t>
            </a:r>
            <a:endParaRPr lang="en-US" sz="1350" dirty="0"/>
          </a:p>
        </p:txBody>
      </p:sp>
      <p:sp>
        <p:nvSpPr>
          <p:cNvPr id="30" name="Shape 28"/>
          <p:cNvSpPr/>
          <p:nvPr/>
        </p:nvSpPr>
        <p:spPr>
          <a:xfrm>
            <a:off x="6400800" y="3703320"/>
            <a:ext cx="5242255" cy="786384"/>
          </a:xfrm>
          <a:prstGeom prst="roundRect">
            <a:avLst>
              <a:gd name="adj" fmla="val 9302"/>
            </a:avLst>
          </a:prstGeom>
          <a:solidFill>
            <a:srgbClr val="F1F4F4"/>
          </a:solidFill>
          <a:ln/>
        </p:spPr>
      </p:sp>
      <p:sp>
        <p:nvSpPr>
          <p:cNvPr id="31" name="Text 29"/>
          <p:cNvSpPr txBox="1"/>
          <p:nvPr/>
        </p:nvSpPr>
        <p:spPr>
          <a:xfrm>
            <a:off x="6675120" y="3776472"/>
            <a:ext cx="4693615" cy="365760"/>
          </a:xfrm>
          <a:prstGeom prst="rect">
            <a:avLst/>
          </a:prstGeom>
          <a:noFill/>
          <a:ln/>
        </p:spPr>
        <p:txBody>
          <a:bodyPr wrap="square" lIns="0" tIns="0" rIns="0" bIns="0" rtlCol="0" anchor="t"/>
          <a:lstStyle/>
          <a:p>
            <a:pPr indent="0" marL="0">
              <a:buNone/>
            </a:pPr>
            <a:r>
              <a:rPr lang="en-US" sz="1500" b="1" dirty="0">
                <a:solidFill>
                  <a:srgbClr val="13262F"/>
                </a:solidFill>
                <a:latin typeface="Calibri" pitchFamily="34" charset="0"/>
                <a:ea typeface="Calibri" pitchFamily="34" charset="-122"/>
                <a:cs typeface="Calibri" pitchFamily="34" charset="-120"/>
              </a:rPr>
              <a:t>Short vs long histories</a:t>
            </a:r>
            <a:endParaRPr lang="en-US" sz="1500" dirty="0"/>
          </a:p>
        </p:txBody>
      </p:sp>
      <p:sp>
        <p:nvSpPr>
          <p:cNvPr id="32" name="Text 30"/>
          <p:cNvSpPr txBox="1"/>
          <p:nvPr/>
        </p:nvSpPr>
        <p:spPr>
          <a:xfrm>
            <a:off x="6675120" y="4123944"/>
            <a:ext cx="4693615" cy="320040"/>
          </a:xfrm>
          <a:prstGeom prst="rect">
            <a:avLst/>
          </a:prstGeom>
          <a:noFill/>
          <a:ln/>
        </p:spPr>
        <p:txBody>
          <a:bodyPr wrap="square" lIns="0" tIns="0" rIns="0" bIns="0" rtlCol="0" anchor="t"/>
          <a:lstStyle/>
          <a:p>
            <a:pPr indent="0" marL="0">
              <a:buNone/>
            </a:pPr>
            <a:r>
              <a:rPr lang="en-US" sz="1350" dirty="0">
                <a:solidFill>
                  <a:srgbClr val="33434A"/>
                </a:solidFill>
                <a:latin typeface="Calibri" pitchFamily="34" charset="0"/>
                <a:ea typeface="Calibri" pitchFamily="34" charset="-122"/>
                <a:cs typeface="Calibri" pitchFamily="34" charset="-120"/>
              </a:rPr>
              <a:t>how many events until quality catches up?</a:t>
            </a:r>
            <a:endParaRPr lang="en-US" sz="1350" dirty="0"/>
          </a:p>
        </p:txBody>
      </p:sp>
      <p:sp>
        <p:nvSpPr>
          <p:cNvPr id="33" name="Text 31"/>
          <p:cNvSpPr txBox="1"/>
          <p:nvPr/>
        </p:nvSpPr>
        <p:spPr>
          <a:xfrm>
            <a:off x="6400800" y="4754880"/>
            <a:ext cx="5242255" cy="822960"/>
          </a:xfrm>
          <a:prstGeom prst="rect">
            <a:avLst/>
          </a:prstGeom>
          <a:noFill/>
          <a:ln/>
        </p:spPr>
        <p:txBody>
          <a:bodyPr wrap="square" lIns="0" tIns="0" rIns="0" bIns="0" rtlCol="0" anchor="t"/>
          <a:lstStyle/>
          <a:p>
            <a:pPr indent="0" marL="0">
              <a:buNone/>
            </a:pPr>
            <a:r>
              <a:rPr lang="en-US" sz="1350" i="1" dirty="0">
                <a:solidFill>
                  <a:srgbClr val="5E6E75"/>
                </a:solidFill>
                <a:latin typeface="Calibri" pitchFamily="34" charset="0"/>
                <a:ea typeface="Calibri" pitchFamily="34" charset="-122"/>
                <a:cs typeface="Calibri" pitchFamily="34" charset="-120"/>
              </a:rPr>
              <a:t>A controlled test cuts histories to fixed lengths, so the answer is not just “heavy users differ”.</a:t>
            </a:r>
            <a:endParaRPr lang="en-US" sz="1350" dirty="0"/>
          </a:p>
        </p:txBody>
      </p:sp>
      <p:sp>
        <p:nvSpPr>
          <p:cNvPr id="34" name="Text 3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20</a:t>
            </a:r>
            <a:endParaRPr lang="en-US" sz="1000" dirty="0"/>
          </a:p>
        </p:txBody>
      </p:sp>
      <p:sp>
        <p:nvSpPr>
          <p:cNvPr id="35" name="Text 3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Study description; privacy matrix; cold-start registration</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INDEPENDENT REVIEWS</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7/10 today, 8–8.5 after the registered fixes</a:t>
            </a:r>
            <a:endParaRPr lang="en-US" sz="3000" dirty="0"/>
          </a:p>
        </p:txBody>
      </p:sp>
      <p:sp>
        <p:nvSpPr>
          <p:cNvPr id="4" name="Shape 2"/>
          <p:cNvSpPr/>
          <p:nvPr/>
        </p:nvSpPr>
        <p:spPr>
          <a:xfrm>
            <a:off x="548640" y="1508760"/>
            <a:ext cx="3515258" cy="3291840"/>
          </a:xfrm>
          <a:prstGeom prst="roundRect">
            <a:avLst>
              <a:gd name="adj" fmla="val 2222"/>
            </a:avLst>
          </a:prstGeom>
          <a:solidFill>
            <a:srgbClr val="D8ECEC"/>
          </a:solidFill>
          <a:ln/>
        </p:spPr>
      </p:sp>
      <p:sp>
        <p:nvSpPr>
          <p:cNvPr id="5" name="Text 3"/>
          <p:cNvSpPr txBox="1"/>
          <p:nvPr/>
        </p:nvSpPr>
        <p:spPr>
          <a:xfrm>
            <a:off x="822960" y="1691640"/>
            <a:ext cx="2966618" cy="411480"/>
          </a:xfrm>
          <a:prstGeom prst="rect">
            <a:avLst/>
          </a:prstGeom>
          <a:noFill/>
          <a:ln/>
        </p:spPr>
        <p:txBody>
          <a:bodyPr wrap="square" lIns="0" tIns="0" rIns="0" bIns="0" rtlCol="0" anchor="t"/>
          <a:lstStyle/>
          <a:p>
            <a:pPr indent="0" marL="0">
              <a:buNone/>
            </a:pPr>
            <a:r>
              <a:rPr lang="en-US" sz="1900" b="1" dirty="0">
                <a:solidFill>
                  <a:srgbClr val="164E57"/>
                </a:solidFill>
                <a:latin typeface="Cambria" pitchFamily="34" charset="0"/>
                <a:ea typeface="Cambria" pitchFamily="34" charset="-122"/>
                <a:cs typeface="Cambria" pitchFamily="34" charset="-120"/>
              </a:rPr>
              <a:t>Strengths</a:t>
            </a:r>
            <a:endParaRPr lang="en-US" sz="1900" dirty="0"/>
          </a:p>
        </p:txBody>
      </p:sp>
      <p:sp>
        <p:nvSpPr>
          <p:cNvPr id="6" name="Text 4"/>
          <p:cNvSpPr txBox="1"/>
          <p:nvPr/>
        </p:nvSpPr>
        <p:spPr>
          <a:xfrm>
            <a:off x="822960" y="2286000"/>
            <a:ext cx="2966618" cy="3108960"/>
          </a:xfrm>
          <a:prstGeom prst="rect">
            <a:avLst/>
          </a:prstGeom>
          <a:noFill/>
          <a:ln/>
        </p:spPr>
        <p:txBody>
          <a:bodyPr wrap="square" lIns="0" tIns="0" rIns="0" bIns="0" rtlCol="0" anchor="t"/>
          <a:lstStyle/>
          <a:p>
            <a:pPr marL="203200" indent="-203200">
              <a:spcAft>
                <a:spcPts val="1400"/>
              </a:spcAft>
              <a:buSzPct val="100000"/>
              <a:buChar char="•"/>
            </a:pPr>
            <a:r>
              <a:rPr lang="en-US" sz="1550" dirty="0">
                <a:solidFill>
                  <a:srgbClr val="13262F"/>
                </a:solidFill>
                <a:latin typeface="Calibri" pitchFamily="34" charset="0"/>
                <a:ea typeface="Calibri" pitchFamily="34" charset="-122"/>
                <a:cs typeface="Calibri" pitchFamily="34" charset="-120"/>
              </a:rPr>
              <a:t>Pre-registration and one sealed test look</a:t>
            </a:r>
            <a:endParaRPr lang="en-US" sz="1550" dirty="0"/>
          </a:p>
          <a:p>
            <a:pPr marL="203200" indent="-203200">
              <a:spcAft>
                <a:spcPts val="1400"/>
              </a:spcAft>
              <a:buSzPct val="100000"/>
              <a:buChar char="•"/>
            </a:pPr>
            <a:r>
              <a:rPr lang="en-US" sz="1550" dirty="0">
                <a:solidFill>
                  <a:srgbClr val="13262F"/>
                </a:solidFill>
                <a:latin typeface="Calibri" pitchFamily="34" charset="0"/>
                <a:ea typeface="Calibri" pitchFamily="34" charset="-122"/>
                <a:cs typeface="Calibri" pitchFamily="34" charset="-120"/>
              </a:rPr>
              <a:t>Exact evaluation — no bug found</a:t>
            </a:r>
            <a:endParaRPr lang="en-US" sz="1550" dirty="0"/>
          </a:p>
          <a:p>
            <a:pPr marL="203200" indent="-203200">
              <a:spcAft>
                <a:spcPts val="1400"/>
              </a:spcAft>
              <a:buSzPct val="100000"/>
              <a:buChar char="•"/>
            </a:pPr>
            <a:r>
              <a:rPr lang="en-US" sz="1550" dirty="0">
                <a:solidFill>
                  <a:srgbClr val="13262F"/>
                </a:solidFill>
                <a:latin typeface="Calibri" pitchFamily="34" charset="0"/>
                <a:ea typeface="Calibri" pitchFamily="34" charset="-122"/>
                <a:cs typeface="Calibri" pitchFamily="34" charset="-120"/>
              </a:rPr>
              <a:t>No data leakage</a:t>
            </a:r>
            <a:endParaRPr lang="en-US" sz="1550" dirty="0"/>
          </a:p>
        </p:txBody>
      </p:sp>
      <p:sp>
        <p:nvSpPr>
          <p:cNvPr id="7" name="Shape 5"/>
          <p:cNvSpPr/>
          <p:nvPr/>
        </p:nvSpPr>
        <p:spPr>
          <a:xfrm>
            <a:off x="4338218" y="1508760"/>
            <a:ext cx="3515258" cy="3291840"/>
          </a:xfrm>
          <a:prstGeom prst="roundRect">
            <a:avLst>
              <a:gd name="adj" fmla="val 2222"/>
            </a:avLst>
          </a:prstGeom>
          <a:solidFill>
            <a:srgbClr val="FBEBD3"/>
          </a:solidFill>
          <a:ln/>
        </p:spPr>
      </p:sp>
      <p:sp>
        <p:nvSpPr>
          <p:cNvPr id="8" name="Text 6"/>
          <p:cNvSpPr txBox="1"/>
          <p:nvPr/>
        </p:nvSpPr>
        <p:spPr>
          <a:xfrm>
            <a:off x="4612538" y="1691640"/>
            <a:ext cx="2966618" cy="411480"/>
          </a:xfrm>
          <a:prstGeom prst="rect">
            <a:avLst/>
          </a:prstGeom>
          <a:noFill/>
          <a:ln/>
        </p:spPr>
        <p:txBody>
          <a:bodyPr wrap="square" lIns="0" tIns="0" rIns="0" bIns="0" rtlCol="0" anchor="t"/>
          <a:lstStyle/>
          <a:p>
            <a:pPr indent="0" marL="0">
              <a:buNone/>
            </a:pPr>
            <a:r>
              <a:rPr lang="en-US" sz="1900" b="1" dirty="0">
                <a:solidFill>
                  <a:srgbClr val="9A5A0C"/>
                </a:solidFill>
                <a:latin typeface="Cambria" pitchFamily="34" charset="0"/>
                <a:ea typeface="Cambria" pitchFamily="34" charset="-122"/>
                <a:cs typeface="Cambria" pitchFamily="34" charset="-120"/>
              </a:rPr>
              <a:t>Weaknesses found</a:t>
            </a:r>
            <a:endParaRPr lang="en-US" sz="1900" dirty="0"/>
          </a:p>
        </p:txBody>
      </p:sp>
      <p:sp>
        <p:nvSpPr>
          <p:cNvPr id="9" name="Text 7"/>
          <p:cNvSpPr txBox="1"/>
          <p:nvPr/>
        </p:nvSpPr>
        <p:spPr>
          <a:xfrm>
            <a:off x="4612538" y="2286000"/>
            <a:ext cx="2966618" cy="3108960"/>
          </a:xfrm>
          <a:prstGeom prst="rect">
            <a:avLst/>
          </a:prstGeom>
          <a:noFill/>
          <a:ln/>
        </p:spPr>
        <p:txBody>
          <a:bodyPr wrap="square" lIns="0" tIns="0" rIns="0" bIns="0" rtlCol="0" anchor="t"/>
          <a:lstStyle/>
          <a:p>
            <a:pPr marL="203200" indent="-203200">
              <a:spcAft>
                <a:spcPts val="1400"/>
              </a:spcAft>
              <a:buSzPct val="100000"/>
              <a:buChar char="•"/>
            </a:pPr>
            <a:r>
              <a:rPr lang="en-US" sz="1550" dirty="0">
                <a:solidFill>
                  <a:srgbClr val="13262F"/>
                </a:solidFill>
                <a:latin typeface="Calibri" pitchFamily="34" charset="0"/>
                <a:ea typeface="Calibri" pitchFamily="34" charset="-122"/>
                <a:cs typeface="Calibri" pitchFamily="34" charset="-120"/>
              </a:rPr>
              <a:t>Federated setup too weak</a:t>
            </a:r>
            <a:endParaRPr lang="en-US" sz="1550" dirty="0"/>
          </a:p>
          <a:p>
            <a:pPr marL="203200" indent="-203200">
              <a:spcAft>
                <a:spcPts val="1400"/>
              </a:spcAft>
              <a:buSzPct val="100000"/>
              <a:buChar char="•"/>
            </a:pPr>
            <a:r>
              <a:rPr lang="en-US" sz="1550" dirty="0">
                <a:solidFill>
                  <a:srgbClr val="13262F"/>
                </a:solidFill>
                <a:latin typeface="Calibri" pitchFamily="34" charset="0"/>
                <a:ea typeface="Calibri" pitchFamily="34" charset="-122"/>
                <a:cs typeface="Calibri" pitchFamily="34" charset="-120"/>
              </a:rPr>
              <a:t>Privacy claims over-stated</a:t>
            </a:r>
            <a:endParaRPr lang="en-US" sz="1550" dirty="0"/>
          </a:p>
          <a:p>
            <a:pPr marL="203200" indent="-203200">
              <a:spcAft>
                <a:spcPts val="1400"/>
              </a:spcAft>
              <a:buSzPct val="100000"/>
              <a:buChar char="•"/>
            </a:pPr>
            <a:r>
              <a:rPr lang="en-US" sz="1550" dirty="0">
                <a:solidFill>
                  <a:srgbClr val="13262F"/>
                </a:solidFill>
                <a:latin typeface="Calibri" pitchFamily="34" charset="0"/>
                <a:ea typeface="Calibri" pitchFamily="34" charset="-122"/>
                <a:cs typeface="Calibri" pitchFamily="34" charset="-120"/>
              </a:rPr>
              <a:t>Device evidence from a server CPU</a:t>
            </a:r>
            <a:endParaRPr lang="en-US" sz="1550" dirty="0"/>
          </a:p>
        </p:txBody>
      </p:sp>
      <p:sp>
        <p:nvSpPr>
          <p:cNvPr id="10" name="Shape 8"/>
          <p:cNvSpPr/>
          <p:nvPr/>
        </p:nvSpPr>
        <p:spPr>
          <a:xfrm>
            <a:off x="8127797" y="1508760"/>
            <a:ext cx="3515258" cy="3291840"/>
          </a:xfrm>
          <a:prstGeom prst="roundRect">
            <a:avLst>
              <a:gd name="adj" fmla="val 2222"/>
            </a:avLst>
          </a:prstGeom>
          <a:solidFill>
            <a:srgbClr val="F1F4F4"/>
          </a:solidFill>
          <a:ln/>
        </p:spPr>
      </p:sp>
      <p:sp>
        <p:nvSpPr>
          <p:cNvPr id="11" name="Text 9"/>
          <p:cNvSpPr txBox="1"/>
          <p:nvPr/>
        </p:nvSpPr>
        <p:spPr>
          <a:xfrm>
            <a:off x="8402117" y="1691640"/>
            <a:ext cx="2966618" cy="411480"/>
          </a:xfrm>
          <a:prstGeom prst="rect">
            <a:avLst/>
          </a:prstGeom>
          <a:noFill/>
          <a:ln/>
        </p:spPr>
        <p:txBody>
          <a:bodyPr wrap="square" lIns="0" tIns="0" rIns="0" bIns="0" rtlCol="0" anchor="t"/>
          <a:lstStyle/>
          <a:p>
            <a:pPr indent="0" marL="0">
              <a:buNone/>
            </a:pPr>
            <a:r>
              <a:rPr lang="en-US" sz="1900" b="1" dirty="0">
                <a:solidFill>
                  <a:srgbClr val="5C6B73"/>
                </a:solidFill>
                <a:latin typeface="Cambria" pitchFamily="34" charset="0"/>
                <a:ea typeface="Cambria" pitchFamily="34" charset="-122"/>
                <a:cs typeface="Cambria" pitchFamily="34" charset="-120"/>
              </a:rPr>
              <a:t>Already fixed or registered</a:t>
            </a:r>
            <a:endParaRPr lang="en-US" sz="1900" dirty="0"/>
          </a:p>
        </p:txBody>
      </p:sp>
      <p:sp>
        <p:nvSpPr>
          <p:cNvPr id="12" name="Text 10"/>
          <p:cNvSpPr txBox="1"/>
          <p:nvPr/>
        </p:nvSpPr>
        <p:spPr>
          <a:xfrm>
            <a:off x="8402117" y="2286000"/>
            <a:ext cx="2966618" cy="3108960"/>
          </a:xfrm>
          <a:prstGeom prst="rect">
            <a:avLst/>
          </a:prstGeom>
          <a:noFill/>
          <a:ln/>
        </p:spPr>
        <p:txBody>
          <a:bodyPr wrap="square" lIns="0" tIns="0" rIns="0" bIns="0" rtlCol="0" anchor="t"/>
          <a:lstStyle/>
          <a:p>
            <a:pPr marL="203200" indent="-203200">
              <a:spcAft>
                <a:spcPts val="1400"/>
              </a:spcAft>
              <a:buSzPct val="100000"/>
              <a:buChar char="•"/>
            </a:pPr>
            <a:r>
              <a:rPr lang="en-US" sz="1550" dirty="0">
                <a:solidFill>
                  <a:srgbClr val="13262F"/>
                </a:solidFill>
                <a:latin typeface="Calibri" pitchFamily="34" charset="0"/>
                <a:ea typeface="Calibri" pitchFamily="34" charset="-122"/>
                <a:cs typeface="Calibri" pitchFamily="34" charset="-120"/>
              </a:rPr>
              <a:t>Tuning ladder and pretrained start</a:t>
            </a:r>
            <a:endParaRPr lang="en-US" sz="1550" dirty="0"/>
          </a:p>
          <a:p>
            <a:pPr marL="203200" indent="-203200">
              <a:spcAft>
                <a:spcPts val="1400"/>
              </a:spcAft>
              <a:buSzPct val="100000"/>
              <a:buChar char="•"/>
            </a:pPr>
            <a:r>
              <a:rPr lang="en-US" sz="1550" dirty="0">
                <a:solidFill>
                  <a:srgbClr val="13262F"/>
                </a:solidFill>
                <a:latin typeface="Calibri" pitchFamily="34" charset="0"/>
                <a:ea typeface="Calibri" pitchFamily="34" charset="-122"/>
                <a:cs typeface="Calibri" pitchFamily="34" charset="-120"/>
              </a:rPr>
              <a:t>Threat model and privacy matrix</a:t>
            </a:r>
            <a:endParaRPr lang="en-US" sz="1550" dirty="0"/>
          </a:p>
          <a:p>
            <a:pPr marL="203200" indent="-203200">
              <a:spcAft>
                <a:spcPts val="1400"/>
              </a:spcAft>
              <a:buSzPct val="100000"/>
              <a:buChar char="•"/>
            </a:pPr>
            <a:r>
              <a:rPr lang="en-US" sz="1550" dirty="0">
                <a:solidFill>
                  <a:srgbClr val="13262F"/>
                </a:solidFill>
                <a:latin typeface="Calibri" pitchFamily="34" charset="0"/>
                <a:ea typeface="Calibri" pitchFamily="34" charset="-122"/>
                <a:cs typeface="Calibri" pitchFamily="34" charset="-120"/>
              </a:rPr>
              <a:t>Realistic deployment branch promoted</a:t>
            </a:r>
            <a:endParaRPr lang="en-US" sz="1550" dirty="0"/>
          </a:p>
        </p:txBody>
      </p:sp>
      <p:sp>
        <p:nvSpPr>
          <p:cNvPr id="13" name="Text 11"/>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21</a:t>
            </a:r>
            <a:endParaRPr lang="en-US" sz="1000" dirty="0"/>
          </a:p>
        </p:txBody>
      </p:sp>
      <p:sp>
        <p:nvSpPr>
          <p:cNvPr id="14" name="Text 12"/>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Multi-expert review synthesis (14 parts)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TIMELINE</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What is running now and when results arrive</a:t>
            </a:r>
            <a:endParaRPr lang="en-US" sz="3000" dirty="0"/>
          </a:p>
        </p:txBody>
      </p:sp>
      <p:sp>
        <p:nvSpPr>
          <p:cNvPr id="4" name="Text 2"/>
          <p:cNvSpPr txBox="1"/>
          <p:nvPr/>
        </p:nvSpPr>
        <p:spPr>
          <a:xfrm>
            <a:off x="3657600"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27 Sep</a:t>
            </a:r>
            <a:endParaRPr lang="en-US" sz="1100" dirty="0"/>
          </a:p>
        </p:txBody>
      </p:sp>
      <p:sp>
        <p:nvSpPr>
          <p:cNvPr id="5" name="Shape 3"/>
          <p:cNvSpPr/>
          <p:nvPr/>
        </p:nvSpPr>
        <p:spPr>
          <a:xfrm>
            <a:off x="3657600" y="1737360"/>
            <a:ext cx="665455" cy="3840480"/>
          </a:xfrm>
          <a:prstGeom prst="rect">
            <a:avLst/>
          </a:prstGeom>
          <a:solidFill>
            <a:srgbClr val="F6F8F8"/>
          </a:solidFill>
          <a:ln/>
        </p:spPr>
      </p:sp>
      <p:sp>
        <p:nvSpPr>
          <p:cNvPr id="6" name="Text 4"/>
          <p:cNvSpPr txBox="1"/>
          <p:nvPr/>
        </p:nvSpPr>
        <p:spPr>
          <a:xfrm>
            <a:off x="4323055"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28</a:t>
            </a:r>
            <a:endParaRPr lang="en-US" sz="1100" dirty="0"/>
          </a:p>
        </p:txBody>
      </p:sp>
      <p:sp>
        <p:nvSpPr>
          <p:cNvPr id="7" name="Text 5"/>
          <p:cNvSpPr txBox="1"/>
          <p:nvPr/>
        </p:nvSpPr>
        <p:spPr>
          <a:xfrm>
            <a:off x="4988509"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29</a:t>
            </a:r>
            <a:endParaRPr lang="en-US" sz="1100" dirty="0"/>
          </a:p>
        </p:txBody>
      </p:sp>
      <p:sp>
        <p:nvSpPr>
          <p:cNvPr id="8" name="Shape 6"/>
          <p:cNvSpPr/>
          <p:nvPr/>
        </p:nvSpPr>
        <p:spPr>
          <a:xfrm>
            <a:off x="4988509" y="1737360"/>
            <a:ext cx="665455" cy="3840480"/>
          </a:xfrm>
          <a:prstGeom prst="rect">
            <a:avLst/>
          </a:prstGeom>
          <a:solidFill>
            <a:srgbClr val="F6F8F8"/>
          </a:solidFill>
          <a:ln/>
        </p:spPr>
      </p:sp>
      <p:sp>
        <p:nvSpPr>
          <p:cNvPr id="9" name="Text 7"/>
          <p:cNvSpPr txBox="1"/>
          <p:nvPr/>
        </p:nvSpPr>
        <p:spPr>
          <a:xfrm>
            <a:off x="5653964"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30</a:t>
            </a:r>
            <a:endParaRPr lang="en-US" sz="1100" dirty="0"/>
          </a:p>
        </p:txBody>
      </p:sp>
      <p:sp>
        <p:nvSpPr>
          <p:cNvPr id="10" name="Text 8"/>
          <p:cNvSpPr txBox="1"/>
          <p:nvPr/>
        </p:nvSpPr>
        <p:spPr>
          <a:xfrm>
            <a:off x="6319418"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1 Oct</a:t>
            </a:r>
            <a:endParaRPr lang="en-US" sz="1100" dirty="0"/>
          </a:p>
        </p:txBody>
      </p:sp>
      <p:sp>
        <p:nvSpPr>
          <p:cNvPr id="11" name="Shape 9"/>
          <p:cNvSpPr/>
          <p:nvPr/>
        </p:nvSpPr>
        <p:spPr>
          <a:xfrm>
            <a:off x="6319418" y="1737360"/>
            <a:ext cx="665455" cy="3840480"/>
          </a:xfrm>
          <a:prstGeom prst="rect">
            <a:avLst/>
          </a:prstGeom>
          <a:solidFill>
            <a:srgbClr val="F6F8F8"/>
          </a:solidFill>
          <a:ln/>
        </p:spPr>
      </p:sp>
      <p:sp>
        <p:nvSpPr>
          <p:cNvPr id="12" name="Text 10"/>
          <p:cNvSpPr txBox="1"/>
          <p:nvPr/>
        </p:nvSpPr>
        <p:spPr>
          <a:xfrm>
            <a:off x="6984873"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7650328"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3</a:t>
            </a:r>
            <a:endParaRPr lang="en-US" sz="1100" dirty="0"/>
          </a:p>
        </p:txBody>
      </p:sp>
      <p:sp>
        <p:nvSpPr>
          <p:cNvPr id="14" name="Shape 12"/>
          <p:cNvSpPr/>
          <p:nvPr/>
        </p:nvSpPr>
        <p:spPr>
          <a:xfrm>
            <a:off x="7650328" y="1737360"/>
            <a:ext cx="665455" cy="3840480"/>
          </a:xfrm>
          <a:prstGeom prst="rect">
            <a:avLst/>
          </a:prstGeom>
          <a:solidFill>
            <a:srgbClr val="F6F8F8"/>
          </a:solidFill>
          <a:ln/>
        </p:spPr>
      </p:sp>
      <p:sp>
        <p:nvSpPr>
          <p:cNvPr id="15" name="Text 13"/>
          <p:cNvSpPr txBox="1"/>
          <p:nvPr/>
        </p:nvSpPr>
        <p:spPr>
          <a:xfrm>
            <a:off x="8315782"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4</a:t>
            </a:r>
            <a:endParaRPr lang="en-US" sz="1100" dirty="0"/>
          </a:p>
        </p:txBody>
      </p:sp>
      <p:sp>
        <p:nvSpPr>
          <p:cNvPr id="16" name="Text 14"/>
          <p:cNvSpPr txBox="1"/>
          <p:nvPr/>
        </p:nvSpPr>
        <p:spPr>
          <a:xfrm>
            <a:off x="8981237"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5</a:t>
            </a:r>
            <a:endParaRPr lang="en-US" sz="1100" dirty="0"/>
          </a:p>
        </p:txBody>
      </p:sp>
      <p:sp>
        <p:nvSpPr>
          <p:cNvPr id="17" name="Shape 15"/>
          <p:cNvSpPr/>
          <p:nvPr/>
        </p:nvSpPr>
        <p:spPr>
          <a:xfrm>
            <a:off x="8981237" y="1737360"/>
            <a:ext cx="665455" cy="3840480"/>
          </a:xfrm>
          <a:prstGeom prst="rect">
            <a:avLst/>
          </a:prstGeom>
          <a:solidFill>
            <a:srgbClr val="F6F8F8"/>
          </a:solidFill>
          <a:ln/>
        </p:spPr>
      </p:sp>
      <p:sp>
        <p:nvSpPr>
          <p:cNvPr id="18" name="Text 16"/>
          <p:cNvSpPr txBox="1"/>
          <p:nvPr/>
        </p:nvSpPr>
        <p:spPr>
          <a:xfrm>
            <a:off x="9646691"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6</a:t>
            </a:r>
            <a:endParaRPr lang="en-US" sz="1100" dirty="0"/>
          </a:p>
        </p:txBody>
      </p:sp>
      <p:sp>
        <p:nvSpPr>
          <p:cNvPr id="19" name="Text 17"/>
          <p:cNvSpPr txBox="1"/>
          <p:nvPr/>
        </p:nvSpPr>
        <p:spPr>
          <a:xfrm>
            <a:off x="10312146"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7</a:t>
            </a:r>
            <a:endParaRPr lang="en-US" sz="1100" dirty="0"/>
          </a:p>
        </p:txBody>
      </p:sp>
      <p:sp>
        <p:nvSpPr>
          <p:cNvPr id="20" name="Shape 18"/>
          <p:cNvSpPr/>
          <p:nvPr/>
        </p:nvSpPr>
        <p:spPr>
          <a:xfrm>
            <a:off x="10312146" y="1737360"/>
            <a:ext cx="665455" cy="3840480"/>
          </a:xfrm>
          <a:prstGeom prst="rect">
            <a:avLst/>
          </a:prstGeom>
          <a:solidFill>
            <a:srgbClr val="F6F8F8"/>
          </a:solidFill>
          <a:ln/>
        </p:spPr>
      </p:sp>
      <p:sp>
        <p:nvSpPr>
          <p:cNvPr id="21" name="Text 19"/>
          <p:cNvSpPr txBox="1"/>
          <p:nvPr/>
        </p:nvSpPr>
        <p:spPr>
          <a:xfrm>
            <a:off x="10977601"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8</a:t>
            </a:r>
            <a:endParaRPr lang="en-US" sz="1100" dirty="0"/>
          </a:p>
        </p:txBody>
      </p:sp>
      <p:sp>
        <p:nvSpPr>
          <p:cNvPr id="22" name="Text 20"/>
          <p:cNvSpPr txBox="1"/>
          <p:nvPr/>
        </p:nvSpPr>
        <p:spPr>
          <a:xfrm>
            <a:off x="548640" y="1828800"/>
            <a:ext cx="3017520" cy="420624"/>
          </a:xfrm>
          <a:prstGeom prst="rect">
            <a:avLst/>
          </a:prstGeom>
          <a:noFill/>
          <a:ln/>
        </p:spPr>
        <p:txBody>
          <a:bodyPr wrap="square" lIns="0" tIns="0" rIns="0" bIns="0" rtlCol="0" anchor="ctr"/>
          <a:lstStyle/>
          <a:p>
            <a:pPr indent="0" marL="0">
              <a:buNone/>
            </a:pPr>
            <a:r>
              <a:rPr lang="en-US" sz="1350" dirty="0">
                <a:solidFill>
                  <a:srgbClr val="13262F"/>
                </a:solidFill>
                <a:latin typeface="Calibri" pitchFamily="34" charset="0"/>
                <a:ea typeface="Calibri" pitchFamily="34" charset="-122"/>
                <a:cs typeface="Calibri" pitchFamily="34" charset="-120"/>
              </a:rPr>
              <a:t>Backbone contest</a:t>
            </a:r>
            <a:endParaRPr lang="en-US" sz="1350" dirty="0"/>
          </a:p>
        </p:txBody>
      </p:sp>
      <p:sp>
        <p:nvSpPr>
          <p:cNvPr id="23" name="Shape 21"/>
          <p:cNvSpPr/>
          <p:nvPr/>
        </p:nvSpPr>
        <p:spPr>
          <a:xfrm>
            <a:off x="3657600" y="1892808"/>
            <a:ext cx="1330909" cy="292608"/>
          </a:xfrm>
          <a:prstGeom prst="roundRect">
            <a:avLst>
              <a:gd name="adj" fmla="val 25000"/>
            </a:avLst>
          </a:prstGeom>
          <a:solidFill>
            <a:srgbClr val="5C6B73"/>
          </a:solidFill>
          <a:ln/>
        </p:spPr>
      </p:sp>
      <p:sp>
        <p:nvSpPr>
          <p:cNvPr id="24" name="Text 22"/>
          <p:cNvSpPr txBox="1"/>
          <p:nvPr/>
        </p:nvSpPr>
        <p:spPr>
          <a:xfrm>
            <a:off x="3657600" y="1883664"/>
            <a:ext cx="1330909"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done</a:t>
            </a:r>
            <a:endParaRPr lang="en-US" sz="950" dirty="0"/>
          </a:p>
        </p:txBody>
      </p:sp>
      <p:sp>
        <p:nvSpPr>
          <p:cNvPr id="25" name="Text 23"/>
          <p:cNvSpPr txBox="1"/>
          <p:nvPr/>
        </p:nvSpPr>
        <p:spPr>
          <a:xfrm>
            <a:off x="548640" y="2286000"/>
            <a:ext cx="3017520" cy="420624"/>
          </a:xfrm>
          <a:prstGeom prst="rect">
            <a:avLst/>
          </a:prstGeom>
          <a:noFill/>
          <a:ln/>
        </p:spPr>
        <p:txBody>
          <a:bodyPr wrap="square" lIns="0" tIns="0" rIns="0" bIns="0" rtlCol="0" anchor="ctr"/>
          <a:lstStyle/>
          <a:p>
            <a:pPr indent="0" marL="0">
              <a:buNone/>
            </a:pPr>
            <a:r>
              <a:rPr lang="en-US" sz="1350" dirty="0">
                <a:solidFill>
                  <a:srgbClr val="13262F"/>
                </a:solidFill>
                <a:latin typeface="Calibri" pitchFamily="34" charset="0"/>
                <a:ea typeface="Calibri" pitchFamily="34" charset="-122"/>
                <a:cs typeface="Calibri" pitchFamily="34" charset="-120"/>
              </a:rPr>
              <a:t>Cloud models (full pool)</a:t>
            </a:r>
            <a:endParaRPr lang="en-US" sz="1350" dirty="0"/>
          </a:p>
        </p:txBody>
      </p:sp>
      <p:sp>
        <p:nvSpPr>
          <p:cNvPr id="26" name="Shape 24"/>
          <p:cNvSpPr/>
          <p:nvPr/>
        </p:nvSpPr>
        <p:spPr>
          <a:xfrm>
            <a:off x="5221418" y="2350008"/>
            <a:ext cx="665455" cy="292608"/>
          </a:xfrm>
          <a:prstGeom prst="roundRect">
            <a:avLst>
              <a:gd name="adj" fmla="val 25000"/>
            </a:avLst>
          </a:prstGeom>
          <a:solidFill>
            <a:srgbClr val="1F7A80"/>
          </a:solidFill>
          <a:ln/>
        </p:spPr>
      </p:sp>
      <p:sp>
        <p:nvSpPr>
          <p:cNvPr id="27" name="Text 25"/>
          <p:cNvSpPr txBox="1"/>
          <p:nvPr/>
        </p:nvSpPr>
        <p:spPr>
          <a:xfrm>
            <a:off x="5221418" y="2340864"/>
            <a:ext cx="665455"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finishing</a:t>
            </a:r>
            <a:endParaRPr lang="en-US" sz="950" dirty="0"/>
          </a:p>
        </p:txBody>
      </p:sp>
      <p:sp>
        <p:nvSpPr>
          <p:cNvPr id="28" name="Text 26"/>
          <p:cNvSpPr txBox="1"/>
          <p:nvPr/>
        </p:nvSpPr>
        <p:spPr>
          <a:xfrm>
            <a:off x="548640" y="2743200"/>
            <a:ext cx="3017520" cy="420624"/>
          </a:xfrm>
          <a:prstGeom prst="rect">
            <a:avLst/>
          </a:prstGeom>
          <a:noFill/>
          <a:ln/>
        </p:spPr>
        <p:txBody>
          <a:bodyPr wrap="square" lIns="0" tIns="0" rIns="0" bIns="0" rtlCol="0" anchor="ctr"/>
          <a:lstStyle/>
          <a:p>
            <a:pPr indent="0" marL="0">
              <a:buNone/>
            </a:pPr>
            <a:r>
              <a:rPr lang="en-US" sz="1350" dirty="0">
                <a:solidFill>
                  <a:srgbClr val="13262F"/>
                </a:solidFill>
                <a:latin typeface="Calibri" pitchFamily="34" charset="0"/>
                <a:ea typeface="Calibri" pitchFamily="34" charset="-122"/>
                <a:cs typeface="Calibri" pitchFamily="34" charset="-120"/>
              </a:rPr>
              <a:t>Pretraining</a:t>
            </a:r>
            <a:endParaRPr lang="en-US" sz="1350" dirty="0"/>
          </a:p>
        </p:txBody>
      </p:sp>
      <p:sp>
        <p:nvSpPr>
          <p:cNvPr id="29" name="Shape 27"/>
          <p:cNvSpPr/>
          <p:nvPr/>
        </p:nvSpPr>
        <p:spPr>
          <a:xfrm>
            <a:off x="5354509" y="2807208"/>
            <a:ext cx="499091" cy="292608"/>
          </a:xfrm>
          <a:prstGeom prst="roundRect">
            <a:avLst>
              <a:gd name="adj" fmla="val 25000"/>
            </a:avLst>
          </a:prstGeom>
          <a:solidFill>
            <a:srgbClr val="5C6B73"/>
          </a:solidFill>
          <a:ln/>
        </p:spPr>
      </p:sp>
      <p:sp>
        <p:nvSpPr>
          <p:cNvPr id="30" name="Text 28"/>
          <p:cNvSpPr txBox="1"/>
          <p:nvPr/>
        </p:nvSpPr>
        <p:spPr>
          <a:xfrm>
            <a:off x="5354509" y="2798064"/>
            <a:ext cx="499091"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done</a:t>
            </a:r>
            <a:endParaRPr lang="en-US" sz="950" dirty="0"/>
          </a:p>
        </p:txBody>
      </p:sp>
      <p:sp>
        <p:nvSpPr>
          <p:cNvPr id="31" name="Text 29"/>
          <p:cNvSpPr txBox="1"/>
          <p:nvPr/>
        </p:nvSpPr>
        <p:spPr>
          <a:xfrm>
            <a:off x="548640" y="3200400"/>
            <a:ext cx="3017520" cy="420624"/>
          </a:xfrm>
          <a:prstGeom prst="rect">
            <a:avLst/>
          </a:prstGeom>
          <a:noFill/>
          <a:ln/>
        </p:spPr>
        <p:txBody>
          <a:bodyPr wrap="square" lIns="0" tIns="0" rIns="0" bIns="0" rtlCol="0" anchor="ctr"/>
          <a:lstStyle/>
          <a:p>
            <a:pPr indent="0" marL="0">
              <a:buNone/>
            </a:pPr>
            <a:r>
              <a:rPr lang="en-US" sz="1350" dirty="0">
                <a:solidFill>
                  <a:srgbClr val="13262F"/>
                </a:solidFill>
                <a:latin typeface="Calibri" pitchFamily="34" charset="0"/>
                <a:ea typeface="Calibri" pitchFamily="34" charset="-122"/>
                <a:cs typeface="Calibri" pitchFamily="34" charset="-120"/>
              </a:rPr>
              <a:t>Federated tuning</a:t>
            </a:r>
            <a:endParaRPr lang="en-US" sz="1350" dirty="0"/>
          </a:p>
        </p:txBody>
      </p:sp>
      <p:sp>
        <p:nvSpPr>
          <p:cNvPr id="32" name="Shape 30"/>
          <p:cNvSpPr/>
          <p:nvPr/>
        </p:nvSpPr>
        <p:spPr>
          <a:xfrm>
            <a:off x="4988509" y="3264408"/>
            <a:ext cx="1330909" cy="292608"/>
          </a:xfrm>
          <a:prstGeom prst="roundRect">
            <a:avLst>
              <a:gd name="adj" fmla="val 25000"/>
            </a:avLst>
          </a:prstGeom>
          <a:solidFill>
            <a:srgbClr val="1F7A80"/>
          </a:solidFill>
          <a:ln/>
        </p:spPr>
      </p:sp>
      <p:sp>
        <p:nvSpPr>
          <p:cNvPr id="33" name="Text 31"/>
          <p:cNvSpPr txBox="1"/>
          <p:nvPr/>
        </p:nvSpPr>
        <p:spPr>
          <a:xfrm>
            <a:off x="4988509" y="3255264"/>
            <a:ext cx="1330909"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running</a:t>
            </a:r>
            <a:endParaRPr lang="en-US" sz="950" dirty="0"/>
          </a:p>
        </p:txBody>
      </p:sp>
      <p:sp>
        <p:nvSpPr>
          <p:cNvPr id="34" name="Text 32"/>
          <p:cNvSpPr txBox="1"/>
          <p:nvPr/>
        </p:nvSpPr>
        <p:spPr>
          <a:xfrm>
            <a:off x="548640" y="3657600"/>
            <a:ext cx="3017520" cy="420624"/>
          </a:xfrm>
          <a:prstGeom prst="rect">
            <a:avLst/>
          </a:prstGeom>
          <a:noFill/>
          <a:ln/>
        </p:spPr>
        <p:txBody>
          <a:bodyPr wrap="square" lIns="0" tIns="0" rIns="0" bIns="0" rtlCol="0" anchor="ctr"/>
          <a:lstStyle/>
          <a:p>
            <a:pPr indent="0" marL="0">
              <a:buNone/>
            </a:pPr>
            <a:r>
              <a:rPr lang="en-US" sz="1350" dirty="0">
                <a:solidFill>
                  <a:srgbClr val="13262F"/>
                </a:solidFill>
                <a:latin typeface="Calibri" pitchFamily="34" charset="0"/>
                <a:ea typeface="Calibri" pitchFamily="34" charset="-122"/>
                <a:cs typeface="Calibri" pitchFamily="34" charset="-120"/>
              </a:rPr>
              <a:t>Device runs</a:t>
            </a:r>
            <a:endParaRPr lang="en-US" sz="1350" dirty="0"/>
          </a:p>
        </p:txBody>
      </p:sp>
      <p:sp>
        <p:nvSpPr>
          <p:cNvPr id="35" name="Shape 33"/>
          <p:cNvSpPr/>
          <p:nvPr/>
        </p:nvSpPr>
        <p:spPr>
          <a:xfrm>
            <a:off x="5454327" y="3721608"/>
            <a:ext cx="1796727" cy="292608"/>
          </a:xfrm>
          <a:prstGeom prst="roundRect">
            <a:avLst>
              <a:gd name="adj" fmla="val 25000"/>
            </a:avLst>
          </a:prstGeom>
          <a:solidFill>
            <a:srgbClr val="1F7A80"/>
          </a:solidFill>
          <a:ln/>
        </p:spPr>
      </p:sp>
      <p:sp>
        <p:nvSpPr>
          <p:cNvPr id="36" name="Text 34"/>
          <p:cNvSpPr txBox="1"/>
          <p:nvPr/>
        </p:nvSpPr>
        <p:spPr>
          <a:xfrm>
            <a:off x="5454327" y="3712464"/>
            <a:ext cx="1796727"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running</a:t>
            </a:r>
            <a:endParaRPr lang="en-US" sz="950" dirty="0"/>
          </a:p>
        </p:txBody>
      </p:sp>
      <p:sp>
        <p:nvSpPr>
          <p:cNvPr id="37" name="Text 35"/>
          <p:cNvSpPr txBox="1"/>
          <p:nvPr/>
        </p:nvSpPr>
        <p:spPr>
          <a:xfrm>
            <a:off x="548640" y="4114800"/>
            <a:ext cx="3017520" cy="420624"/>
          </a:xfrm>
          <a:prstGeom prst="rect">
            <a:avLst/>
          </a:prstGeom>
          <a:noFill/>
          <a:ln/>
        </p:spPr>
        <p:txBody>
          <a:bodyPr wrap="square" lIns="0" tIns="0" rIns="0" bIns="0" rtlCol="0" anchor="ctr"/>
          <a:lstStyle/>
          <a:p>
            <a:pPr indent="0" marL="0">
              <a:buNone/>
            </a:pPr>
            <a:r>
              <a:rPr lang="en-US" sz="1350" dirty="0">
                <a:solidFill>
                  <a:srgbClr val="13262F"/>
                </a:solidFill>
                <a:latin typeface="Calibri" pitchFamily="34" charset="0"/>
                <a:ea typeface="Calibri" pitchFamily="34" charset="-122"/>
                <a:cs typeface="Calibri" pitchFamily="34" charset="-120"/>
              </a:rPr>
              <a:t>Main federated + DP runs</a:t>
            </a:r>
            <a:endParaRPr lang="en-US" sz="1350" dirty="0"/>
          </a:p>
        </p:txBody>
      </p:sp>
      <p:sp>
        <p:nvSpPr>
          <p:cNvPr id="38" name="Shape 36"/>
          <p:cNvSpPr/>
          <p:nvPr/>
        </p:nvSpPr>
        <p:spPr>
          <a:xfrm>
            <a:off x="6252873" y="4178808"/>
            <a:ext cx="1131273" cy="292608"/>
          </a:xfrm>
          <a:prstGeom prst="roundRect">
            <a:avLst>
              <a:gd name="adj" fmla="val 25000"/>
            </a:avLst>
          </a:prstGeom>
          <a:solidFill>
            <a:srgbClr val="A7B1B6">
              <a:alpha val="65000"/>
            </a:srgbClr>
          </a:solidFill>
          <a:ln w="12700">
            <a:solidFill>
              <a:srgbClr val="9A5A0C"/>
            </a:solidFill>
            <a:prstDash val="dash"/>
          </a:ln>
        </p:spPr>
      </p:sp>
      <p:sp>
        <p:nvSpPr>
          <p:cNvPr id="39" name="Text 37"/>
          <p:cNvSpPr txBox="1"/>
          <p:nvPr/>
        </p:nvSpPr>
        <p:spPr>
          <a:xfrm>
            <a:off x="6252873" y="4169664"/>
            <a:ext cx="1131273" cy="310896"/>
          </a:xfrm>
          <a:prstGeom prst="rect">
            <a:avLst/>
          </a:prstGeom>
          <a:noFill/>
          <a:ln/>
        </p:spPr>
        <p:txBody>
          <a:bodyPr wrap="square" lIns="0" tIns="0" rIns="0" bIns="0" rtlCol="0" anchor="ctr"/>
          <a:lstStyle/>
          <a:p>
            <a:pPr algn="ctr" indent="0" marL="0">
              <a:buNone/>
            </a:pPr>
            <a:r>
              <a:rPr lang="en-US" sz="950" b="1" dirty="0">
                <a:solidFill>
                  <a:srgbClr val="13262F"/>
                </a:solidFill>
                <a:latin typeface="Calibri" pitchFamily="34" charset="0"/>
                <a:ea typeface="Calibri" pitchFamily="34" charset="-122"/>
                <a:cs typeface="Calibri" pitchFamily="34" charset="-120"/>
              </a:rPr>
              <a:t>estimate</a:t>
            </a:r>
            <a:endParaRPr lang="en-US" sz="950" dirty="0"/>
          </a:p>
        </p:txBody>
      </p:sp>
      <p:sp>
        <p:nvSpPr>
          <p:cNvPr id="40" name="Text 38"/>
          <p:cNvSpPr txBox="1"/>
          <p:nvPr/>
        </p:nvSpPr>
        <p:spPr>
          <a:xfrm>
            <a:off x="548640" y="4572000"/>
            <a:ext cx="3017520" cy="420624"/>
          </a:xfrm>
          <a:prstGeom prst="rect">
            <a:avLst/>
          </a:prstGeom>
          <a:noFill/>
          <a:ln/>
        </p:spPr>
        <p:txBody>
          <a:bodyPr wrap="square" lIns="0" tIns="0" rIns="0" bIns="0" rtlCol="0" anchor="ctr"/>
          <a:lstStyle/>
          <a:p>
            <a:pPr indent="0" marL="0">
              <a:buNone/>
            </a:pPr>
            <a:r>
              <a:rPr lang="en-US" sz="1350" dirty="0">
                <a:solidFill>
                  <a:srgbClr val="13262F"/>
                </a:solidFill>
                <a:latin typeface="Calibri" pitchFamily="34" charset="0"/>
                <a:ea typeface="Calibri" pitchFamily="34" charset="-122"/>
                <a:cs typeface="Calibri" pitchFamily="34" charset="-120"/>
              </a:rPr>
              <a:t>One validation read</a:t>
            </a:r>
            <a:endParaRPr lang="en-US" sz="1350" dirty="0"/>
          </a:p>
        </p:txBody>
      </p:sp>
      <p:sp>
        <p:nvSpPr>
          <p:cNvPr id="41" name="Shape 39"/>
          <p:cNvSpPr/>
          <p:nvPr/>
        </p:nvSpPr>
        <p:spPr>
          <a:xfrm>
            <a:off x="7251055" y="4636008"/>
            <a:ext cx="931636" cy="292608"/>
          </a:xfrm>
          <a:prstGeom prst="roundRect">
            <a:avLst>
              <a:gd name="adj" fmla="val 25000"/>
            </a:avLst>
          </a:prstGeom>
          <a:solidFill>
            <a:srgbClr val="E0932B">
              <a:alpha val="65000"/>
            </a:srgbClr>
          </a:solidFill>
          <a:ln w="12700">
            <a:solidFill>
              <a:srgbClr val="9A5A0C"/>
            </a:solidFill>
            <a:prstDash val="dash"/>
          </a:ln>
        </p:spPr>
      </p:sp>
      <p:sp>
        <p:nvSpPr>
          <p:cNvPr id="42" name="Text 40"/>
          <p:cNvSpPr txBox="1"/>
          <p:nvPr/>
        </p:nvSpPr>
        <p:spPr>
          <a:xfrm>
            <a:off x="7251055" y="4626864"/>
            <a:ext cx="931636" cy="310896"/>
          </a:xfrm>
          <a:prstGeom prst="rect">
            <a:avLst/>
          </a:prstGeom>
          <a:noFill/>
          <a:ln/>
        </p:spPr>
        <p:txBody>
          <a:bodyPr wrap="square" lIns="0" tIns="0" rIns="0" bIns="0" rtlCol="0" anchor="ctr"/>
          <a:lstStyle/>
          <a:p>
            <a:pPr algn="ctr" indent="0" marL="0">
              <a:buNone/>
            </a:pPr>
            <a:r>
              <a:rPr lang="en-US" sz="950" b="1" dirty="0">
                <a:solidFill>
                  <a:srgbClr val="13262F"/>
                </a:solidFill>
                <a:latin typeface="Calibri" pitchFamily="34" charset="0"/>
                <a:ea typeface="Calibri" pitchFamily="34" charset="-122"/>
                <a:cs typeface="Calibri" pitchFamily="34" charset="-120"/>
              </a:rPr>
              <a:t>estimate</a:t>
            </a:r>
            <a:endParaRPr lang="en-US" sz="950" dirty="0"/>
          </a:p>
        </p:txBody>
      </p:sp>
      <p:sp>
        <p:nvSpPr>
          <p:cNvPr id="43" name="Text 41"/>
          <p:cNvSpPr txBox="1"/>
          <p:nvPr/>
        </p:nvSpPr>
        <p:spPr>
          <a:xfrm>
            <a:off x="548640" y="5029200"/>
            <a:ext cx="3017520" cy="420624"/>
          </a:xfrm>
          <a:prstGeom prst="rect">
            <a:avLst/>
          </a:prstGeom>
          <a:noFill/>
          <a:ln/>
        </p:spPr>
        <p:txBody>
          <a:bodyPr wrap="square" lIns="0" tIns="0" rIns="0" bIns="0" rtlCol="0" anchor="ctr"/>
          <a:lstStyle/>
          <a:p>
            <a:pPr indent="0" marL="0">
              <a:buNone/>
            </a:pPr>
            <a:r>
              <a:rPr lang="en-US" sz="1350" dirty="0">
                <a:solidFill>
                  <a:srgbClr val="13262F"/>
                </a:solidFill>
                <a:latin typeface="Calibri" pitchFamily="34" charset="0"/>
                <a:ea typeface="Calibri" pitchFamily="34" charset="-122"/>
                <a:cs typeface="Calibri" pitchFamily="34" charset="-120"/>
              </a:rPr>
              <a:t>Single test look → tables</a:t>
            </a:r>
            <a:endParaRPr lang="en-US" sz="1350" dirty="0"/>
          </a:p>
        </p:txBody>
      </p:sp>
      <p:sp>
        <p:nvSpPr>
          <p:cNvPr id="44" name="Shape 42"/>
          <p:cNvSpPr/>
          <p:nvPr/>
        </p:nvSpPr>
        <p:spPr>
          <a:xfrm>
            <a:off x="8182691" y="5093208"/>
            <a:ext cx="2262546" cy="292608"/>
          </a:xfrm>
          <a:prstGeom prst="roundRect">
            <a:avLst>
              <a:gd name="adj" fmla="val 25000"/>
            </a:avLst>
          </a:prstGeom>
          <a:solidFill>
            <a:srgbClr val="E0932B">
              <a:alpha val="65000"/>
            </a:srgbClr>
          </a:solidFill>
          <a:ln w="12700">
            <a:solidFill>
              <a:srgbClr val="9A5A0C"/>
            </a:solidFill>
            <a:prstDash val="dash"/>
          </a:ln>
        </p:spPr>
      </p:sp>
      <p:sp>
        <p:nvSpPr>
          <p:cNvPr id="45" name="Text 43"/>
          <p:cNvSpPr txBox="1"/>
          <p:nvPr/>
        </p:nvSpPr>
        <p:spPr>
          <a:xfrm>
            <a:off x="8182691" y="5084064"/>
            <a:ext cx="2262546" cy="310896"/>
          </a:xfrm>
          <a:prstGeom prst="rect">
            <a:avLst/>
          </a:prstGeom>
          <a:noFill/>
          <a:ln/>
        </p:spPr>
        <p:txBody>
          <a:bodyPr wrap="square" lIns="0" tIns="0" rIns="0" bIns="0" rtlCol="0" anchor="ctr"/>
          <a:lstStyle/>
          <a:p>
            <a:pPr algn="ctr" indent="0" marL="0">
              <a:buNone/>
            </a:pPr>
            <a:r>
              <a:rPr lang="en-US" sz="950" b="1" dirty="0">
                <a:solidFill>
                  <a:srgbClr val="13262F"/>
                </a:solidFill>
                <a:latin typeface="Calibri" pitchFamily="34" charset="0"/>
                <a:ea typeface="Calibri" pitchFamily="34" charset="-122"/>
                <a:cs typeface="Calibri" pitchFamily="34" charset="-120"/>
              </a:rPr>
              <a:t>estimate</a:t>
            </a:r>
            <a:endParaRPr lang="en-US" sz="950" dirty="0"/>
          </a:p>
        </p:txBody>
      </p:sp>
      <p:sp>
        <p:nvSpPr>
          <p:cNvPr id="46" name="Shape 44"/>
          <p:cNvSpPr/>
          <p:nvPr/>
        </p:nvSpPr>
        <p:spPr>
          <a:xfrm>
            <a:off x="5986691" y="1737360"/>
            <a:ext cx="0" cy="3840480"/>
          </a:xfrm>
          <a:prstGeom prst="line">
            <a:avLst/>
          </a:prstGeom>
          <a:noFill/>
          <a:ln w="19050">
            <a:solidFill>
              <a:srgbClr val="9A5A0C"/>
            </a:solidFill>
            <a:prstDash val="dash"/>
          </a:ln>
        </p:spPr>
      </p:sp>
      <p:sp>
        <p:nvSpPr>
          <p:cNvPr id="47" name="Text 45"/>
          <p:cNvSpPr txBox="1"/>
          <p:nvPr/>
        </p:nvSpPr>
        <p:spPr>
          <a:xfrm>
            <a:off x="6041555" y="1764792"/>
            <a:ext cx="914400" cy="228600"/>
          </a:xfrm>
          <a:prstGeom prst="rect">
            <a:avLst/>
          </a:prstGeom>
          <a:noFill/>
          <a:ln/>
        </p:spPr>
        <p:txBody>
          <a:bodyPr wrap="square" lIns="0" tIns="0" rIns="0" bIns="0" rtlCol="0" anchor="t"/>
          <a:lstStyle/>
          <a:p>
            <a:pPr indent="0" marL="0">
              <a:buNone/>
            </a:pPr>
            <a:r>
              <a:rPr lang="en-US" sz="1000" b="1" dirty="0">
                <a:solidFill>
                  <a:srgbClr val="9A5A0C"/>
                </a:solidFill>
                <a:latin typeface="Calibri" pitchFamily="34" charset="0"/>
                <a:ea typeface="Calibri" pitchFamily="34" charset="-122"/>
                <a:cs typeface="Calibri" pitchFamily="34" charset="-120"/>
              </a:rPr>
              <a:t>meeting</a:t>
            </a:r>
            <a:endParaRPr lang="en-US" sz="1000" dirty="0"/>
          </a:p>
        </p:txBody>
      </p:sp>
      <p:sp>
        <p:nvSpPr>
          <p:cNvPr id="48" name="Text 46"/>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300" i="1" dirty="0">
                <a:solidFill>
                  <a:srgbClr val="5E6E75"/>
                </a:solidFill>
                <a:latin typeface="Calibri" pitchFamily="34" charset="0"/>
                <a:ea typeface="Calibri" pitchFamily="34" charset="-122"/>
                <a:cs typeface="Calibri" pitchFamily="34" charset="-120"/>
              </a:rPr>
              <a:t>Future dates are estimates: validation read ≈ 2–3 Oct · test look ≈ 4–5 Oct · final tables ≈ 6–7 Oct.</a:t>
            </a:r>
            <a:endParaRPr lang="en-US" sz="1300" dirty="0"/>
          </a:p>
        </p:txBody>
      </p:sp>
      <p:sp>
        <p:nvSpPr>
          <p:cNvPr id="49" name="Text 47"/>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22</a:t>
            </a:r>
            <a:endParaRPr lang="en-US" sz="1000" dirty="0"/>
          </a:p>
        </p:txBody>
      </p:sp>
      <p:sp>
        <p:nvSpPr>
          <p:cNvPr id="50" name="Text 48"/>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Master plan (measured run rates); decision log run status to 30 Sep 08:30 UTC</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DISCUSSION / DECISION 4</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Priorities if time is short</a:t>
            </a:r>
            <a:endParaRPr lang="en-US" sz="3000" dirty="0"/>
          </a:p>
        </p:txBody>
      </p:sp>
      <p:sp>
        <p:nvSpPr>
          <p:cNvPr id="4" name="Shape 2"/>
          <p:cNvSpPr/>
          <p:nvPr/>
        </p:nvSpPr>
        <p:spPr>
          <a:xfrm>
            <a:off x="548640" y="1600200"/>
            <a:ext cx="11094415" cy="1389888"/>
          </a:xfrm>
          <a:prstGeom prst="roundRect">
            <a:avLst>
              <a:gd name="adj" fmla="val 5263"/>
            </a:avLst>
          </a:prstGeom>
          <a:solidFill>
            <a:srgbClr val="1D3640"/>
          </a:solidFill>
          <a:ln/>
        </p:spPr>
      </p:sp>
      <p:sp>
        <p:nvSpPr>
          <p:cNvPr id="5" name="Shape 3"/>
          <p:cNvSpPr/>
          <p:nvPr/>
        </p:nvSpPr>
        <p:spPr>
          <a:xfrm>
            <a:off x="822960" y="2020824"/>
            <a:ext cx="548640" cy="548640"/>
          </a:xfrm>
          <a:prstGeom prst="ellipse">
            <a:avLst/>
          </a:prstGeom>
          <a:solidFill>
            <a:srgbClr val="E0932B"/>
          </a:solidFill>
          <a:ln/>
        </p:spPr>
      </p:sp>
      <p:sp>
        <p:nvSpPr>
          <p:cNvPr id="6" name="Text 4"/>
          <p:cNvSpPr txBox="1"/>
          <p:nvPr/>
        </p:nvSpPr>
        <p:spPr>
          <a:xfrm>
            <a:off x="822960" y="2020824"/>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673352"/>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If we must cut, what should go first?</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Never cut: federated, local-only and cloud fine-tune with two seeds, the lock and the single test look.</a:t>
            </a:r>
            <a:endParaRPr lang="en-US" sz="1800" dirty="0"/>
          </a:p>
        </p:txBody>
      </p:sp>
      <p:sp>
        <p:nvSpPr>
          <p:cNvPr id="8" name="Shape 6"/>
          <p:cNvSpPr/>
          <p:nvPr/>
        </p:nvSpPr>
        <p:spPr>
          <a:xfrm>
            <a:off x="548640" y="3191256"/>
            <a:ext cx="11094415" cy="1389888"/>
          </a:xfrm>
          <a:prstGeom prst="roundRect">
            <a:avLst>
              <a:gd name="adj" fmla="val 5263"/>
            </a:avLst>
          </a:prstGeom>
          <a:solidFill>
            <a:srgbClr val="1D3640"/>
          </a:solidFill>
          <a:ln/>
        </p:spPr>
      </p:sp>
      <p:sp>
        <p:nvSpPr>
          <p:cNvPr id="9" name="Shape 7"/>
          <p:cNvSpPr/>
          <p:nvPr/>
        </p:nvSpPr>
        <p:spPr>
          <a:xfrm>
            <a:off x="822960" y="3611880"/>
            <a:ext cx="548640" cy="548640"/>
          </a:xfrm>
          <a:prstGeom prst="ellipse">
            <a:avLst/>
          </a:prstGeom>
          <a:solidFill>
            <a:srgbClr val="E0932B"/>
          </a:solidFill>
          <a:ln/>
        </p:spPr>
      </p:sp>
      <p:sp>
        <p:nvSpPr>
          <p:cNvPr id="10" name="Text 8"/>
          <p:cNvSpPr txBox="1"/>
          <p:nvPr/>
        </p:nvSpPr>
        <p:spPr>
          <a:xfrm>
            <a:off x="822960" y="3611880"/>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45920" y="3264408"/>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one browser run on a laptop enough device evidence?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Or should we add a second machine?</a:t>
            </a:r>
            <a:endParaRPr lang="en-US" sz="1800" dirty="0"/>
          </a:p>
        </p:txBody>
      </p:sp>
      <p:sp>
        <p:nvSpPr>
          <p:cNvPr id="12" name="Shape 10"/>
          <p:cNvSpPr/>
          <p:nvPr/>
        </p:nvSpPr>
        <p:spPr>
          <a:xfrm>
            <a:off x="548640" y="4782312"/>
            <a:ext cx="11094415" cy="1389888"/>
          </a:xfrm>
          <a:prstGeom prst="roundRect">
            <a:avLst>
              <a:gd name="adj" fmla="val 5263"/>
            </a:avLst>
          </a:prstGeom>
          <a:solidFill>
            <a:srgbClr val="1D3640"/>
          </a:solidFill>
          <a:ln/>
        </p:spPr>
      </p:sp>
      <p:sp>
        <p:nvSpPr>
          <p:cNvPr id="13" name="Shape 11"/>
          <p:cNvSpPr/>
          <p:nvPr/>
        </p:nvSpPr>
        <p:spPr>
          <a:xfrm>
            <a:off x="822960" y="5202936"/>
            <a:ext cx="548640" cy="548640"/>
          </a:xfrm>
          <a:prstGeom prst="ellipse">
            <a:avLst/>
          </a:prstGeom>
          <a:solidFill>
            <a:srgbClr val="E0932B"/>
          </a:solidFill>
          <a:ln/>
        </p:spPr>
      </p:sp>
      <p:sp>
        <p:nvSpPr>
          <p:cNvPr id="14" name="Text 12"/>
          <p:cNvSpPr txBox="1"/>
          <p:nvPr/>
        </p:nvSpPr>
        <p:spPr>
          <a:xfrm>
            <a:off x="822960" y="5202936"/>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645920" y="4855464"/>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Can you pre-approve the Queen's AI-use disclosure?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Required front matter for the thesis.</a:t>
            </a:r>
            <a:endParaRPr lang="en-US" sz="180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23</a:t>
            </a:r>
            <a:endParaRPr lang="en-US" sz="1000" dirty="0"/>
          </a:p>
        </p:txBody>
      </p:sp>
      <p:sp>
        <p:nvSpPr>
          <p:cNvPr id="17" name="Text 15"/>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A9C0C4"/>
                </a:solidFill>
                <a:latin typeface="Calibri" pitchFamily="34" charset="0"/>
                <a:ea typeface="Calibri" pitchFamily="34" charset="-122"/>
                <a:cs typeface="Calibri" pitchFamily="34" charset="-120"/>
              </a:rPr>
              <a:t>Context: cut order is pre-registered</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Where the project stands</a:t>
            </a:r>
            <a:endParaRPr lang="en-US" sz="3000" dirty="0"/>
          </a:p>
        </p:txBody>
      </p:sp>
      <p:sp>
        <p:nvSpPr>
          <p:cNvPr id="4" name="Shape 2"/>
          <p:cNvSpPr/>
          <p:nvPr/>
        </p:nvSpPr>
        <p:spPr>
          <a:xfrm>
            <a:off x="548640" y="1554480"/>
            <a:ext cx="3515258" cy="3931920"/>
          </a:xfrm>
          <a:prstGeom prst="roundRect">
            <a:avLst>
              <a:gd name="adj" fmla="val 2081"/>
            </a:avLst>
          </a:prstGeom>
          <a:solidFill>
            <a:srgbClr val="1D3640"/>
          </a:solidFill>
          <a:ln/>
        </p:spPr>
      </p:sp>
      <p:sp>
        <p:nvSpPr>
          <p:cNvPr id="5" name="Shape 3"/>
          <p:cNvSpPr/>
          <p:nvPr/>
        </p:nvSpPr>
        <p:spPr>
          <a:xfrm>
            <a:off x="822960" y="1828800"/>
            <a:ext cx="1280160" cy="292608"/>
          </a:xfrm>
          <a:prstGeom prst="roundRect">
            <a:avLst>
              <a:gd name="adj" fmla="val 50000"/>
            </a:avLst>
          </a:prstGeom>
          <a:solidFill>
            <a:srgbClr val="5C6B73"/>
          </a:solidFill>
          <a:ln/>
        </p:spPr>
      </p:sp>
      <p:sp>
        <p:nvSpPr>
          <p:cNvPr id="6" name="Text 4"/>
          <p:cNvSpPr txBox="1"/>
          <p:nvPr/>
        </p:nvSpPr>
        <p:spPr>
          <a:xfrm>
            <a:off x="822960" y="18288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7" name="Text 5"/>
          <p:cNvSpPr txBox="1"/>
          <p:nvPr/>
        </p:nvSpPr>
        <p:spPr>
          <a:xfrm>
            <a:off x="822960" y="2331720"/>
            <a:ext cx="2966618" cy="3017520"/>
          </a:xfrm>
          <a:prstGeom prst="rect">
            <a:avLst/>
          </a:prstGeom>
          <a:noFill/>
          <a:ln/>
        </p:spPr>
        <p:txBody>
          <a:bodyPr wrap="square" lIns="0" tIns="0" rIns="0" bIns="0" rtlCol="0" anchor="t"/>
          <a:lstStyle/>
          <a:p>
            <a:pPr marL="203200" indent="-203200">
              <a:spcAft>
                <a:spcPts val="1200"/>
              </a:spcAft>
              <a:buSzPct val="100000"/>
              <a:buChar char="•"/>
            </a:pPr>
            <a:r>
              <a:rPr lang="en-US" sz="1550" dirty="0">
                <a:solidFill>
                  <a:srgbClr val="E9F1F2"/>
                </a:solidFill>
                <a:latin typeface="Calibri" pitchFamily="34" charset="0"/>
                <a:ea typeface="Calibri" pitchFamily="34" charset="-122"/>
                <a:cs typeface="Calibri" pitchFamily="34" charset="-120"/>
              </a:rPr>
              <a:t>Next category → next product, with reasons</a:t>
            </a:r>
            <a:endParaRPr lang="en-US" sz="1550" dirty="0"/>
          </a:p>
          <a:p>
            <a:pPr marL="203200" indent="-203200">
              <a:spcAft>
                <a:spcPts val="1200"/>
              </a:spcAft>
              <a:buSzPct val="100000"/>
              <a:buChar char="•"/>
            </a:pPr>
            <a:r>
              <a:rPr lang="en-US" sz="1550" dirty="0">
                <a:solidFill>
                  <a:srgbClr val="E9F1F2"/>
                </a:solidFill>
                <a:latin typeface="Calibri" pitchFamily="34" charset="0"/>
                <a:ea typeface="Calibri" pitchFamily="34" charset="-122"/>
                <a:cs typeface="Calibri" pitchFamily="34" charset="-120"/>
              </a:rPr>
              <a:t>Compared with the published benchmark</a:t>
            </a:r>
            <a:endParaRPr lang="en-US" sz="1550" dirty="0"/>
          </a:p>
          <a:p>
            <a:pPr marL="203200" indent="-203200">
              <a:spcAft>
                <a:spcPts val="1200"/>
              </a:spcAft>
              <a:buSzPct val="100000"/>
              <a:buChar char="•"/>
            </a:pPr>
            <a:r>
              <a:rPr lang="en-US" sz="1550" dirty="0">
                <a:solidFill>
                  <a:srgbClr val="E9F1F2"/>
                </a:solidFill>
                <a:latin typeface="Calibri" pitchFamily="34" charset="0"/>
                <a:ea typeface="Calibri" pitchFamily="34" charset="-122"/>
                <a:cs typeface="Calibri" pitchFamily="34" charset="-120"/>
              </a:rPr>
              <a:t>Features reduced to a device-friendly set</a:t>
            </a:r>
            <a:endParaRPr lang="en-US" sz="1550" dirty="0"/>
          </a:p>
          <a:p>
            <a:pPr marL="203200" indent="-203200">
              <a:spcAft>
                <a:spcPts val="1200"/>
              </a:spcAft>
              <a:buSzPct val="100000"/>
              <a:buChar char="•"/>
            </a:pPr>
            <a:r>
              <a:rPr lang="en-US" sz="1550" dirty="0">
                <a:solidFill>
                  <a:srgbClr val="E9F1F2"/>
                </a:solidFill>
                <a:latin typeface="Calibri" pitchFamily="34" charset="0"/>
                <a:ea typeface="Calibri" pitchFamily="34" charset="-122"/>
                <a:cs typeface="Calibri" pitchFamily="34" charset="-120"/>
              </a:rPr>
              <a:t>Backbone chosen by a registered rule</a:t>
            </a:r>
            <a:endParaRPr lang="en-US" sz="1550" dirty="0"/>
          </a:p>
        </p:txBody>
      </p:sp>
      <p:sp>
        <p:nvSpPr>
          <p:cNvPr id="8" name="Shape 6"/>
          <p:cNvSpPr/>
          <p:nvPr/>
        </p:nvSpPr>
        <p:spPr>
          <a:xfrm>
            <a:off x="4338218" y="1554480"/>
            <a:ext cx="3515258" cy="3931920"/>
          </a:xfrm>
          <a:prstGeom prst="roundRect">
            <a:avLst>
              <a:gd name="adj" fmla="val 2081"/>
            </a:avLst>
          </a:prstGeom>
          <a:solidFill>
            <a:srgbClr val="1D3640"/>
          </a:solidFill>
          <a:ln/>
        </p:spPr>
      </p:sp>
      <p:sp>
        <p:nvSpPr>
          <p:cNvPr id="9" name="Shape 7"/>
          <p:cNvSpPr/>
          <p:nvPr/>
        </p:nvSpPr>
        <p:spPr>
          <a:xfrm>
            <a:off x="4612538" y="1828800"/>
            <a:ext cx="1280160" cy="292608"/>
          </a:xfrm>
          <a:prstGeom prst="roundRect">
            <a:avLst>
              <a:gd name="adj" fmla="val 50000"/>
            </a:avLst>
          </a:prstGeom>
          <a:solidFill>
            <a:srgbClr val="1F7A80"/>
          </a:solidFill>
          <a:ln/>
        </p:spPr>
      </p:sp>
      <p:sp>
        <p:nvSpPr>
          <p:cNvPr id="10" name="Text 8"/>
          <p:cNvSpPr txBox="1"/>
          <p:nvPr/>
        </p:nvSpPr>
        <p:spPr>
          <a:xfrm>
            <a:off x="4612538" y="18288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RUNNING</a:t>
            </a:r>
            <a:endParaRPr lang="en-US" sz="1100" dirty="0"/>
          </a:p>
        </p:txBody>
      </p:sp>
      <p:sp>
        <p:nvSpPr>
          <p:cNvPr id="11" name="Text 9"/>
          <p:cNvSpPr txBox="1"/>
          <p:nvPr/>
        </p:nvSpPr>
        <p:spPr>
          <a:xfrm>
            <a:off x="4612538" y="2331720"/>
            <a:ext cx="2966618" cy="3017520"/>
          </a:xfrm>
          <a:prstGeom prst="rect">
            <a:avLst/>
          </a:prstGeom>
          <a:noFill/>
          <a:ln/>
        </p:spPr>
        <p:txBody>
          <a:bodyPr wrap="square" lIns="0" tIns="0" rIns="0" bIns="0" rtlCol="0" anchor="t"/>
          <a:lstStyle/>
          <a:p>
            <a:pPr marL="203200" indent="-203200">
              <a:spcAft>
                <a:spcPts val="1200"/>
              </a:spcAft>
              <a:buSzPct val="100000"/>
              <a:buChar char="•"/>
            </a:pPr>
            <a:r>
              <a:rPr lang="en-US" sz="1550" dirty="0">
                <a:solidFill>
                  <a:srgbClr val="E9F1F2"/>
                </a:solidFill>
                <a:latin typeface="Calibri" pitchFamily="34" charset="0"/>
                <a:ea typeface="Calibri" pitchFamily="34" charset="-122"/>
                <a:cs typeface="Calibri" pitchFamily="34" charset="-120"/>
              </a:rPr>
              <a:t>Federated tuning: +46% so far, after fixing our first setup</a:t>
            </a:r>
            <a:endParaRPr lang="en-US" sz="1550" dirty="0"/>
          </a:p>
          <a:p>
            <a:pPr marL="203200" indent="-203200">
              <a:spcAft>
                <a:spcPts val="1200"/>
              </a:spcAft>
              <a:buSzPct val="100000"/>
              <a:buChar char="•"/>
            </a:pPr>
            <a:r>
              <a:rPr lang="en-US" sz="1550" dirty="0">
                <a:solidFill>
                  <a:srgbClr val="E9F1F2"/>
                </a:solidFill>
                <a:latin typeface="Calibri" pitchFamily="34" charset="0"/>
                <a:ea typeface="Calibri" pitchFamily="34" charset="-122"/>
                <a:cs typeface="Calibri" pitchFamily="34" charset="-120"/>
              </a:rPr>
              <a:t>Pretraining finished → federated from it next</a:t>
            </a:r>
            <a:endParaRPr lang="en-US" sz="1550" dirty="0"/>
          </a:p>
          <a:p>
            <a:pPr marL="203200" indent="-203200">
              <a:spcAft>
                <a:spcPts val="1200"/>
              </a:spcAft>
              <a:buSzPct val="100000"/>
              <a:buChar char="•"/>
            </a:pPr>
            <a:r>
              <a:rPr lang="en-US" sz="1550" dirty="0">
                <a:solidFill>
                  <a:srgbClr val="E9F1F2"/>
                </a:solidFill>
                <a:latin typeface="Calibri" pitchFamily="34" charset="0"/>
                <a:ea typeface="Calibri" pitchFamily="34" charset="-122"/>
                <a:cs typeface="Calibri" pitchFamily="34" charset="-120"/>
              </a:rPr>
              <a:t>Full-pool cloud models finishing</a:t>
            </a:r>
            <a:endParaRPr lang="en-US" sz="1550" dirty="0"/>
          </a:p>
          <a:p>
            <a:pPr marL="203200" indent="-203200">
              <a:spcAft>
                <a:spcPts val="1200"/>
              </a:spcAft>
              <a:buSzPct val="100000"/>
              <a:buChar char="•"/>
            </a:pPr>
            <a:r>
              <a:rPr lang="en-US" sz="1550" dirty="0">
                <a:solidFill>
                  <a:srgbClr val="E9F1F2"/>
                </a:solidFill>
                <a:latin typeface="Calibri" pitchFamily="34" charset="0"/>
                <a:ea typeface="Calibri" pitchFamily="34" charset="-122"/>
                <a:cs typeface="Calibri" pitchFamily="34" charset="-120"/>
              </a:rPr>
              <a:t>Device runs (local-only model running)</a:t>
            </a:r>
            <a:endParaRPr lang="en-US" sz="1550" dirty="0"/>
          </a:p>
        </p:txBody>
      </p:sp>
      <p:sp>
        <p:nvSpPr>
          <p:cNvPr id="12" name="Shape 10"/>
          <p:cNvSpPr/>
          <p:nvPr/>
        </p:nvSpPr>
        <p:spPr>
          <a:xfrm>
            <a:off x="8127797" y="1554480"/>
            <a:ext cx="3515258" cy="3931920"/>
          </a:xfrm>
          <a:prstGeom prst="roundRect">
            <a:avLst>
              <a:gd name="adj" fmla="val 2081"/>
            </a:avLst>
          </a:prstGeom>
          <a:solidFill>
            <a:srgbClr val="1D3640"/>
          </a:solidFill>
          <a:ln/>
        </p:spPr>
      </p:sp>
      <p:sp>
        <p:nvSpPr>
          <p:cNvPr id="13" name="Shape 11"/>
          <p:cNvSpPr/>
          <p:nvPr/>
        </p:nvSpPr>
        <p:spPr>
          <a:xfrm>
            <a:off x="8402117" y="1828800"/>
            <a:ext cx="1280160" cy="292608"/>
          </a:xfrm>
          <a:prstGeom prst="roundRect">
            <a:avLst>
              <a:gd name="adj" fmla="val 50000"/>
            </a:avLst>
          </a:prstGeom>
          <a:solidFill>
            <a:srgbClr val="E0932B"/>
          </a:solidFill>
          <a:ln/>
        </p:spPr>
      </p:sp>
      <p:sp>
        <p:nvSpPr>
          <p:cNvPr id="14" name="Text 12"/>
          <p:cNvSpPr txBox="1"/>
          <p:nvPr/>
        </p:nvSpPr>
        <p:spPr>
          <a:xfrm>
            <a:off x="8402117" y="1828800"/>
            <a:ext cx="1280160" cy="292608"/>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NEXT</a:t>
            </a:r>
            <a:endParaRPr lang="en-US" sz="1100" dirty="0"/>
          </a:p>
        </p:txBody>
      </p:sp>
      <p:sp>
        <p:nvSpPr>
          <p:cNvPr id="15" name="Text 13"/>
          <p:cNvSpPr txBox="1"/>
          <p:nvPr/>
        </p:nvSpPr>
        <p:spPr>
          <a:xfrm>
            <a:off x="8402117" y="2331720"/>
            <a:ext cx="2966618" cy="3017520"/>
          </a:xfrm>
          <a:prstGeom prst="rect">
            <a:avLst/>
          </a:prstGeom>
          <a:noFill/>
          <a:ln/>
        </p:spPr>
        <p:txBody>
          <a:bodyPr wrap="square" lIns="0" tIns="0" rIns="0" bIns="0" rtlCol="0" anchor="t"/>
          <a:lstStyle/>
          <a:p>
            <a:pPr marL="203200" indent="-203200">
              <a:spcAft>
                <a:spcPts val="1200"/>
              </a:spcAft>
              <a:buSzPct val="100000"/>
              <a:buChar char="•"/>
            </a:pPr>
            <a:r>
              <a:rPr lang="en-US" sz="1550" dirty="0">
                <a:solidFill>
                  <a:srgbClr val="E9F1F2"/>
                </a:solidFill>
                <a:latin typeface="Calibri" pitchFamily="34" charset="0"/>
                <a:ea typeface="Calibri" pitchFamily="34" charset="-122"/>
                <a:cs typeface="Calibri" pitchFamily="34" charset="-120"/>
              </a:rPr>
              <a:t>One validation read (≈ 2–3 Oct, est.)</a:t>
            </a:r>
            <a:endParaRPr lang="en-US" sz="1550" dirty="0"/>
          </a:p>
          <a:p>
            <a:pPr marL="203200" indent="-203200">
              <a:spcAft>
                <a:spcPts val="1200"/>
              </a:spcAft>
              <a:buSzPct val="100000"/>
              <a:buChar char="•"/>
            </a:pPr>
            <a:r>
              <a:rPr lang="en-US" sz="1550" dirty="0">
                <a:solidFill>
                  <a:srgbClr val="E9F1F2"/>
                </a:solidFill>
                <a:latin typeface="Calibri" pitchFamily="34" charset="0"/>
                <a:ea typeface="Calibri" pitchFamily="34" charset="-122"/>
                <a:cs typeface="Calibri" pitchFamily="34" charset="-120"/>
              </a:rPr>
              <a:t>Single test look (≈ 4–5 Oct, est.)</a:t>
            </a:r>
            <a:endParaRPr lang="en-US" sz="1550" dirty="0"/>
          </a:p>
          <a:p>
            <a:pPr marL="203200" indent="-203200">
              <a:spcAft>
                <a:spcPts val="1200"/>
              </a:spcAft>
              <a:buSzPct val="100000"/>
              <a:buChar char="•"/>
            </a:pPr>
            <a:r>
              <a:rPr lang="en-US" sz="1550" dirty="0">
                <a:solidFill>
                  <a:srgbClr val="E9F1F2"/>
                </a:solidFill>
                <a:latin typeface="Calibri" pitchFamily="34" charset="0"/>
                <a:ea typeface="Calibri" pitchFamily="34" charset="-122"/>
                <a:cs typeface="Calibri" pitchFamily="34" charset="-120"/>
              </a:rPr>
              <a:t>Browser benchmark</a:t>
            </a:r>
            <a:endParaRPr lang="en-US" sz="1550" dirty="0"/>
          </a:p>
          <a:p>
            <a:pPr marL="203200" indent="-203200">
              <a:spcAft>
                <a:spcPts val="1200"/>
              </a:spcAft>
              <a:buSzPct val="100000"/>
              <a:buChar char="•"/>
            </a:pPr>
            <a:r>
              <a:rPr lang="en-US" sz="1550" dirty="0">
                <a:solidFill>
                  <a:srgbClr val="E9F1F2"/>
                </a:solidFill>
                <a:latin typeface="Calibri" pitchFamily="34" charset="0"/>
                <a:ea typeface="Calibri" pitchFamily="34" charset="-122"/>
                <a:cs typeface="Calibri" pitchFamily="34" charset="-120"/>
              </a:rPr>
              <a:t>Thesis tables (≈ 6–7 Oct, est.)</a:t>
            </a:r>
            <a:endParaRPr lang="en-US" sz="155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24</a:t>
            </a:r>
            <a:endParaRPr lang="en-US" sz="1000" dirty="0"/>
          </a:p>
        </p:txBody>
      </p:sp>
      <p:sp>
        <p:nvSpPr>
          <p:cNvPr id="17" name="Text 15"/>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b="1" dirty="0">
                <a:solidFill>
                  <a:srgbClr val="E0932B"/>
                </a:solidFill>
                <a:latin typeface="Calibri" pitchFamily="34" charset="0"/>
                <a:ea typeface="Calibri" pitchFamily="34" charset="-122"/>
                <a:cs typeface="Calibri" pitchFamily="34" charset="-120"/>
              </a:rPr>
              <a:t>Decisions today: task and benchmark · Edge headline · federated effort · DP levels · priorities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2560320"/>
            <a:ext cx="7315200" cy="365760"/>
          </a:xfrm>
          <a:prstGeom prst="rect">
            <a:avLst/>
          </a:prstGeom>
          <a:noFill/>
          <a:ln/>
        </p:spPr>
        <p:txBody>
          <a:bodyPr wrap="square" lIns="0" tIns="0" rIns="0" bIns="0" rtlCol="0" anchor="ctr"/>
          <a:lstStyle/>
          <a:p>
            <a:pPr indent="0" marL="0">
              <a:buNone/>
            </a:pPr>
            <a:r>
              <a:rPr lang="en-US" sz="1400" b="1" spc="300" kern="0" dirty="0">
                <a:solidFill>
                  <a:srgbClr val="E0932B"/>
                </a:solidFill>
                <a:latin typeface="Calibri" pitchFamily="34" charset="0"/>
                <a:ea typeface="Calibri" pitchFamily="34" charset="-122"/>
                <a:cs typeface="Calibri" pitchFamily="34" charset="-120"/>
              </a:rPr>
              <a:t>BACKUP</a:t>
            </a:r>
            <a:endParaRPr lang="en-US" sz="1400" dirty="0"/>
          </a:p>
        </p:txBody>
      </p:sp>
      <p:sp>
        <p:nvSpPr>
          <p:cNvPr id="3" name="Text 1"/>
          <p:cNvSpPr txBox="1"/>
          <p:nvPr/>
        </p:nvSpPr>
        <p:spPr>
          <a:xfrm>
            <a:off x="548640" y="297180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Details for likely questions</a:t>
            </a:r>
            <a:endParaRPr lang="en-US" sz="3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BACKUP — BASELINES</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Simple rules vs the contest models (validation)</a:t>
            </a:r>
            <a:endParaRPr lang="en-US" sz="3000" dirty="0"/>
          </a:p>
        </p:txBody>
      </p:sp>
      <p:graphicFrame>
        <p:nvGraphicFramePr>
          <p:cNvPr id="4" name="Chart 0" descr=""/>
          <p:cNvGraphicFramePr/>
          <p:nvPr/>
        </p:nvGraphicFramePr>
        <p:xfrm>
          <a:off x="548640" y="1371600"/>
          <a:ext cx="78638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778240" y="1463040"/>
            <a:ext cx="2864815" cy="1554480"/>
          </a:xfrm>
          <a:prstGeom prst="roundRect">
            <a:avLst>
              <a:gd name="adj" fmla="val 4706"/>
            </a:avLst>
          </a:prstGeom>
          <a:solidFill>
            <a:srgbClr val="FBEBD3"/>
          </a:solidFill>
          <a:ln/>
        </p:spPr>
      </p:sp>
      <p:sp>
        <p:nvSpPr>
          <p:cNvPr id="6" name="Text 3"/>
          <p:cNvSpPr txBox="1"/>
          <p:nvPr/>
        </p:nvSpPr>
        <p:spPr>
          <a:xfrm>
            <a:off x="9006840" y="1600200"/>
            <a:ext cx="2407615" cy="685800"/>
          </a:xfrm>
          <a:prstGeom prst="rect">
            <a:avLst/>
          </a:prstGeom>
          <a:noFill/>
          <a:ln/>
        </p:spPr>
        <p:txBody>
          <a:bodyPr wrap="square" lIns="0" tIns="0" rIns="0" bIns="0" rtlCol="0" anchor="t"/>
          <a:lstStyle/>
          <a:p>
            <a:pPr indent="0" marL="0">
              <a:buNone/>
            </a:pPr>
            <a:r>
              <a:rPr lang="en-US" sz="3200" b="1" dirty="0">
                <a:solidFill>
                  <a:srgbClr val="9A5A0C"/>
                </a:solidFill>
                <a:latin typeface="Cambria" pitchFamily="34" charset="0"/>
                <a:ea typeface="Cambria" pitchFamily="34" charset="-122"/>
                <a:cs typeface="Cambria" pitchFamily="34" charset="-120"/>
              </a:rPr>
              <a:t>44%</a:t>
            </a:r>
            <a:endParaRPr lang="en-US" sz="3200" dirty="0"/>
          </a:p>
        </p:txBody>
      </p:sp>
      <p:sp>
        <p:nvSpPr>
          <p:cNvPr id="7" name="Text 4"/>
          <p:cNvSpPr txBox="1"/>
          <p:nvPr/>
        </p:nvSpPr>
        <p:spPr>
          <a:xfrm>
            <a:off x="9006840" y="2286000"/>
            <a:ext cx="2407615" cy="64008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of the cloud reached by “last viewed item” — for free</a:t>
            </a:r>
            <a:endParaRPr lang="en-US" sz="1400" dirty="0"/>
          </a:p>
        </p:txBody>
      </p:sp>
      <p:sp>
        <p:nvSpPr>
          <p:cNvPr id="8" name="Text 5"/>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26</a:t>
            </a:r>
            <a:endParaRPr lang="en-US" sz="1000" dirty="0"/>
          </a:p>
        </p:txBody>
      </p:sp>
      <p:sp>
        <p:nvSpPr>
          <p:cNvPr id="9" name="Text 6"/>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Decision log (baselines and contest, 28 Sep)</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BACKUP — CLIENT LEARNING-RATE SCREEN</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Rise, peak at ×8, then fall</a:t>
            </a:r>
            <a:endParaRPr lang="en-US" sz="3000" dirty="0"/>
          </a:p>
        </p:txBody>
      </p:sp>
      <p:graphicFrame>
        <p:nvGraphicFramePr>
          <p:cNvPr id="4" name="Chart 0" descr=""/>
          <p:cNvGraphicFramePr/>
          <p:nvPr/>
        </p:nvGraphicFramePr>
        <p:xfrm>
          <a:off x="548640" y="1371600"/>
          <a:ext cx="11094415"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27</a:t>
            </a:r>
            <a:endParaRPr lang="en-US" sz="1000" dirty="0"/>
          </a:p>
        </p:txBody>
      </p:sp>
      <p:sp>
        <p:nvSpPr>
          <p:cNvPr id="6" name="Text 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Learning-rate selection files; ladder register</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Privacy-Preserving Shopping Intelligence — supervisor update (final)</dc:title>
  <dc:subject>PptxGenJS Presentation</dc:subject>
  <dc:creator>Ahmed Abdelhamed</dc:creator>
  <cp:lastModifiedBy>Ahmed Abdelhamed</cp:lastModifiedBy>
  <cp:revision>1</cp:revision>
  <dcterms:created xsi:type="dcterms:W3CDTF">2026-09-30T08:12:00Z</dcterms:created>
  <dcterms:modified xsi:type="dcterms:W3CDTF">2026-09-30T08:12:00Z</dcterms:modified>
</cp:coreProperties>
</file>
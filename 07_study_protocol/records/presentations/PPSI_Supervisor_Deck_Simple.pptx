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 MRR@20, 2-seed mean, main cohort</a:t>
            </a:r>
          </a:p>
        </c:rich>
      </c:tx>
      <c:layout/>
      <c:overlay val="0"/>
    </c:title>
    <c:autoTitleDeleted val="0"/>
    <c:plotArea>
      <c:layout/>
      <c:barChart>
        <c:barDir val="col"/>
        <c:grouping val="clustered"/>
        <c:varyColors val="0"/>
        <c:ser>
          <c:idx val="0"/>
          <c:order val="0"/>
          <c:tx>
            <c:strRef>
              <c:f>Sheet1!$B$1</c:f>
              <c:strCache>
                <c:ptCount val="1"/>
                <c:pt idx="0">
                  <c:v>GRU (21.0M)</c:v>
                </c:pt>
              </c:strCache>
            </c:strRef>
          </c:tx>
          <c:spPr>
            <a:solidFill>
              <a:srgbClr val="5C6B73"/>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 the registered rule</c:v>
                  </c:pt>
                  <c:pt idx="1">
                    <c:v>Fixed end of budget</c:v>
                  </c:pt>
                </c:lvl>
              </c:multiLvlStrCache>
            </c:multiLvlStrRef>
          </c:cat>
          <c:val>
            <c:numRef>
              <c:f>Sheet1!$B$2:$B$3</c:f>
              <c:numCache>
                <c:formatCode>General</c:formatCode>
                <c:ptCount val="2"/>
                <c:pt idx="0">
                  <c:v>0.1569</c:v>
                </c:pt>
                <c:pt idx="1">
                  <c:v>0.1569</c:v>
                </c:pt>
              </c:numCache>
            </c:numRef>
          </c:val>
        </c:ser>
        <c:ser>
          <c:idx val="1"/>
          <c:order val="1"/>
          <c:tx>
            <c:strRef>
              <c:f>Sheet1!$C$1</c:f>
              <c:strCache>
                <c:ptCount val="1"/>
                <c:pt idx="0">
                  <c:v>SASRec (83.9M)</c:v>
                </c:pt>
              </c:strCache>
            </c:strRef>
          </c:tx>
          <c:spPr>
            <a:solidFill>
              <a:srgbClr val="1F7A80"/>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 the registered rule</c:v>
                  </c:pt>
                  <c:pt idx="1">
                    <c:v>Fixed end of budget</c:v>
                  </c:pt>
                </c:lvl>
              </c:multiLvlStrCache>
            </c:multiLvlStrRef>
          </c:cat>
          <c:val>
            <c:numRef>
              <c:f>Sheet1!$C$2:$C$3</c:f>
              <c:numCache>
                <c:formatCode>General</c:formatCode>
                <c:ptCount val="2"/>
                <c:pt idx="0">
                  <c:v>0.1612</c:v>
                </c:pt>
                <c:pt idx="1">
                  <c:v>0.1527</c:v>
                </c:pt>
              </c:numCache>
            </c:numRef>
          </c:val>
        </c:ser>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65"/>
          <c:min val="0.14"/>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 MRR@20, main cohort</a:t>
            </a:r>
          </a:p>
        </c:rich>
      </c:tx>
      <c:layout/>
      <c:overlay val="0"/>
    </c:title>
    <c:autoTitleDeleted val="0"/>
    <c:plotArea>
      <c:layout/>
      <c:barChart>
        <c:barDir val="bar"/>
        <c:grouping val="clustered"/>
        <c:varyColors val="0"/>
        <c:ser>
          <c:idx val="0"/>
          <c:order val="0"/>
          <c:tx>
            <c:strRef>
              <c:f>Sheet1!$B$1</c:f>
              <c:strCache>
                <c:ptCount val="1"/>
                <c:pt idx="0">
                  <c:v>MRR@20</c:v>
                </c:pt>
              </c:strCache>
            </c:strRef>
          </c:tx>
          <c:spPr>
            <a:solidFill>
              <a:srgbClr val="A7B1B6"/>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E0932B"/>
              </a:solidFill>
              <a:effectLst/>
            </c:spPr>
          </c:dPt>
          <c:dPt>
            <c:idx val="2"/>
            <c:invertIfNegative val="0"/>
            <c:bubble3D val="0"/>
            <c:spPr>
              <a:solidFill>
                <a:srgbClr val="A7B1B6"/>
              </a:solidFill>
              <a:effectLst/>
            </c:spPr>
          </c:dPt>
          <c:dPt>
            <c:idx val="3"/>
            <c:invertIfNegative val="0"/>
            <c:bubble3D val="0"/>
            <c:spPr>
              <a:solidFill>
                <a:srgbClr val="5C6B73"/>
              </a:solidFill>
              <a:effectLst/>
            </c:spPr>
          </c:dPt>
          <c:dPt>
            <c:idx val="4"/>
            <c:invertIfNegative val="0"/>
            <c:bubble3D val="0"/>
            <c:spPr>
              <a:solidFill>
                <a:srgbClr val="1F7A80"/>
              </a:solidFill>
              <a:effectLst/>
            </c:spPr>
          </c:dPt>
          <c:cat>
            <c:multiLvlStrRef>
              <c:f>Sheet1!$A$2:$A$6</c:f>
              <c:multiLvlStrCache>
                <c:ptCount val="5"/>
                <c:lvl>
                  <c:pt idx="0">
                    <c:v>Popularity</c:v>
                  </c:pt>
                  <c:pt idx="1">
                    <c:v>Last viewed item</c:v>
                  </c:pt>
                  <c:pt idx="2">
                    <c:v>Session kNN</c:v>
                  </c:pt>
                  <c:pt idx="3">
                    <c:v>GRU</c:v>
                  </c:pt>
                  <c:pt idx="4">
                    <c:v>SASRec (cloud reference)</c:v>
                  </c:pt>
                </c:lvl>
              </c:multiLvlStrCache>
            </c:multiLvlStrRef>
          </c:cat>
          <c:val>
            <c:numRef>
              <c:f>Sheet1!$B$2:$B$6</c:f>
              <c:numCache>
                <c:formatCode>General</c:formatCode>
                <c:ptCount val="5"/>
                <c:pt idx="0">
                  <c:v>0.01943</c:v>
                </c:pt>
                <c:pt idx="1">
                  <c:v>0.07111</c:v>
                </c:pt>
                <c:pt idx="2">
                  <c:v>0.11138</c:v>
                </c:pt>
                <c:pt idx="3">
                  <c:v>0.1569</c:v>
                </c:pt>
                <c:pt idx="4">
                  <c:v>0.1612</c:v>
                </c:pt>
              </c:numCache>
            </c:numRef>
          </c:val>
        </c:ser>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MB per federated visit (download + upload)</a:t>
            </a:r>
          </a:p>
        </c:rich>
      </c:tx>
      <c:layout/>
      <c:overlay val="0"/>
    </c:title>
    <c:autoTitleDeleted val="0"/>
    <c:plotArea>
      <c:layout/>
      <c:barChart>
        <c:barDir val="bar"/>
        <c:grouping val="clustered"/>
        <c:varyColors val="0"/>
        <c:ser>
          <c:idx val="0"/>
          <c:order val="0"/>
          <c:tx>
            <c:strRef>
              <c:f>Sheet1!$B$1</c:f>
              <c:strCache>
                <c:ptCount val="1"/>
                <c:pt idx="0">
                  <c:v>MB per visit</c:v>
                </c:pt>
              </c:strCache>
            </c:strRef>
          </c:tx>
          <c:spPr>
            <a:solidFill>
              <a:srgbClr val="5C6B73"/>
            </a:solidFill>
            <a:effectLst/>
          </c:spPr>
          <c:invertIfNegative val="0"/>
          <c:dLbls>
            <c:numFmt formatCode="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5C6B73"/>
              </a:solidFill>
              <a:effectLst/>
            </c:spPr>
          </c:dPt>
          <c:dPt>
            <c:idx val="1"/>
            <c:invertIfNegative val="0"/>
            <c:bubble3D val="0"/>
            <c:spPr>
              <a:solidFill>
                <a:srgbClr val="1F7A80"/>
              </a:solidFill>
              <a:effectLst/>
            </c:spPr>
          </c:dPt>
          <c:dPt>
            <c:idx val="2"/>
            <c:invertIfNegative val="0"/>
            <c:bubble3D val="0"/>
            <c:spPr>
              <a:solidFill>
                <a:srgbClr val="1F7A80"/>
              </a:solidFill>
              <a:effectLst/>
            </c:spPr>
          </c:dPt>
          <c:dPt>
            <c:idx val="3"/>
            <c:invertIfNegative val="0"/>
            <c:bubble3D val="0"/>
            <c:spPr>
              <a:solidFill>
                <a:srgbClr val="E0932B"/>
              </a:solidFill>
              <a:effectLst/>
            </c:spPr>
          </c:dPt>
          <c:cat>
            <c:multiLvlStrRef>
              <c:f>Sheet1!$A$2:$A$5</c:f>
              <c:multiLvlStrCache>
                <c:ptCount val="4"/>
                <c:lvl>
                  <c:pt idx="0">
                    <c:v>Cloud-size model</c:v>
                  </c:pt>
                  <c:pt idx="1">
                    <c:v>Device model</c:v>
                  </c:pt>
                  <c:pt idx="2">
                    <c:v>Device model, 8-bit uploads</c:v>
                  </c:pt>
                  <c:pt idx="3">
                    <c:v>Frozen item tables</c:v>
                  </c:pt>
                </c:lvl>
              </c:multiLvlStrCache>
            </c:multiLvlStrRef>
          </c:cat>
          <c:val>
            <c:numRef>
              <c:f>Sheet1!$B$2:$B$5</c:f>
              <c:numCache>
                <c:formatCode>General</c:formatCode>
                <c:ptCount val="4"/>
                <c:pt idx="0">
                  <c:v>671.1</c:v>
                </c:pt>
                <c:pt idx="1">
                  <c:v>165.7</c:v>
                </c:pt>
                <c:pt idx="2">
                  <c:v>103.6</c:v>
                </c:pt>
                <c:pt idx="3">
                  <c:v>2.1</c:v>
                </c:pt>
              </c:numCache>
            </c:numRef>
          </c:val>
        </c:ser>
        <c:dLbls>
          <c:numFmt formatCode="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Calibration users, validation MRR@20</a:t>
            </a:r>
          </a:p>
        </c:rich>
      </c:tx>
      <c:layout/>
      <c:overlay val="0"/>
    </c:title>
    <c:autoTitleDeleted val="0"/>
    <c:plotArea>
      <c:layout/>
      <c:barChart>
        <c:barDir val="col"/>
        <c:grouping val="clustered"/>
        <c:varyColors val="0"/>
        <c:ser>
          <c:idx val="0"/>
          <c:order val="0"/>
          <c:tx>
            <c:strRef>
              <c:f>Sheet1!$B$1</c:f>
              <c:strCache>
                <c:ptCount val="1"/>
                <c:pt idx="0">
                  <c:v>Calibration MRR@20</c:v>
                </c:pt>
              </c:strCache>
            </c:strRef>
          </c:tx>
          <c:spPr>
            <a:solidFill>
              <a:srgbClr val="9FB7BA"/>
            </a:solidFill>
            <a:effectLst/>
          </c:spPr>
          <c:invertIfNegative val="0"/>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9FB7BA"/>
              </a:solidFill>
              <a:effectLst/>
            </c:spPr>
          </c:dPt>
          <c:dPt>
            <c:idx val="1"/>
            <c:invertIfNegative val="0"/>
            <c:bubble3D val="0"/>
            <c:spPr>
              <a:solidFill>
                <a:srgbClr val="5E9DA1"/>
              </a:solidFill>
              <a:effectLst/>
            </c:spPr>
          </c:dPt>
          <c:dPt>
            <c:idx val="2"/>
            <c:invertIfNegative val="0"/>
            <c:bubble3D val="0"/>
            <c:spPr>
              <a:solidFill>
                <a:srgbClr val="1F7A80"/>
              </a:solidFill>
              <a:effectLst/>
            </c:spPr>
          </c:dPt>
          <c:cat>
            <c:multiLvlStrRef>
              <c:f>Sheet1!$A$2:$A$4</c:f>
              <c:multiLvlStrCache>
                <c:ptCount val="3"/>
                <c:lvl>
                  <c:pt idx="0">
                    <c:v>Registered start</c:v>
                  </c:pt>
                  <c:pt idx="1">
                    <c:v>Client LR ×2</c:v>
                  </c:pt>
                  <c:pt idx="2">
                    <c:v>Client LR ×8</c:v>
                  </c:pt>
                </c:lvl>
              </c:multiLvlStrCache>
            </c:multiLvlStrRef>
          </c:cat>
          <c:val>
            <c:numRef>
              <c:f>Sheet1!$B$2:$B$4</c:f>
              <c:numCache>
                <c:formatCode>General</c:formatCode>
                <c:ptCount val="3"/>
                <c:pt idx="0">
                  <c:v>0.023473</c:v>
                </c:pt>
                <c:pt idx="1">
                  <c:v>0.025562</c:v>
                </c:pt>
                <c:pt idx="2">
                  <c:v>0.028796</c:v>
                </c:pt>
              </c:numCache>
            </c:numRef>
          </c:val>
        </c:ser>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2"/>
          <c:min val="0"/>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 — العنوان (النسخة المختصرة).
قول: النسخة دي مركزة على المقارنات: بنقارن إيه بإيه، وإيه اللي اتقاس فعلاً، وإيه اللي لسه مقفول ومعاده المتوقع.
مهم: نتائج الطرق الرئيسية (الفيدرالي، الجهاز، السحابة الكاملة) مقفولة لحد القراءة المسجلة مسبقاً، فهتلاقيها مكتوبة "sealed" مع تاريخ متوقع (تقدير).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 — الثلاث طرق جنب بعض.
السحابة: الأحداث الخام بتروح للسيرفر، موديل كبير 83.9 مليون باراميتر، مفيش خصوصية.
الفيدرالي: تحديثات الموديل بس، موديل بحجم الجهاز 20.7 مليون، و DP اختياري. الخطر: الجودة والباندويدث.
على الجهاز: مفيش حاجة بتطلع بعد التحميل، نفس الحجم. الخطر: داتا المستخدم الواحد قليلة.
الرقم اللي بنقارن بيه: retention = الطريقة ÷ السحابة، على نفس المستخدمين ونفس أسبوع الـ test، بفترة 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3 — الأربع مقارنات اللي بتجاوب على السؤال.
المرجع: موديل السحابة بنسختين: المطابقة (نفس 131 ألف مستخدم) والكاملة (1.35 مليون، ده اللي Edge هيشغله فعلاً).
الأرضية: قاعدة "آخر منتج اتشاف" — من غير تدريب ومن غير رفع أي حاجة.
1) الفيدرالي مقابل السحابة: قد إيه بنخسر لما الأحداث تفضل على الجهاز.
2) الفيدرالي + DP مقابل الفيدرالي: تمن الضمان الرسمي للخصوصية عند ε=8 و ε=1.
3) على الجهاز مقابل السحابة: قد إيه بيفضل من غير أي رفع.
4) الفرع المُدرب مسبقاً مقابل السحابة الكاملة: السيناريو الواقعي لـ Edge.
وكل طريقة كمان بتتقارن بالأرضية.
سؤال محتمل: "دي مسجلة مسبقاً؟" — أيوه، قايمة المقارنات اتسجلت قبل أي قراءة.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4 — لوحة المقارنة (أهم شريحة).
كل صف: الطريقة، بتتقارن بإيه، وحالتها.
- موديل السحابة الكبير: هو المرجع، قيمته 0.1612 من المسابقة (خلص).
- السحابة الكاملة (1.35 مليون مستخدم): التدريب شغال ومتوقع يخلص حوالي 30 سبتمبر (تقدير).
- موديل السحابة الصغير: خلص تدريبه بس نتيجته مقفولة.
- الفيدرالي بأنواعه: لسه في مرحلة الضبط التانية من أربعة.
- DP عند ε=8 و ε=1: بعد الضبط.
- الفرع المُدرب مسبقاً: التدريب المسبق شغال.
- على الجهاز: تشغيلات الجهاز بدأت 29 سبتمبر.
- الـ baselines: خلصت — آخر منتج 0.0711، session kNN 0.1114، popularity 0.0194.
كل النتائج المقفولة هتتقرا مع بعض: validation حوالي 2–3 أكتوبر، والـ test مرة واحدة حوالي 4–5 أكتوبر (تقديرات).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1 — أنهي مقارنة تبقى الإجابة الرئيسية؟
1) من الأربعة، أنهي واحدة الـ headline لـ Edge؟ الفيدرالي العادي مقابل السحابة، ولا الفرع الواقعي مقابل السحابة الكاملة؟ المراجعة المستقلة بتقترح التاني.
2) نقارن بأنهي سحابة: المطابقة ولا الكاملة؟ هنعرض الاتنين، بس مين الأول؟
3) هل "آخر منتج اتشاف" يبقى الأرضية اللي كل طريقة لازم تغلبها؟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6 — المقارنة 1: عائلة الموديل.
بالقاعدة المسجلة (أحسن checkpoint داخل الميزانية): SASRec 0.1612 مقابل GRU 0.1569، يعني SASRec +0.0043 وفترة الثقة من +0.0033 لـ +0.0052، فاتختار.
عند نهاية الميزانية الثابتة: GRU 0.1569 مقابل SASRec 0.1527، يعني GRU +0.0042 وفترة الثقة من +0.0033 لـ +0.0052. ده مفصح عنه.
السبب: SASRec بيوصل لأحسن نقطة في النص وبعدين بينزل، و GRU لسه بيتحسن.
كمان مش نفس الحجم (83.9M مقابل 21.0M)، وفي مقارنة وصفية بنفس الحجم متسجلة.
الرسالة هتقول "اتختار بالقاعدة المسجلة" مش "SASRec أحسن".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7 — المقارنة 2: الموديلات مقابل القواعد البسيطة.
popularity 0.0194، آخر منتج اتشاف 0.0711، session kNN 0.1114، GRU 0.1569، SASRec 0.1612.
آخر منتج اتشاف بيوصل لحوالي 44% من السحابة ببلاش (0.0711 ÷ 0.1612). session kNN حوالي 69%.
الرسالة: أي طريقة خاصة لازم تغلب 0.0711 علشان يبقى ليها لازمة.
الأرقام دي مسموحة: baselines ومسابقة.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8 — المقارنة 3: التكلفة على الجهاز.
الموديل بحجم السحابة: 671 ميجا في الزيارة — مستحيل. موديل الجهاز: 165.7 ميجا (تحت سقف 170). الرفع بـ 8 بت: حوالي 103.6. الجداول المجمدة: حوالي 1 ميجا في كل اتجاه (2.1 رايح جاي) + تحميل مرة واحدة 81.78 ميجا (هيتقاس تاني).
جودة كل خيار لسه مقفولة. المقارنة هنا بين التكاليف بس.
سؤال محتمل: "165 ميجا كتير؟" — أيوه للموبايل، مقبول للابتوب؛ علشان كده عندنا 8 بت والجداول المجمدة.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9 — المقارنة 4: الفيدرالي مقابل السحابة (إنذار مبكر).
الفيدرالي في أحسن مرحلة لحد دلوقتي 0.0288 على calibration users، والموديل المركزي المطابق حوالي 0.11–0.12 (تقدير) → حوالي 25%.
في المقابل آخر منتج اتشاف حوالي 44% من السحابة.
قول بوضوح: مجموعات مستخدمين وميزانيات مختلفة، فده إنذار مش نتيجة.
السبب الوصفة: مفيش server optimizer، الـ optimizer بيبدأ من الصفر كل زيارة، والـ learning rate صغير. الحل: سلم ضبط مسجل على calibration users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10 — المقارنة 5: الفيدرالي قبل وبعد الضبط.
البداية المسجلة 0.023473 ← learning rate ×2 = 0.025562 (+8.9%) ← ×8 = 0.028796 (+12.7%). الإجمالي +22.7%.
المراحل الجاية: server optimizer (شغال دلوقتي)، شكل الـ LR مع optimizer العميل، الـ passes والـ batch، البدء من موديل مُدرب مسبقاً (التدريب المسبق شغال)، وتجميد جداول المنتجات.
القاعدة: المرحلة بتتحفظ بس لو كسبت ≥ 0.002.
تقديرات البحث (مش نتائج، لو اتسألت بس): مرحلة الـ server optimizer ممكن توصل حوالي 0.045–0.065.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11 — المقارنة 6: تمن الخصوصية.
نفس وصفة الفيدرالي بثلاث مستويات: من غير DP (التحديثات ممكن تكشف المنتجات اللي المستخدم شافها)، ε=8 (noise multiplier 0.5642)، ε=1 (1.3094).
الجودة لكل مستوى لسه مقفولة.
الضمان: تاريخ مستخدم كامل مش بيغير الموديل تقريباً، δ = 5×10⁻⁶. الخصم: شركة المتصفح أمينة وفضولية. secure aggregation مش متحاكي ومكتوب كحدود.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2 — كل مقارنة تروح لحد فين؟
1) ε=8 و ε=1 كفاية ولا محتاج منحنى؟ ε=4 تشغيل زيادة حوالي نص يوم (تقدير).
2) قد إيه ضبط للفيدرالي عادل؟ السلم بيقف لو المرحلة كسبت أقل من 0.002. نقف بدري ونركز على الفرع المُدرب مسبقاً؟
3) لو الفيدرالي بعد الضبط لسه تحت "آخر منتج اتشاف"، نعرضه إزاي؟ خطتنا: نقوله بوضوح كنتيجة عن الوصفة والميزانية 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13 — البروبوزال مقابل دلوقتي (اتفقنا عليه قبل كده).
الداتا REES46 بدل الداتاسيتس القديمة لأنها تسوق حقيقي بكل مستخدم وتوقيته. المهمة: المنتج الجاي على الكتالوج كله. المقياس MRR@20 لكل مستخدم. FedBN اتشال لأن الموديل بيستخدم LayerNorm. الخصوصية بقت قابلة للقياس بـ DP.
اللي فضل زي ما هو: السحابة كسقف، الفيدرالي، الجهاز، الـ cold start، الشخصيات، تكلفة الاتصال، واختبار المتصفح.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14 — إمتى المقارنات هتتقرا (كلها تقديرات).
حوالي 30 سبتمبر: الضبط والتدريب المسبق والسحابة الكاملة يخلصوا.
30 سبتمبر لـ 2 أكتوبر: التشغيلات الفيدرالية و DP الرئيسية (كل تشغيل حوالي 10.7 ساعة، معدل مقاس).
حوالي 2–3 أكتوبر: قراءة validation واحدة لكل الطرق مع بعض، وبعدها القفل.
حوالي 4–5 أكتوبر: نظرة الـ test الواحدة، والجداول النهائية حوالي 6–7 أكتوبر.
الخطة كانت 1–2 أكتوبر واتأخرت حوالي يوم بسبب إن تشغيلات الضبط أبطأ لما بتشارك الـ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3 — الأولويات والخطوات الجاية.
1) لو الوقت ضيق، نحمي أنهي مقارنة الأول؟ حاجات مش هنقطعها: الفيدرالي ببذرتين، المحلي ببذرتين، fine-tune السحابة ببذرتين، INT8، القفل، ونظرة الـ test. أول حاجات تتقطع: بذور اللوحات الزيادة، البذرة التانية للـ 8 بت، ε=1.
2) CPU السيرفر + تشغيل في المتصفح على لابتوب كفاية كدليل للجهاز؟
3) يوافق مسبقاً على بيان استخدام الذكاء الاصطناعي المطلوب من Queen's؟
اختم: خلص المسابقة والـ baselines ومرحلتين من الضبط؛ شغال السحابة الكاملة والتدريب المسبق والضبط والجهاز؛ النتائج المقفولة كلها هتتقرا مع بعض حوالي 2–3 أكتوبر.
سجل التحديثات: v1-simple — 2026-09-29، نفس حالة النسخة الكاملة (DECISION_LOG لحد الصف 228، السلم لحد S1b).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1280160"/>
            <a:ext cx="100584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PRIVACY-PRESERVING SHOPPING INTELLIGENCE</a:t>
            </a:r>
            <a:endParaRPr lang="en-US" sz="1400" dirty="0"/>
          </a:p>
        </p:txBody>
      </p:sp>
      <p:sp>
        <p:nvSpPr>
          <p:cNvPr id="3" name="Text 1"/>
          <p:cNvSpPr txBox="1"/>
          <p:nvPr/>
        </p:nvSpPr>
        <p:spPr>
          <a:xfrm>
            <a:off x="548640" y="173736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Cloud vs federated vs on-device: what we compare, and what we know so far</a:t>
            </a:r>
            <a:endParaRPr lang="en-US" sz="4000" dirty="0"/>
          </a:p>
        </p:txBody>
      </p:sp>
      <p:sp>
        <p:nvSpPr>
          <p:cNvPr id="4" name="Text 2"/>
          <p:cNvSpPr txBox="1"/>
          <p:nvPr/>
        </p:nvSpPr>
        <p:spPr>
          <a:xfrm>
            <a:off x="548640" y="3657600"/>
            <a:ext cx="10058400" cy="457200"/>
          </a:xfrm>
          <a:prstGeom prst="rect">
            <a:avLst/>
          </a:prstGeom>
          <a:noFill/>
          <a:ln/>
        </p:spPr>
        <p:txBody>
          <a:bodyPr wrap="square" lIns="0" tIns="0" rIns="0" bIns="0" rtlCol="0" anchor="ctr"/>
          <a:lstStyle/>
          <a:p>
            <a:pPr indent="0" marL="0">
              <a:buNone/>
            </a:pPr>
            <a:r>
              <a:rPr lang="en-US" sz="1800" dirty="0">
                <a:solidFill>
                  <a:srgbClr val="A9C0C4"/>
                </a:solidFill>
                <a:latin typeface="Calibri" pitchFamily="34" charset="0"/>
                <a:ea typeface="Calibri" pitchFamily="34" charset="-122"/>
                <a:cs typeface="Calibri" pitchFamily="34" charset="-120"/>
              </a:rPr>
              <a:t>Short version — supervisor meeting, 30 September 2026</a:t>
            </a:r>
            <a:endParaRPr lang="en-US" sz="1800" dirty="0"/>
          </a:p>
        </p:txBody>
      </p:sp>
      <p:sp>
        <p:nvSpPr>
          <p:cNvPr id="5" name="Shape 3"/>
          <p:cNvSpPr/>
          <p:nvPr/>
        </p:nvSpPr>
        <p:spPr>
          <a:xfrm>
            <a:off x="548640" y="4480560"/>
            <a:ext cx="256032" cy="256032"/>
          </a:xfrm>
          <a:prstGeom prst="ellipse">
            <a:avLst/>
          </a:prstGeom>
          <a:solidFill>
            <a:srgbClr val="5C6B73"/>
          </a:solidFill>
          <a:ln/>
        </p:spPr>
      </p:sp>
      <p:sp>
        <p:nvSpPr>
          <p:cNvPr id="6" name="Text 4"/>
          <p:cNvSpPr txBox="1"/>
          <p:nvPr/>
        </p:nvSpPr>
        <p:spPr>
          <a:xfrm>
            <a:off x="914400" y="445312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Cloud</a:t>
            </a:r>
            <a:endParaRPr lang="en-US" sz="1400" dirty="0"/>
          </a:p>
        </p:txBody>
      </p:sp>
      <p:sp>
        <p:nvSpPr>
          <p:cNvPr id="7" name="Shape 5"/>
          <p:cNvSpPr/>
          <p:nvPr/>
        </p:nvSpPr>
        <p:spPr>
          <a:xfrm>
            <a:off x="2560320" y="4480560"/>
            <a:ext cx="256032" cy="256032"/>
          </a:xfrm>
          <a:prstGeom prst="ellipse">
            <a:avLst/>
          </a:prstGeom>
          <a:solidFill>
            <a:srgbClr val="1F7A80"/>
          </a:solidFill>
          <a:ln/>
        </p:spPr>
      </p:sp>
      <p:sp>
        <p:nvSpPr>
          <p:cNvPr id="8" name="Text 6"/>
          <p:cNvSpPr txBox="1"/>
          <p:nvPr/>
        </p:nvSpPr>
        <p:spPr>
          <a:xfrm>
            <a:off x="2926080" y="445312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Federated</a:t>
            </a:r>
            <a:endParaRPr lang="en-US" sz="1400" dirty="0"/>
          </a:p>
        </p:txBody>
      </p:sp>
      <p:sp>
        <p:nvSpPr>
          <p:cNvPr id="9" name="Shape 7"/>
          <p:cNvSpPr/>
          <p:nvPr/>
        </p:nvSpPr>
        <p:spPr>
          <a:xfrm>
            <a:off x="4572000" y="4480560"/>
            <a:ext cx="256032" cy="256032"/>
          </a:xfrm>
          <a:prstGeom prst="ellipse">
            <a:avLst/>
          </a:prstGeom>
          <a:solidFill>
            <a:srgbClr val="E0932B"/>
          </a:solidFill>
          <a:ln/>
        </p:spPr>
      </p:sp>
      <p:sp>
        <p:nvSpPr>
          <p:cNvPr id="10" name="Text 8"/>
          <p:cNvSpPr txBox="1"/>
          <p:nvPr/>
        </p:nvSpPr>
        <p:spPr>
          <a:xfrm>
            <a:off x="4937760" y="445312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On-device</a:t>
            </a:r>
            <a:endParaRPr lang="en-US" sz="1400" dirty="0"/>
          </a:p>
        </p:txBody>
      </p:sp>
      <p:sp>
        <p:nvSpPr>
          <p:cNvPr id="11" name="Text 9"/>
          <p:cNvSpPr txBox="1"/>
          <p:nvPr/>
        </p:nvSpPr>
        <p:spPr>
          <a:xfrm>
            <a:off x="548640" y="5943600"/>
            <a:ext cx="10058400" cy="320040"/>
          </a:xfrm>
          <a:prstGeom prst="rect">
            <a:avLst/>
          </a:prstGeom>
          <a:noFill/>
          <a:ln/>
        </p:spPr>
        <p:txBody>
          <a:bodyPr wrap="square" lIns="0" tIns="0" rIns="0" bIns="0" rtlCol="0" anchor="ctr"/>
          <a:lstStyle/>
          <a:p>
            <a:pPr indent="0" marL="0">
              <a:buNone/>
            </a:pPr>
            <a:r>
              <a:rPr lang="en-US" sz="1300" dirty="0">
                <a:solidFill>
                  <a:srgbClr val="A9C0C4"/>
                </a:solidFill>
                <a:latin typeface="Calibri" pitchFamily="34" charset="0"/>
                <a:ea typeface="Calibri" pitchFamily="34" charset="-122"/>
                <a:cs typeface="Calibri" pitchFamily="34" charset="-120"/>
              </a:rPr>
              <a:t>Ahmed Abdelhamed · MSc, Queen's University · facts as recorded 29 Sep 2026, 18:36 UTC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QUESTION</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Three deployments, compared on the same users</a:t>
            </a:r>
            <a:endParaRPr lang="en-US" sz="3000" dirty="0"/>
          </a:p>
        </p:txBody>
      </p:sp>
      <p:sp>
        <p:nvSpPr>
          <p:cNvPr id="4" name="Shape 2"/>
          <p:cNvSpPr/>
          <p:nvPr/>
        </p:nvSpPr>
        <p:spPr>
          <a:xfrm>
            <a:off x="3108960" y="1463040"/>
            <a:ext cx="2722778" cy="4160520"/>
          </a:xfrm>
          <a:prstGeom prst="roundRect">
            <a:avLst>
              <a:gd name="adj" fmla="val 2687"/>
            </a:avLst>
          </a:prstGeom>
          <a:solidFill>
            <a:srgbClr val="E6EAEC"/>
          </a:solidFill>
          <a:ln/>
        </p:spPr>
      </p:sp>
      <p:sp>
        <p:nvSpPr>
          <p:cNvPr id="5" name="Text 3"/>
          <p:cNvSpPr txBox="1"/>
          <p:nvPr/>
        </p:nvSpPr>
        <p:spPr>
          <a:xfrm>
            <a:off x="3108960" y="1600200"/>
            <a:ext cx="2722778" cy="320040"/>
          </a:xfrm>
          <a:prstGeom prst="rect">
            <a:avLst/>
          </a:prstGeom>
          <a:noFill/>
          <a:ln/>
        </p:spPr>
        <p:txBody>
          <a:bodyPr wrap="square" lIns="0" tIns="0" rIns="0" bIns="0" rtlCol="0" anchor="t"/>
          <a:lstStyle/>
          <a:p>
            <a:pPr algn="ctr" indent="0" marL="0">
              <a:buNone/>
            </a:pPr>
            <a:r>
              <a:rPr lang="en-US" sz="1400" b="1" spc="200" kern="0" dirty="0">
                <a:solidFill>
                  <a:srgbClr val="5C6B73"/>
                </a:solidFill>
                <a:latin typeface="Calibri" pitchFamily="34" charset="0"/>
                <a:ea typeface="Calibri" pitchFamily="34" charset="-122"/>
                <a:cs typeface="Calibri" pitchFamily="34" charset="-120"/>
              </a:rPr>
              <a:t>CLOUD</a:t>
            </a:r>
            <a:endParaRPr lang="en-US" sz="1400" dirty="0"/>
          </a:p>
        </p:txBody>
      </p:sp>
      <p:sp>
        <p:nvSpPr>
          <p:cNvPr id="6" name="Text 4"/>
          <p:cNvSpPr txBox="1"/>
          <p:nvPr/>
        </p:nvSpPr>
        <p:spPr>
          <a:xfrm>
            <a:off x="3337560" y="214884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Raw browsing events</a:t>
            </a:r>
            <a:endParaRPr lang="en-US" sz="1600" dirty="0"/>
          </a:p>
        </p:txBody>
      </p:sp>
      <p:sp>
        <p:nvSpPr>
          <p:cNvPr id="7" name="Text 5"/>
          <p:cNvSpPr txBox="1"/>
          <p:nvPr/>
        </p:nvSpPr>
        <p:spPr>
          <a:xfrm>
            <a:off x="3337560" y="301752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Large (83.9M parameters)</a:t>
            </a:r>
            <a:endParaRPr lang="en-US" sz="1600" dirty="0"/>
          </a:p>
        </p:txBody>
      </p:sp>
      <p:sp>
        <p:nvSpPr>
          <p:cNvPr id="8" name="Text 6"/>
          <p:cNvSpPr txBox="1"/>
          <p:nvPr/>
        </p:nvSpPr>
        <p:spPr>
          <a:xfrm>
            <a:off x="3337560" y="388620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None — server sees everything</a:t>
            </a:r>
            <a:endParaRPr lang="en-US" sz="1600" dirty="0"/>
          </a:p>
        </p:txBody>
      </p:sp>
      <p:sp>
        <p:nvSpPr>
          <p:cNvPr id="9" name="Text 7"/>
          <p:cNvSpPr txBox="1"/>
          <p:nvPr/>
        </p:nvSpPr>
        <p:spPr>
          <a:xfrm>
            <a:off x="3337560" y="475488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Privacy</a:t>
            </a:r>
            <a:endParaRPr lang="en-US" sz="1600" dirty="0"/>
          </a:p>
        </p:txBody>
      </p:sp>
      <p:sp>
        <p:nvSpPr>
          <p:cNvPr id="10" name="Shape 8"/>
          <p:cNvSpPr/>
          <p:nvPr/>
        </p:nvSpPr>
        <p:spPr>
          <a:xfrm>
            <a:off x="6014618" y="1463040"/>
            <a:ext cx="2722778" cy="4160520"/>
          </a:xfrm>
          <a:prstGeom prst="roundRect">
            <a:avLst>
              <a:gd name="adj" fmla="val 2687"/>
            </a:avLst>
          </a:prstGeom>
          <a:solidFill>
            <a:srgbClr val="D8ECEC"/>
          </a:solidFill>
          <a:ln/>
        </p:spPr>
      </p:sp>
      <p:sp>
        <p:nvSpPr>
          <p:cNvPr id="11" name="Text 9"/>
          <p:cNvSpPr txBox="1"/>
          <p:nvPr/>
        </p:nvSpPr>
        <p:spPr>
          <a:xfrm>
            <a:off x="6014618" y="1600200"/>
            <a:ext cx="2722778" cy="320040"/>
          </a:xfrm>
          <a:prstGeom prst="rect">
            <a:avLst/>
          </a:prstGeom>
          <a:noFill/>
          <a:ln/>
        </p:spPr>
        <p:txBody>
          <a:bodyPr wrap="square" lIns="0" tIns="0" rIns="0" bIns="0" rtlCol="0" anchor="t"/>
          <a:lstStyle/>
          <a:p>
            <a:pPr algn="ctr" indent="0" marL="0">
              <a:buNone/>
            </a:pPr>
            <a:r>
              <a:rPr lang="en-US" sz="1400" b="1" spc="200" kern="0" dirty="0">
                <a:solidFill>
                  <a:srgbClr val="1F7A80"/>
                </a:solidFill>
                <a:latin typeface="Calibri" pitchFamily="34" charset="0"/>
                <a:ea typeface="Calibri" pitchFamily="34" charset="-122"/>
                <a:cs typeface="Calibri" pitchFamily="34" charset="-120"/>
              </a:rPr>
              <a:t>FEDERATED</a:t>
            </a:r>
            <a:endParaRPr lang="en-US" sz="1400" dirty="0"/>
          </a:p>
        </p:txBody>
      </p:sp>
      <p:sp>
        <p:nvSpPr>
          <p:cNvPr id="12" name="Text 10"/>
          <p:cNvSpPr txBox="1"/>
          <p:nvPr/>
        </p:nvSpPr>
        <p:spPr>
          <a:xfrm>
            <a:off x="6243218" y="214884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Model updates only</a:t>
            </a:r>
            <a:endParaRPr lang="en-US" sz="1600" dirty="0"/>
          </a:p>
        </p:txBody>
      </p:sp>
      <p:sp>
        <p:nvSpPr>
          <p:cNvPr id="13" name="Text 11"/>
          <p:cNvSpPr txBox="1"/>
          <p:nvPr/>
        </p:nvSpPr>
        <p:spPr>
          <a:xfrm>
            <a:off x="6243218" y="301752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Device-size (20.7M)</a:t>
            </a:r>
            <a:endParaRPr lang="en-US" sz="1600" dirty="0"/>
          </a:p>
        </p:txBody>
      </p:sp>
      <p:sp>
        <p:nvSpPr>
          <p:cNvPr id="14" name="Text 12"/>
          <p:cNvSpPr txBox="1"/>
          <p:nvPr/>
        </p:nvSpPr>
        <p:spPr>
          <a:xfrm>
            <a:off x="6243218" y="388620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Optional differential privacy</a:t>
            </a:r>
            <a:endParaRPr lang="en-US" sz="1600" dirty="0"/>
          </a:p>
        </p:txBody>
      </p:sp>
      <p:sp>
        <p:nvSpPr>
          <p:cNvPr id="15" name="Text 13"/>
          <p:cNvSpPr txBox="1"/>
          <p:nvPr/>
        </p:nvSpPr>
        <p:spPr>
          <a:xfrm>
            <a:off x="6243218" y="475488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Quality and bandwidth</a:t>
            </a:r>
            <a:endParaRPr lang="en-US" sz="1600" dirty="0"/>
          </a:p>
        </p:txBody>
      </p:sp>
      <p:sp>
        <p:nvSpPr>
          <p:cNvPr id="16" name="Shape 14"/>
          <p:cNvSpPr/>
          <p:nvPr/>
        </p:nvSpPr>
        <p:spPr>
          <a:xfrm>
            <a:off x="8920277" y="1463040"/>
            <a:ext cx="2722778" cy="4160520"/>
          </a:xfrm>
          <a:prstGeom prst="roundRect">
            <a:avLst>
              <a:gd name="adj" fmla="val 2687"/>
            </a:avLst>
          </a:prstGeom>
          <a:solidFill>
            <a:srgbClr val="FBEBD3"/>
          </a:solidFill>
          <a:ln/>
        </p:spPr>
      </p:sp>
      <p:sp>
        <p:nvSpPr>
          <p:cNvPr id="17" name="Text 15"/>
          <p:cNvSpPr txBox="1"/>
          <p:nvPr/>
        </p:nvSpPr>
        <p:spPr>
          <a:xfrm>
            <a:off x="8920277" y="1600200"/>
            <a:ext cx="2722778" cy="320040"/>
          </a:xfrm>
          <a:prstGeom prst="rect">
            <a:avLst/>
          </a:prstGeom>
          <a:noFill/>
          <a:ln/>
        </p:spPr>
        <p:txBody>
          <a:bodyPr wrap="square" lIns="0" tIns="0" rIns="0" bIns="0" rtlCol="0" anchor="t"/>
          <a:lstStyle/>
          <a:p>
            <a:pPr algn="ctr" indent="0" marL="0">
              <a:buNone/>
            </a:pPr>
            <a:r>
              <a:rPr lang="en-US" sz="1400" b="1" spc="200" kern="0" dirty="0">
                <a:solidFill>
                  <a:srgbClr val="9A5A0C"/>
                </a:solidFill>
                <a:latin typeface="Calibri" pitchFamily="34" charset="0"/>
                <a:ea typeface="Calibri" pitchFamily="34" charset="-122"/>
                <a:cs typeface="Calibri" pitchFamily="34" charset="-120"/>
              </a:rPr>
              <a:t>ON-DEVICE</a:t>
            </a:r>
            <a:endParaRPr lang="en-US" sz="1400" dirty="0"/>
          </a:p>
        </p:txBody>
      </p:sp>
      <p:sp>
        <p:nvSpPr>
          <p:cNvPr id="18" name="Text 16"/>
          <p:cNvSpPr txBox="1"/>
          <p:nvPr/>
        </p:nvSpPr>
        <p:spPr>
          <a:xfrm>
            <a:off x="9148877" y="214884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Nothing (after one download)</a:t>
            </a:r>
            <a:endParaRPr lang="en-US" sz="1600" dirty="0"/>
          </a:p>
        </p:txBody>
      </p:sp>
      <p:sp>
        <p:nvSpPr>
          <p:cNvPr id="19" name="Text 17"/>
          <p:cNvSpPr txBox="1"/>
          <p:nvPr/>
        </p:nvSpPr>
        <p:spPr>
          <a:xfrm>
            <a:off x="9148877" y="301752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Device-size (20.7M)</a:t>
            </a:r>
            <a:endParaRPr lang="en-US" sz="1600" dirty="0"/>
          </a:p>
        </p:txBody>
      </p:sp>
      <p:sp>
        <p:nvSpPr>
          <p:cNvPr id="20" name="Text 18"/>
          <p:cNvSpPr txBox="1"/>
          <p:nvPr/>
        </p:nvSpPr>
        <p:spPr>
          <a:xfrm>
            <a:off x="9148877" y="388620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Data never leaves</a:t>
            </a:r>
            <a:endParaRPr lang="en-US" sz="1600" dirty="0"/>
          </a:p>
        </p:txBody>
      </p:sp>
      <p:sp>
        <p:nvSpPr>
          <p:cNvPr id="21" name="Text 19"/>
          <p:cNvSpPr txBox="1"/>
          <p:nvPr/>
        </p:nvSpPr>
        <p:spPr>
          <a:xfrm>
            <a:off x="9148877" y="4754880"/>
            <a:ext cx="2265578" cy="731520"/>
          </a:xfrm>
          <a:prstGeom prst="rect">
            <a:avLst/>
          </a:prstGeom>
          <a:noFill/>
          <a:ln/>
        </p:spPr>
        <p:txBody>
          <a:bodyPr wrap="square" lIns="0" tIns="0" rIns="0" bIns="0" rtlCol="0" anchor="ctr"/>
          <a:lstStyle/>
          <a:p>
            <a:pPr algn="ctr" indent="0" marL="0">
              <a:buNone/>
            </a:pPr>
            <a:r>
              <a:rPr lang="en-US" sz="1600" dirty="0">
                <a:solidFill>
                  <a:srgbClr val="13262F"/>
                </a:solidFill>
                <a:latin typeface="Calibri" pitchFamily="34" charset="0"/>
                <a:ea typeface="Calibri" pitchFamily="34" charset="-122"/>
                <a:cs typeface="Calibri" pitchFamily="34" charset="-120"/>
              </a:rPr>
              <a:t>Too little data per user</a:t>
            </a:r>
            <a:endParaRPr lang="en-US" sz="1600" dirty="0"/>
          </a:p>
        </p:txBody>
      </p:sp>
      <p:sp>
        <p:nvSpPr>
          <p:cNvPr id="22" name="Text 20"/>
          <p:cNvSpPr txBox="1"/>
          <p:nvPr/>
        </p:nvSpPr>
        <p:spPr>
          <a:xfrm>
            <a:off x="548640" y="2148840"/>
            <a:ext cx="2377440" cy="731520"/>
          </a:xfrm>
          <a:prstGeom prst="rect">
            <a:avLst/>
          </a:prstGeom>
          <a:noFill/>
          <a:ln/>
        </p:spPr>
        <p:txBody>
          <a:bodyPr wrap="square" lIns="0" tIns="0" rIns="0" bIns="0" rtlCol="0" anchor="ctr"/>
          <a:lstStyle/>
          <a:p>
            <a:pPr indent="0" marL="0">
              <a:buNone/>
            </a:pPr>
            <a:r>
              <a:rPr lang="en-US" sz="1500" b="1" dirty="0">
                <a:solidFill>
                  <a:srgbClr val="5E6E75"/>
                </a:solidFill>
                <a:latin typeface="Calibri" pitchFamily="34" charset="0"/>
                <a:ea typeface="Calibri" pitchFamily="34" charset="-122"/>
                <a:cs typeface="Calibri" pitchFamily="34" charset="-120"/>
              </a:rPr>
              <a:t>What leaves the device</a:t>
            </a:r>
            <a:endParaRPr lang="en-US" sz="1500" dirty="0"/>
          </a:p>
        </p:txBody>
      </p:sp>
      <p:sp>
        <p:nvSpPr>
          <p:cNvPr id="23" name="Text 21"/>
          <p:cNvSpPr txBox="1"/>
          <p:nvPr/>
        </p:nvSpPr>
        <p:spPr>
          <a:xfrm>
            <a:off x="548640" y="3017520"/>
            <a:ext cx="2377440" cy="731520"/>
          </a:xfrm>
          <a:prstGeom prst="rect">
            <a:avLst/>
          </a:prstGeom>
          <a:noFill/>
          <a:ln/>
        </p:spPr>
        <p:txBody>
          <a:bodyPr wrap="square" lIns="0" tIns="0" rIns="0" bIns="0" rtlCol="0" anchor="ctr"/>
          <a:lstStyle/>
          <a:p>
            <a:pPr indent="0" marL="0">
              <a:buNone/>
            </a:pPr>
            <a:r>
              <a:rPr lang="en-US" sz="1500" b="1" dirty="0">
                <a:solidFill>
                  <a:srgbClr val="5E6E75"/>
                </a:solidFill>
                <a:latin typeface="Calibri" pitchFamily="34" charset="0"/>
                <a:ea typeface="Calibri" pitchFamily="34" charset="-122"/>
                <a:cs typeface="Calibri" pitchFamily="34" charset="-120"/>
              </a:rPr>
              <a:t>Model</a:t>
            </a:r>
            <a:endParaRPr lang="en-US" sz="1500" dirty="0"/>
          </a:p>
        </p:txBody>
      </p:sp>
      <p:sp>
        <p:nvSpPr>
          <p:cNvPr id="24" name="Text 22"/>
          <p:cNvSpPr txBox="1"/>
          <p:nvPr/>
        </p:nvSpPr>
        <p:spPr>
          <a:xfrm>
            <a:off x="548640" y="3886200"/>
            <a:ext cx="2377440" cy="731520"/>
          </a:xfrm>
          <a:prstGeom prst="rect">
            <a:avLst/>
          </a:prstGeom>
          <a:noFill/>
          <a:ln/>
        </p:spPr>
        <p:txBody>
          <a:bodyPr wrap="square" lIns="0" tIns="0" rIns="0" bIns="0" rtlCol="0" anchor="ctr"/>
          <a:lstStyle/>
          <a:p>
            <a:pPr indent="0" marL="0">
              <a:buNone/>
            </a:pPr>
            <a:r>
              <a:rPr lang="en-US" sz="1500" b="1" dirty="0">
                <a:solidFill>
                  <a:srgbClr val="5E6E75"/>
                </a:solidFill>
                <a:latin typeface="Calibri" pitchFamily="34" charset="0"/>
                <a:ea typeface="Calibri" pitchFamily="34" charset="-122"/>
                <a:cs typeface="Calibri" pitchFamily="34" charset="-120"/>
              </a:rPr>
              <a:t>Privacy</a:t>
            </a:r>
            <a:endParaRPr lang="en-US" sz="1500" dirty="0"/>
          </a:p>
        </p:txBody>
      </p:sp>
      <p:sp>
        <p:nvSpPr>
          <p:cNvPr id="25" name="Text 23"/>
          <p:cNvSpPr txBox="1"/>
          <p:nvPr/>
        </p:nvSpPr>
        <p:spPr>
          <a:xfrm>
            <a:off x="548640" y="4754880"/>
            <a:ext cx="2377440" cy="731520"/>
          </a:xfrm>
          <a:prstGeom prst="rect">
            <a:avLst/>
          </a:prstGeom>
          <a:noFill/>
          <a:ln/>
        </p:spPr>
        <p:txBody>
          <a:bodyPr wrap="square" lIns="0" tIns="0" rIns="0" bIns="0" rtlCol="0" anchor="ctr"/>
          <a:lstStyle/>
          <a:p>
            <a:pPr indent="0" marL="0">
              <a:buNone/>
            </a:pPr>
            <a:r>
              <a:rPr lang="en-US" sz="1500" b="1" dirty="0">
                <a:solidFill>
                  <a:srgbClr val="5E6E75"/>
                </a:solidFill>
                <a:latin typeface="Calibri" pitchFamily="34" charset="0"/>
                <a:ea typeface="Calibri" pitchFamily="34" charset="-122"/>
                <a:cs typeface="Calibri" pitchFamily="34" charset="-120"/>
              </a:rPr>
              <a:t>Main risk</a:t>
            </a:r>
            <a:endParaRPr lang="en-US" sz="1500" dirty="0"/>
          </a:p>
        </p:txBody>
      </p:sp>
      <p:sp>
        <p:nvSpPr>
          <p:cNvPr id="26" name="Text 24"/>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The number we report: </a:t>
            </a:r>
            <a:pPr indent="0" marL="0">
              <a:buNone/>
            </a:pPr>
            <a:r>
              <a:rPr lang="en-US" sz="1500" dirty="0">
                <a:solidFill>
                  <a:srgbClr val="33434A"/>
                </a:solidFill>
                <a:latin typeface="Calibri" pitchFamily="34" charset="0"/>
                <a:ea typeface="Calibri" pitchFamily="34" charset="-122"/>
                <a:cs typeface="Calibri" pitchFamily="34" charset="-120"/>
              </a:rPr>
              <a:t>retention = method ÷ cloud, on the same users and the same test week, with a confidence interval.</a:t>
            </a:r>
            <a:endParaRPr lang="en-US" sz="1500" dirty="0"/>
          </a:p>
        </p:txBody>
      </p:sp>
      <p:sp>
        <p:nvSpPr>
          <p:cNvPr id="27" name="Text 2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a:t>
            </a:r>
            <a:endParaRPr lang="en-US" sz="1000" dirty="0"/>
          </a:p>
        </p:txBody>
      </p:sp>
      <p:sp>
        <p:nvSpPr>
          <p:cNvPr id="28" name="Text 26"/>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§1; study description; architecture lock (parameters)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WHAT WE COMPARE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Four comparisons answer the question</a:t>
            </a:r>
            <a:endParaRPr lang="en-US" sz="3000" dirty="0"/>
          </a:p>
        </p:txBody>
      </p:sp>
      <p:sp>
        <p:nvSpPr>
          <p:cNvPr id="4" name="Shape 2"/>
          <p:cNvSpPr/>
          <p:nvPr/>
        </p:nvSpPr>
        <p:spPr>
          <a:xfrm>
            <a:off x="548640" y="1508760"/>
            <a:ext cx="3017520" cy="4114800"/>
          </a:xfrm>
          <a:prstGeom prst="roundRect">
            <a:avLst>
              <a:gd name="adj" fmla="val 2424"/>
            </a:avLst>
          </a:prstGeom>
          <a:solidFill>
            <a:srgbClr val="13262F"/>
          </a:solidFill>
          <a:ln/>
        </p:spPr>
      </p:sp>
      <p:sp>
        <p:nvSpPr>
          <p:cNvPr id="5" name="Text 3"/>
          <p:cNvSpPr txBox="1"/>
          <p:nvPr/>
        </p:nvSpPr>
        <p:spPr>
          <a:xfrm>
            <a:off x="822960" y="1691640"/>
            <a:ext cx="2468880" cy="274320"/>
          </a:xfrm>
          <a:prstGeom prst="rect">
            <a:avLst/>
          </a:prstGeom>
          <a:noFill/>
          <a:ln/>
        </p:spPr>
        <p:txBody>
          <a:bodyPr wrap="square" lIns="0" tIns="0" rIns="0" bIns="0" rtlCol="0" anchor="t"/>
          <a:lstStyle/>
          <a:p>
            <a:pPr indent="0" marL="0">
              <a:buNone/>
            </a:pPr>
            <a:r>
              <a:rPr lang="en-US" sz="1200" b="1" spc="200" kern="0" dirty="0">
                <a:solidFill>
                  <a:srgbClr val="E0932B"/>
                </a:solidFill>
                <a:latin typeface="Calibri" pitchFamily="34" charset="0"/>
                <a:ea typeface="Calibri" pitchFamily="34" charset="-122"/>
                <a:cs typeface="Calibri" pitchFamily="34" charset="-120"/>
              </a:rPr>
              <a:t>REFERENCE</a:t>
            </a:r>
            <a:endParaRPr lang="en-US" sz="1200" dirty="0"/>
          </a:p>
        </p:txBody>
      </p:sp>
      <p:sp>
        <p:nvSpPr>
          <p:cNvPr id="6" name="Text 4"/>
          <p:cNvSpPr txBox="1"/>
          <p:nvPr/>
        </p:nvSpPr>
        <p:spPr>
          <a:xfrm>
            <a:off x="822960" y="2011680"/>
            <a:ext cx="246888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model</a:t>
            </a:r>
            <a:endParaRPr lang="en-US" sz="2200" dirty="0"/>
          </a:p>
        </p:txBody>
      </p:sp>
      <p:sp>
        <p:nvSpPr>
          <p:cNvPr id="7" name="Text 5"/>
          <p:cNvSpPr txBox="1"/>
          <p:nvPr/>
        </p:nvSpPr>
        <p:spPr>
          <a:xfrm>
            <a:off x="822960" y="2606040"/>
            <a:ext cx="2560320" cy="13716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E9F1F2"/>
                </a:solidFill>
                <a:latin typeface="Calibri" pitchFamily="34" charset="0"/>
                <a:ea typeface="Calibri" pitchFamily="34" charset="-122"/>
                <a:cs typeface="Calibri" pitchFamily="34" charset="-120"/>
              </a:rPr>
              <a:t>Matched: same 131k users</a:t>
            </a:r>
            <a:endParaRPr lang="en-US" sz="1400" dirty="0"/>
          </a:p>
          <a:p>
            <a:pPr marL="203200" indent="-203200">
              <a:spcAft>
                <a:spcPts val="600"/>
              </a:spcAft>
              <a:buSzPct val="100000"/>
              <a:buChar char="•"/>
            </a:pPr>
            <a:r>
              <a:rPr lang="en-US" sz="1400" dirty="0">
                <a:solidFill>
                  <a:srgbClr val="E9F1F2"/>
                </a:solidFill>
                <a:latin typeface="Calibri" pitchFamily="34" charset="0"/>
                <a:ea typeface="Calibri" pitchFamily="34" charset="-122"/>
                <a:cs typeface="Calibri" pitchFamily="34" charset="-120"/>
              </a:rPr>
              <a:t>Full pool: 1.35M users (what Edge would run)</a:t>
            </a:r>
            <a:endParaRPr lang="en-US" sz="1400" dirty="0"/>
          </a:p>
        </p:txBody>
      </p:sp>
      <p:sp>
        <p:nvSpPr>
          <p:cNvPr id="8" name="Text 6"/>
          <p:cNvSpPr txBox="1"/>
          <p:nvPr/>
        </p:nvSpPr>
        <p:spPr>
          <a:xfrm>
            <a:off x="822960" y="4069080"/>
            <a:ext cx="2468880" cy="274320"/>
          </a:xfrm>
          <a:prstGeom prst="rect">
            <a:avLst/>
          </a:prstGeom>
          <a:noFill/>
          <a:ln/>
        </p:spPr>
        <p:txBody>
          <a:bodyPr wrap="square" lIns="0" tIns="0" rIns="0" bIns="0" rtlCol="0" anchor="t"/>
          <a:lstStyle/>
          <a:p>
            <a:pPr indent="0" marL="0">
              <a:buNone/>
            </a:pPr>
            <a:r>
              <a:rPr lang="en-US" sz="1200" b="1" spc="200" kern="0" dirty="0">
                <a:solidFill>
                  <a:srgbClr val="E0932B"/>
                </a:solidFill>
                <a:latin typeface="Calibri" pitchFamily="34" charset="0"/>
                <a:ea typeface="Calibri" pitchFamily="34" charset="-122"/>
                <a:cs typeface="Calibri" pitchFamily="34" charset="-120"/>
              </a:rPr>
              <a:t>FLOOR</a:t>
            </a:r>
            <a:endParaRPr lang="en-US" sz="1200" dirty="0"/>
          </a:p>
        </p:txBody>
      </p:sp>
      <p:sp>
        <p:nvSpPr>
          <p:cNvPr id="9" name="Text 7"/>
          <p:cNvSpPr txBox="1"/>
          <p:nvPr/>
        </p:nvSpPr>
        <p:spPr>
          <a:xfrm>
            <a:off x="822960" y="4389120"/>
            <a:ext cx="2560320" cy="914400"/>
          </a:xfrm>
          <a:prstGeom prst="rect">
            <a:avLst/>
          </a:prstGeom>
          <a:noFill/>
          <a:ln/>
        </p:spPr>
        <p:txBody>
          <a:bodyPr wrap="square" lIns="0" tIns="0" rIns="0" bIns="0" rtlCol="0" anchor="t"/>
          <a:lstStyle/>
          <a:p>
            <a:pPr indent="0" marL="0">
              <a:buNone/>
            </a:pPr>
            <a:r>
              <a:rPr lang="en-US" sz="1400" dirty="0">
                <a:solidFill>
                  <a:srgbClr val="E9F1F2"/>
                </a:solidFill>
                <a:latin typeface="Calibri" pitchFamily="34" charset="0"/>
                <a:ea typeface="Calibri" pitchFamily="34" charset="-122"/>
                <a:cs typeface="Calibri" pitchFamily="34" charset="-120"/>
              </a:rPr>
              <a:t>“Last viewed item” rule — no training, nothing uploaded</a:t>
            </a:r>
            <a:endParaRPr lang="en-US" sz="1400" dirty="0"/>
          </a:p>
        </p:txBody>
      </p:sp>
      <p:sp>
        <p:nvSpPr>
          <p:cNvPr id="10" name="Shape 8"/>
          <p:cNvSpPr/>
          <p:nvPr/>
        </p:nvSpPr>
        <p:spPr>
          <a:xfrm>
            <a:off x="3931920" y="1508760"/>
            <a:ext cx="7711135" cy="914400"/>
          </a:xfrm>
          <a:prstGeom prst="roundRect">
            <a:avLst>
              <a:gd name="adj" fmla="val 8000"/>
            </a:avLst>
          </a:prstGeom>
          <a:solidFill>
            <a:srgbClr val="D8ECEC"/>
          </a:solidFill>
          <a:ln/>
        </p:spPr>
      </p:sp>
      <p:sp>
        <p:nvSpPr>
          <p:cNvPr id="11" name="Shape 9"/>
          <p:cNvSpPr/>
          <p:nvPr/>
        </p:nvSpPr>
        <p:spPr>
          <a:xfrm>
            <a:off x="4160520" y="1709928"/>
            <a:ext cx="512064" cy="512064"/>
          </a:xfrm>
          <a:prstGeom prst="ellipse">
            <a:avLst/>
          </a:prstGeom>
          <a:solidFill>
            <a:srgbClr val="164E57"/>
          </a:solidFill>
          <a:ln/>
        </p:spPr>
      </p:sp>
      <p:sp>
        <p:nvSpPr>
          <p:cNvPr id="12" name="Text 10"/>
          <p:cNvSpPr txBox="1"/>
          <p:nvPr/>
        </p:nvSpPr>
        <p:spPr>
          <a:xfrm>
            <a:off x="4160520" y="17099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3" name="Text 11"/>
          <p:cNvSpPr txBox="1"/>
          <p:nvPr/>
        </p:nvSpPr>
        <p:spPr>
          <a:xfrm>
            <a:off x="4892040" y="1618488"/>
            <a:ext cx="3657600" cy="694944"/>
          </a:xfrm>
          <a:prstGeom prst="rect">
            <a:avLst/>
          </a:prstGeom>
          <a:noFill/>
          <a:ln/>
        </p:spPr>
        <p:txBody>
          <a:bodyPr wrap="square" lIns="0" tIns="0" rIns="0" bIns="0" rtlCol="0" anchor="ctr"/>
          <a:lstStyle/>
          <a:p>
            <a:pPr indent="0" marL="0">
              <a:buNone/>
            </a:pPr>
            <a:r>
              <a:rPr lang="en-US" sz="1800" b="1" dirty="0">
                <a:solidFill>
                  <a:srgbClr val="13262F"/>
                </a:solidFill>
                <a:latin typeface="Cambria" pitchFamily="34" charset="0"/>
                <a:ea typeface="Cambria" pitchFamily="34" charset="-122"/>
                <a:cs typeface="Cambria" pitchFamily="34" charset="-120"/>
              </a:rPr>
              <a:t>Federated  vs  cloud</a:t>
            </a:r>
            <a:endParaRPr lang="en-US" sz="1800" dirty="0"/>
          </a:p>
        </p:txBody>
      </p:sp>
      <p:sp>
        <p:nvSpPr>
          <p:cNvPr id="14" name="Text 12"/>
          <p:cNvSpPr txBox="1"/>
          <p:nvPr/>
        </p:nvSpPr>
        <p:spPr>
          <a:xfrm>
            <a:off x="8595360" y="1618488"/>
            <a:ext cx="2864815" cy="694944"/>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How much quality is lost when events stay on the device?</a:t>
            </a:r>
            <a:endParaRPr lang="en-US" sz="1400" dirty="0"/>
          </a:p>
        </p:txBody>
      </p:sp>
      <p:sp>
        <p:nvSpPr>
          <p:cNvPr id="15" name="Shape 13"/>
          <p:cNvSpPr/>
          <p:nvPr/>
        </p:nvSpPr>
        <p:spPr>
          <a:xfrm>
            <a:off x="3931920" y="2578608"/>
            <a:ext cx="7711135" cy="914400"/>
          </a:xfrm>
          <a:prstGeom prst="roundRect">
            <a:avLst>
              <a:gd name="adj" fmla="val 8000"/>
            </a:avLst>
          </a:prstGeom>
          <a:solidFill>
            <a:srgbClr val="D8ECEC"/>
          </a:solidFill>
          <a:ln/>
        </p:spPr>
      </p:sp>
      <p:sp>
        <p:nvSpPr>
          <p:cNvPr id="16" name="Shape 14"/>
          <p:cNvSpPr/>
          <p:nvPr/>
        </p:nvSpPr>
        <p:spPr>
          <a:xfrm>
            <a:off x="4160520" y="2779776"/>
            <a:ext cx="512064" cy="512064"/>
          </a:xfrm>
          <a:prstGeom prst="ellipse">
            <a:avLst/>
          </a:prstGeom>
          <a:solidFill>
            <a:srgbClr val="164E57"/>
          </a:solidFill>
          <a:ln/>
        </p:spPr>
      </p:sp>
      <p:sp>
        <p:nvSpPr>
          <p:cNvPr id="17" name="Text 15"/>
          <p:cNvSpPr txBox="1"/>
          <p:nvPr/>
        </p:nvSpPr>
        <p:spPr>
          <a:xfrm>
            <a:off x="4160520" y="277977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8" name="Text 16"/>
          <p:cNvSpPr txBox="1"/>
          <p:nvPr/>
        </p:nvSpPr>
        <p:spPr>
          <a:xfrm>
            <a:off x="4892040" y="2688336"/>
            <a:ext cx="3657600" cy="694944"/>
          </a:xfrm>
          <a:prstGeom prst="rect">
            <a:avLst/>
          </a:prstGeom>
          <a:noFill/>
          <a:ln/>
        </p:spPr>
        <p:txBody>
          <a:bodyPr wrap="square" lIns="0" tIns="0" rIns="0" bIns="0" rtlCol="0" anchor="ctr"/>
          <a:lstStyle/>
          <a:p>
            <a:pPr indent="0" marL="0">
              <a:buNone/>
            </a:pPr>
            <a:r>
              <a:rPr lang="en-US" sz="1800" b="1" dirty="0">
                <a:solidFill>
                  <a:srgbClr val="13262F"/>
                </a:solidFill>
                <a:latin typeface="Cambria" pitchFamily="34" charset="0"/>
                <a:ea typeface="Cambria" pitchFamily="34" charset="-122"/>
                <a:cs typeface="Cambria" pitchFamily="34" charset="-120"/>
              </a:rPr>
              <a:t>Federated + DP  vs  federated</a:t>
            </a:r>
            <a:endParaRPr lang="en-US" sz="1800" dirty="0"/>
          </a:p>
        </p:txBody>
      </p:sp>
      <p:sp>
        <p:nvSpPr>
          <p:cNvPr id="19" name="Text 17"/>
          <p:cNvSpPr txBox="1"/>
          <p:nvPr/>
        </p:nvSpPr>
        <p:spPr>
          <a:xfrm>
            <a:off x="8595360" y="2688336"/>
            <a:ext cx="2864815" cy="694944"/>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What does a formal privacy guarantee cost? (ε = 8, ε = 1)</a:t>
            </a:r>
            <a:endParaRPr lang="en-US" sz="1400" dirty="0"/>
          </a:p>
        </p:txBody>
      </p:sp>
      <p:sp>
        <p:nvSpPr>
          <p:cNvPr id="20" name="Shape 18"/>
          <p:cNvSpPr/>
          <p:nvPr/>
        </p:nvSpPr>
        <p:spPr>
          <a:xfrm>
            <a:off x="3931920" y="3648456"/>
            <a:ext cx="7711135" cy="914400"/>
          </a:xfrm>
          <a:prstGeom prst="roundRect">
            <a:avLst>
              <a:gd name="adj" fmla="val 8000"/>
            </a:avLst>
          </a:prstGeom>
          <a:solidFill>
            <a:srgbClr val="FBEBD3"/>
          </a:solidFill>
          <a:ln/>
        </p:spPr>
      </p:sp>
      <p:sp>
        <p:nvSpPr>
          <p:cNvPr id="21" name="Shape 19"/>
          <p:cNvSpPr/>
          <p:nvPr/>
        </p:nvSpPr>
        <p:spPr>
          <a:xfrm>
            <a:off x="4160520" y="3849624"/>
            <a:ext cx="512064" cy="512064"/>
          </a:xfrm>
          <a:prstGeom prst="ellipse">
            <a:avLst/>
          </a:prstGeom>
          <a:solidFill>
            <a:srgbClr val="9A5A0C"/>
          </a:solidFill>
          <a:ln/>
        </p:spPr>
      </p:sp>
      <p:sp>
        <p:nvSpPr>
          <p:cNvPr id="22" name="Text 20"/>
          <p:cNvSpPr txBox="1"/>
          <p:nvPr/>
        </p:nvSpPr>
        <p:spPr>
          <a:xfrm>
            <a:off x="4160520" y="384962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txBox="1"/>
          <p:nvPr/>
        </p:nvSpPr>
        <p:spPr>
          <a:xfrm>
            <a:off x="4892040" y="3758184"/>
            <a:ext cx="3657600" cy="694944"/>
          </a:xfrm>
          <a:prstGeom prst="rect">
            <a:avLst/>
          </a:prstGeom>
          <a:noFill/>
          <a:ln/>
        </p:spPr>
        <p:txBody>
          <a:bodyPr wrap="square" lIns="0" tIns="0" rIns="0" bIns="0" rtlCol="0" anchor="ctr"/>
          <a:lstStyle/>
          <a:p>
            <a:pPr indent="0" marL="0">
              <a:buNone/>
            </a:pPr>
            <a:r>
              <a:rPr lang="en-US" sz="1800" b="1" dirty="0">
                <a:solidFill>
                  <a:srgbClr val="13262F"/>
                </a:solidFill>
                <a:latin typeface="Cambria" pitchFamily="34" charset="0"/>
                <a:ea typeface="Cambria" pitchFamily="34" charset="-122"/>
                <a:cs typeface="Cambria" pitchFamily="34" charset="-120"/>
              </a:rPr>
              <a:t>On-device  vs  cloud</a:t>
            </a:r>
            <a:endParaRPr lang="en-US" sz="1800" dirty="0"/>
          </a:p>
        </p:txBody>
      </p:sp>
      <p:sp>
        <p:nvSpPr>
          <p:cNvPr id="24" name="Text 22"/>
          <p:cNvSpPr txBox="1"/>
          <p:nvPr/>
        </p:nvSpPr>
        <p:spPr>
          <a:xfrm>
            <a:off x="8595360" y="3758184"/>
            <a:ext cx="2864815" cy="694944"/>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How much survives with no upload at all (local model, local fine-tuning)?</a:t>
            </a:r>
            <a:endParaRPr lang="en-US" sz="1400" dirty="0"/>
          </a:p>
        </p:txBody>
      </p:sp>
      <p:sp>
        <p:nvSpPr>
          <p:cNvPr id="25" name="Shape 23"/>
          <p:cNvSpPr/>
          <p:nvPr/>
        </p:nvSpPr>
        <p:spPr>
          <a:xfrm>
            <a:off x="3931920" y="4718304"/>
            <a:ext cx="7711135" cy="914400"/>
          </a:xfrm>
          <a:prstGeom prst="roundRect">
            <a:avLst>
              <a:gd name="adj" fmla="val 8000"/>
            </a:avLst>
          </a:prstGeom>
          <a:solidFill>
            <a:srgbClr val="F1F4F4"/>
          </a:solidFill>
          <a:ln/>
        </p:spPr>
      </p:sp>
      <p:sp>
        <p:nvSpPr>
          <p:cNvPr id="26" name="Shape 24"/>
          <p:cNvSpPr/>
          <p:nvPr/>
        </p:nvSpPr>
        <p:spPr>
          <a:xfrm>
            <a:off x="4160520" y="4919472"/>
            <a:ext cx="512064" cy="512064"/>
          </a:xfrm>
          <a:prstGeom prst="ellipse">
            <a:avLst/>
          </a:prstGeom>
          <a:solidFill>
            <a:srgbClr val="13262F"/>
          </a:solidFill>
          <a:ln/>
        </p:spPr>
      </p:sp>
      <p:sp>
        <p:nvSpPr>
          <p:cNvPr id="27" name="Text 25"/>
          <p:cNvSpPr txBox="1"/>
          <p:nvPr/>
        </p:nvSpPr>
        <p:spPr>
          <a:xfrm>
            <a:off x="4160520" y="491947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txBox="1"/>
          <p:nvPr/>
        </p:nvSpPr>
        <p:spPr>
          <a:xfrm>
            <a:off x="4892040" y="4828032"/>
            <a:ext cx="3657600" cy="694944"/>
          </a:xfrm>
          <a:prstGeom prst="rect">
            <a:avLst/>
          </a:prstGeom>
          <a:noFill/>
          <a:ln/>
        </p:spPr>
        <p:txBody>
          <a:bodyPr wrap="square" lIns="0" tIns="0" rIns="0" bIns="0" rtlCol="0" anchor="ctr"/>
          <a:lstStyle/>
          <a:p>
            <a:pPr indent="0" marL="0">
              <a:buNone/>
            </a:pPr>
            <a:r>
              <a:rPr lang="en-US" sz="1800" b="1" dirty="0">
                <a:solidFill>
                  <a:srgbClr val="13262F"/>
                </a:solidFill>
                <a:latin typeface="Cambria" pitchFamily="34" charset="0"/>
                <a:ea typeface="Cambria" pitchFamily="34" charset="-122"/>
                <a:cs typeface="Cambria" pitchFamily="34" charset="-120"/>
              </a:rPr>
              <a:t>Pretrained branch  vs  full-pool cloud</a:t>
            </a:r>
            <a:endParaRPr lang="en-US" sz="1800" dirty="0"/>
          </a:p>
        </p:txBody>
      </p:sp>
      <p:sp>
        <p:nvSpPr>
          <p:cNvPr id="29" name="Text 27"/>
          <p:cNvSpPr txBox="1"/>
          <p:nvPr/>
        </p:nvSpPr>
        <p:spPr>
          <a:xfrm>
            <a:off x="8595360" y="4828032"/>
            <a:ext cx="2864815" cy="694944"/>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Realistic Edge: pretrain on opted-in users → federated on private users.</a:t>
            </a:r>
            <a:endParaRPr lang="en-US" sz="1400" dirty="0"/>
          </a:p>
        </p:txBody>
      </p:sp>
      <p:sp>
        <p:nvSpPr>
          <p:cNvPr id="30" name="Text 28"/>
          <p:cNvSpPr txBox="1"/>
          <p:nvPr/>
        </p:nvSpPr>
        <p:spPr>
          <a:xfrm>
            <a:off x="3931920" y="5852160"/>
            <a:ext cx="7711135" cy="32004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Every method is also compared with the floor: gain over “last viewed item”, with a confidence interval.</a:t>
            </a:r>
            <a:endParaRPr lang="en-US" sz="1300" dirty="0"/>
          </a:p>
        </p:txBody>
      </p:sp>
      <p:sp>
        <p:nvSpPr>
          <p:cNvPr id="31" name="Text 2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a:t>
            </a:r>
            <a:endParaRPr lang="en-US" sz="1000" dirty="0"/>
          </a:p>
        </p:txBody>
      </p:sp>
      <p:sp>
        <p:nvSpPr>
          <p:cNvPr id="32" name="Text 3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Pre-registered contrast list (as revised after the independent review)</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BOARD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Every method: what it is compared with, and where it stands</a:t>
            </a:r>
            <a:endParaRPr lang="en-US" sz="3000" dirty="0"/>
          </a:p>
        </p:txBody>
      </p:sp>
      <p:sp>
        <p:nvSpPr>
          <p:cNvPr id="4" name="Text 2"/>
          <p:cNvSpPr txBox="1"/>
          <p:nvPr/>
        </p:nvSpPr>
        <p:spPr>
          <a:xfrm>
            <a:off x="640080" y="1371600"/>
            <a:ext cx="182880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Level</a:t>
            </a:r>
            <a:endParaRPr lang="en-US" sz="1200" dirty="0"/>
          </a:p>
        </p:txBody>
      </p:sp>
      <p:sp>
        <p:nvSpPr>
          <p:cNvPr id="5" name="Text 3"/>
          <p:cNvSpPr txBox="1"/>
          <p:nvPr/>
        </p:nvSpPr>
        <p:spPr>
          <a:xfrm>
            <a:off x="2468880" y="1371600"/>
            <a:ext cx="539496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Method</a:t>
            </a:r>
            <a:endParaRPr lang="en-US" sz="1200" dirty="0"/>
          </a:p>
        </p:txBody>
      </p:sp>
      <p:sp>
        <p:nvSpPr>
          <p:cNvPr id="6" name="Text 4"/>
          <p:cNvSpPr txBox="1"/>
          <p:nvPr/>
        </p:nvSpPr>
        <p:spPr>
          <a:xfrm>
            <a:off x="7955280" y="1371600"/>
            <a:ext cx="164592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Compared with</a:t>
            </a:r>
            <a:endParaRPr lang="en-US" sz="1200" dirty="0"/>
          </a:p>
        </p:txBody>
      </p:sp>
      <p:sp>
        <p:nvSpPr>
          <p:cNvPr id="7" name="Text 5"/>
          <p:cNvSpPr txBox="1"/>
          <p:nvPr/>
        </p:nvSpPr>
        <p:spPr>
          <a:xfrm>
            <a:off x="9692640" y="1371600"/>
            <a:ext cx="1947672"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Status</a:t>
            </a:r>
            <a:endParaRPr lang="en-US" sz="1200" dirty="0"/>
          </a:p>
        </p:txBody>
      </p:sp>
      <p:sp>
        <p:nvSpPr>
          <p:cNvPr id="8" name="Shape 6"/>
          <p:cNvSpPr/>
          <p:nvPr/>
        </p:nvSpPr>
        <p:spPr>
          <a:xfrm>
            <a:off x="548640" y="1719072"/>
            <a:ext cx="11094415" cy="475488"/>
          </a:xfrm>
          <a:prstGeom prst="rect">
            <a:avLst/>
          </a:prstGeom>
          <a:solidFill>
            <a:srgbClr val="F1F4F4"/>
          </a:solidFill>
          <a:ln/>
        </p:spPr>
      </p:sp>
      <p:sp>
        <p:nvSpPr>
          <p:cNvPr id="9" name="Shape 7"/>
          <p:cNvSpPr/>
          <p:nvPr/>
        </p:nvSpPr>
        <p:spPr>
          <a:xfrm>
            <a:off x="594360" y="1792224"/>
            <a:ext cx="1737360" cy="329184"/>
          </a:xfrm>
          <a:prstGeom prst="roundRect">
            <a:avLst>
              <a:gd name="adj" fmla="val 16667"/>
            </a:avLst>
          </a:prstGeom>
          <a:solidFill>
            <a:srgbClr val="5C6B73"/>
          </a:solidFill>
          <a:ln/>
        </p:spPr>
      </p:sp>
      <p:sp>
        <p:nvSpPr>
          <p:cNvPr id="10" name="Text 8"/>
          <p:cNvSpPr txBox="1"/>
          <p:nvPr/>
        </p:nvSpPr>
        <p:spPr>
          <a:xfrm>
            <a:off x="594360" y="1792224"/>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11" name="Text 9"/>
          <p:cNvSpPr txBox="1"/>
          <p:nvPr/>
        </p:nvSpPr>
        <p:spPr>
          <a:xfrm>
            <a:off x="2468880" y="1719072"/>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Large cloud model</a:t>
            </a:r>
            <a:endParaRPr lang="en-US" sz="1300" dirty="0"/>
          </a:p>
        </p:txBody>
      </p:sp>
      <p:sp>
        <p:nvSpPr>
          <p:cNvPr id="12" name="Text 10"/>
          <p:cNvSpPr txBox="1"/>
          <p:nvPr/>
        </p:nvSpPr>
        <p:spPr>
          <a:xfrm>
            <a:off x="7955280" y="1719072"/>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reference</a:t>
            </a:r>
            <a:endParaRPr lang="en-US" sz="1250" dirty="0"/>
          </a:p>
        </p:txBody>
      </p:sp>
      <p:sp>
        <p:nvSpPr>
          <p:cNvPr id="13" name="Shape 11"/>
          <p:cNvSpPr/>
          <p:nvPr/>
        </p:nvSpPr>
        <p:spPr>
          <a:xfrm>
            <a:off x="9692640" y="1801368"/>
            <a:ext cx="1947672" cy="310896"/>
          </a:xfrm>
          <a:prstGeom prst="roundRect">
            <a:avLst>
              <a:gd name="adj" fmla="val 50000"/>
            </a:avLst>
          </a:prstGeom>
          <a:solidFill>
            <a:srgbClr val="5C6B73"/>
          </a:solidFill>
          <a:ln/>
        </p:spPr>
      </p:sp>
      <p:sp>
        <p:nvSpPr>
          <p:cNvPr id="14" name="Text 12"/>
          <p:cNvSpPr txBox="1"/>
          <p:nvPr/>
        </p:nvSpPr>
        <p:spPr>
          <a:xfrm>
            <a:off x="9692640" y="1801368"/>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0.1612 (contest)</a:t>
            </a:r>
            <a:endParaRPr lang="en-US" sz="1100" dirty="0"/>
          </a:p>
        </p:txBody>
      </p:sp>
      <p:sp>
        <p:nvSpPr>
          <p:cNvPr id="15" name="Shape 13"/>
          <p:cNvSpPr/>
          <p:nvPr/>
        </p:nvSpPr>
        <p:spPr>
          <a:xfrm>
            <a:off x="548640" y="2249424"/>
            <a:ext cx="11094415" cy="475488"/>
          </a:xfrm>
          <a:prstGeom prst="rect">
            <a:avLst/>
          </a:prstGeom>
          <a:solidFill>
            <a:srgbClr val="FFFFFF"/>
          </a:solidFill>
          <a:ln/>
        </p:spPr>
      </p:sp>
      <p:sp>
        <p:nvSpPr>
          <p:cNvPr id="16" name="Shape 14"/>
          <p:cNvSpPr/>
          <p:nvPr/>
        </p:nvSpPr>
        <p:spPr>
          <a:xfrm>
            <a:off x="594360" y="2322576"/>
            <a:ext cx="1737360" cy="329184"/>
          </a:xfrm>
          <a:prstGeom prst="roundRect">
            <a:avLst>
              <a:gd name="adj" fmla="val 16667"/>
            </a:avLst>
          </a:prstGeom>
          <a:solidFill>
            <a:srgbClr val="5C6B73"/>
          </a:solidFill>
          <a:ln/>
        </p:spPr>
      </p:sp>
      <p:sp>
        <p:nvSpPr>
          <p:cNvPr id="17" name="Text 15"/>
          <p:cNvSpPr txBox="1"/>
          <p:nvPr/>
        </p:nvSpPr>
        <p:spPr>
          <a:xfrm>
            <a:off x="594360" y="2322576"/>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18" name="Text 16"/>
          <p:cNvSpPr txBox="1"/>
          <p:nvPr/>
        </p:nvSpPr>
        <p:spPr>
          <a:xfrm>
            <a:off x="2468880" y="2249424"/>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Full-pool cloud (1.35M users)</a:t>
            </a:r>
            <a:endParaRPr lang="en-US" sz="1300" dirty="0"/>
          </a:p>
        </p:txBody>
      </p:sp>
      <p:sp>
        <p:nvSpPr>
          <p:cNvPr id="19" name="Text 17"/>
          <p:cNvSpPr txBox="1"/>
          <p:nvPr/>
        </p:nvSpPr>
        <p:spPr>
          <a:xfrm>
            <a:off x="7955280" y="2249424"/>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reference 2</a:t>
            </a:r>
            <a:endParaRPr lang="en-US" sz="1250" dirty="0"/>
          </a:p>
        </p:txBody>
      </p:sp>
      <p:sp>
        <p:nvSpPr>
          <p:cNvPr id="20" name="Shape 18"/>
          <p:cNvSpPr/>
          <p:nvPr/>
        </p:nvSpPr>
        <p:spPr>
          <a:xfrm>
            <a:off x="9692640" y="2331720"/>
            <a:ext cx="1947672" cy="310896"/>
          </a:xfrm>
          <a:prstGeom prst="roundRect">
            <a:avLst>
              <a:gd name="adj" fmla="val 50000"/>
            </a:avLst>
          </a:prstGeom>
          <a:solidFill>
            <a:srgbClr val="1F7A80"/>
          </a:solidFill>
          <a:ln/>
        </p:spPr>
      </p:sp>
      <p:sp>
        <p:nvSpPr>
          <p:cNvPr id="21" name="Text 19"/>
          <p:cNvSpPr txBox="1"/>
          <p:nvPr/>
        </p:nvSpPr>
        <p:spPr>
          <a:xfrm>
            <a:off x="9692640" y="2331720"/>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training ends ≈ 30 Sep</a:t>
            </a:r>
            <a:endParaRPr lang="en-US" sz="1100" dirty="0"/>
          </a:p>
        </p:txBody>
      </p:sp>
      <p:sp>
        <p:nvSpPr>
          <p:cNvPr id="22" name="Shape 20"/>
          <p:cNvSpPr/>
          <p:nvPr/>
        </p:nvSpPr>
        <p:spPr>
          <a:xfrm>
            <a:off x="548640" y="2779776"/>
            <a:ext cx="11094415" cy="475488"/>
          </a:xfrm>
          <a:prstGeom prst="rect">
            <a:avLst/>
          </a:prstGeom>
          <a:solidFill>
            <a:srgbClr val="F1F4F4"/>
          </a:solidFill>
          <a:ln/>
        </p:spPr>
      </p:sp>
      <p:sp>
        <p:nvSpPr>
          <p:cNvPr id="23" name="Shape 21"/>
          <p:cNvSpPr/>
          <p:nvPr/>
        </p:nvSpPr>
        <p:spPr>
          <a:xfrm>
            <a:off x="594360" y="2852928"/>
            <a:ext cx="1737360" cy="329184"/>
          </a:xfrm>
          <a:prstGeom prst="roundRect">
            <a:avLst>
              <a:gd name="adj" fmla="val 16667"/>
            </a:avLst>
          </a:prstGeom>
          <a:solidFill>
            <a:srgbClr val="5C6B73"/>
          </a:solidFill>
          <a:ln/>
        </p:spPr>
      </p:sp>
      <p:sp>
        <p:nvSpPr>
          <p:cNvPr id="24" name="Text 22"/>
          <p:cNvSpPr txBox="1"/>
          <p:nvPr/>
        </p:nvSpPr>
        <p:spPr>
          <a:xfrm>
            <a:off x="594360" y="2852928"/>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25" name="Text 23"/>
          <p:cNvSpPr txBox="1"/>
          <p:nvPr/>
        </p:nvSpPr>
        <p:spPr>
          <a:xfrm>
            <a:off x="2468880" y="2779776"/>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Small cloud model (device size)</a:t>
            </a:r>
            <a:endParaRPr lang="en-US" sz="1300" dirty="0"/>
          </a:p>
        </p:txBody>
      </p:sp>
      <p:sp>
        <p:nvSpPr>
          <p:cNvPr id="26" name="Text 24"/>
          <p:cNvSpPr txBox="1"/>
          <p:nvPr/>
        </p:nvSpPr>
        <p:spPr>
          <a:xfrm>
            <a:off x="7955280" y="2779776"/>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large cloud</a:t>
            </a:r>
            <a:endParaRPr lang="en-US" sz="1250" dirty="0"/>
          </a:p>
        </p:txBody>
      </p:sp>
      <p:sp>
        <p:nvSpPr>
          <p:cNvPr id="27" name="Shape 25"/>
          <p:cNvSpPr/>
          <p:nvPr/>
        </p:nvSpPr>
        <p:spPr>
          <a:xfrm>
            <a:off x="9692640" y="2862072"/>
            <a:ext cx="1947672" cy="310896"/>
          </a:xfrm>
          <a:prstGeom prst="roundRect">
            <a:avLst>
              <a:gd name="adj" fmla="val 50000"/>
            </a:avLst>
          </a:prstGeom>
          <a:solidFill>
            <a:srgbClr val="FBEBD3"/>
          </a:solidFill>
          <a:ln w="12700">
            <a:solidFill>
              <a:srgbClr val="E0932B"/>
            </a:solidFill>
            <a:prstDash val="solid"/>
          </a:ln>
        </p:spPr>
      </p:sp>
      <p:sp>
        <p:nvSpPr>
          <p:cNvPr id="28" name="Text 26"/>
          <p:cNvSpPr txBox="1"/>
          <p:nvPr/>
        </p:nvSpPr>
        <p:spPr>
          <a:xfrm>
            <a:off x="9692640" y="2862072"/>
            <a:ext cx="1947672"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29" name="Shape 27"/>
          <p:cNvSpPr/>
          <p:nvPr/>
        </p:nvSpPr>
        <p:spPr>
          <a:xfrm>
            <a:off x="548640" y="3310128"/>
            <a:ext cx="11094415" cy="475488"/>
          </a:xfrm>
          <a:prstGeom prst="rect">
            <a:avLst/>
          </a:prstGeom>
          <a:solidFill>
            <a:srgbClr val="FFFFFF"/>
          </a:solidFill>
          <a:ln/>
        </p:spPr>
      </p:sp>
      <p:sp>
        <p:nvSpPr>
          <p:cNvPr id="30" name="Shape 28"/>
          <p:cNvSpPr/>
          <p:nvPr/>
        </p:nvSpPr>
        <p:spPr>
          <a:xfrm>
            <a:off x="594360" y="3383280"/>
            <a:ext cx="1737360" cy="329184"/>
          </a:xfrm>
          <a:prstGeom prst="roundRect">
            <a:avLst>
              <a:gd name="adj" fmla="val 16667"/>
            </a:avLst>
          </a:prstGeom>
          <a:solidFill>
            <a:srgbClr val="1F7A80"/>
          </a:solidFill>
          <a:ln/>
        </p:spPr>
      </p:sp>
      <p:sp>
        <p:nvSpPr>
          <p:cNvPr id="31" name="Text 29"/>
          <p:cNvSpPr txBox="1"/>
          <p:nvPr/>
        </p:nvSpPr>
        <p:spPr>
          <a:xfrm>
            <a:off x="594360" y="3383280"/>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Federated</a:t>
            </a:r>
            <a:endParaRPr lang="en-US" sz="1150" dirty="0"/>
          </a:p>
        </p:txBody>
      </p:sp>
      <p:sp>
        <p:nvSpPr>
          <p:cNvPr id="32" name="Text 30"/>
          <p:cNvSpPr txBox="1"/>
          <p:nvPr/>
        </p:nvSpPr>
        <p:spPr>
          <a:xfrm>
            <a:off x="2468880" y="3310128"/>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Federated (tuned), FedProx, personal vector, 8-bit uploads</a:t>
            </a:r>
            <a:endParaRPr lang="en-US" sz="1300" dirty="0"/>
          </a:p>
        </p:txBody>
      </p:sp>
      <p:sp>
        <p:nvSpPr>
          <p:cNvPr id="33" name="Text 31"/>
          <p:cNvSpPr txBox="1"/>
          <p:nvPr/>
        </p:nvSpPr>
        <p:spPr>
          <a:xfrm>
            <a:off x="7955280" y="3310128"/>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cloud; floor</a:t>
            </a:r>
            <a:endParaRPr lang="en-US" sz="1250" dirty="0"/>
          </a:p>
        </p:txBody>
      </p:sp>
      <p:sp>
        <p:nvSpPr>
          <p:cNvPr id="34" name="Shape 32"/>
          <p:cNvSpPr/>
          <p:nvPr/>
        </p:nvSpPr>
        <p:spPr>
          <a:xfrm>
            <a:off x="9692640" y="3392424"/>
            <a:ext cx="1947672" cy="310896"/>
          </a:xfrm>
          <a:prstGeom prst="roundRect">
            <a:avLst>
              <a:gd name="adj" fmla="val 50000"/>
            </a:avLst>
          </a:prstGeom>
          <a:solidFill>
            <a:srgbClr val="1F7A80"/>
          </a:solidFill>
          <a:ln/>
        </p:spPr>
      </p:sp>
      <p:sp>
        <p:nvSpPr>
          <p:cNvPr id="35" name="Text 33"/>
          <p:cNvSpPr txBox="1"/>
          <p:nvPr/>
        </p:nvSpPr>
        <p:spPr>
          <a:xfrm>
            <a:off x="9692640" y="3392424"/>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tuning stage 2 of 4</a:t>
            </a:r>
            <a:endParaRPr lang="en-US" sz="1100" dirty="0"/>
          </a:p>
        </p:txBody>
      </p:sp>
      <p:sp>
        <p:nvSpPr>
          <p:cNvPr id="36" name="Shape 34"/>
          <p:cNvSpPr/>
          <p:nvPr/>
        </p:nvSpPr>
        <p:spPr>
          <a:xfrm>
            <a:off x="548640" y="3840480"/>
            <a:ext cx="11094415" cy="475488"/>
          </a:xfrm>
          <a:prstGeom prst="rect">
            <a:avLst/>
          </a:prstGeom>
          <a:solidFill>
            <a:srgbClr val="F1F4F4"/>
          </a:solidFill>
          <a:ln/>
        </p:spPr>
      </p:sp>
      <p:sp>
        <p:nvSpPr>
          <p:cNvPr id="37" name="Shape 35"/>
          <p:cNvSpPr/>
          <p:nvPr/>
        </p:nvSpPr>
        <p:spPr>
          <a:xfrm>
            <a:off x="594360" y="3913632"/>
            <a:ext cx="1737360" cy="329184"/>
          </a:xfrm>
          <a:prstGeom prst="roundRect">
            <a:avLst>
              <a:gd name="adj" fmla="val 16667"/>
            </a:avLst>
          </a:prstGeom>
          <a:solidFill>
            <a:srgbClr val="164E57"/>
          </a:solidFill>
          <a:ln/>
        </p:spPr>
      </p:sp>
      <p:sp>
        <p:nvSpPr>
          <p:cNvPr id="38" name="Text 36"/>
          <p:cNvSpPr txBox="1"/>
          <p:nvPr/>
        </p:nvSpPr>
        <p:spPr>
          <a:xfrm>
            <a:off x="594360" y="3913632"/>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Federated + DP</a:t>
            </a:r>
            <a:endParaRPr lang="en-US" sz="1150" dirty="0"/>
          </a:p>
        </p:txBody>
      </p:sp>
      <p:sp>
        <p:nvSpPr>
          <p:cNvPr id="39" name="Text 37"/>
          <p:cNvSpPr txBox="1"/>
          <p:nvPr/>
        </p:nvSpPr>
        <p:spPr>
          <a:xfrm>
            <a:off x="2468880" y="3840480"/>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DP at ε = 8 and ε = 1</a:t>
            </a:r>
            <a:endParaRPr lang="en-US" sz="1300" dirty="0"/>
          </a:p>
        </p:txBody>
      </p:sp>
      <p:sp>
        <p:nvSpPr>
          <p:cNvPr id="40" name="Text 38"/>
          <p:cNvSpPr txBox="1"/>
          <p:nvPr/>
        </p:nvSpPr>
        <p:spPr>
          <a:xfrm>
            <a:off x="7955280" y="3840480"/>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federated</a:t>
            </a:r>
            <a:endParaRPr lang="en-US" sz="1250" dirty="0"/>
          </a:p>
        </p:txBody>
      </p:sp>
      <p:sp>
        <p:nvSpPr>
          <p:cNvPr id="41" name="Shape 39"/>
          <p:cNvSpPr/>
          <p:nvPr/>
        </p:nvSpPr>
        <p:spPr>
          <a:xfrm>
            <a:off x="9692640" y="3922776"/>
            <a:ext cx="1947672" cy="310896"/>
          </a:xfrm>
          <a:prstGeom prst="roundRect">
            <a:avLst>
              <a:gd name="adj" fmla="val 50000"/>
            </a:avLst>
          </a:prstGeom>
          <a:solidFill>
            <a:srgbClr val="E6EAEC"/>
          </a:solidFill>
          <a:ln/>
        </p:spPr>
      </p:sp>
      <p:sp>
        <p:nvSpPr>
          <p:cNvPr id="42" name="Text 40"/>
          <p:cNvSpPr txBox="1"/>
          <p:nvPr/>
        </p:nvSpPr>
        <p:spPr>
          <a:xfrm>
            <a:off x="9692640" y="3922776"/>
            <a:ext cx="1947672"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after tuning</a:t>
            </a:r>
            <a:endParaRPr lang="en-US" sz="1100" dirty="0"/>
          </a:p>
        </p:txBody>
      </p:sp>
      <p:sp>
        <p:nvSpPr>
          <p:cNvPr id="43" name="Shape 41"/>
          <p:cNvSpPr/>
          <p:nvPr/>
        </p:nvSpPr>
        <p:spPr>
          <a:xfrm>
            <a:off x="548640" y="4370832"/>
            <a:ext cx="11094415" cy="475488"/>
          </a:xfrm>
          <a:prstGeom prst="rect">
            <a:avLst/>
          </a:prstGeom>
          <a:solidFill>
            <a:srgbClr val="FFFFFF"/>
          </a:solidFill>
          <a:ln/>
        </p:spPr>
      </p:sp>
      <p:sp>
        <p:nvSpPr>
          <p:cNvPr id="44" name="Shape 42"/>
          <p:cNvSpPr/>
          <p:nvPr/>
        </p:nvSpPr>
        <p:spPr>
          <a:xfrm>
            <a:off x="594360" y="4443984"/>
            <a:ext cx="1737360" cy="329184"/>
          </a:xfrm>
          <a:prstGeom prst="roundRect">
            <a:avLst>
              <a:gd name="adj" fmla="val 16667"/>
            </a:avLst>
          </a:prstGeom>
          <a:solidFill>
            <a:srgbClr val="9A5A0C"/>
          </a:solidFill>
          <a:ln/>
        </p:spPr>
      </p:sp>
      <p:sp>
        <p:nvSpPr>
          <p:cNvPr id="45" name="Text 43"/>
          <p:cNvSpPr txBox="1"/>
          <p:nvPr/>
        </p:nvSpPr>
        <p:spPr>
          <a:xfrm>
            <a:off x="594360" y="4443984"/>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Pretrained branch</a:t>
            </a:r>
            <a:endParaRPr lang="en-US" sz="1150" dirty="0"/>
          </a:p>
        </p:txBody>
      </p:sp>
      <p:sp>
        <p:nvSpPr>
          <p:cNvPr id="46" name="Text 44"/>
          <p:cNvSpPr txBox="1"/>
          <p:nvPr/>
        </p:nvSpPr>
        <p:spPr>
          <a:xfrm>
            <a:off x="2468880" y="4370832"/>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Pretrained → + federated → + frozen tables</a:t>
            </a:r>
            <a:endParaRPr lang="en-US" sz="1300" dirty="0"/>
          </a:p>
        </p:txBody>
      </p:sp>
      <p:sp>
        <p:nvSpPr>
          <p:cNvPr id="47" name="Text 45"/>
          <p:cNvSpPr txBox="1"/>
          <p:nvPr/>
        </p:nvSpPr>
        <p:spPr>
          <a:xfrm>
            <a:off x="7955280" y="4370832"/>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full-pool cloud</a:t>
            </a:r>
            <a:endParaRPr lang="en-US" sz="1250" dirty="0"/>
          </a:p>
        </p:txBody>
      </p:sp>
      <p:sp>
        <p:nvSpPr>
          <p:cNvPr id="48" name="Shape 46"/>
          <p:cNvSpPr/>
          <p:nvPr/>
        </p:nvSpPr>
        <p:spPr>
          <a:xfrm>
            <a:off x="9692640" y="4453128"/>
            <a:ext cx="1947672" cy="310896"/>
          </a:xfrm>
          <a:prstGeom prst="roundRect">
            <a:avLst>
              <a:gd name="adj" fmla="val 50000"/>
            </a:avLst>
          </a:prstGeom>
          <a:solidFill>
            <a:srgbClr val="1F7A80"/>
          </a:solidFill>
          <a:ln/>
        </p:spPr>
      </p:sp>
      <p:sp>
        <p:nvSpPr>
          <p:cNvPr id="49" name="Text 47"/>
          <p:cNvSpPr txBox="1"/>
          <p:nvPr/>
        </p:nvSpPr>
        <p:spPr>
          <a:xfrm>
            <a:off x="9692640" y="4453128"/>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pretraining running</a:t>
            </a:r>
            <a:endParaRPr lang="en-US" sz="1100" dirty="0"/>
          </a:p>
        </p:txBody>
      </p:sp>
      <p:sp>
        <p:nvSpPr>
          <p:cNvPr id="50" name="Shape 48"/>
          <p:cNvSpPr/>
          <p:nvPr/>
        </p:nvSpPr>
        <p:spPr>
          <a:xfrm>
            <a:off x="548640" y="4901184"/>
            <a:ext cx="11094415" cy="475488"/>
          </a:xfrm>
          <a:prstGeom prst="rect">
            <a:avLst/>
          </a:prstGeom>
          <a:solidFill>
            <a:srgbClr val="F1F4F4"/>
          </a:solidFill>
          <a:ln/>
        </p:spPr>
      </p:sp>
      <p:sp>
        <p:nvSpPr>
          <p:cNvPr id="51" name="Shape 49"/>
          <p:cNvSpPr/>
          <p:nvPr/>
        </p:nvSpPr>
        <p:spPr>
          <a:xfrm>
            <a:off x="594360" y="4974336"/>
            <a:ext cx="1737360" cy="329184"/>
          </a:xfrm>
          <a:prstGeom prst="roundRect">
            <a:avLst>
              <a:gd name="adj" fmla="val 16667"/>
            </a:avLst>
          </a:prstGeom>
          <a:solidFill>
            <a:srgbClr val="E0932B"/>
          </a:solidFill>
          <a:ln/>
        </p:spPr>
      </p:sp>
      <p:sp>
        <p:nvSpPr>
          <p:cNvPr id="52" name="Text 50"/>
          <p:cNvSpPr txBox="1"/>
          <p:nvPr/>
        </p:nvSpPr>
        <p:spPr>
          <a:xfrm>
            <a:off x="594360" y="4974336"/>
            <a:ext cx="1737360" cy="329184"/>
          </a:xfrm>
          <a:prstGeom prst="rect">
            <a:avLst/>
          </a:prstGeom>
          <a:noFill/>
          <a:ln/>
        </p:spPr>
        <p:txBody>
          <a:bodyPr wrap="square" lIns="0" tIns="0" rIns="0" bIns="0" rtlCol="0" anchor="ctr"/>
          <a:lstStyle/>
          <a:p>
            <a:pPr algn="ctr" indent="0" marL="0">
              <a:buNone/>
            </a:pPr>
            <a:r>
              <a:rPr lang="en-US" sz="1150" b="1" dirty="0">
                <a:solidFill>
                  <a:srgbClr val="13262F"/>
                </a:solidFill>
                <a:latin typeface="Calibri" pitchFamily="34" charset="0"/>
                <a:ea typeface="Calibri" pitchFamily="34" charset="-122"/>
                <a:cs typeface="Calibri" pitchFamily="34" charset="-120"/>
              </a:rPr>
              <a:t>On-device</a:t>
            </a:r>
            <a:endParaRPr lang="en-US" sz="1150" dirty="0"/>
          </a:p>
        </p:txBody>
      </p:sp>
      <p:sp>
        <p:nvSpPr>
          <p:cNvPr id="53" name="Text 51"/>
          <p:cNvSpPr txBox="1"/>
          <p:nvPr/>
        </p:nvSpPr>
        <p:spPr>
          <a:xfrm>
            <a:off x="2468880" y="4901184"/>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Local-only model; cloud / federated / pretrained model fine-tuned on device</a:t>
            </a:r>
            <a:endParaRPr lang="en-US" sz="1300" dirty="0"/>
          </a:p>
        </p:txBody>
      </p:sp>
      <p:sp>
        <p:nvSpPr>
          <p:cNvPr id="54" name="Text 52"/>
          <p:cNvSpPr txBox="1"/>
          <p:nvPr/>
        </p:nvSpPr>
        <p:spPr>
          <a:xfrm>
            <a:off x="7955280" y="4901184"/>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cloud; its own base</a:t>
            </a:r>
            <a:endParaRPr lang="en-US" sz="1250" dirty="0"/>
          </a:p>
        </p:txBody>
      </p:sp>
      <p:sp>
        <p:nvSpPr>
          <p:cNvPr id="55" name="Shape 53"/>
          <p:cNvSpPr/>
          <p:nvPr/>
        </p:nvSpPr>
        <p:spPr>
          <a:xfrm>
            <a:off x="9692640" y="4983480"/>
            <a:ext cx="1947672" cy="310896"/>
          </a:xfrm>
          <a:prstGeom prst="roundRect">
            <a:avLst>
              <a:gd name="adj" fmla="val 50000"/>
            </a:avLst>
          </a:prstGeom>
          <a:solidFill>
            <a:srgbClr val="1F7A80"/>
          </a:solidFill>
          <a:ln/>
        </p:spPr>
      </p:sp>
      <p:sp>
        <p:nvSpPr>
          <p:cNvPr id="56" name="Text 54"/>
          <p:cNvSpPr txBox="1"/>
          <p:nvPr/>
        </p:nvSpPr>
        <p:spPr>
          <a:xfrm>
            <a:off x="9692640" y="4983480"/>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device runs started</a:t>
            </a:r>
            <a:endParaRPr lang="en-US" sz="1100" dirty="0"/>
          </a:p>
        </p:txBody>
      </p:sp>
      <p:sp>
        <p:nvSpPr>
          <p:cNvPr id="57" name="Shape 55"/>
          <p:cNvSpPr/>
          <p:nvPr/>
        </p:nvSpPr>
        <p:spPr>
          <a:xfrm>
            <a:off x="548640" y="5431536"/>
            <a:ext cx="11094415" cy="475488"/>
          </a:xfrm>
          <a:prstGeom prst="rect">
            <a:avLst/>
          </a:prstGeom>
          <a:solidFill>
            <a:srgbClr val="FFFFFF"/>
          </a:solidFill>
          <a:ln/>
        </p:spPr>
      </p:sp>
      <p:sp>
        <p:nvSpPr>
          <p:cNvPr id="58" name="Shape 56"/>
          <p:cNvSpPr/>
          <p:nvPr/>
        </p:nvSpPr>
        <p:spPr>
          <a:xfrm>
            <a:off x="594360" y="5504688"/>
            <a:ext cx="1737360" cy="329184"/>
          </a:xfrm>
          <a:prstGeom prst="roundRect">
            <a:avLst>
              <a:gd name="adj" fmla="val 16667"/>
            </a:avLst>
          </a:prstGeom>
          <a:solidFill>
            <a:srgbClr val="A7B1B6"/>
          </a:solidFill>
          <a:ln/>
        </p:spPr>
      </p:sp>
      <p:sp>
        <p:nvSpPr>
          <p:cNvPr id="59" name="Text 57"/>
          <p:cNvSpPr txBox="1"/>
          <p:nvPr/>
        </p:nvSpPr>
        <p:spPr>
          <a:xfrm>
            <a:off x="594360" y="5504688"/>
            <a:ext cx="1737360" cy="329184"/>
          </a:xfrm>
          <a:prstGeom prst="rect">
            <a:avLst/>
          </a:prstGeom>
          <a:noFill/>
          <a:ln/>
        </p:spPr>
        <p:txBody>
          <a:bodyPr wrap="square" lIns="0" tIns="0" rIns="0" bIns="0" rtlCol="0" anchor="ctr"/>
          <a:lstStyle/>
          <a:p>
            <a:pPr algn="ctr" indent="0" marL="0">
              <a:buNone/>
            </a:pPr>
            <a:r>
              <a:rPr lang="en-US" sz="1150" b="1" dirty="0">
                <a:solidFill>
                  <a:srgbClr val="13262F"/>
                </a:solidFill>
                <a:latin typeface="Calibri" pitchFamily="34" charset="0"/>
                <a:ea typeface="Calibri" pitchFamily="34" charset="-122"/>
                <a:cs typeface="Calibri" pitchFamily="34" charset="-120"/>
              </a:rPr>
              <a:t>Baselines</a:t>
            </a:r>
            <a:endParaRPr lang="en-US" sz="1150" dirty="0"/>
          </a:p>
        </p:txBody>
      </p:sp>
      <p:sp>
        <p:nvSpPr>
          <p:cNvPr id="60" name="Text 58"/>
          <p:cNvSpPr txBox="1"/>
          <p:nvPr/>
        </p:nvSpPr>
        <p:spPr>
          <a:xfrm>
            <a:off x="2468880" y="5431536"/>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Last viewed item 0.0711 · session kNN 0.1114 · popularity 0.0194</a:t>
            </a:r>
            <a:endParaRPr lang="en-US" sz="1300" dirty="0"/>
          </a:p>
        </p:txBody>
      </p:sp>
      <p:sp>
        <p:nvSpPr>
          <p:cNvPr id="61" name="Text 59"/>
          <p:cNvSpPr txBox="1"/>
          <p:nvPr/>
        </p:nvSpPr>
        <p:spPr>
          <a:xfrm>
            <a:off x="7955280" y="5431536"/>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floor</a:t>
            </a:r>
            <a:endParaRPr lang="en-US" sz="1250" dirty="0"/>
          </a:p>
        </p:txBody>
      </p:sp>
      <p:sp>
        <p:nvSpPr>
          <p:cNvPr id="62" name="Shape 60"/>
          <p:cNvSpPr/>
          <p:nvPr/>
        </p:nvSpPr>
        <p:spPr>
          <a:xfrm>
            <a:off x="9692640" y="5513832"/>
            <a:ext cx="1947672" cy="310896"/>
          </a:xfrm>
          <a:prstGeom prst="roundRect">
            <a:avLst>
              <a:gd name="adj" fmla="val 50000"/>
            </a:avLst>
          </a:prstGeom>
          <a:solidFill>
            <a:srgbClr val="5C6B73"/>
          </a:solidFill>
          <a:ln/>
        </p:spPr>
      </p:sp>
      <p:sp>
        <p:nvSpPr>
          <p:cNvPr id="63" name="Text 61"/>
          <p:cNvSpPr txBox="1"/>
          <p:nvPr/>
        </p:nvSpPr>
        <p:spPr>
          <a:xfrm>
            <a:off x="9692640" y="5513832"/>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Text 62"/>
          <p:cNvSpPr txBox="1"/>
          <p:nvPr/>
        </p:nvSpPr>
        <p:spPr>
          <a:xfrm>
            <a:off x="548640" y="6053328"/>
            <a:ext cx="11094415" cy="320040"/>
          </a:xfrm>
          <a:prstGeom prst="rect">
            <a:avLst/>
          </a:prstGeom>
          <a:noFill/>
          <a:ln/>
        </p:spPr>
        <p:txBody>
          <a:bodyPr wrap="square" lIns="0" tIns="0" rIns="0" bIns="0" rtlCol="0" anchor="t"/>
          <a:lstStyle/>
          <a:p>
            <a:pPr indent="0" marL="0">
              <a:buNone/>
            </a:pPr>
            <a:r>
              <a:rPr lang="en-US" sz="1250" b="1" i="1" dirty="0">
                <a:solidFill>
                  <a:srgbClr val="9A5A0C"/>
                </a:solidFill>
                <a:latin typeface="Calibri" pitchFamily="34" charset="0"/>
                <a:ea typeface="Calibri" pitchFamily="34" charset="-122"/>
                <a:cs typeface="Calibri" pitchFamily="34" charset="-120"/>
              </a:rPr>
              <a:t>All sealed results are read together: validation ≈ 2–3 Oct, single test look ≈ 4–5 Oct (estimates).</a:t>
            </a:r>
            <a:endParaRPr lang="en-US" sz="1250" dirty="0"/>
          </a:p>
        </p:txBody>
      </p:sp>
      <p:sp>
        <p:nvSpPr>
          <p:cNvPr id="65" name="Text 6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4</a:t>
            </a:r>
            <a:endParaRPr lang="en-US" sz="1000" dirty="0"/>
          </a:p>
        </p:txBody>
      </p:sp>
      <p:sp>
        <p:nvSpPr>
          <p:cNvPr id="66" name="Text 6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baselines (decision log 28 Sep); run status (decision log 29 Sep); master plan v5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1</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Which comparison should lead the Edge answer?</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Which of the four comparisons should be the headline for Edge?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Plain federated vs cloud, or the realistic pretrained branch vs the full-pool cloud (the independent review recommends the latter).</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Against which cloud: the matched 131k-user model or the full-pool 1.35M-user model?</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We report both; the question is which one leads.</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“last viewed item” be the floor every method must beat?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needs no training and sends nothing.</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5</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four comparisons and the floor, previous slides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1 — MODEL FAMILY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SASRec vs GRU: the winner depends on the checkpoint rule</a:t>
            </a:r>
            <a:endParaRPr lang="en-US" sz="3000" dirty="0"/>
          </a:p>
        </p:txBody>
      </p:sp>
      <p:graphicFrame>
        <p:nvGraphicFramePr>
          <p:cNvPr id="4" name="Chart 0"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508760"/>
            <a:ext cx="3779215" cy="1371600"/>
          </a:xfrm>
          <a:prstGeom prst="roundRect">
            <a:avLst>
              <a:gd name="adj" fmla="val 5333"/>
            </a:avLst>
          </a:prstGeom>
          <a:solidFill>
            <a:srgbClr val="D8ECEC"/>
          </a:solidFill>
          <a:ln/>
        </p:spPr>
      </p:sp>
      <p:sp>
        <p:nvSpPr>
          <p:cNvPr id="6" name="Text 3"/>
          <p:cNvSpPr txBox="1"/>
          <p:nvPr/>
        </p:nvSpPr>
        <p:spPr>
          <a:xfrm>
            <a:off x="8138160" y="1645920"/>
            <a:ext cx="3230575" cy="548640"/>
          </a:xfrm>
          <a:prstGeom prst="rect">
            <a:avLst/>
          </a:prstGeom>
          <a:noFill/>
          <a:ln/>
        </p:spPr>
        <p:txBody>
          <a:bodyPr wrap="square" lIns="0" tIns="0" rIns="0" bIns="0" rtlCol="0" anchor="t"/>
          <a:lstStyle/>
          <a:p>
            <a:pPr indent="0" marL="0">
              <a:buNone/>
            </a:pPr>
            <a:r>
              <a:rPr lang="en-US" sz="2600" b="1" dirty="0">
                <a:solidFill>
                  <a:srgbClr val="164E57"/>
                </a:solidFill>
                <a:latin typeface="Cambria" pitchFamily="34" charset="0"/>
                <a:ea typeface="Cambria" pitchFamily="34" charset="-122"/>
                <a:cs typeface="Cambria" pitchFamily="34" charset="-120"/>
              </a:rPr>
              <a:t>SASRec +0.0043</a:t>
            </a:r>
            <a:endParaRPr lang="en-US" sz="2600" dirty="0"/>
          </a:p>
        </p:txBody>
      </p:sp>
      <p:sp>
        <p:nvSpPr>
          <p:cNvPr id="7" name="Text 4"/>
          <p:cNvSpPr txBox="1"/>
          <p:nvPr/>
        </p:nvSpPr>
        <p:spPr>
          <a:xfrm>
            <a:off x="8138160" y="2240280"/>
            <a:ext cx="3230575" cy="5486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under the registered rule, CI [+0.0033, +0.0052] → selected</a:t>
            </a:r>
            <a:endParaRPr lang="en-US" sz="1350" dirty="0"/>
          </a:p>
        </p:txBody>
      </p:sp>
      <p:sp>
        <p:nvSpPr>
          <p:cNvPr id="8" name="Shape 5"/>
          <p:cNvSpPr/>
          <p:nvPr/>
        </p:nvSpPr>
        <p:spPr>
          <a:xfrm>
            <a:off x="7863840" y="3108960"/>
            <a:ext cx="3779215" cy="1371600"/>
          </a:xfrm>
          <a:prstGeom prst="roundRect">
            <a:avLst>
              <a:gd name="adj" fmla="val 5333"/>
            </a:avLst>
          </a:prstGeom>
          <a:solidFill>
            <a:srgbClr val="E6EAEC"/>
          </a:solidFill>
          <a:ln/>
        </p:spPr>
      </p:sp>
      <p:sp>
        <p:nvSpPr>
          <p:cNvPr id="9" name="Text 6"/>
          <p:cNvSpPr txBox="1"/>
          <p:nvPr/>
        </p:nvSpPr>
        <p:spPr>
          <a:xfrm>
            <a:off x="8138160" y="3246120"/>
            <a:ext cx="3230575" cy="548640"/>
          </a:xfrm>
          <a:prstGeom prst="rect">
            <a:avLst/>
          </a:prstGeom>
          <a:noFill/>
          <a:ln/>
        </p:spPr>
        <p:txBody>
          <a:bodyPr wrap="square" lIns="0" tIns="0" rIns="0" bIns="0" rtlCol="0" anchor="t"/>
          <a:lstStyle/>
          <a:p>
            <a:pPr indent="0" marL="0">
              <a:buNone/>
            </a:pPr>
            <a:r>
              <a:rPr lang="en-US" sz="2600" b="1" dirty="0">
                <a:solidFill>
                  <a:srgbClr val="5C6B73"/>
                </a:solidFill>
                <a:latin typeface="Cambria" pitchFamily="34" charset="0"/>
                <a:ea typeface="Cambria" pitchFamily="34" charset="-122"/>
                <a:cs typeface="Cambria" pitchFamily="34" charset="-120"/>
              </a:rPr>
              <a:t>GRU +0.0042</a:t>
            </a:r>
            <a:endParaRPr lang="en-US" sz="2600" dirty="0"/>
          </a:p>
        </p:txBody>
      </p:sp>
      <p:sp>
        <p:nvSpPr>
          <p:cNvPr id="10" name="Text 7"/>
          <p:cNvSpPr txBox="1"/>
          <p:nvPr/>
        </p:nvSpPr>
        <p:spPr>
          <a:xfrm>
            <a:off x="8138160" y="3840480"/>
            <a:ext cx="3230575" cy="5486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at the fixed end, CI [+0.0033, +0.0052] → disclosed</a:t>
            </a:r>
            <a:endParaRPr lang="en-US" sz="1350" dirty="0"/>
          </a:p>
        </p:txBody>
      </p:sp>
      <p:sp>
        <p:nvSpPr>
          <p:cNvPr id="11" name="Text 8"/>
          <p:cNvSpPr txBox="1"/>
          <p:nvPr/>
        </p:nvSpPr>
        <p:spPr>
          <a:xfrm>
            <a:off x="7863840" y="4846320"/>
            <a:ext cx="3779215" cy="100584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Both rules were fixed before any result. The thesis says “selected under the pre-registered rule”, not “SASRec is better”.</a:t>
            </a:r>
            <a:endParaRPr lang="en-US" sz="1350" dirty="0"/>
          </a:p>
        </p:txBody>
      </p:sp>
      <p:sp>
        <p:nvSpPr>
          <p:cNvPr id="12" name="Text 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6</a:t>
            </a:r>
            <a:endParaRPr lang="en-US" sz="1000" dirty="0"/>
          </a:p>
        </p:txBody>
      </p:sp>
      <p:sp>
        <p:nvSpPr>
          <p:cNvPr id="13" name="Text 1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file; contest diagnostics (decision log, 28 Sep)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2 — MODELS VS SIMPLE RULES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a trained model adds over simple rules</a:t>
            </a:r>
            <a:endParaRPr lang="en-US" sz="3000" dirty="0"/>
          </a:p>
        </p:txBody>
      </p:sp>
      <p:graphicFrame>
        <p:nvGraphicFramePr>
          <p:cNvPr id="4" name="Chart 0" descr=""/>
          <p:cNvGraphicFramePr/>
          <p:nvPr/>
        </p:nvGraphicFramePr>
        <p:xfrm>
          <a:off x="548640" y="1371600"/>
          <a:ext cx="76809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95360" y="1508760"/>
            <a:ext cx="3047695" cy="1508760"/>
          </a:xfrm>
          <a:prstGeom prst="roundRect">
            <a:avLst>
              <a:gd name="adj" fmla="val 4848"/>
            </a:avLst>
          </a:prstGeom>
          <a:solidFill>
            <a:srgbClr val="FBEBD3"/>
          </a:solidFill>
          <a:ln/>
        </p:spPr>
      </p:sp>
      <p:sp>
        <p:nvSpPr>
          <p:cNvPr id="6" name="Text 3"/>
          <p:cNvSpPr txBox="1"/>
          <p:nvPr/>
        </p:nvSpPr>
        <p:spPr>
          <a:xfrm>
            <a:off x="8869680" y="1645920"/>
            <a:ext cx="2499055" cy="640080"/>
          </a:xfrm>
          <a:prstGeom prst="rect">
            <a:avLst/>
          </a:prstGeom>
          <a:noFill/>
          <a:ln/>
        </p:spPr>
        <p:txBody>
          <a:bodyPr wrap="square" lIns="0" tIns="0" rIns="0" bIns="0" rtlCol="0" anchor="t"/>
          <a:lstStyle/>
          <a:p>
            <a:pPr indent="0" marL="0">
              <a:buNone/>
            </a:pPr>
            <a:r>
              <a:rPr lang="en-US" sz="3600" b="1" dirty="0">
                <a:solidFill>
                  <a:srgbClr val="9A5A0C"/>
                </a:solidFill>
                <a:latin typeface="Cambria" pitchFamily="34" charset="0"/>
                <a:ea typeface="Cambria" pitchFamily="34" charset="-122"/>
                <a:cs typeface="Cambria" pitchFamily="34" charset="-120"/>
              </a:rPr>
              <a:t>44%</a:t>
            </a:r>
            <a:endParaRPr lang="en-US" sz="3600" dirty="0"/>
          </a:p>
        </p:txBody>
      </p:sp>
      <p:sp>
        <p:nvSpPr>
          <p:cNvPr id="7" name="Text 4"/>
          <p:cNvSpPr txBox="1"/>
          <p:nvPr/>
        </p:nvSpPr>
        <p:spPr>
          <a:xfrm>
            <a:off x="8869680" y="2331720"/>
            <a:ext cx="2499055" cy="64008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of the cloud reached by “last viewed item” — for free</a:t>
            </a:r>
            <a:endParaRPr lang="en-US" sz="1350" dirty="0"/>
          </a:p>
        </p:txBody>
      </p:sp>
      <p:sp>
        <p:nvSpPr>
          <p:cNvPr id="8" name="Shape 5"/>
          <p:cNvSpPr/>
          <p:nvPr/>
        </p:nvSpPr>
        <p:spPr>
          <a:xfrm>
            <a:off x="8595360" y="3246120"/>
            <a:ext cx="3047695" cy="1508760"/>
          </a:xfrm>
          <a:prstGeom prst="roundRect">
            <a:avLst>
              <a:gd name="adj" fmla="val 4848"/>
            </a:avLst>
          </a:prstGeom>
          <a:solidFill>
            <a:srgbClr val="F1F4F4"/>
          </a:solidFill>
          <a:ln/>
        </p:spPr>
      </p:sp>
      <p:sp>
        <p:nvSpPr>
          <p:cNvPr id="9" name="Text 6"/>
          <p:cNvSpPr txBox="1"/>
          <p:nvPr/>
        </p:nvSpPr>
        <p:spPr>
          <a:xfrm>
            <a:off x="8869680" y="3383280"/>
            <a:ext cx="2499055" cy="640080"/>
          </a:xfrm>
          <a:prstGeom prst="rect">
            <a:avLst/>
          </a:prstGeom>
          <a:noFill/>
          <a:ln/>
        </p:spPr>
        <p:txBody>
          <a:bodyPr wrap="square" lIns="0" tIns="0" rIns="0" bIns="0" rtlCol="0" anchor="t"/>
          <a:lstStyle/>
          <a:p>
            <a:pPr indent="0" marL="0">
              <a:buNone/>
            </a:pPr>
            <a:r>
              <a:rPr lang="en-US" sz="3600" b="1" dirty="0">
                <a:solidFill>
                  <a:srgbClr val="5C6B73"/>
                </a:solidFill>
                <a:latin typeface="Cambria" pitchFamily="34" charset="0"/>
                <a:ea typeface="Cambria" pitchFamily="34" charset="-122"/>
                <a:cs typeface="Cambria" pitchFamily="34" charset="-120"/>
              </a:rPr>
              <a:t>69%</a:t>
            </a:r>
            <a:endParaRPr lang="en-US" sz="3600" dirty="0"/>
          </a:p>
        </p:txBody>
      </p:sp>
      <p:sp>
        <p:nvSpPr>
          <p:cNvPr id="10" name="Text 7"/>
          <p:cNvSpPr txBox="1"/>
          <p:nvPr/>
        </p:nvSpPr>
        <p:spPr>
          <a:xfrm>
            <a:off x="8869680" y="4069080"/>
            <a:ext cx="2499055" cy="64008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of the cloud reached by session kNN</a:t>
            </a:r>
            <a:endParaRPr lang="en-US" sz="1350" dirty="0"/>
          </a:p>
        </p:txBody>
      </p:sp>
      <p:sp>
        <p:nvSpPr>
          <p:cNvPr id="11" name="Text 8"/>
          <p:cNvSpPr txBox="1"/>
          <p:nvPr/>
        </p:nvSpPr>
        <p:spPr>
          <a:xfrm>
            <a:off x="8595360" y="5120640"/>
            <a:ext cx="3047695" cy="73152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So the bar for any private method is high: it must beat 0.0711 to be worth shipping.</a:t>
            </a:r>
            <a:endParaRPr lang="en-US" sz="1350" dirty="0"/>
          </a:p>
        </p:txBody>
      </p:sp>
      <p:sp>
        <p:nvSpPr>
          <p:cNvPr id="12" name="Text 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7</a:t>
            </a:r>
            <a:endParaRPr lang="en-US" sz="1000" dirty="0"/>
          </a:p>
        </p:txBody>
      </p:sp>
      <p:sp>
        <p:nvSpPr>
          <p:cNvPr id="13" name="Text 1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Decision log (post-contest reported read of baselines and contest runs, 28 Sep)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3 — COST ON THE DEVICE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Cloud-size vs device-size model: megabytes per visit</a:t>
            </a:r>
            <a:endParaRPr lang="en-US" sz="3000" dirty="0"/>
          </a:p>
        </p:txBody>
      </p:sp>
      <p:graphicFrame>
        <p:nvGraphicFramePr>
          <p:cNvPr id="4" name="Chart 0" descr=""/>
          <p:cNvGraphicFramePr/>
          <p:nvPr/>
        </p:nvGraphicFramePr>
        <p:xfrm>
          <a:off x="548640" y="1371600"/>
          <a:ext cx="76809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95360" y="1508760"/>
            <a:ext cx="3047695" cy="1508760"/>
          </a:xfrm>
          <a:prstGeom prst="roundRect">
            <a:avLst>
              <a:gd name="adj" fmla="val 4848"/>
            </a:avLst>
          </a:prstGeom>
          <a:solidFill>
            <a:srgbClr val="D8ECEC"/>
          </a:solidFill>
          <a:ln/>
        </p:spPr>
      </p:sp>
      <p:sp>
        <p:nvSpPr>
          <p:cNvPr id="6" name="Text 3"/>
          <p:cNvSpPr txBox="1"/>
          <p:nvPr/>
        </p:nvSpPr>
        <p:spPr>
          <a:xfrm>
            <a:off x="8869680" y="1645920"/>
            <a:ext cx="2499055" cy="640080"/>
          </a:xfrm>
          <a:prstGeom prst="rect">
            <a:avLst/>
          </a:prstGeom>
          <a:noFill/>
          <a:ln/>
        </p:spPr>
        <p:txBody>
          <a:bodyPr wrap="square" lIns="0" tIns="0" rIns="0" bIns="0" rtlCol="0" anchor="t"/>
          <a:lstStyle/>
          <a:p>
            <a:pPr indent="0" marL="0">
              <a:buNone/>
            </a:pPr>
            <a:r>
              <a:rPr lang="en-US" sz="3600" b="1" dirty="0">
                <a:solidFill>
                  <a:srgbClr val="164E57"/>
                </a:solidFill>
                <a:latin typeface="Cambria" pitchFamily="34" charset="0"/>
                <a:ea typeface="Cambria" pitchFamily="34" charset="-122"/>
                <a:cs typeface="Cambria" pitchFamily="34" charset="-120"/>
              </a:rPr>
              <a:t>170 MB</a:t>
            </a:r>
            <a:endParaRPr lang="en-US" sz="3600" dirty="0"/>
          </a:p>
        </p:txBody>
      </p:sp>
      <p:sp>
        <p:nvSpPr>
          <p:cNvPr id="7" name="Text 4"/>
          <p:cNvSpPr txBox="1"/>
          <p:nvPr/>
        </p:nvSpPr>
        <p:spPr>
          <a:xfrm>
            <a:off x="8869680" y="2331720"/>
            <a:ext cx="2499055" cy="64008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device cap per visit — only the device-size model fits</a:t>
            </a:r>
            <a:endParaRPr lang="en-US" sz="1350" dirty="0"/>
          </a:p>
        </p:txBody>
      </p:sp>
      <p:sp>
        <p:nvSpPr>
          <p:cNvPr id="8" name="Text 5"/>
          <p:cNvSpPr txBox="1"/>
          <p:nvPr/>
        </p:nvSpPr>
        <p:spPr>
          <a:xfrm>
            <a:off x="8595360" y="3291840"/>
            <a:ext cx="3047695" cy="25603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Parameters: 83.9M cloud vs 20.7M device.</a:t>
            </a:r>
            <a:endParaRPr lang="en-US" sz="1350" dirty="0"/>
          </a:p>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Frozen tables: ≈ 1 MB each way plus one 81.78 MB download (to be re-measured).</a:t>
            </a:r>
            <a:endParaRPr lang="en-US" sz="1350" dirty="0"/>
          </a:p>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Quality of each option: sealed until the first read.</a:t>
            </a:r>
            <a:endParaRPr lang="en-US" sz="1350" dirty="0"/>
          </a:p>
        </p:txBody>
      </p:sp>
      <p:sp>
        <p:nvSpPr>
          <p:cNvPr id="9" name="Text 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8</a:t>
            </a:r>
            <a:endParaRPr lang="en-US" sz="1000" dirty="0"/>
          </a:p>
        </p:txBody>
      </p:sp>
      <p:sp>
        <p:nvSpPr>
          <p:cNvPr id="10" name="Text 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Architecture lock (bytes per visit); realism audit B12; review synthesis §3.2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4 — FEDERATED VS CLOUD (EARLY WARNING)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Untuned federated learning was far below the cloud</a:t>
            </a:r>
            <a:endParaRPr lang="en-US" sz="3000" dirty="0"/>
          </a:p>
        </p:txBody>
      </p:sp>
      <p:sp>
        <p:nvSpPr>
          <p:cNvPr id="4" name="Shape 2"/>
          <p:cNvSpPr/>
          <p:nvPr/>
        </p:nvSpPr>
        <p:spPr>
          <a:xfrm>
            <a:off x="548640" y="1554480"/>
            <a:ext cx="5394960" cy="2468880"/>
          </a:xfrm>
          <a:prstGeom prst="roundRect">
            <a:avLst>
              <a:gd name="adj" fmla="val 2963"/>
            </a:avLst>
          </a:prstGeom>
          <a:solidFill>
            <a:srgbClr val="D8ECEC"/>
          </a:solidFill>
          <a:ln/>
        </p:spPr>
      </p:sp>
      <p:sp>
        <p:nvSpPr>
          <p:cNvPr id="5" name="Text 3"/>
          <p:cNvSpPr txBox="1"/>
          <p:nvPr/>
        </p:nvSpPr>
        <p:spPr>
          <a:xfrm>
            <a:off x="914400" y="1737360"/>
            <a:ext cx="4663440" cy="822960"/>
          </a:xfrm>
          <a:prstGeom prst="rect">
            <a:avLst/>
          </a:prstGeom>
          <a:noFill/>
          <a:ln/>
        </p:spPr>
        <p:txBody>
          <a:bodyPr wrap="square" lIns="0" tIns="0" rIns="0" bIns="0" rtlCol="0" anchor="t"/>
          <a:lstStyle/>
          <a:p>
            <a:pPr indent="0" marL="0">
              <a:buNone/>
            </a:pPr>
            <a:r>
              <a:rPr lang="en-US" sz="5400" b="1" dirty="0">
                <a:solidFill>
                  <a:srgbClr val="164E57"/>
                </a:solidFill>
                <a:latin typeface="Cambria" pitchFamily="34" charset="0"/>
                <a:ea typeface="Cambria" pitchFamily="34" charset="-122"/>
                <a:cs typeface="Cambria" pitchFamily="34" charset="-120"/>
              </a:rPr>
              <a:t>≈ 25%</a:t>
            </a:r>
            <a:endParaRPr lang="en-US" sz="5400" dirty="0"/>
          </a:p>
        </p:txBody>
      </p:sp>
      <p:sp>
        <p:nvSpPr>
          <p:cNvPr id="6" name="Text 4"/>
          <p:cNvSpPr txBox="1"/>
          <p:nvPr/>
        </p:nvSpPr>
        <p:spPr>
          <a:xfrm>
            <a:off x="914400" y="2697480"/>
            <a:ext cx="4663440" cy="548640"/>
          </a:xfrm>
          <a:prstGeom prst="rect">
            <a:avLst/>
          </a:prstGeom>
          <a:noFill/>
          <a:ln/>
        </p:spPr>
        <p:txBody>
          <a:bodyPr wrap="square" lIns="0" tIns="0" rIns="0" bIns="0" rtlCol="0" anchor="t"/>
          <a:lstStyle/>
          <a:p>
            <a:pPr indent="0" marL="0">
              <a:buNone/>
            </a:pPr>
            <a:r>
              <a:rPr lang="en-US" sz="1700" b="1" dirty="0">
                <a:solidFill>
                  <a:srgbClr val="13262F"/>
                </a:solidFill>
                <a:latin typeface="Calibri" pitchFamily="34" charset="0"/>
                <a:ea typeface="Calibri" pitchFamily="34" charset="-122"/>
                <a:cs typeface="Calibri" pitchFamily="34" charset="-120"/>
              </a:rPr>
              <a:t>Federated (best stage so far) vs a matched central model</a:t>
            </a:r>
            <a:endParaRPr lang="en-US" sz="1700" dirty="0"/>
          </a:p>
        </p:txBody>
      </p:sp>
      <p:sp>
        <p:nvSpPr>
          <p:cNvPr id="7" name="Text 5"/>
          <p:cNvSpPr txBox="1"/>
          <p:nvPr/>
        </p:nvSpPr>
        <p:spPr>
          <a:xfrm>
            <a:off x="914400" y="3291840"/>
            <a:ext cx="4663440" cy="54864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calibration users · 0.0288 vs ≈ 0.11–0.12 (central is an estimate)</a:t>
            </a:r>
            <a:endParaRPr lang="en-US" sz="1350" dirty="0"/>
          </a:p>
        </p:txBody>
      </p:sp>
      <p:sp>
        <p:nvSpPr>
          <p:cNvPr id="8" name="Shape 6"/>
          <p:cNvSpPr/>
          <p:nvPr/>
        </p:nvSpPr>
        <p:spPr>
          <a:xfrm>
            <a:off x="6172200" y="1554480"/>
            <a:ext cx="5394960" cy="2468880"/>
          </a:xfrm>
          <a:prstGeom prst="roundRect">
            <a:avLst>
              <a:gd name="adj" fmla="val 2963"/>
            </a:avLst>
          </a:prstGeom>
          <a:solidFill>
            <a:srgbClr val="FBEBD3"/>
          </a:solidFill>
          <a:ln/>
        </p:spPr>
      </p:sp>
      <p:sp>
        <p:nvSpPr>
          <p:cNvPr id="9" name="Text 7"/>
          <p:cNvSpPr txBox="1"/>
          <p:nvPr/>
        </p:nvSpPr>
        <p:spPr>
          <a:xfrm>
            <a:off x="6537960" y="1737360"/>
            <a:ext cx="4663440" cy="822960"/>
          </a:xfrm>
          <a:prstGeom prst="rect">
            <a:avLst/>
          </a:prstGeom>
          <a:noFill/>
          <a:ln/>
        </p:spPr>
        <p:txBody>
          <a:bodyPr wrap="square" lIns="0" tIns="0" rIns="0" bIns="0" rtlCol="0" anchor="t"/>
          <a:lstStyle/>
          <a:p>
            <a:pPr indent="0" marL="0">
              <a:buNone/>
            </a:pPr>
            <a:r>
              <a:rPr lang="en-US" sz="5400" b="1" dirty="0">
                <a:solidFill>
                  <a:srgbClr val="9A5A0C"/>
                </a:solidFill>
                <a:latin typeface="Cambria" pitchFamily="34" charset="0"/>
                <a:ea typeface="Cambria" pitchFamily="34" charset="-122"/>
                <a:cs typeface="Cambria" pitchFamily="34" charset="-120"/>
              </a:rPr>
              <a:t>≈ 44%</a:t>
            </a:r>
            <a:endParaRPr lang="en-US" sz="5400" dirty="0"/>
          </a:p>
        </p:txBody>
      </p:sp>
      <p:sp>
        <p:nvSpPr>
          <p:cNvPr id="10" name="Text 8"/>
          <p:cNvSpPr txBox="1"/>
          <p:nvPr/>
        </p:nvSpPr>
        <p:spPr>
          <a:xfrm>
            <a:off x="6537960" y="2697480"/>
            <a:ext cx="4663440" cy="548640"/>
          </a:xfrm>
          <a:prstGeom prst="rect">
            <a:avLst/>
          </a:prstGeom>
          <a:noFill/>
          <a:ln/>
        </p:spPr>
        <p:txBody>
          <a:bodyPr wrap="square" lIns="0" tIns="0" rIns="0" bIns="0" rtlCol="0" anchor="t"/>
          <a:lstStyle/>
          <a:p>
            <a:pPr indent="0" marL="0">
              <a:buNone/>
            </a:pPr>
            <a:r>
              <a:rPr lang="en-US" sz="1700" b="1" dirty="0">
                <a:solidFill>
                  <a:srgbClr val="13262F"/>
                </a:solidFill>
                <a:latin typeface="Calibri" pitchFamily="34" charset="0"/>
                <a:ea typeface="Calibri" pitchFamily="34" charset="-122"/>
                <a:cs typeface="Calibri" pitchFamily="34" charset="-120"/>
              </a:rPr>
              <a:t>“Last viewed item” vs the cloud model</a:t>
            </a:r>
            <a:endParaRPr lang="en-US" sz="1700" dirty="0"/>
          </a:p>
        </p:txBody>
      </p:sp>
      <p:sp>
        <p:nvSpPr>
          <p:cNvPr id="11" name="Text 9"/>
          <p:cNvSpPr txBox="1"/>
          <p:nvPr/>
        </p:nvSpPr>
        <p:spPr>
          <a:xfrm>
            <a:off x="6537960" y="3291840"/>
            <a:ext cx="4663440" cy="54864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main validation users · 0.0711 vs 0.1612</a:t>
            </a:r>
            <a:endParaRPr lang="en-US" sz="1350" dirty="0"/>
          </a:p>
        </p:txBody>
      </p:sp>
      <p:sp>
        <p:nvSpPr>
          <p:cNvPr id="12" name="Shape 10"/>
          <p:cNvSpPr/>
          <p:nvPr/>
        </p:nvSpPr>
        <p:spPr>
          <a:xfrm>
            <a:off x="548640" y="4297680"/>
            <a:ext cx="11094415" cy="1508760"/>
          </a:xfrm>
          <a:prstGeom prst="roundRect">
            <a:avLst>
              <a:gd name="adj" fmla="val 4848"/>
            </a:avLst>
          </a:prstGeom>
          <a:solidFill>
            <a:srgbClr val="F1F4F4"/>
          </a:solidFill>
          <a:ln/>
        </p:spPr>
      </p:sp>
      <p:sp>
        <p:nvSpPr>
          <p:cNvPr id="13" name="Text 11"/>
          <p:cNvSpPr txBox="1"/>
          <p:nvPr/>
        </p:nvSpPr>
        <p:spPr>
          <a:xfrm>
            <a:off x="868680" y="4434840"/>
            <a:ext cx="5486400" cy="365760"/>
          </a:xfrm>
          <a:prstGeom prst="rect">
            <a:avLst/>
          </a:prstGeom>
          <a:noFill/>
          <a:ln/>
        </p:spPr>
        <p:txBody>
          <a:bodyPr wrap="square" lIns="0" tIns="0" rIns="0" bIns="0" rtlCol="0" anchor="t"/>
          <a:lstStyle/>
          <a:p>
            <a:pPr indent="0" marL="0">
              <a:buNone/>
            </a:pPr>
            <a:r>
              <a:rPr lang="en-US" sz="1600" b="1" dirty="0">
                <a:solidFill>
                  <a:srgbClr val="13262F"/>
                </a:solidFill>
                <a:latin typeface="Cambria" pitchFamily="34" charset="0"/>
                <a:ea typeface="Cambria" pitchFamily="34" charset="-122"/>
                <a:cs typeface="Cambria" pitchFamily="34" charset="-120"/>
              </a:rPr>
              <a:t>Why, and what we did</a:t>
            </a:r>
            <a:endParaRPr lang="en-US" sz="1600" dirty="0"/>
          </a:p>
        </p:txBody>
      </p:sp>
      <p:sp>
        <p:nvSpPr>
          <p:cNvPr id="14" name="Text 12"/>
          <p:cNvSpPr txBox="1"/>
          <p:nvPr/>
        </p:nvSpPr>
        <p:spPr>
          <a:xfrm>
            <a:off x="868680" y="4800600"/>
            <a:ext cx="10454335" cy="9144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The federated recipe was the cause, not a bug: no server optimizer, a client optimizer restarted every visit, and too small a learning rate. We register a tuning ladder on calibration users only. Different users and budgets, so this is a warning, not a result.</a:t>
            </a:r>
            <a:endParaRPr lang="en-US" sz="1400" dirty="0"/>
          </a:p>
        </p:txBody>
      </p:sp>
      <p:sp>
        <p:nvSpPr>
          <p:cNvPr id="15" name="Text 1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9</a:t>
            </a:r>
            <a:endParaRPr lang="en-US" sz="1000" dirty="0"/>
          </a:p>
        </p:txBody>
      </p:sp>
      <p:sp>
        <p:nvSpPr>
          <p:cNvPr id="16" name="Text 1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review synthesis §1; baselines and contest (decision log 28 Sep)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5 — FEDERATED BEFORE VS AFTER TUNING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Each tuning stage vs the one before: +22.7% so far</a:t>
            </a:r>
            <a:endParaRPr lang="en-US" sz="3000" dirty="0"/>
          </a:p>
        </p:txBody>
      </p:sp>
      <p:graphicFrame>
        <p:nvGraphicFramePr>
          <p:cNvPr id="4" name="Chart 0" descr=""/>
          <p:cNvGraphicFramePr/>
          <p:nvPr/>
        </p:nvGraphicFramePr>
        <p:xfrm>
          <a:off x="548640" y="1371600"/>
          <a:ext cx="621792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49440" y="1417320"/>
            <a:ext cx="4693615" cy="365760"/>
          </a:xfrm>
          <a:prstGeom prst="rect">
            <a:avLst/>
          </a:prstGeom>
          <a:noFill/>
          <a:ln/>
        </p:spPr>
        <p:txBody>
          <a:bodyPr wrap="square" lIns="0" tIns="0" rIns="0" bIns="0" rtlCol="0" anchor="t"/>
          <a:lstStyle/>
          <a:p>
            <a:pPr indent="0" marL="0">
              <a:buNone/>
            </a:pPr>
            <a:r>
              <a:rPr lang="en-US" sz="1600" b="1" dirty="0">
                <a:solidFill>
                  <a:srgbClr val="13262F"/>
                </a:solidFill>
                <a:latin typeface="Cambria" pitchFamily="34" charset="0"/>
                <a:ea typeface="Cambria" pitchFamily="34" charset="-122"/>
                <a:cs typeface="Cambria" pitchFamily="34" charset="-120"/>
              </a:rPr>
              <a:t>Stages</a:t>
            </a:r>
            <a:endParaRPr lang="en-US" sz="1600" dirty="0"/>
          </a:p>
        </p:txBody>
      </p:sp>
      <p:sp>
        <p:nvSpPr>
          <p:cNvPr id="6" name="Text 3"/>
          <p:cNvSpPr txBox="1"/>
          <p:nvPr/>
        </p:nvSpPr>
        <p:spPr>
          <a:xfrm>
            <a:off x="6949440" y="1874520"/>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Client learning rate</a:t>
            </a:r>
            <a:endParaRPr lang="en-US" sz="1400" dirty="0"/>
          </a:p>
        </p:txBody>
      </p:sp>
      <p:sp>
        <p:nvSpPr>
          <p:cNvPr id="7" name="Text 4"/>
          <p:cNvSpPr txBox="1"/>
          <p:nvPr/>
        </p:nvSpPr>
        <p:spPr>
          <a:xfrm>
            <a:off x="9464040" y="1874520"/>
            <a:ext cx="1371600" cy="457200"/>
          </a:xfrm>
          <a:prstGeom prst="rect">
            <a:avLst/>
          </a:prstGeom>
          <a:noFill/>
          <a:ln/>
        </p:spPr>
        <p:txBody>
          <a:bodyPr wrap="square" lIns="0" tIns="0" rIns="0" bIns="0" rtlCol="0" anchor="ctr"/>
          <a:lstStyle/>
          <a:p>
            <a:pPr indent="0" marL="0">
              <a:buNone/>
            </a:pPr>
            <a:r>
              <a:rPr lang="en-US" sz="1150" dirty="0">
                <a:solidFill>
                  <a:srgbClr val="5E6E75"/>
                </a:solidFill>
                <a:latin typeface="Calibri" pitchFamily="34" charset="0"/>
                <a:ea typeface="Calibri" pitchFamily="34" charset="-122"/>
                <a:cs typeface="Calibri" pitchFamily="34" charset="-120"/>
              </a:rPr>
              <a:t>+8.9%, then +12.7%</a:t>
            </a:r>
            <a:endParaRPr lang="en-US" sz="1150" dirty="0"/>
          </a:p>
        </p:txBody>
      </p:sp>
      <p:sp>
        <p:nvSpPr>
          <p:cNvPr id="8" name="Shape 5"/>
          <p:cNvSpPr/>
          <p:nvPr/>
        </p:nvSpPr>
        <p:spPr>
          <a:xfrm>
            <a:off x="10881360" y="1947672"/>
            <a:ext cx="758952" cy="310896"/>
          </a:xfrm>
          <a:prstGeom prst="roundRect">
            <a:avLst>
              <a:gd name="adj" fmla="val 50000"/>
            </a:avLst>
          </a:prstGeom>
          <a:solidFill>
            <a:srgbClr val="5C6B73"/>
          </a:solidFill>
          <a:ln/>
        </p:spPr>
      </p:sp>
      <p:sp>
        <p:nvSpPr>
          <p:cNvPr id="9" name="Text 6"/>
          <p:cNvSpPr txBox="1"/>
          <p:nvPr/>
        </p:nvSpPr>
        <p:spPr>
          <a:xfrm>
            <a:off x="10881360" y="1947672"/>
            <a:ext cx="75895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0" name="Text 7"/>
          <p:cNvSpPr txBox="1"/>
          <p:nvPr/>
        </p:nvSpPr>
        <p:spPr>
          <a:xfrm>
            <a:off x="6949440" y="2441448"/>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Server optimizer</a:t>
            </a:r>
            <a:endParaRPr lang="en-US" sz="1400" dirty="0"/>
          </a:p>
        </p:txBody>
      </p:sp>
      <p:sp>
        <p:nvSpPr>
          <p:cNvPr id="11" name="Text 8"/>
          <p:cNvSpPr txBox="1"/>
          <p:nvPr/>
        </p:nvSpPr>
        <p:spPr>
          <a:xfrm>
            <a:off x="9464040" y="2441448"/>
            <a:ext cx="1371600" cy="457200"/>
          </a:xfrm>
          <a:prstGeom prst="rect">
            <a:avLst/>
          </a:prstGeom>
          <a:noFill/>
          <a:ln/>
        </p:spPr>
        <p:txBody>
          <a:bodyPr wrap="square" lIns="0" tIns="0" rIns="0" bIns="0" rtlCol="0" anchor="ctr"/>
          <a:lstStyle/>
          <a:p>
            <a:pPr indent="0" marL="0">
              <a:buNone/>
            </a:pPr>
            <a:r>
              <a:rPr lang="en-US" sz="1150" dirty="0">
                <a:solidFill>
                  <a:srgbClr val="5E6E75"/>
                </a:solidFill>
                <a:latin typeface="Calibri" pitchFamily="34" charset="0"/>
                <a:ea typeface="Calibri" pitchFamily="34" charset="-122"/>
                <a:cs typeface="Calibri" pitchFamily="34" charset="-120"/>
              </a:rPr>
              <a:t>FedAdam / momentum</a:t>
            </a:r>
            <a:endParaRPr lang="en-US" sz="1150" dirty="0"/>
          </a:p>
        </p:txBody>
      </p:sp>
      <p:sp>
        <p:nvSpPr>
          <p:cNvPr id="12" name="Shape 9"/>
          <p:cNvSpPr/>
          <p:nvPr/>
        </p:nvSpPr>
        <p:spPr>
          <a:xfrm>
            <a:off x="10881360" y="2514600"/>
            <a:ext cx="758952" cy="310896"/>
          </a:xfrm>
          <a:prstGeom prst="roundRect">
            <a:avLst>
              <a:gd name="adj" fmla="val 50000"/>
            </a:avLst>
          </a:prstGeom>
          <a:solidFill>
            <a:srgbClr val="1F7A80"/>
          </a:solidFill>
          <a:ln/>
        </p:spPr>
      </p:sp>
      <p:sp>
        <p:nvSpPr>
          <p:cNvPr id="13" name="Text 10"/>
          <p:cNvSpPr txBox="1"/>
          <p:nvPr/>
        </p:nvSpPr>
        <p:spPr>
          <a:xfrm>
            <a:off x="10881360" y="2514600"/>
            <a:ext cx="75895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4" name="Text 11"/>
          <p:cNvSpPr txBox="1"/>
          <p:nvPr/>
        </p:nvSpPr>
        <p:spPr>
          <a:xfrm>
            <a:off x="6949440" y="3008376"/>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LR shape × client optimizer</a:t>
            </a:r>
            <a:endParaRPr lang="en-US" sz="1400" dirty="0"/>
          </a:p>
        </p:txBody>
      </p:sp>
      <p:sp>
        <p:nvSpPr>
          <p:cNvPr id="15" name="Text 12"/>
          <p:cNvSpPr txBox="1"/>
          <p:nvPr/>
        </p:nvSpPr>
        <p:spPr>
          <a:xfrm>
            <a:off x="9464040" y="3008376"/>
            <a:ext cx="1371600" cy="457200"/>
          </a:xfrm>
          <a:prstGeom prst="rect">
            <a:avLst/>
          </a:prstGeom>
          <a:noFill/>
          <a:ln/>
        </p:spPr>
        <p:txBody>
          <a:bodyPr wrap="square" lIns="0" tIns="0" rIns="0" bIns="0" rtlCol="0" anchor="ctr"/>
          <a:lstStyle/>
          <a:p>
            <a:pPr indent="0" marL="0">
              <a:buNone/>
            </a:pPr>
            <a:endParaRPr lang="en-US" sz="1150" dirty="0"/>
          </a:p>
        </p:txBody>
      </p:sp>
      <p:sp>
        <p:nvSpPr>
          <p:cNvPr id="16" name="Shape 13"/>
          <p:cNvSpPr/>
          <p:nvPr/>
        </p:nvSpPr>
        <p:spPr>
          <a:xfrm>
            <a:off x="10881360" y="3081528"/>
            <a:ext cx="758952" cy="310896"/>
          </a:xfrm>
          <a:prstGeom prst="roundRect">
            <a:avLst>
              <a:gd name="adj" fmla="val 50000"/>
            </a:avLst>
          </a:prstGeom>
          <a:solidFill>
            <a:srgbClr val="E6EAEC"/>
          </a:solidFill>
          <a:ln/>
        </p:spPr>
      </p:sp>
      <p:sp>
        <p:nvSpPr>
          <p:cNvPr id="17" name="Text 14"/>
          <p:cNvSpPr txBox="1"/>
          <p:nvPr/>
        </p:nvSpPr>
        <p:spPr>
          <a:xfrm>
            <a:off x="10881360" y="3081528"/>
            <a:ext cx="758952"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8" name="Text 15"/>
          <p:cNvSpPr txBox="1"/>
          <p:nvPr/>
        </p:nvSpPr>
        <p:spPr>
          <a:xfrm>
            <a:off x="6949440" y="3575304"/>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Local passes and batch</a:t>
            </a:r>
            <a:endParaRPr lang="en-US" sz="1400" dirty="0"/>
          </a:p>
        </p:txBody>
      </p:sp>
      <p:sp>
        <p:nvSpPr>
          <p:cNvPr id="19" name="Text 16"/>
          <p:cNvSpPr txBox="1"/>
          <p:nvPr/>
        </p:nvSpPr>
        <p:spPr>
          <a:xfrm>
            <a:off x="9464040" y="3575304"/>
            <a:ext cx="1371600" cy="457200"/>
          </a:xfrm>
          <a:prstGeom prst="rect">
            <a:avLst/>
          </a:prstGeom>
          <a:noFill/>
          <a:ln/>
        </p:spPr>
        <p:txBody>
          <a:bodyPr wrap="square" lIns="0" tIns="0" rIns="0" bIns="0" rtlCol="0" anchor="ctr"/>
          <a:lstStyle/>
          <a:p>
            <a:pPr indent="0" marL="0">
              <a:buNone/>
            </a:pPr>
            <a:endParaRPr lang="en-US" sz="1150" dirty="0"/>
          </a:p>
        </p:txBody>
      </p:sp>
      <p:sp>
        <p:nvSpPr>
          <p:cNvPr id="20" name="Shape 17"/>
          <p:cNvSpPr/>
          <p:nvPr/>
        </p:nvSpPr>
        <p:spPr>
          <a:xfrm>
            <a:off x="10881360" y="3648456"/>
            <a:ext cx="758952" cy="310896"/>
          </a:xfrm>
          <a:prstGeom prst="roundRect">
            <a:avLst>
              <a:gd name="adj" fmla="val 50000"/>
            </a:avLst>
          </a:prstGeom>
          <a:solidFill>
            <a:srgbClr val="E6EAEC"/>
          </a:solidFill>
          <a:ln/>
        </p:spPr>
      </p:sp>
      <p:sp>
        <p:nvSpPr>
          <p:cNvPr id="21" name="Text 18"/>
          <p:cNvSpPr txBox="1"/>
          <p:nvPr/>
        </p:nvSpPr>
        <p:spPr>
          <a:xfrm>
            <a:off x="10881360" y="3648456"/>
            <a:ext cx="758952"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2" name="Text 19"/>
          <p:cNvSpPr txBox="1"/>
          <p:nvPr/>
        </p:nvSpPr>
        <p:spPr>
          <a:xfrm>
            <a:off x="6949440" y="4142232"/>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Start from a pretrained model</a:t>
            </a:r>
            <a:endParaRPr lang="en-US" sz="1400" dirty="0"/>
          </a:p>
        </p:txBody>
      </p:sp>
      <p:sp>
        <p:nvSpPr>
          <p:cNvPr id="23" name="Text 20"/>
          <p:cNvSpPr txBox="1"/>
          <p:nvPr/>
        </p:nvSpPr>
        <p:spPr>
          <a:xfrm>
            <a:off x="9464040" y="4142232"/>
            <a:ext cx="1371600" cy="457200"/>
          </a:xfrm>
          <a:prstGeom prst="rect">
            <a:avLst/>
          </a:prstGeom>
          <a:noFill/>
          <a:ln/>
        </p:spPr>
        <p:txBody>
          <a:bodyPr wrap="square" lIns="0" tIns="0" rIns="0" bIns="0" rtlCol="0" anchor="ctr"/>
          <a:lstStyle/>
          <a:p>
            <a:pPr indent="0" marL="0">
              <a:buNone/>
            </a:pPr>
            <a:r>
              <a:rPr lang="en-US" sz="1150" dirty="0">
                <a:solidFill>
                  <a:srgbClr val="5E6E75"/>
                </a:solidFill>
                <a:latin typeface="Calibri" pitchFamily="34" charset="0"/>
                <a:ea typeface="Calibri" pitchFamily="34" charset="-122"/>
                <a:cs typeface="Calibri" pitchFamily="34" charset="-120"/>
              </a:rPr>
              <a:t>pretraining</a:t>
            </a:r>
            <a:endParaRPr lang="en-US" sz="1150" dirty="0"/>
          </a:p>
        </p:txBody>
      </p:sp>
      <p:sp>
        <p:nvSpPr>
          <p:cNvPr id="24" name="Shape 21"/>
          <p:cNvSpPr/>
          <p:nvPr/>
        </p:nvSpPr>
        <p:spPr>
          <a:xfrm>
            <a:off x="10881360" y="4215384"/>
            <a:ext cx="758952" cy="310896"/>
          </a:xfrm>
          <a:prstGeom prst="roundRect">
            <a:avLst>
              <a:gd name="adj" fmla="val 50000"/>
            </a:avLst>
          </a:prstGeom>
          <a:solidFill>
            <a:srgbClr val="1F7A80"/>
          </a:solidFill>
          <a:ln/>
        </p:spPr>
      </p:sp>
      <p:sp>
        <p:nvSpPr>
          <p:cNvPr id="25" name="Text 22"/>
          <p:cNvSpPr txBox="1"/>
          <p:nvPr/>
        </p:nvSpPr>
        <p:spPr>
          <a:xfrm>
            <a:off x="10881360" y="4215384"/>
            <a:ext cx="75895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26" name="Text 23"/>
          <p:cNvSpPr txBox="1"/>
          <p:nvPr/>
        </p:nvSpPr>
        <p:spPr>
          <a:xfrm>
            <a:off x="6949440" y="4709160"/>
            <a:ext cx="2514600" cy="4572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Freeze the item tables</a:t>
            </a:r>
            <a:endParaRPr lang="en-US" sz="1400" dirty="0"/>
          </a:p>
        </p:txBody>
      </p:sp>
      <p:sp>
        <p:nvSpPr>
          <p:cNvPr id="27" name="Text 24"/>
          <p:cNvSpPr txBox="1"/>
          <p:nvPr/>
        </p:nvSpPr>
        <p:spPr>
          <a:xfrm>
            <a:off x="9464040" y="4709160"/>
            <a:ext cx="1371600" cy="457200"/>
          </a:xfrm>
          <a:prstGeom prst="rect">
            <a:avLst/>
          </a:prstGeom>
          <a:noFill/>
          <a:ln/>
        </p:spPr>
        <p:txBody>
          <a:bodyPr wrap="square" lIns="0" tIns="0" rIns="0" bIns="0" rtlCol="0" anchor="ctr"/>
          <a:lstStyle/>
          <a:p>
            <a:pPr indent="0" marL="0">
              <a:buNone/>
            </a:pPr>
            <a:endParaRPr lang="en-US" sz="1150" dirty="0"/>
          </a:p>
        </p:txBody>
      </p:sp>
      <p:sp>
        <p:nvSpPr>
          <p:cNvPr id="28" name="Shape 25"/>
          <p:cNvSpPr/>
          <p:nvPr/>
        </p:nvSpPr>
        <p:spPr>
          <a:xfrm>
            <a:off x="10881360" y="4782312"/>
            <a:ext cx="758952" cy="310896"/>
          </a:xfrm>
          <a:prstGeom prst="roundRect">
            <a:avLst>
              <a:gd name="adj" fmla="val 50000"/>
            </a:avLst>
          </a:prstGeom>
          <a:solidFill>
            <a:srgbClr val="E6EAEC"/>
          </a:solidFill>
          <a:ln/>
        </p:spPr>
      </p:sp>
      <p:sp>
        <p:nvSpPr>
          <p:cNvPr id="29" name="Text 26"/>
          <p:cNvSpPr txBox="1"/>
          <p:nvPr/>
        </p:nvSpPr>
        <p:spPr>
          <a:xfrm>
            <a:off x="10881360" y="4782312"/>
            <a:ext cx="758952"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30" name="Text 27"/>
          <p:cNvSpPr txBox="1"/>
          <p:nvPr/>
        </p:nvSpPr>
        <p:spPr>
          <a:xfrm>
            <a:off x="6949440" y="5349240"/>
            <a:ext cx="4693615" cy="548640"/>
          </a:xfrm>
          <a:prstGeom prst="rect">
            <a:avLst/>
          </a:prstGeom>
          <a:noFill/>
          <a:ln/>
        </p:spPr>
        <p:txBody>
          <a:bodyPr wrap="square" lIns="0" tIns="0" rIns="0" bIns="0" rtlCol="0" anchor="t"/>
          <a:lstStyle/>
          <a:p>
            <a:pPr indent="0" marL="0">
              <a:buNone/>
            </a:pPr>
            <a:r>
              <a:rPr lang="en-US" sz="1250" i="1" dirty="0">
                <a:solidFill>
                  <a:srgbClr val="5E6E75"/>
                </a:solidFill>
                <a:latin typeface="Calibri" pitchFamily="34" charset="0"/>
                <a:ea typeface="Calibri" pitchFamily="34" charset="-122"/>
                <a:cs typeface="Calibri" pitchFamily="34" charset="-120"/>
              </a:rPr>
              <a:t>A stage is kept only if it gains ≥ 0.002. Main-cohort values of each stage are sealed until the final read.</a:t>
            </a:r>
            <a:endParaRPr lang="en-US" sz="1250" dirty="0"/>
          </a:p>
        </p:txBody>
      </p:sp>
      <p:sp>
        <p:nvSpPr>
          <p:cNvPr id="31"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10</a:t>
            </a:r>
            <a:endParaRPr lang="en-US" sz="1000" dirty="0"/>
          </a:p>
        </p:txBody>
      </p:sp>
      <p:sp>
        <p:nvSpPr>
          <p:cNvPr id="32" name="Text 2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ladder stage registrations; decision log 29 Sep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COMPARISON 6 — THE COST OF PRIVACY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No DP vs ε = 8 vs ε = 1, all on the same federated recipe</a:t>
            </a:r>
            <a:endParaRPr lang="en-US" sz="3000" dirty="0"/>
          </a:p>
        </p:txBody>
      </p:sp>
      <p:sp>
        <p:nvSpPr>
          <p:cNvPr id="4" name="Shape 2"/>
          <p:cNvSpPr/>
          <p:nvPr/>
        </p:nvSpPr>
        <p:spPr>
          <a:xfrm>
            <a:off x="548640" y="1508760"/>
            <a:ext cx="3515258" cy="2377440"/>
          </a:xfrm>
          <a:prstGeom prst="roundRect">
            <a:avLst>
              <a:gd name="adj" fmla="val 3077"/>
            </a:avLst>
          </a:prstGeom>
          <a:solidFill>
            <a:srgbClr val="E6EAEC"/>
          </a:solidFill>
          <a:ln/>
        </p:spPr>
      </p:sp>
      <p:sp>
        <p:nvSpPr>
          <p:cNvPr id="5" name="Text 3"/>
          <p:cNvSpPr txBox="1"/>
          <p:nvPr/>
        </p:nvSpPr>
        <p:spPr>
          <a:xfrm>
            <a:off x="822960" y="1691640"/>
            <a:ext cx="2966618" cy="274320"/>
          </a:xfrm>
          <a:prstGeom prst="rect">
            <a:avLst/>
          </a:prstGeom>
          <a:noFill/>
          <a:ln/>
        </p:spPr>
        <p:txBody>
          <a:bodyPr wrap="square" lIns="0" tIns="0" rIns="0" bIns="0" rtlCol="0" anchor="t"/>
          <a:lstStyle/>
          <a:p>
            <a:pPr indent="0" marL="0">
              <a:buNone/>
            </a:pPr>
            <a:r>
              <a:rPr lang="en-US" sz="1200" b="1" spc="200" kern="0" dirty="0">
                <a:solidFill>
                  <a:srgbClr val="5C6B73"/>
                </a:solidFill>
                <a:latin typeface="Calibri" pitchFamily="34" charset="0"/>
                <a:ea typeface="Calibri" pitchFamily="34" charset="-122"/>
                <a:cs typeface="Calibri" pitchFamily="34" charset="-120"/>
              </a:rPr>
              <a:t>NO DP</a:t>
            </a:r>
            <a:endParaRPr lang="en-US" sz="1200" dirty="0"/>
          </a:p>
        </p:txBody>
      </p:sp>
      <p:sp>
        <p:nvSpPr>
          <p:cNvPr id="6" name="Text 4"/>
          <p:cNvSpPr txBox="1"/>
          <p:nvPr/>
        </p:nvSpPr>
        <p:spPr>
          <a:xfrm>
            <a:off x="822960" y="2011680"/>
            <a:ext cx="2966618" cy="731520"/>
          </a:xfrm>
          <a:prstGeom prst="rect">
            <a:avLst/>
          </a:prstGeom>
          <a:noFill/>
          <a:ln/>
        </p:spPr>
        <p:txBody>
          <a:bodyPr wrap="square" lIns="0" tIns="0" rIns="0" bIns="0" rtlCol="0" anchor="t"/>
          <a:lstStyle/>
          <a:p>
            <a:pPr indent="0" marL="0">
              <a:buNone/>
            </a:pPr>
            <a:r>
              <a:rPr lang="en-US" sz="4000" b="1" dirty="0">
                <a:solidFill>
                  <a:srgbClr val="13262F"/>
                </a:solidFill>
                <a:latin typeface="Cambria" pitchFamily="34" charset="0"/>
                <a:ea typeface="Cambria" pitchFamily="34" charset="-122"/>
                <a:cs typeface="Cambria" pitchFamily="34" charset="-120"/>
              </a:rPr>
              <a:t>ε = ∞</a:t>
            </a:r>
            <a:endParaRPr lang="en-US" sz="4000" dirty="0"/>
          </a:p>
        </p:txBody>
      </p:sp>
      <p:sp>
        <p:nvSpPr>
          <p:cNvPr id="7" name="Text 5"/>
          <p:cNvSpPr txBox="1"/>
          <p:nvPr/>
        </p:nvSpPr>
        <p:spPr>
          <a:xfrm>
            <a:off x="822960" y="2834640"/>
            <a:ext cx="2966618" cy="82296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Updates can reveal which products a user viewed</a:t>
            </a:r>
            <a:endParaRPr lang="en-US" sz="1400" dirty="0"/>
          </a:p>
        </p:txBody>
      </p:sp>
      <p:sp>
        <p:nvSpPr>
          <p:cNvPr id="8" name="Shape 6"/>
          <p:cNvSpPr/>
          <p:nvPr/>
        </p:nvSpPr>
        <p:spPr>
          <a:xfrm>
            <a:off x="822960" y="3474720"/>
            <a:ext cx="1645920" cy="310896"/>
          </a:xfrm>
          <a:prstGeom prst="roundRect">
            <a:avLst>
              <a:gd name="adj" fmla="val 50000"/>
            </a:avLst>
          </a:prstGeom>
          <a:solidFill>
            <a:srgbClr val="FBEBD3"/>
          </a:solidFill>
          <a:ln w="12700">
            <a:solidFill>
              <a:srgbClr val="E0932B"/>
            </a:solidFill>
            <a:prstDash val="solid"/>
          </a:ln>
        </p:spPr>
      </p:sp>
      <p:sp>
        <p:nvSpPr>
          <p:cNvPr id="9" name="Text 7"/>
          <p:cNvSpPr txBox="1"/>
          <p:nvPr/>
        </p:nvSpPr>
        <p:spPr>
          <a:xfrm>
            <a:off x="822960" y="3474720"/>
            <a:ext cx="16459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quality: sealed</a:t>
            </a:r>
            <a:endParaRPr lang="en-US" sz="1100" dirty="0"/>
          </a:p>
        </p:txBody>
      </p:sp>
      <p:sp>
        <p:nvSpPr>
          <p:cNvPr id="10" name="Shape 8"/>
          <p:cNvSpPr/>
          <p:nvPr/>
        </p:nvSpPr>
        <p:spPr>
          <a:xfrm>
            <a:off x="4338218" y="1508760"/>
            <a:ext cx="3515258" cy="2377440"/>
          </a:xfrm>
          <a:prstGeom prst="roundRect">
            <a:avLst>
              <a:gd name="adj" fmla="val 3077"/>
            </a:avLst>
          </a:prstGeom>
          <a:solidFill>
            <a:srgbClr val="D8ECEC"/>
          </a:solidFill>
          <a:ln/>
        </p:spPr>
      </p:sp>
      <p:sp>
        <p:nvSpPr>
          <p:cNvPr id="11" name="Text 9"/>
          <p:cNvSpPr txBox="1"/>
          <p:nvPr/>
        </p:nvSpPr>
        <p:spPr>
          <a:xfrm>
            <a:off x="4612538" y="1691640"/>
            <a:ext cx="2966618" cy="274320"/>
          </a:xfrm>
          <a:prstGeom prst="rect">
            <a:avLst/>
          </a:prstGeom>
          <a:noFill/>
          <a:ln/>
        </p:spPr>
        <p:txBody>
          <a:bodyPr wrap="square" lIns="0" tIns="0" rIns="0" bIns="0" rtlCol="0" anchor="t"/>
          <a:lstStyle/>
          <a:p>
            <a:pPr indent="0" marL="0">
              <a:buNone/>
            </a:pPr>
            <a:r>
              <a:rPr lang="en-US" sz="1200" b="1" spc="200" kern="0" dirty="0">
                <a:solidFill>
                  <a:srgbClr val="1F7A80"/>
                </a:solidFill>
                <a:latin typeface="Calibri" pitchFamily="34" charset="0"/>
                <a:ea typeface="Calibri" pitchFamily="34" charset="-122"/>
                <a:cs typeface="Calibri" pitchFamily="34" charset="-120"/>
              </a:rPr>
              <a:t>MODERATE</a:t>
            </a:r>
            <a:endParaRPr lang="en-US" sz="1200" dirty="0"/>
          </a:p>
        </p:txBody>
      </p:sp>
      <p:sp>
        <p:nvSpPr>
          <p:cNvPr id="12" name="Text 10"/>
          <p:cNvSpPr txBox="1"/>
          <p:nvPr/>
        </p:nvSpPr>
        <p:spPr>
          <a:xfrm>
            <a:off x="4612538" y="2011680"/>
            <a:ext cx="2966618" cy="731520"/>
          </a:xfrm>
          <a:prstGeom prst="rect">
            <a:avLst/>
          </a:prstGeom>
          <a:noFill/>
          <a:ln/>
        </p:spPr>
        <p:txBody>
          <a:bodyPr wrap="square" lIns="0" tIns="0" rIns="0" bIns="0" rtlCol="0" anchor="t"/>
          <a:lstStyle/>
          <a:p>
            <a:pPr indent="0" marL="0">
              <a:buNone/>
            </a:pPr>
            <a:r>
              <a:rPr lang="en-US" sz="4000" b="1" dirty="0">
                <a:solidFill>
                  <a:srgbClr val="13262F"/>
                </a:solidFill>
                <a:latin typeface="Cambria" pitchFamily="34" charset="0"/>
                <a:ea typeface="Cambria" pitchFamily="34" charset="-122"/>
                <a:cs typeface="Cambria" pitchFamily="34" charset="-120"/>
              </a:rPr>
              <a:t>ε = 8</a:t>
            </a:r>
            <a:endParaRPr lang="en-US" sz="4000" dirty="0"/>
          </a:p>
        </p:txBody>
      </p:sp>
      <p:sp>
        <p:nvSpPr>
          <p:cNvPr id="13" name="Text 11"/>
          <p:cNvSpPr txBox="1"/>
          <p:nvPr/>
        </p:nvSpPr>
        <p:spPr>
          <a:xfrm>
            <a:off x="4612538" y="2834640"/>
            <a:ext cx="2966618" cy="82296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Noise multiplier 0.5642</a:t>
            </a:r>
            <a:endParaRPr lang="en-US" sz="1400" dirty="0"/>
          </a:p>
        </p:txBody>
      </p:sp>
      <p:sp>
        <p:nvSpPr>
          <p:cNvPr id="14" name="Shape 12"/>
          <p:cNvSpPr/>
          <p:nvPr/>
        </p:nvSpPr>
        <p:spPr>
          <a:xfrm>
            <a:off x="4612538" y="3474720"/>
            <a:ext cx="1645920" cy="310896"/>
          </a:xfrm>
          <a:prstGeom prst="roundRect">
            <a:avLst>
              <a:gd name="adj" fmla="val 50000"/>
            </a:avLst>
          </a:prstGeom>
          <a:solidFill>
            <a:srgbClr val="FBEBD3"/>
          </a:solidFill>
          <a:ln w="12700">
            <a:solidFill>
              <a:srgbClr val="E0932B"/>
            </a:solidFill>
            <a:prstDash val="solid"/>
          </a:ln>
        </p:spPr>
      </p:sp>
      <p:sp>
        <p:nvSpPr>
          <p:cNvPr id="15" name="Text 13"/>
          <p:cNvSpPr txBox="1"/>
          <p:nvPr/>
        </p:nvSpPr>
        <p:spPr>
          <a:xfrm>
            <a:off x="4612538" y="3474720"/>
            <a:ext cx="16459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quality: sealed</a:t>
            </a:r>
            <a:endParaRPr lang="en-US" sz="1100" dirty="0"/>
          </a:p>
        </p:txBody>
      </p:sp>
      <p:sp>
        <p:nvSpPr>
          <p:cNvPr id="16" name="Shape 14"/>
          <p:cNvSpPr/>
          <p:nvPr/>
        </p:nvSpPr>
        <p:spPr>
          <a:xfrm>
            <a:off x="8127797" y="1508760"/>
            <a:ext cx="3515258" cy="2377440"/>
          </a:xfrm>
          <a:prstGeom prst="roundRect">
            <a:avLst>
              <a:gd name="adj" fmla="val 3077"/>
            </a:avLst>
          </a:prstGeom>
          <a:solidFill>
            <a:srgbClr val="D8ECEC"/>
          </a:solidFill>
          <a:ln/>
        </p:spPr>
      </p:sp>
      <p:sp>
        <p:nvSpPr>
          <p:cNvPr id="17" name="Text 15"/>
          <p:cNvSpPr txBox="1"/>
          <p:nvPr/>
        </p:nvSpPr>
        <p:spPr>
          <a:xfrm>
            <a:off x="8402117" y="1691640"/>
            <a:ext cx="2966618" cy="274320"/>
          </a:xfrm>
          <a:prstGeom prst="rect">
            <a:avLst/>
          </a:prstGeom>
          <a:noFill/>
          <a:ln/>
        </p:spPr>
        <p:txBody>
          <a:bodyPr wrap="square" lIns="0" tIns="0" rIns="0" bIns="0" rtlCol="0" anchor="t"/>
          <a:lstStyle/>
          <a:p>
            <a:pPr indent="0" marL="0">
              <a:buNone/>
            </a:pPr>
            <a:r>
              <a:rPr lang="en-US" sz="1200" b="1" spc="200" kern="0" dirty="0">
                <a:solidFill>
                  <a:srgbClr val="164E57"/>
                </a:solidFill>
                <a:latin typeface="Calibri" pitchFamily="34" charset="0"/>
                <a:ea typeface="Calibri" pitchFamily="34" charset="-122"/>
                <a:cs typeface="Calibri" pitchFamily="34" charset="-120"/>
              </a:rPr>
              <a:t>STRONG</a:t>
            </a:r>
            <a:endParaRPr lang="en-US" sz="1200" dirty="0"/>
          </a:p>
        </p:txBody>
      </p:sp>
      <p:sp>
        <p:nvSpPr>
          <p:cNvPr id="18" name="Text 16"/>
          <p:cNvSpPr txBox="1"/>
          <p:nvPr/>
        </p:nvSpPr>
        <p:spPr>
          <a:xfrm>
            <a:off x="8402117" y="2011680"/>
            <a:ext cx="2966618" cy="731520"/>
          </a:xfrm>
          <a:prstGeom prst="rect">
            <a:avLst/>
          </a:prstGeom>
          <a:noFill/>
          <a:ln/>
        </p:spPr>
        <p:txBody>
          <a:bodyPr wrap="square" lIns="0" tIns="0" rIns="0" bIns="0" rtlCol="0" anchor="t"/>
          <a:lstStyle/>
          <a:p>
            <a:pPr indent="0" marL="0">
              <a:buNone/>
            </a:pPr>
            <a:r>
              <a:rPr lang="en-US" sz="4000" b="1" dirty="0">
                <a:solidFill>
                  <a:srgbClr val="13262F"/>
                </a:solidFill>
                <a:latin typeface="Cambria" pitchFamily="34" charset="0"/>
                <a:ea typeface="Cambria" pitchFamily="34" charset="-122"/>
                <a:cs typeface="Cambria" pitchFamily="34" charset="-120"/>
              </a:rPr>
              <a:t>ε = 1</a:t>
            </a:r>
            <a:endParaRPr lang="en-US" sz="4000" dirty="0"/>
          </a:p>
        </p:txBody>
      </p:sp>
      <p:sp>
        <p:nvSpPr>
          <p:cNvPr id="19" name="Text 17"/>
          <p:cNvSpPr txBox="1"/>
          <p:nvPr/>
        </p:nvSpPr>
        <p:spPr>
          <a:xfrm>
            <a:off x="8402117" y="2834640"/>
            <a:ext cx="2966618" cy="82296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Noise multiplier 1.3094</a:t>
            </a:r>
            <a:endParaRPr lang="en-US" sz="1400" dirty="0"/>
          </a:p>
        </p:txBody>
      </p:sp>
      <p:sp>
        <p:nvSpPr>
          <p:cNvPr id="20" name="Shape 18"/>
          <p:cNvSpPr/>
          <p:nvPr/>
        </p:nvSpPr>
        <p:spPr>
          <a:xfrm>
            <a:off x="8402117" y="3474720"/>
            <a:ext cx="1645920" cy="310896"/>
          </a:xfrm>
          <a:prstGeom prst="roundRect">
            <a:avLst>
              <a:gd name="adj" fmla="val 50000"/>
            </a:avLst>
          </a:prstGeom>
          <a:solidFill>
            <a:srgbClr val="FBEBD3"/>
          </a:solidFill>
          <a:ln w="12700">
            <a:solidFill>
              <a:srgbClr val="E0932B"/>
            </a:solidFill>
            <a:prstDash val="solid"/>
          </a:ln>
        </p:spPr>
      </p:sp>
      <p:sp>
        <p:nvSpPr>
          <p:cNvPr id="21" name="Text 19"/>
          <p:cNvSpPr txBox="1"/>
          <p:nvPr/>
        </p:nvSpPr>
        <p:spPr>
          <a:xfrm>
            <a:off x="8402117" y="3474720"/>
            <a:ext cx="16459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quality: sealed</a:t>
            </a:r>
            <a:endParaRPr lang="en-US" sz="1100" dirty="0"/>
          </a:p>
        </p:txBody>
      </p:sp>
      <p:sp>
        <p:nvSpPr>
          <p:cNvPr id="22" name="Shape 20"/>
          <p:cNvSpPr/>
          <p:nvPr/>
        </p:nvSpPr>
        <p:spPr>
          <a:xfrm>
            <a:off x="548640" y="4114800"/>
            <a:ext cx="11094415" cy="320040"/>
          </a:xfrm>
          <a:prstGeom prst="rightArrow">
            <a:avLst/>
          </a:prstGeom>
          <a:solidFill>
            <a:srgbClr val="D8ECEC"/>
          </a:solidFill>
          <a:ln/>
        </p:spPr>
      </p:sp>
      <p:sp>
        <p:nvSpPr>
          <p:cNvPr id="23" name="Text 21"/>
          <p:cNvSpPr txBox="1"/>
          <p:nvPr/>
        </p:nvSpPr>
        <p:spPr>
          <a:xfrm>
            <a:off x="731520" y="4114800"/>
            <a:ext cx="2743200" cy="320040"/>
          </a:xfrm>
          <a:prstGeom prst="rect">
            <a:avLst/>
          </a:prstGeom>
          <a:noFill/>
          <a:ln/>
        </p:spPr>
        <p:txBody>
          <a:bodyPr wrap="square" lIns="0" tIns="0" rIns="0" bIns="0" rtlCol="0" anchor="ctr"/>
          <a:lstStyle/>
          <a:p>
            <a:pPr indent="0" marL="0">
              <a:buNone/>
            </a:pPr>
            <a:r>
              <a:rPr lang="en-US" sz="1200" b="1" dirty="0">
                <a:solidFill>
                  <a:srgbClr val="164E57"/>
                </a:solidFill>
                <a:latin typeface="Calibri" pitchFamily="34" charset="0"/>
                <a:ea typeface="Calibri" pitchFamily="34" charset="-122"/>
                <a:cs typeface="Calibri" pitchFamily="34" charset="-120"/>
              </a:rPr>
              <a:t>more privacy →</a:t>
            </a:r>
            <a:endParaRPr lang="en-US" sz="1200" dirty="0"/>
          </a:p>
        </p:txBody>
      </p:sp>
      <p:sp>
        <p:nvSpPr>
          <p:cNvPr id="24" name="Text 22"/>
          <p:cNvSpPr txBox="1"/>
          <p:nvPr/>
        </p:nvSpPr>
        <p:spPr>
          <a:xfrm>
            <a:off x="548640" y="4663440"/>
            <a:ext cx="11094415"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Guarantee: one user's whole history barely changes the released model (client-level, δ = 5 × 10⁻⁶).</a:t>
            </a:r>
            <a:endParaRPr lang="en-US" sz="1400" dirty="0"/>
          </a:p>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Adversary: an honest-but-curious browser vendor. Secure aggregation is not simulated — stated as a limitation.</a:t>
            </a:r>
            <a:endParaRPr lang="en-US" sz="1400" dirty="0"/>
          </a:p>
        </p:txBody>
      </p:sp>
      <p:sp>
        <p:nvSpPr>
          <p:cNvPr id="25" name="Text 2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11</a:t>
            </a:r>
            <a:endParaRPr lang="en-US" sz="1000" dirty="0"/>
          </a:p>
        </p:txBody>
      </p:sp>
      <p:sp>
        <p:nvSpPr>
          <p:cNvPr id="26" name="Text 2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statement and threat model (registered); independent check of the DP noise multipliers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2</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far should each comparison go?</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ε = 8 and ε = 1 enough, or do you want a privacy curve?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Adding ε = 4 costs one more registered run (about half a day, estimate).</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How much tuning effort is fair for federated learning?</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ladder stops when a stage gains &lt; 0.002. Stop earlier and spend the time on the pretrained branch?</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tuned federated is still below “last viewed item”, how do we present it?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plan: report it plainly as a finding about this recipe and budget.</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12</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comparisons 4–6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PROPOSAL VS NOW</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changed, in one view</a:t>
            </a:r>
            <a:endParaRPr lang="en-US" sz="3000" dirty="0"/>
          </a:p>
        </p:txBody>
      </p:sp>
      <p:sp>
        <p:nvSpPr>
          <p:cNvPr id="4" name="Shape 2"/>
          <p:cNvSpPr/>
          <p:nvPr/>
        </p:nvSpPr>
        <p:spPr>
          <a:xfrm>
            <a:off x="2377440" y="1417320"/>
            <a:ext cx="1463040" cy="292608"/>
          </a:xfrm>
          <a:prstGeom prst="roundRect">
            <a:avLst>
              <a:gd name="adj" fmla="val 50000"/>
            </a:avLst>
          </a:prstGeom>
          <a:solidFill>
            <a:srgbClr val="5C6B73"/>
          </a:solidFill>
          <a:ln/>
        </p:spPr>
      </p:sp>
      <p:sp>
        <p:nvSpPr>
          <p:cNvPr id="5" name="Text 3"/>
          <p:cNvSpPr txBox="1"/>
          <p:nvPr/>
        </p:nvSpPr>
        <p:spPr>
          <a:xfrm>
            <a:off x="2377440" y="1417320"/>
            <a:ext cx="14630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Proposal</a:t>
            </a:r>
            <a:endParaRPr lang="en-US" sz="1100" dirty="0"/>
          </a:p>
        </p:txBody>
      </p:sp>
      <p:sp>
        <p:nvSpPr>
          <p:cNvPr id="6" name="Shape 4"/>
          <p:cNvSpPr/>
          <p:nvPr/>
        </p:nvSpPr>
        <p:spPr>
          <a:xfrm>
            <a:off x="6766560" y="1417320"/>
            <a:ext cx="1463040" cy="292608"/>
          </a:xfrm>
          <a:prstGeom prst="roundRect">
            <a:avLst>
              <a:gd name="adj" fmla="val 50000"/>
            </a:avLst>
          </a:prstGeom>
          <a:solidFill>
            <a:srgbClr val="1F7A80"/>
          </a:solidFill>
          <a:ln/>
        </p:spPr>
      </p:sp>
      <p:sp>
        <p:nvSpPr>
          <p:cNvPr id="7" name="Text 5"/>
          <p:cNvSpPr txBox="1"/>
          <p:nvPr/>
        </p:nvSpPr>
        <p:spPr>
          <a:xfrm>
            <a:off x="6766560" y="1417320"/>
            <a:ext cx="14630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Now</a:t>
            </a:r>
            <a:endParaRPr lang="en-US" sz="1100" dirty="0"/>
          </a:p>
        </p:txBody>
      </p:sp>
      <p:sp>
        <p:nvSpPr>
          <p:cNvPr id="8" name="Shape 6"/>
          <p:cNvSpPr/>
          <p:nvPr/>
        </p:nvSpPr>
        <p:spPr>
          <a:xfrm>
            <a:off x="548640" y="1874520"/>
            <a:ext cx="11094415" cy="685800"/>
          </a:xfrm>
          <a:prstGeom prst="rect">
            <a:avLst/>
          </a:prstGeom>
          <a:solidFill>
            <a:srgbClr val="F1F4F4"/>
          </a:solidFill>
          <a:ln/>
        </p:spPr>
      </p:sp>
      <p:sp>
        <p:nvSpPr>
          <p:cNvPr id="9" name="Text 7"/>
          <p:cNvSpPr txBox="1"/>
          <p:nvPr/>
        </p:nvSpPr>
        <p:spPr>
          <a:xfrm>
            <a:off x="685800" y="1874520"/>
            <a:ext cx="1645920" cy="68580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Dataset</a:t>
            </a:r>
            <a:endParaRPr lang="en-US" sz="1500" dirty="0"/>
          </a:p>
        </p:txBody>
      </p:sp>
      <p:sp>
        <p:nvSpPr>
          <p:cNvPr id="10" name="Text 8"/>
          <p:cNvSpPr txBox="1"/>
          <p:nvPr/>
        </p:nvSpPr>
        <p:spPr>
          <a:xfrm>
            <a:off x="2377440" y="1874520"/>
            <a:ext cx="4206240" cy="68580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Criteo, MovieLens, Amazon, Taobao, RetailRocket</a:t>
            </a:r>
            <a:endParaRPr lang="en-US" sz="1400" dirty="0"/>
          </a:p>
        </p:txBody>
      </p:sp>
      <p:sp>
        <p:nvSpPr>
          <p:cNvPr id="11" name="Text 9"/>
          <p:cNvSpPr txBox="1"/>
          <p:nvPr/>
        </p:nvSpPr>
        <p:spPr>
          <a:xfrm>
            <a:off x="6766560" y="1874520"/>
            <a:ext cx="4873752" cy="6858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REES46 shopping events (per-user, timestamped)</a:t>
            </a:r>
            <a:endParaRPr lang="en-US" sz="1400" dirty="0"/>
          </a:p>
        </p:txBody>
      </p:sp>
      <p:sp>
        <p:nvSpPr>
          <p:cNvPr id="12" name="Shape 10"/>
          <p:cNvSpPr/>
          <p:nvPr/>
        </p:nvSpPr>
        <p:spPr>
          <a:xfrm>
            <a:off x="548640" y="2651760"/>
            <a:ext cx="11094415" cy="685800"/>
          </a:xfrm>
          <a:prstGeom prst="rect">
            <a:avLst/>
          </a:prstGeom>
          <a:solidFill>
            <a:srgbClr val="FFFFFF"/>
          </a:solidFill>
          <a:ln/>
        </p:spPr>
      </p:sp>
      <p:sp>
        <p:nvSpPr>
          <p:cNvPr id="13" name="Text 11"/>
          <p:cNvSpPr txBox="1"/>
          <p:nvPr/>
        </p:nvSpPr>
        <p:spPr>
          <a:xfrm>
            <a:off x="685800" y="2651760"/>
            <a:ext cx="1645920" cy="68580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Task</a:t>
            </a:r>
            <a:endParaRPr lang="en-US" sz="1500" dirty="0"/>
          </a:p>
        </p:txBody>
      </p:sp>
      <p:sp>
        <p:nvSpPr>
          <p:cNvPr id="14" name="Text 12"/>
          <p:cNvSpPr txBox="1"/>
          <p:nvPr/>
        </p:nvSpPr>
        <p:spPr>
          <a:xfrm>
            <a:off x="2377440" y="2651760"/>
            <a:ext cx="4206240" cy="68580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Next category, purchase, offers</a:t>
            </a:r>
            <a:endParaRPr lang="en-US" sz="1400" dirty="0"/>
          </a:p>
        </p:txBody>
      </p:sp>
      <p:sp>
        <p:nvSpPr>
          <p:cNvPr id="15" name="Text 13"/>
          <p:cNvSpPr txBox="1"/>
          <p:nvPr/>
        </p:nvSpPr>
        <p:spPr>
          <a:xfrm>
            <a:off x="6766560" y="2651760"/>
            <a:ext cx="4873752" cy="6858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Next product viewed, over all 158,486 products</a:t>
            </a:r>
            <a:endParaRPr lang="en-US" sz="1400" dirty="0"/>
          </a:p>
        </p:txBody>
      </p:sp>
      <p:sp>
        <p:nvSpPr>
          <p:cNvPr id="16" name="Shape 14"/>
          <p:cNvSpPr/>
          <p:nvPr/>
        </p:nvSpPr>
        <p:spPr>
          <a:xfrm>
            <a:off x="548640" y="3429000"/>
            <a:ext cx="11094415" cy="685800"/>
          </a:xfrm>
          <a:prstGeom prst="rect">
            <a:avLst/>
          </a:prstGeom>
          <a:solidFill>
            <a:srgbClr val="F1F4F4"/>
          </a:solidFill>
          <a:ln/>
        </p:spPr>
      </p:sp>
      <p:sp>
        <p:nvSpPr>
          <p:cNvPr id="17" name="Text 15"/>
          <p:cNvSpPr txBox="1"/>
          <p:nvPr/>
        </p:nvSpPr>
        <p:spPr>
          <a:xfrm>
            <a:off x="685800" y="3429000"/>
            <a:ext cx="1645920" cy="68580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Metric</a:t>
            </a:r>
            <a:endParaRPr lang="en-US" sz="1500" dirty="0"/>
          </a:p>
        </p:txBody>
      </p:sp>
      <p:sp>
        <p:nvSpPr>
          <p:cNvPr id="18" name="Text 16"/>
          <p:cNvSpPr txBox="1"/>
          <p:nvPr/>
        </p:nvSpPr>
        <p:spPr>
          <a:xfrm>
            <a:off x="2377440" y="3429000"/>
            <a:ext cx="4206240" cy="68580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NDCG@10, HR@10, AUC</a:t>
            </a:r>
            <a:endParaRPr lang="en-US" sz="1400" dirty="0"/>
          </a:p>
        </p:txBody>
      </p:sp>
      <p:sp>
        <p:nvSpPr>
          <p:cNvPr id="19" name="Text 17"/>
          <p:cNvSpPr txBox="1"/>
          <p:nvPr/>
        </p:nvSpPr>
        <p:spPr>
          <a:xfrm>
            <a:off x="6766560" y="3429000"/>
            <a:ext cx="4873752" cy="6858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MRR@20 per user (+ NDCG@10, HR@10)</a:t>
            </a:r>
            <a:endParaRPr lang="en-US" sz="1400" dirty="0"/>
          </a:p>
        </p:txBody>
      </p:sp>
      <p:sp>
        <p:nvSpPr>
          <p:cNvPr id="20" name="Shape 18"/>
          <p:cNvSpPr/>
          <p:nvPr/>
        </p:nvSpPr>
        <p:spPr>
          <a:xfrm>
            <a:off x="548640" y="4206240"/>
            <a:ext cx="11094415" cy="685800"/>
          </a:xfrm>
          <a:prstGeom prst="rect">
            <a:avLst/>
          </a:prstGeom>
          <a:solidFill>
            <a:srgbClr val="FFFFFF"/>
          </a:solidFill>
          <a:ln/>
        </p:spPr>
      </p:sp>
      <p:sp>
        <p:nvSpPr>
          <p:cNvPr id="21" name="Text 19"/>
          <p:cNvSpPr txBox="1"/>
          <p:nvPr/>
        </p:nvSpPr>
        <p:spPr>
          <a:xfrm>
            <a:off x="685800" y="4206240"/>
            <a:ext cx="1645920" cy="68580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Federated</a:t>
            </a:r>
            <a:endParaRPr lang="en-US" sz="1500" dirty="0"/>
          </a:p>
        </p:txBody>
      </p:sp>
      <p:sp>
        <p:nvSpPr>
          <p:cNvPr id="22" name="Text 20"/>
          <p:cNvSpPr txBox="1"/>
          <p:nvPr/>
        </p:nvSpPr>
        <p:spPr>
          <a:xfrm>
            <a:off x="2377440" y="4206240"/>
            <a:ext cx="4206240" cy="68580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FedAvg, FedProx, FedBN, personalised</a:t>
            </a:r>
            <a:endParaRPr lang="en-US" sz="1400" dirty="0"/>
          </a:p>
        </p:txBody>
      </p:sp>
      <p:sp>
        <p:nvSpPr>
          <p:cNvPr id="23" name="Text 21"/>
          <p:cNvSpPr txBox="1"/>
          <p:nvPr/>
        </p:nvSpPr>
        <p:spPr>
          <a:xfrm>
            <a:off x="6766560" y="4206240"/>
            <a:ext cx="4873752" cy="6858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FedAvg, FedProx, personalised, 8-bit; FedBN n/a (layer norm)</a:t>
            </a:r>
            <a:endParaRPr lang="en-US" sz="1400" dirty="0"/>
          </a:p>
        </p:txBody>
      </p:sp>
      <p:sp>
        <p:nvSpPr>
          <p:cNvPr id="24" name="Shape 22"/>
          <p:cNvSpPr/>
          <p:nvPr/>
        </p:nvSpPr>
        <p:spPr>
          <a:xfrm>
            <a:off x="548640" y="4983480"/>
            <a:ext cx="11094415" cy="685800"/>
          </a:xfrm>
          <a:prstGeom prst="rect">
            <a:avLst/>
          </a:prstGeom>
          <a:solidFill>
            <a:srgbClr val="F1F4F4"/>
          </a:solidFill>
          <a:ln/>
        </p:spPr>
      </p:sp>
      <p:sp>
        <p:nvSpPr>
          <p:cNvPr id="25" name="Text 23"/>
          <p:cNvSpPr txBox="1"/>
          <p:nvPr/>
        </p:nvSpPr>
        <p:spPr>
          <a:xfrm>
            <a:off x="685800" y="4983480"/>
            <a:ext cx="1645920" cy="68580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Privacy</a:t>
            </a:r>
            <a:endParaRPr lang="en-US" sz="1500" dirty="0"/>
          </a:p>
        </p:txBody>
      </p:sp>
      <p:sp>
        <p:nvSpPr>
          <p:cNvPr id="26" name="Text 24"/>
          <p:cNvSpPr txBox="1"/>
          <p:nvPr/>
        </p:nvSpPr>
        <p:spPr>
          <a:xfrm>
            <a:off x="2377440" y="4983480"/>
            <a:ext cx="4206240" cy="68580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“Various levels” (undefined)</a:t>
            </a:r>
            <a:endParaRPr lang="en-US" sz="1400" dirty="0"/>
          </a:p>
        </p:txBody>
      </p:sp>
      <p:sp>
        <p:nvSpPr>
          <p:cNvPr id="27" name="Text 25"/>
          <p:cNvSpPr txBox="1"/>
          <p:nvPr/>
        </p:nvSpPr>
        <p:spPr>
          <a:xfrm>
            <a:off x="6766560" y="4983480"/>
            <a:ext cx="4873752" cy="685800"/>
          </a:xfrm>
          <a:prstGeom prst="rect">
            <a:avLst/>
          </a:prstGeom>
          <a:noFill/>
          <a:ln/>
        </p:spPr>
        <p:txBody>
          <a:bodyPr wrap="square" lIns="0" tIns="0" rIns="0" bIns="0" rtlCol="0" anchor="ctr"/>
          <a:lstStyle/>
          <a:p>
            <a:pPr indent="0" marL="0">
              <a:buNone/>
            </a:pPr>
            <a:r>
              <a:rPr lang="en-US" sz="1400" dirty="0">
                <a:solidFill>
                  <a:srgbClr val="13262F"/>
                </a:solidFill>
                <a:latin typeface="Calibri" pitchFamily="34" charset="0"/>
                <a:ea typeface="Calibri" pitchFamily="34" charset="-122"/>
                <a:cs typeface="Calibri" pitchFamily="34" charset="-120"/>
              </a:rPr>
              <a:t>DP at ε = 8 and ε = 1; privacy matrix</a:t>
            </a:r>
            <a:endParaRPr lang="en-US" sz="1400" dirty="0"/>
          </a:p>
        </p:txBody>
      </p:sp>
      <p:sp>
        <p:nvSpPr>
          <p:cNvPr id="28" name="Text 26"/>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Kept: cloud upper bound, federated and on-device variants, cold start, personas, communication cost, browser check.</a:t>
            </a:r>
            <a:endParaRPr lang="en-US" sz="1300" dirty="0"/>
          </a:p>
        </p:txBody>
      </p:sp>
      <p:sp>
        <p:nvSpPr>
          <p:cNvPr id="29" name="Text 2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13</a:t>
            </a:r>
            <a:endParaRPr lang="en-US" sz="1000" dirty="0"/>
          </a:p>
        </p:txBody>
      </p:sp>
      <p:sp>
        <p:nvSpPr>
          <p:cNvPr id="30" name="Text 28"/>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§§3–4; study description; realism audit §F</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WHEN THE COMPARISONS ARE READ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Four milestones (dates are estimates)</a:t>
            </a:r>
            <a:endParaRPr lang="en-US" sz="3000" dirty="0"/>
          </a:p>
        </p:txBody>
      </p:sp>
      <p:sp>
        <p:nvSpPr>
          <p:cNvPr id="4" name="Shape 2"/>
          <p:cNvSpPr/>
          <p:nvPr/>
        </p:nvSpPr>
        <p:spPr>
          <a:xfrm>
            <a:off x="822960" y="2057400"/>
            <a:ext cx="10545775" cy="0"/>
          </a:xfrm>
          <a:prstGeom prst="line">
            <a:avLst/>
          </a:prstGeom>
          <a:noFill/>
          <a:ln w="38100">
            <a:solidFill>
              <a:srgbClr val="D5DDDF"/>
            </a:solidFill>
            <a:prstDash val="solid"/>
          </a:ln>
        </p:spPr>
      </p:sp>
      <p:sp>
        <p:nvSpPr>
          <p:cNvPr id="5" name="Shape 3"/>
          <p:cNvSpPr/>
          <p:nvPr/>
        </p:nvSpPr>
        <p:spPr>
          <a:xfrm>
            <a:off x="640080" y="1874520"/>
            <a:ext cx="365760" cy="365760"/>
          </a:xfrm>
          <a:prstGeom prst="ellipse">
            <a:avLst/>
          </a:prstGeom>
          <a:solidFill>
            <a:srgbClr val="1F7A80"/>
          </a:solidFill>
          <a:ln w="25400">
            <a:solidFill>
              <a:srgbClr val="FFFFFF"/>
            </a:solidFill>
            <a:prstDash val="solid"/>
          </a:ln>
        </p:spPr>
      </p:sp>
      <p:sp>
        <p:nvSpPr>
          <p:cNvPr id="6" name="Text 4"/>
          <p:cNvSpPr txBox="1"/>
          <p:nvPr/>
        </p:nvSpPr>
        <p:spPr>
          <a:xfrm>
            <a:off x="548640" y="1371600"/>
            <a:ext cx="2567864"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 30 Sep</a:t>
            </a:r>
            <a:endParaRPr lang="en-US" sz="1600" dirty="0"/>
          </a:p>
        </p:txBody>
      </p:sp>
      <p:sp>
        <p:nvSpPr>
          <p:cNvPr id="7" name="Shape 5"/>
          <p:cNvSpPr/>
          <p:nvPr/>
        </p:nvSpPr>
        <p:spPr>
          <a:xfrm>
            <a:off x="548640" y="2514600"/>
            <a:ext cx="2567864" cy="2926080"/>
          </a:xfrm>
          <a:prstGeom prst="roundRect">
            <a:avLst>
              <a:gd name="adj" fmla="val 2849"/>
            </a:avLst>
          </a:prstGeom>
          <a:solidFill>
            <a:srgbClr val="F1F4F4"/>
          </a:solidFill>
          <a:ln/>
        </p:spPr>
      </p:sp>
      <p:sp>
        <p:nvSpPr>
          <p:cNvPr id="8" name="Text 6"/>
          <p:cNvSpPr txBox="1"/>
          <p:nvPr/>
        </p:nvSpPr>
        <p:spPr>
          <a:xfrm>
            <a:off x="777240" y="2697480"/>
            <a:ext cx="2110664" cy="91440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Tuning and pretraining finish</a:t>
            </a:r>
            <a:endParaRPr lang="en-US" sz="1700" dirty="0"/>
          </a:p>
        </p:txBody>
      </p:sp>
      <p:sp>
        <p:nvSpPr>
          <p:cNvPr id="9" name="Text 7"/>
          <p:cNvSpPr txBox="1"/>
          <p:nvPr/>
        </p:nvSpPr>
        <p:spPr>
          <a:xfrm>
            <a:off x="777240" y="3703320"/>
            <a:ext cx="2110664"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Full-pool cloud, pretraining, federated tuning stages</a:t>
            </a:r>
            <a:endParaRPr lang="en-US" sz="1400" dirty="0"/>
          </a:p>
        </p:txBody>
      </p:sp>
      <p:sp>
        <p:nvSpPr>
          <p:cNvPr id="10" name="Shape 8"/>
          <p:cNvSpPr/>
          <p:nvPr/>
        </p:nvSpPr>
        <p:spPr>
          <a:xfrm>
            <a:off x="777240" y="4937760"/>
            <a:ext cx="1188720" cy="310896"/>
          </a:xfrm>
          <a:prstGeom prst="roundRect">
            <a:avLst>
              <a:gd name="adj" fmla="val 50000"/>
            </a:avLst>
          </a:prstGeom>
          <a:solidFill>
            <a:srgbClr val="1F7A80"/>
          </a:solidFill>
          <a:ln/>
        </p:spPr>
      </p:sp>
      <p:sp>
        <p:nvSpPr>
          <p:cNvPr id="11" name="Text 9"/>
          <p:cNvSpPr txBox="1"/>
          <p:nvPr/>
        </p:nvSpPr>
        <p:spPr>
          <a:xfrm>
            <a:off x="777240" y="4937760"/>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2" name="Shape 10"/>
          <p:cNvSpPr/>
          <p:nvPr/>
        </p:nvSpPr>
        <p:spPr>
          <a:xfrm>
            <a:off x="3482264" y="1874520"/>
            <a:ext cx="365760" cy="365760"/>
          </a:xfrm>
          <a:prstGeom prst="ellipse">
            <a:avLst/>
          </a:prstGeom>
          <a:solidFill>
            <a:srgbClr val="5C6B73"/>
          </a:solidFill>
          <a:ln w="25400">
            <a:solidFill>
              <a:srgbClr val="FFFFFF"/>
            </a:solidFill>
            <a:prstDash val="solid"/>
          </a:ln>
        </p:spPr>
      </p:sp>
      <p:sp>
        <p:nvSpPr>
          <p:cNvPr id="13" name="Text 11"/>
          <p:cNvSpPr txBox="1"/>
          <p:nvPr/>
        </p:nvSpPr>
        <p:spPr>
          <a:xfrm>
            <a:off x="3390824" y="1371600"/>
            <a:ext cx="2567864"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 30 Sep – 2 Oct</a:t>
            </a:r>
            <a:endParaRPr lang="en-US" sz="1600" dirty="0"/>
          </a:p>
        </p:txBody>
      </p:sp>
      <p:sp>
        <p:nvSpPr>
          <p:cNvPr id="14" name="Shape 12"/>
          <p:cNvSpPr/>
          <p:nvPr/>
        </p:nvSpPr>
        <p:spPr>
          <a:xfrm>
            <a:off x="3390824" y="2514600"/>
            <a:ext cx="2567864" cy="2926080"/>
          </a:xfrm>
          <a:prstGeom prst="roundRect">
            <a:avLst>
              <a:gd name="adj" fmla="val 2849"/>
            </a:avLst>
          </a:prstGeom>
          <a:solidFill>
            <a:srgbClr val="F1F4F4"/>
          </a:solidFill>
          <a:ln/>
        </p:spPr>
      </p:sp>
      <p:sp>
        <p:nvSpPr>
          <p:cNvPr id="15" name="Text 13"/>
          <p:cNvSpPr txBox="1"/>
          <p:nvPr/>
        </p:nvSpPr>
        <p:spPr>
          <a:xfrm>
            <a:off x="3619424" y="2697480"/>
            <a:ext cx="2110664" cy="91440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Main federated and DP runs</a:t>
            </a:r>
            <a:endParaRPr lang="en-US" sz="1700" dirty="0"/>
          </a:p>
        </p:txBody>
      </p:sp>
      <p:sp>
        <p:nvSpPr>
          <p:cNvPr id="16" name="Text 14"/>
          <p:cNvSpPr txBox="1"/>
          <p:nvPr/>
        </p:nvSpPr>
        <p:spPr>
          <a:xfrm>
            <a:off x="3619424" y="3703320"/>
            <a:ext cx="2110664"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Each run ≈ 10.7 h (measured rate)</a:t>
            </a:r>
            <a:endParaRPr lang="en-US" sz="1400" dirty="0"/>
          </a:p>
        </p:txBody>
      </p:sp>
      <p:sp>
        <p:nvSpPr>
          <p:cNvPr id="17" name="Shape 15"/>
          <p:cNvSpPr/>
          <p:nvPr/>
        </p:nvSpPr>
        <p:spPr>
          <a:xfrm>
            <a:off x="3619424" y="4937760"/>
            <a:ext cx="1188720" cy="310896"/>
          </a:xfrm>
          <a:prstGeom prst="roundRect">
            <a:avLst>
              <a:gd name="adj" fmla="val 50000"/>
            </a:avLst>
          </a:prstGeom>
          <a:solidFill>
            <a:srgbClr val="E6EAEC"/>
          </a:solidFill>
          <a:ln/>
        </p:spPr>
      </p:sp>
      <p:sp>
        <p:nvSpPr>
          <p:cNvPr id="18" name="Text 16"/>
          <p:cNvSpPr txBox="1"/>
          <p:nvPr/>
        </p:nvSpPr>
        <p:spPr>
          <a:xfrm>
            <a:off x="3619424" y="4937760"/>
            <a:ext cx="118872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9" name="Shape 17"/>
          <p:cNvSpPr/>
          <p:nvPr/>
        </p:nvSpPr>
        <p:spPr>
          <a:xfrm>
            <a:off x="6324448" y="1874520"/>
            <a:ext cx="365760" cy="365760"/>
          </a:xfrm>
          <a:prstGeom prst="ellipse">
            <a:avLst/>
          </a:prstGeom>
          <a:solidFill>
            <a:srgbClr val="E0932B"/>
          </a:solidFill>
          <a:ln w="25400">
            <a:solidFill>
              <a:srgbClr val="FFFFFF"/>
            </a:solidFill>
            <a:prstDash val="solid"/>
          </a:ln>
        </p:spPr>
      </p:sp>
      <p:sp>
        <p:nvSpPr>
          <p:cNvPr id="20" name="Text 18"/>
          <p:cNvSpPr txBox="1"/>
          <p:nvPr/>
        </p:nvSpPr>
        <p:spPr>
          <a:xfrm>
            <a:off x="6233008" y="1371600"/>
            <a:ext cx="2567864"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 2–3 Oct</a:t>
            </a:r>
            <a:endParaRPr lang="en-US" sz="1600" dirty="0"/>
          </a:p>
        </p:txBody>
      </p:sp>
      <p:sp>
        <p:nvSpPr>
          <p:cNvPr id="21" name="Shape 19"/>
          <p:cNvSpPr/>
          <p:nvPr/>
        </p:nvSpPr>
        <p:spPr>
          <a:xfrm>
            <a:off x="6233008" y="2514600"/>
            <a:ext cx="2567864" cy="2926080"/>
          </a:xfrm>
          <a:prstGeom prst="roundRect">
            <a:avLst>
              <a:gd name="adj" fmla="val 2849"/>
            </a:avLst>
          </a:prstGeom>
          <a:solidFill>
            <a:srgbClr val="F1F4F4"/>
          </a:solidFill>
          <a:ln/>
        </p:spPr>
      </p:sp>
      <p:sp>
        <p:nvSpPr>
          <p:cNvPr id="22" name="Text 20"/>
          <p:cNvSpPr txBox="1"/>
          <p:nvPr/>
        </p:nvSpPr>
        <p:spPr>
          <a:xfrm>
            <a:off x="6461608" y="2697480"/>
            <a:ext cx="2110664" cy="91440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One validation read</a:t>
            </a:r>
            <a:endParaRPr lang="en-US" sz="1700" dirty="0"/>
          </a:p>
        </p:txBody>
      </p:sp>
      <p:sp>
        <p:nvSpPr>
          <p:cNvPr id="23" name="Text 21"/>
          <p:cNvSpPr txBox="1"/>
          <p:nvPr/>
        </p:nvSpPr>
        <p:spPr>
          <a:xfrm>
            <a:off x="6461608" y="3703320"/>
            <a:ext cx="2110664"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All methods read together, then everything is locked</a:t>
            </a:r>
            <a:endParaRPr lang="en-US" sz="1400" dirty="0"/>
          </a:p>
        </p:txBody>
      </p:sp>
      <p:sp>
        <p:nvSpPr>
          <p:cNvPr id="24" name="Shape 22"/>
          <p:cNvSpPr/>
          <p:nvPr/>
        </p:nvSpPr>
        <p:spPr>
          <a:xfrm>
            <a:off x="6461608" y="4937760"/>
            <a:ext cx="1188720" cy="310896"/>
          </a:xfrm>
          <a:prstGeom prst="roundRect">
            <a:avLst>
              <a:gd name="adj" fmla="val 50000"/>
            </a:avLst>
          </a:prstGeom>
          <a:solidFill>
            <a:srgbClr val="FBEBD3"/>
          </a:solidFill>
          <a:ln w="12700">
            <a:solidFill>
              <a:srgbClr val="E0932B"/>
            </a:solidFill>
            <a:prstDash val="solid"/>
          </a:ln>
        </p:spPr>
      </p:sp>
      <p:sp>
        <p:nvSpPr>
          <p:cNvPr id="25" name="Text 23"/>
          <p:cNvSpPr txBox="1"/>
          <p:nvPr/>
        </p:nvSpPr>
        <p:spPr>
          <a:xfrm>
            <a:off x="6461608" y="4937760"/>
            <a:ext cx="11887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26" name="Shape 24"/>
          <p:cNvSpPr/>
          <p:nvPr/>
        </p:nvSpPr>
        <p:spPr>
          <a:xfrm>
            <a:off x="9166631" y="1874520"/>
            <a:ext cx="365760" cy="365760"/>
          </a:xfrm>
          <a:prstGeom prst="ellipse">
            <a:avLst/>
          </a:prstGeom>
          <a:solidFill>
            <a:srgbClr val="E0932B"/>
          </a:solidFill>
          <a:ln w="25400">
            <a:solidFill>
              <a:srgbClr val="FFFFFF"/>
            </a:solidFill>
            <a:prstDash val="solid"/>
          </a:ln>
        </p:spPr>
      </p:sp>
      <p:sp>
        <p:nvSpPr>
          <p:cNvPr id="27" name="Text 25"/>
          <p:cNvSpPr txBox="1"/>
          <p:nvPr/>
        </p:nvSpPr>
        <p:spPr>
          <a:xfrm>
            <a:off x="9075191" y="1371600"/>
            <a:ext cx="2567864"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 4–5 Oct</a:t>
            </a:r>
            <a:endParaRPr lang="en-US" sz="1600" dirty="0"/>
          </a:p>
        </p:txBody>
      </p:sp>
      <p:sp>
        <p:nvSpPr>
          <p:cNvPr id="28" name="Shape 26"/>
          <p:cNvSpPr/>
          <p:nvPr/>
        </p:nvSpPr>
        <p:spPr>
          <a:xfrm>
            <a:off x="9075191" y="2514600"/>
            <a:ext cx="2567864" cy="2926080"/>
          </a:xfrm>
          <a:prstGeom prst="roundRect">
            <a:avLst>
              <a:gd name="adj" fmla="val 2849"/>
            </a:avLst>
          </a:prstGeom>
          <a:solidFill>
            <a:srgbClr val="F1F4F4"/>
          </a:solidFill>
          <a:ln/>
        </p:spPr>
      </p:sp>
      <p:sp>
        <p:nvSpPr>
          <p:cNvPr id="29" name="Text 27"/>
          <p:cNvSpPr txBox="1"/>
          <p:nvPr/>
        </p:nvSpPr>
        <p:spPr>
          <a:xfrm>
            <a:off x="9303791" y="2697480"/>
            <a:ext cx="2110664" cy="91440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Single test look → final tables ≈ 6–7 Oct</a:t>
            </a:r>
            <a:endParaRPr lang="en-US" sz="1700" dirty="0"/>
          </a:p>
        </p:txBody>
      </p:sp>
      <p:sp>
        <p:nvSpPr>
          <p:cNvPr id="30" name="Text 28"/>
          <p:cNvSpPr txBox="1"/>
          <p:nvPr/>
        </p:nvSpPr>
        <p:spPr>
          <a:xfrm>
            <a:off x="9303791" y="3703320"/>
            <a:ext cx="2110664"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The test week is opened once</a:t>
            </a:r>
            <a:endParaRPr lang="en-US" sz="1400" dirty="0"/>
          </a:p>
        </p:txBody>
      </p:sp>
      <p:sp>
        <p:nvSpPr>
          <p:cNvPr id="31" name="Shape 29"/>
          <p:cNvSpPr/>
          <p:nvPr/>
        </p:nvSpPr>
        <p:spPr>
          <a:xfrm>
            <a:off x="9303791" y="4937760"/>
            <a:ext cx="1188720" cy="310896"/>
          </a:xfrm>
          <a:prstGeom prst="roundRect">
            <a:avLst>
              <a:gd name="adj" fmla="val 50000"/>
            </a:avLst>
          </a:prstGeom>
          <a:solidFill>
            <a:srgbClr val="FBEBD3"/>
          </a:solidFill>
          <a:ln w="12700">
            <a:solidFill>
              <a:srgbClr val="E0932B"/>
            </a:solidFill>
            <a:prstDash val="solid"/>
          </a:ln>
        </p:spPr>
      </p:sp>
      <p:sp>
        <p:nvSpPr>
          <p:cNvPr id="32" name="Text 30"/>
          <p:cNvSpPr txBox="1"/>
          <p:nvPr/>
        </p:nvSpPr>
        <p:spPr>
          <a:xfrm>
            <a:off x="9303791" y="4937760"/>
            <a:ext cx="11887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33" name="Text 31"/>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250" i="1" dirty="0">
                <a:solidFill>
                  <a:srgbClr val="5E6E75"/>
                </a:solidFill>
                <a:latin typeface="Calibri" pitchFamily="34" charset="0"/>
                <a:ea typeface="Calibri" pitchFamily="34" charset="-122"/>
                <a:cs typeface="Calibri" pitchFamily="34" charset="-120"/>
              </a:rPr>
              <a:t>The plan said 1–2 Oct for the first read; it slipped about a day because tuning screens run slower when sharing GPUs.</a:t>
            </a:r>
            <a:endParaRPr lang="en-US" sz="1250" dirty="0"/>
          </a:p>
        </p:txBody>
      </p:sp>
      <p:sp>
        <p:nvSpPr>
          <p:cNvPr id="34" name="Text 3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14</a:t>
            </a:r>
            <a:endParaRPr lang="en-US" sz="1000" dirty="0"/>
          </a:p>
        </p:txBody>
      </p:sp>
      <p:sp>
        <p:nvSpPr>
          <p:cNvPr id="35" name="Text 3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Master plan v5 (cost model, test-look duration); ladder schedule; decision log 29 Sep</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3</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Priorities and next steps</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time is short, which comparison do we protect first?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Never cut: federated ×2 seeds, local-only ×2, cloud fine-tune ×2, INT8, the lock, the test look. First to cut: extra panel seeds, the 8-bit second seed, ε = 1.</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a server-CPU benchmark plus one browser run on a laptop enough device evidence?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should we add a second machine?</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Can you pre-approve the Queen's AI-use disclosure?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The independent review lists it as required front matter.</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15</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cut order is pre-registered in the master plan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Shopping Intelligence — supervisor update (short, comparison-focused)</dc:title>
  <dc:subject>PptxGenJS Presentation</dc:subject>
  <dc:creator>Ahmed Abdelhamed</dc:creator>
  <cp:lastModifiedBy>Ahmed Abdelhamed</cp:lastModifiedBy>
  <cp:revision>1</cp:revision>
  <dcterms:created xsi:type="dcterms:W3CDTF">2026-09-29T19:49:01Z</dcterms:created>
  <dcterms:modified xsi:type="dcterms:W3CDTF">2026-09-29T19:49:01Z</dcterms:modified>
</cp:coreProperties>
</file>
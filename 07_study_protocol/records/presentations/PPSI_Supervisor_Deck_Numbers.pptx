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Category-change decisions, validation, MRR@20</a:t>
            </a:r>
          </a:p>
        </c:rich>
      </c:tx>
      <c:layout/>
      <c:overlay val="0"/>
    </c:title>
    <c:autoTitleDeleted val="0"/>
    <c:plotArea>
      <c:layout/>
      <c:barChart>
        <c:barDir val="col"/>
        <c:grouping val="clustered"/>
        <c:varyColors val="0"/>
        <c:ser>
          <c:idx val="0"/>
          <c:order val="0"/>
          <c:tx>
            <c:strRef>
              <c:f>Sheet1!$B$1</c:f>
              <c:strCache>
                <c:ptCount val="1"/>
                <c:pt idx="0">
                  <c:v>MRR@20</c:v>
                </c:pt>
              </c:strCache>
            </c:strRef>
          </c:tx>
          <c:spPr>
            <a:solidFill>
              <a:srgbClr val="A7B1B6"/>
            </a:solidFill>
            <a:effectLst/>
          </c:spPr>
          <c:invertIfNegative val="0"/>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A7B1B6"/>
              </a:solidFill>
              <a:effectLst/>
            </c:spPr>
          </c:dPt>
          <c:dPt>
            <c:idx val="2"/>
            <c:invertIfNegative val="0"/>
            <c:bubble3D val="0"/>
            <c:spPr>
              <a:solidFill>
                <a:srgbClr val="1F7A80"/>
              </a:solidFill>
              <a:effectLst/>
            </c:spPr>
          </c:dPt>
          <c:cat>
            <c:multiLvlStrRef>
              <c:f>Sheet1!$A$2:$A$4</c:f>
              <c:multiLvlStrCache>
                <c:ptCount val="3"/>
                <c:lvl>
                  <c:pt idx="0">
                    <c:v>Popularity</c:v>
                  </c:pt>
                  <c:pt idx="1">
                    <c:v>Transition table</c:v>
                  </c:pt>
                  <c:pt idx="2">
                    <c:v>GRU (3 seeds)</c:v>
                  </c:pt>
                </c:lvl>
              </c:multiLvlStrCache>
            </c:multiLvlStrRef>
          </c:cat>
          <c:val>
            <c:numRef>
              <c:f>Sheet1!$B$2:$B$4</c:f>
              <c:numCache>
                <c:formatCode>General</c:formatCode>
                <c:ptCount val="3"/>
                <c:pt idx="0">
                  <c:v>0.1049</c:v>
                </c:pt>
                <c:pt idx="1">
                  <c:v>0.3143</c:v>
                </c:pt>
                <c:pt idx="2">
                  <c:v>0.3474</c:v>
                </c:pt>
              </c:numCache>
            </c:numRef>
          </c:val>
        </c:ser>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6350" cap="flat">
              <a:solidFill>
                <a:srgbClr val="E3E8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Validation-confirm week (20–23 Nov), macro MRR@20, full data</a:t>
            </a:r>
          </a:p>
        </c:rich>
      </c:tx>
      <c:layout/>
      <c:overlay val="0"/>
    </c:title>
    <c:autoTitleDeleted val="0"/>
    <c:plotArea>
      <c:layout/>
      <c:barChart>
        <c:barDir val="bar"/>
        <c:grouping val="clustered"/>
        <c:varyColors val="0"/>
        <c:ser>
          <c:idx val="0"/>
          <c:order val="0"/>
          <c:tx>
            <c:strRef>
              <c:f>Sheet1!$B$1</c:f>
              <c:strCache>
                <c:ptCount val="1"/>
                <c:pt idx="0">
                  <c:v>Validation MRR@20</c:v>
                </c:pt>
              </c:strCache>
            </c:strRef>
          </c:tx>
          <c:spPr>
            <a:solidFill>
              <a:srgbClr val="A7B1B6"/>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A7B1B6"/>
              </a:solidFill>
              <a:effectLst/>
            </c:spPr>
          </c:dPt>
          <c:dPt>
            <c:idx val="2"/>
            <c:invertIfNegative val="0"/>
            <c:bubble3D val="0"/>
            <c:spPr>
              <a:solidFill>
                <a:srgbClr val="5C6B73"/>
              </a:solidFill>
              <a:effectLst/>
            </c:spPr>
          </c:dPt>
          <c:dPt>
            <c:idx val="3"/>
            <c:invertIfNegative val="0"/>
            <c:bubble3D val="0"/>
            <c:spPr>
              <a:solidFill>
                <a:srgbClr val="1F7A80"/>
              </a:solidFill>
              <a:effectLst/>
            </c:spPr>
          </c:dPt>
          <c:cat>
            <c:multiLvlStrRef>
              <c:f>Sheet1!$A$2:$A$5</c:f>
              <c:multiLvlStrCache>
                <c:ptCount val="4"/>
                <c:lvl>
                  <c:pt idx="0">
                    <c:v>Popularity</c:v>
                  </c:pt>
                  <c:pt idx="1">
                    <c:v>Item-transition baseline</c:v>
                  </c:pt>
                  <c:pt idx="2">
                    <c:v>GRU (item IDs)</c:v>
                  </c:pt>
                  <c:pt idx="3">
                    <c:v>SASRec (rich features)</c:v>
                  </c:pt>
                </c:lvl>
              </c:multiLvlStrCache>
            </c:multiLvlStrRef>
          </c:cat>
          <c:val>
            <c:numRef>
              <c:f>Sheet1!$B$2:$B$5</c:f>
              <c:numCache>
                <c:formatCode>General</c:formatCode>
                <c:ptCount val="4"/>
                <c:pt idx="0">
                  <c:v>0.020168</c:v>
                </c:pt>
                <c:pt idx="1">
                  <c:v>0.14874</c:v>
                </c:pt>
                <c:pt idx="2">
                  <c:v>0.168988</c:v>
                </c:pt>
                <c:pt idx="3">
                  <c:v>0.171339</c:v>
                </c:pt>
              </c:numCache>
            </c:numRef>
          </c:val>
        </c:ser>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Per-event metrics (ours: validation-confirm week, full data)</a:t>
            </a:r>
          </a:p>
        </c:rich>
      </c:tx>
      <c:layout/>
      <c:overlay val="0"/>
    </c:title>
    <c:autoTitleDeleted val="0"/>
    <c:plotArea>
      <c:layout/>
      <c:barChart>
        <c:barDir val="col"/>
        <c:grouping val="clustered"/>
        <c:varyColors val="0"/>
        <c:ser>
          <c:idx val="0"/>
          <c:order val="0"/>
          <c:tx>
            <c:strRef>
              <c:f>Sheet1!$B$1</c:f>
              <c:strCache>
                <c:ptCount val="1"/>
                <c:pt idx="0">
                  <c:v>Published GRU4Rec (REES46)</c:v>
                </c:pt>
              </c:strCache>
            </c:strRef>
          </c:tx>
          <c:spPr>
            <a:solidFill>
              <a:srgbClr val="E0932B"/>
            </a:solidFill>
            <a:effectLst/>
          </c:spPr>
          <c:invertIfNegative val="0"/>
          <c:dLbls>
            <c:numFmt formatCode="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Recall@20</c:v>
                  </c:pt>
                  <c:pt idx="1">
                    <c:v>MRR@20</c:v>
                  </c:pt>
                </c:lvl>
              </c:multiLvlStrCache>
            </c:multiLvlStrRef>
          </c:cat>
          <c:val>
            <c:numRef>
              <c:f>Sheet1!$B$2:$B$3</c:f>
              <c:numCache>
                <c:formatCode>General</c:formatCode>
                <c:ptCount val="2"/>
                <c:pt idx="0">
                  <c:v>0.5291</c:v>
                </c:pt>
                <c:pt idx="1">
                  <c:v>0.2003</c:v>
                </c:pt>
              </c:numCache>
            </c:numRef>
          </c:val>
        </c:ser>
        <c:ser>
          <c:idx val="1"/>
          <c:order val="1"/>
          <c:tx>
            <c:strRef>
              <c:f>Sheet1!$C$1</c:f>
              <c:strCache>
                <c:ptCount val="1"/>
                <c:pt idx="0">
                  <c:v>Our SASRec</c:v>
                </c:pt>
              </c:strCache>
            </c:strRef>
          </c:tx>
          <c:spPr>
            <a:solidFill>
              <a:srgbClr val="1F7A80"/>
            </a:solidFill>
            <a:effectLst/>
          </c:spPr>
          <c:invertIfNegative val="0"/>
          <c:dLbls>
            <c:numFmt formatCode="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Recall@20</c:v>
                  </c:pt>
                  <c:pt idx="1">
                    <c:v>MRR@20</c:v>
                  </c:pt>
                </c:lvl>
              </c:multiLvlStrCache>
            </c:multiLvlStrRef>
          </c:cat>
          <c:val>
            <c:numRef>
              <c:f>Sheet1!$C$2:$C$3</c:f>
              <c:numCache>
                <c:formatCode>General</c:formatCode>
                <c:ptCount val="2"/>
                <c:pt idx="0">
                  <c:v>0.4315</c:v>
                </c:pt>
                <c:pt idx="1">
                  <c:v>0.1542</c:v>
                </c:pt>
              </c:numCache>
            </c:numRef>
          </c:val>
        </c:ser>
        <c:ser>
          <c:idx val="2"/>
          <c:order val="2"/>
          <c:tx>
            <c:strRef>
              <c:f>Sheet1!$D$1</c:f>
              <c:strCache>
                <c:ptCount val="1"/>
                <c:pt idx="0">
                  <c:v>Our GRU</c:v>
                </c:pt>
              </c:strCache>
            </c:strRef>
          </c:tx>
          <c:spPr>
            <a:solidFill>
              <a:srgbClr val="5C6B73"/>
            </a:solidFill>
            <a:effectLst/>
          </c:spPr>
          <c:invertIfNegative val="0"/>
          <c:dLbls>
            <c:numFmt formatCode="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Recall@20</c:v>
                  </c:pt>
                  <c:pt idx="1">
                    <c:v>MRR@20</c:v>
                  </c:pt>
                </c:lvl>
              </c:multiLvlStrCache>
            </c:multiLvlStrRef>
          </c:cat>
          <c:val>
            <c:numRef>
              <c:f>Sheet1!$D$2:$D$3</c:f>
              <c:numCache>
                <c:formatCode>General</c:formatCode>
                <c:ptCount val="2"/>
                <c:pt idx="0">
                  <c:v>0.4242</c:v>
                </c:pt>
                <c:pt idx="1">
                  <c:v>0.1531</c:v>
                </c:pt>
              </c:numCache>
            </c:numRef>
          </c:val>
        </c:ser>
        <c:dLbls>
          <c:numFmt formatCode="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3E8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SASRec with features, seed 2026, validation-selection week</a:t>
            </a:r>
          </a:p>
        </c:rich>
      </c:tx>
      <c:layout/>
      <c:overlay val="0"/>
    </c:title>
    <c:autoTitleDeleted val="0"/>
    <c:plotArea>
      <c:layout/>
      <c:barChart>
        <c:barDir val="col"/>
        <c:grouping val="clustered"/>
        <c:varyColors val="0"/>
        <c:ser>
          <c:idx val="0"/>
          <c:order val="0"/>
          <c:tx>
            <c:strRef>
              <c:f>Sheet1!$B$1</c:f>
              <c:strCache>
                <c:ptCount val="1"/>
                <c:pt idx="0">
                  <c:v>Selection-week MRR@20</c:v>
                </c:pt>
              </c:strCache>
            </c:strRef>
          </c:tx>
          <c:spPr>
            <a:solidFill>
              <a:srgbClr val="C9A27A"/>
            </a:solidFill>
            <a:effectLst/>
          </c:spPr>
          <c:invertIfNegative val="0"/>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C9A27A"/>
              </a:solidFill>
              <a:effectLst/>
            </c:spPr>
          </c:dPt>
          <c:dPt>
            <c:idx val="1"/>
            <c:invertIfNegative val="0"/>
            <c:bubble3D val="0"/>
            <c:spPr>
              <a:solidFill>
                <a:srgbClr val="5E9DA1"/>
              </a:solidFill>
              <a:effectLst/>
            </c:spPr>
          </c:dPt>
          <c:dPt>
            <c:idx val="2"/>
            <c:invertIfNegative val="0"/>
            <c:bubble3D val="0"/>
            <c:spPr>
              <a:solidFill>
                <a:srgbClr val="1F7A80"/>
              </a:solidFill>
              <a:effectLst/>
            </c:spPr>
          </c:dPt>
          <c:cat>
            <c:multiLvlStrRef>
              <c:f>Sheet1!$A$2:$A$4</c:f>
              <c:multiLvlStrCache>
                <c:ptCount val="3"/>
                <c:lvl>
                  <c:pt idx="0">
                    <c:v>First attempt (failed)</c:v>
                  </c:pt>
                  <c:pt idx="1">
                    <c:v>Repaired (5 fixes)</c:v>
                  </c:pt>
                  <c:pt idx="2">
                    <c:v>+ cooldown epoch</c:v>
                  </c:pt>
                </c:lvl>
              </c:multiLvlStrCache>
            </c:multiLvlStrRef>
          </c:cat>
          <c:val>
            <c:numRef>
              <c:f>Sheet1!$B$2:$B$4</c:f>
              <c:numCache>
                <c:formatCode>General</c:formatCode>
                <c:ptCount val="3"/>
                <c:pt idx="0">
                  <c:v>0.11791</c:v>
                </c:pt>
                <c:pt idx="1">
                  <c:v>0.181421</c:v>
                </c:pt>
                <c:pt idx="2">
                  <c:v>0.186298</c:v>
                </c:pt>
              </c:numCache>
            </c:numRef>
          </c:val>
        </c:ser>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21"/>
          <c:min val="0"/>
        </c:scaling>
        <c:delete val="0"/>
        <c:axPos val="l"/>
        <c:majorGridlines>
          <c:spPr>
            <a:ln w="6350" cap="flat">
              <a:solidFill>
                <a:srgbClr val="E3E8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Inputs</c:v>
                </c:pt>
              </c:strCache>
            </c:strRef>
          </c:tx>
          <c:spPr>
            <a:solidFill>
              <a:schemeClr val="accent1"/>
            </a:solidFill>
            <a:ln w="9525" cap="flat">
              <a:solidFill>
                <a:srgbClr val="F9F9F9"/>
              </a:solidFill>
              <a:prstDash val="solid"/>
              <a:round/>
            </a:ln>
            <a:effectLst/>
          </c:spPr>
          <c:dPt>
            <c:idx val="0"/>
            <c:bubble3D val="0"/>
            <c:spPr>
              <a:solidFill>
                <a:srgbClr val="164E57"/>
              </a:solidFill>
              <a:effectLst/>
            </c:spPr>
          </c:dPt>
          <c:dPt>
            <c:idx val="1"/>
            <c:bubble3D val="0"/>
            <c:spPr>
              <a:solidFill>
                <a:srgbClr val="1F7A80"/>
              </a:solidFill>
              <a:effectLst/>
            </c:spPr>
          </c:dPt>
          <c:dPt>
            <c:idx val="2"/>
            <c:bubble3D val="0"/>
            <c:spPr>
              <a:solidFill>
                <a:srgbClr val="A7B1B6"/>
              </a:solidFill>
              <a:effectLst/>
            </c:spPr>
          </c:dPt>
          <c:dPt>
            <c:idx val="3"/>
            <c:bubble3D val="0"/>
            <c:spPr>
              <a:solidFill>
                <a:srgbClr val="E0932B"/>
              </a:solidFill>
              <a:effectLst/>
            </c:spPr>
          </c:dPt>
          <c:dPt>
            <c:idx val="4"/>
            <c:bubble3D val="0"/>
            <c:spPr>
              <a:solidFill>
                <a:srgbClr val="5C6B73"/>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4"/>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Token</c:v>
                </c:pt>
                <c:pt idx="1">
                  <c:v>Numeric</c:v>
                </c:pt>
                <c:pt idx="2">
                  <c:v>Flag</c:v>
                </c:pt>
                <c:pt idx="3">
                  <c:v>User context</c:v>
                </c:pt>
                <c:pt idx="4">
                  <c:v>Mask</c:v>
                </c:pt>
              </c:strCache>
            </c:strRef>
          </c:cat>
          <c:val>
            <c:numRef>
              <c:f>Sheet1!$B$2:$B$6</c:f>
              <c:numCache>
                <c:ptCount val="5"/>
                <c:pt idx="0">
                  <c:v>5</c:v>
                </c:pt>
                <c:pt idx="1">
                  <c:v>7</c:v>
                </c:pt>
                <c:pt idx="2">
                  <c:v>2</c:v>
                </c:pt>
                <c:pt idx="3">
                  <c:v>6</c:v>
                </c:pt>
                <c:pt idx="4">
                  <c:v>4</c:v>
                </c:pt>
              </c:numCache>
            </c:numRef>
          </c:val>
        </c:ser>
        <c:firstSliceAng val="0"/>
        <c:holeSize val="55"/>
      </c:doughnutChart>
      <c:spPr>
        <a:noFill/>
        <a:ln>
          <a:noFill/>
        </a:ln>
        <a:effectLst/>
      </c:spPr>
    </c:plotArea>
    <c:legend>
      <c:legendPos val="r"/>
      <c:overlay val="0"/>
      <c:txPr>
        <a:bodyPr/>
        <a:lstStyle/>
        <a:p>
          <a:pPr>
            <a:defRPr sz="12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Macro MRR@20 change when a group is removed (10k users, 112,365 decisions)</a:t>
            </a:r>
          </a:p>
        </c:rich>
      </c:tx>
      <c:layout/>
      <c:overlay val="0"/>
    </c:title>
    <c:autoTitleDeleted val="0"/>
    <c:plotArea>
      <c:layout/>
      <c:barChart>
        <c:barDir val="bar"/>
        <c:grouping val="clustered"/>
        <c:varyColors val="0"/>
        <c:ser>
          <c:idx val="0"/>
          <c:order val="0"/>
          <c:tx>
            <c:strRef>
              <c:f>Sheet1!$B$1</c:f>
              <c:strCache>
                <c:ptCount val="1"/>
                <c:pt idx="0">
                  <c:v>Change in MRR@20 when removed</c:v>
                </c:pt>
              </c:strCache>
            </c:strRef>
          </c:tx>
          <c:spPr>
            <a:solidFill>
              <a:srgbClr val="E0932B"/>
            </a:solidFill>
            <a:effectLst/>
          </c:spPr>
          <c:invertIfNegative val="0"/>
          <c:dLbls>
            <c:numFmt formatCode="+0.0000;−0.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E0932B"/>
              </a:solidFill>
              <a:effectLst/>
            </c:spPr>
          </c:dPt>
          <c:dPt>
            <c:idx val="1"/>
            <c:invertIfNegative val="0"/>
            <c:bubble3D val="0"/>
            <c:spPr>
              <a:solidFill>
                <a:srgbClr val="E0932B"/>
              </a:solidFill>
              <a:effectLst/>
            </c:spPr>
          </c:dPt>
          <c:dPt>
            <c:idx val="2"/>
            <c:invertIfNegative val="0"/>
            <c:bubble3D val="0"/>
            <c:spPr>
              <a:solidFill>
                <a:srgbClr val="E0932B"/>
              </a:solidFill>
              <a:effectLst/>
            </c:spPr>
          </c:dPt>
          <c:dPt>
            <c:idx val="3"/>
            <c:invertIfNegative val="0"/>
            <c:bubble3D val="0"/>
            <c:spPr>
              <a:solidFill>
                <a:srgbClr val="E0932B"/>
              </a:solidFill>
              <a:effectLst/>
            </c:spPr>
          </c:dPt>
          <c:dPt>
            <c:idx val="4"/>
            <c:invertIfNegative val="0"/>
            <c:bubble3D val="0"/>
            <c:spPr>
              <a:solidFill>
                <a:srgbClr val="E0932B"/>
              </a:solidFill>
              <a:effectLst/>
            </c:spPr>
          </c:dPt>
          <c:dPt>
            <c:idx val="5"/>
            <c:invertIfNegative val="0"/>
            <c:bubble3D val="0"/>
            <c:spPr>
              <a:solidFill>
                <a:srgbClr val="E0932B"/>
              </a:solidFill>
              <a:effectLst/>
            </c:spPr>
          </c:dPt>
          <c:dPt>
            <c:idx val="6"/>
            <c:invertIfNegative val="0"/>
            <c:bubble3D val="0"/>
            <c:spPr>
              <a:solidFill>
                <a:srgbClr val="E0932B"/>
              </a:solidFill>
              <a:effectLst/>
            </c:spPr>
          </c:dPt>
          <c:dPt>
            <c:idx val="7"/>
            <c:invertIfNegative val="0"/>
            <c:bubble3D val="0"/>
            <c:spPr>
              <a:solidFill>
                <a:srgbClr val="A7B1B6"/>
              </a:solidFill>
              <a:effectLst/>
            </c:spPr>
          </c:dPt>
          <c:cat>
            <c:multiLvlStrRef>
              <c:f>Sheet1!$A$2:$A$9</c:f>
              <c:multiLvlStrCache>
                <c:ptCount val="8"/>
                <c:lvl>
                  <c:pt idx="0">
                    <c:v>All side features</c:v>
                  </c:pt>
                  <c:pt idx="1">
                    <c:v>Item age</c:v>
                  </c:pt>
                  <c:pt idx="2">
                    <c:v>Current price</c:v>
                  </c:pt>
                  <c:pt idx="3">
                    <c:v>Main category</c:v>
                  </c:pt>
                  <c:pt idx="4">
                    <c:v>Brand</c:v>
                  </c:pt>
                  <c:pt idx="5">
                    <c:v>Cold user</c:v>
                  </c:pt>
                  <c:pt idx="6">
                    <c:v>Previous gap</c:v>
                  </c:pt>
                  <c:pt idx="7">
                    <c:v>Calendar</c:v>
                  </c:pt>
                </c:lvl>
              </c:multiLvlStrCache>
            </c:multiLvlStrRef>
          </c:cat>
          <c:val>
            <c:numRef>
              <c:f>Sheet1!$B$2:$B$9</c:f>
              <c:numCache>
                <c:formatCode>General</c:formatCode>
                <c:ptCount val="8"/>
                <c:pt idx="0">
                  <c:v>-0.046669</c:v>
                </c:pt>
                <c:pt idx="1">
                  <c:v>-0.024654</c:v>
                </c:pt>
                <c:pt idx="2">
                  <c:v>-0.009761</c:v>
                </c:pt>
                <c:pt idx="3">
                  <c:v>-0.006262</c:v>
                </c:pt>
                <c:pt idx="4">
                  <c:v>-0.005687</c:v>
                </c:pt>
                <c:pt idx="5">
                  <c:v>-0.004068</c:v>
                </c:pt>
                <c:pt idx="6">
                  <c:v>-0.003619</c:v>
                </c:pt>
                <c:pt idx="7">
                  <c:v>0.00066</c:v>
                </c:pt>
              </c:numCache>
            </c:numRef>
          </c:val>
        </c:ser>
        <c:dLbls>
          <c:numFmt formatCode="+0.0000;−0.0000" sourceLinked="0"/>
          <c:txPr>
            <a:bodyPr/>
            <a:lstStyle/>
            <a:p>
              <a:pPr>
                <a:defRPr b="0" i="0" strike="noStrike" sz="1200" u="none">
                  <a:solidFill>
                    <a:srgbClr val="13262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1"/>
          <c:min val="-0.0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Number of users</a:t>
            </a:r>
          </a:p>
        </c:rich>
      </c:tx>
      <c:layout/>
      <c:overlay val="0"/>
    </c:title>
    <c:autoTitleDeleted val="0"/>
    <c:plotArea>
      <c:layout/>
      <c:barChart>
        <c:barDir val="bar"/>
        <c:grouping val="clustered"/>
        <c:varyColors val="0"/>
        <c:ser>
          <c:idx val="0"/>
          <c:order val="0"/>
          <c:tx>
            <c:strRef>
              <c:f>Sheet1!$B$1</c:f>
              <c:strCache>
                <c:ptCount val="1"/>
                <c:pt idx="0">
                  <c:v>Users</c:v>
                </c:pt>
              </c:strCache>
            </c:strRef>
          </c:tx>
          <c:spPr>
            <a:solidFill>
              <a:srgbClr val="A7B1B6"/>
            </a:solidFill>
            <a:effectLst/>
          </c:spPr>
          <c:invertIfNegative val="0"/>
          <c:dLbls>
            <c:numFmt formatCode="#,##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5C6B73"/>
              </a:solidFill>
              <a:effectLst/>
            </c:spPr>
          </c:dPt>
          <c:dPt>
            <c:idx val="2"/>
            <c:invertIfNegative val="0"/>
            <c:bubble3D val="0"/>
            <c:spPr>
              <a:solidFill>
                <a:srgbClr val="5C6B73"/>
              </a:solidFill>
              <a:effectLst/>
            </c:spPr>
          </c:dPt>
          <c:dPt>
            <c:idx val="3"/>
            <c:invertIfNegative val="0"/>
            <c:bubble3D val="0"/>
            <c:spPr>
              <a:solidFill>
                <a:srgbClr val="E0932B"/>
              </a:solidFill>
              <a:effectLst/>
            </c:spPr>
          </c:dPt>
          <c:dPt>
            <c:idx val="4"/>
            <c:invertIfNegative val="0"/>
            <c:bubble3D val="0"/>
            <c:spPr>
              <a:solidFill>
                <a:srgbClr val="1F7A80"/>
              </a:solidFill>
              <a:effectLst/>
            </c:spPr>
          </c:dPt>
          <c:dPt>
            <c:idx val="5"/>
            <c:invertIfNegative val="0"/>
            <c:bubble3D val="0"/>
            <c:spPr>
              <a:solidFill>
                <a:srgbClr val="164E57"/>
              </a:solidFill>
              <a:effectLst/>
            </c:spPr>
          </c:dPt>
          <c:cat>
            <c:multiLvlStrRef>
              <c:f>Sheet1!$A$2:$A$7</c:f>
              <c:multiLvlStrCache>
                <c:ptCount val="6"/>
                <c:lvl>
                  <c:pt idx="0">
                    <c:v>Warm users (≥ 1 training event)</c:v>
                  </c:pt>
                  <c:pt idx="1">
                    <c:v>Study pool (5–100 events)</c:v>
                  </c:pt>
                  <c:pt idx="2">
                    <c:v>Full-pool cloud users</c:v>
                  </c:pt>
                  <c:pt idx="3">
                    <c:v>Pretraining (opted-in) users</c:v>
                  </c:pt>
                  <c:pt idx="4">
                    <c:v>Main cohort</c:v>
                  </c:pt>
                  <c:pt idx="5">
                    <c:v>Calibration users (tuning only)</c:v>
                  </c:pt>
                </c:lvl>
              </c:multiLvlStrCache>
            </c:multiLvlStrRef>
          </c:cat>
          <c:val>
            <c:numRef>
              <c:f>Sheet1!$B$2:$B$7</c:f>
              <c:numCache>
                <c:formatCode>General</c:formatCode>
                <c:ptCount val="6"/>
                <c:pt idx="0">
                  <c:v>2694998</c:v>
                </c:pt>
                <c:pt idx="1">
                  <c:v>1446986</c:v>
                </c:pt>
                <c:pt idx="2">
                  <c:v>1348682</c:v>
                </c:pt>
                <c:pt idx="3">
                  <c:v>1217610</c:v>
                </c:pt>
                <c:pt idx="4">
                  <c:v>131072</c:v>
                </c:pt>
                <c:pt idx="5">
                  <c:v>32768</c:v>
                </c:pt>
              </c:numCache>
            </c:numRef>
          </c:val>
        </c:ser>
        <c:dLbls>
          <c:numFmt formatCode="#,##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330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 MRR@20, 2-seed mean, main cohort (40,764 users)</a:t>
            </a:r>
          </a:p>
        </c:rich>
      </c:tx>
      <c:layout/>
      <c:overlay val="0"/>
    </c:title>
    <c:autoTitleDeleted val="0"/>
    <c:plotArea>
      <c:layout/>
      <c:barChart>
        <c:barDir val="col"/>
        <c:grouping val="clustered"/>
        <c:varyColors val="0"/>
        <c:ser>
          <c:idx val="0"/>
          <c:order val="0"/>
          <c:tx>
            <c:strRef>
              <c:f>Sheet1!$B$1</c:f>
              <c:strCache>
                <c:ptCount val="1"/>
                <c:pt idx="0">
                  <c:v>GRU (21.0M)</c:v>
                </c:pt>
              </c:strCache>
            </c:strRef>
          </c:tx>
          <c:spPr>
            <a:solidFill>
              <a:srgbClr val="5C6B73"/>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(registered rule)</c:v>
                  </c:pt>
                  <c:pt idx="1">
                    <c:v>Fixed end of budget</c:v>
                  </c:pt>
                </c:lvl>
              </c:multiLvlStrCache>
            </c:multiLvlStrRef>
          </c:cat>
          <c:val>
            <c:numRef>
              <c:f>Sheet1!$B$2:$B$3</c:f>
              <c:numCache>
                <c:formatCode>General</c:formatCode>
                <c:ptCount val="2"/>
                <c:pt idx="0">
                  <c:v>0.1569</c:v>
                </c:pt>
                <c:pt idx="1">
                  <c:v>0.1569</c:v>
                </c:pt>
              </c:numCache>
            </c:numRef>
          </c:val>
        </c:ser>
        <c:ser>
          <c:idx val="1"/>
          <c:order val="1"/>
          <c:tx>
            <c:strRef>
              <c:f>Sheet1!$C$1</c:f>
              <c:strCache>
                <c:ptCount val="1"/>
                <c:pt idx="0">
                  <c:v>SASRec (83.9M)</c:v>
                </c:pt>
              </c:strCache>
            </c:strRef>
          </c:tx>
          <c:spPr>
            <a:solidFill>
              <a:srgbClr val="1F7A80"/>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(registered rule)</c:v>
                  </c:pt>
                  <c:pt idx="1">
                    <c:v>Fixed end of budget</c:v>
                  </c:pt>
                </c:lvl>
              </c:multiLvlStrCache>
            </c:multiLvlStrRef>
          </c:cat>
          <c:val>
            <c:numRef>
              <c:f>Sheet1!$C$2:$C$3</c:f>
              <c:numCache>
                <c:formatCode>General</c:formatCode>
                <c:ptCount val="2"/>
                <c:pt idx="0">
                  <c:v>0.1612</c:v>
                </c:pt>
                <c:pt idx="1">
                  <c:v>0.1527</c:v>
                </c:pt>
              </c:numCache>
            </c:numRef>
          </c:val>
        </c:ser>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65"/>
          <c:min val="0.14"/>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 MRR@20, main cohort</a:t>
            </a:r>
          </a:p>
        </c:rich>
      </c:tx>
      <c:layout/>
      <c:overlay val="0"/>
    </c:title>
    <c:autoTitleDeleted val="0"/>
    <c:plotArea>
      <c:layout/>
      <c:barChart>
        <c:barDir val="bar"/>
        <c:grouping val="clustered"/>
        <c:varyColors val="0"/>
        <c:ser>
          <c:idx val="0"/>
          <c:order val="0"/>
          <c:tx>
            <c:strRef>
              <c:f>Sheet1!$B$1</c:f>
              <c:strCache>
                <c:ptCount val="1"/>
                <c:pt idx="0">
                  <c:v>MRR@20</c:v>
                </c:pt>
              </c:strCache>
            </c:strRef>
          </c:tx>
          <c:spPr>
            <a:solidFill>
              <a:srgbClr val="A7B1B6"/>
            </a:solidFill>
            <a:effectLst/>
          </c:spPr>
          <c:invertIfNegative val="0"/>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E0932B"/>
              </a:solidFill>
              <a:effectLst/>
            </c:spPr>
          </c:dPt>
          <c:dPt>
            <c:idx val="2"/>
            <c:invertIfNegative val="0"/>
            <c:bubble3D val="0"/>
            <c:spPr>
              <a:solidFill>
                <a:srgbClr val="A7B1B6"/>
              </a:solidFill>
              <a:effectLst/>
            </c:spPr>
          </c:dPt>
          <c:dPt>
            <c:idx val="3"/>
            <c:invertIfNegative val="0"/>
            <c:bubble3D val="0"/>
            <c:spPr>
              <a:solidFill>
                <a:srgbClr val="5C6B73"/>
              </a:solidFill>
              <a:effectLst/>
            </c:spPr>
          </c:dPt>
          <c:dPt>
            <c:idx val="4"/>
            <c:invertIfNegative val="0"/>
            <c:bubble3D val="0"/>
            <c:spPr>
              <a:solidFill>
                <a:srgbClr val="1F7A80"/>
              </a:solidFill>
              <a:effectLst/>
            </c:spPr>
          </c:dPt>
          <c:cat>
            <c:multiLvlStrRef>
              <c:f>Sheet1!$A$2:$A$6</c:f>
              <c:multiLvlStrCache>
                <c:ptCount val="5"/>
                <c:lvl>
                  <c:pt idx="0">
                    <c:v>Popularity</c:v>
                  </c:pt>
                  <c:pt idx="1">
                    <c:v>Last viewed item</c:v>
                  </c:pt>
                  <c:pt idx="2">
                    <c:v>Session kNN</c:v>
                  </c:pt>
                  <c:pt idx="3">
                    <c:v>GRU</c:v>
                  </c:pt>
                  <c:pt idx="4">
                    <c:v>SASRec (cloud)</c:v>
                  </c:pt>
                </c:lvl>
              </c:multiLvlStrCache>
            </c:multiLvlStrRef>
          </c:cat>
          <c:val>
            <c:numRef>
              <c:f>Sheet1!$B$2:$B$6</c:f>
              <c:numCache>
                <c:formatCode>General</c:formatCode>
                <c:ptCount val="5"/>
                <c:pt idx="0">
                  <c:v>0.01943</c:v>
                </c:pt>
                <c:pt idx="1">
                  <c:v>0.07111</c:v>
                </c:pt>
                <c:pt idx="2">
                  <c:v>0.11138</c:v>
                </c:pt>
                <c:pt idx="3">
                  <c:v>0.1569</c:v>
                </c:pt>
                <c:pt idx="4">
                  <c:v>0.1612</c:v>
                </c:pt>
              </c:numCache>
            </c:numRef>
          </c:val>
        </c:ser>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MB per federated visit (cap 170 MB)</a:t>
            </a:r>
          </a:p>
        </c:rich>
      </c:tx>
      <c:layout/>
      <c:overlay val="0"/>
    </c:title>
    <c:autoTitleDeleted val="0"/>
    <c:plotArea>
      <c:layout/>
      <c:barChart>
        <c:barDir val="bar"/>
        <c:grouping val="clustered"/>
        <c:varyColors val="0"/>
        <c:ser>
          <c:idx val="0"/>
          <c:order val="0"/>
          <c:tx>
            <c:strRef>
              <c:f>Sheet1!$B$1</c:f>
              <c:strCache>
                <c:ptCount val="1"/>
                <c:pt idx="0">
                  <c:v>MB per visit</c:v>
                </c:pt>
              </c:strCache>
            </c:strRef>
          </c:tx>
          <c:spPr>
            <a:solidFill>
              <a:srgbClr val="5C6B73"/>
            </a:solidFill>
            <a:effectLst/>
          </c:spPr>
          <c:invertIfNegative val="0"/>
          <c:dLbls>
            <c:numFmt formatCode="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5C6B73"/>
              </a:solidFill>
              <a:effectLst/>
            </c:spPr>
          </c:dPt>
          <c:dPt>
            <c:idx val="1"/>
            <c:invertIfNegative val="0"/>
            <c:bubble3D val="0"/>
            <c:spPr>
              <a:solidFill>
                <a:srgbClr val="1F7A80"/>
              </a:solidFill>
              <a:effectLst/>
            </c:spPr>
          </c:dPt>
          <c:dPt>
            <c:idx val="2"/>
            <c:invertIfNegative val="0"/>
            <c:bubble3D val="0"/>
            <c:spPr>
              <a:solidFill>
                <a:srgbClr val="1F7A80"/>
              </a:solidFill>
              <a:effectLst/>
            </c:spPr>
          </c:dPt>
          <c:dPt>
            <c:idx val="3"/>
            <c:invertIfNegative val="0"/>
            <c:bubble3D val="0"/>
            <c:spPr>
              <a:solidFill>
                <a:srgbClr val="E0932B"/>
              </a:solidFill>
              <a:effectLst/>
            </c:spPr>
          </c:dPt>
          <c:cat>
            <c:multiLvlStrRef>
              <c:f>Sheet1!$A$2:$A$5</c:f>
              <c:multiLvlStrCache>
                <c:ptCount val="4"/>
                <c:lvl>
                  <c:pt idx="0">
                    <c:v>Cloud-size model</c:v>
                  </c:pt>
                  <c:pt idx="1">
                    <c:v>Device model</c:v>
                  </c:pt>
                  <c:pt idx="2">
                    <c:v>8-bit uploads</c:v>
                  </c:pt>
                  <c:pt idx="3">
                    <c:v>Frozen item tables</c:v>
                  </c:pt>
                </c:lvl>
              </c:multiLvlStrCache>
            </c:multiLvlStrRef>
          </c:cat>
          <c:val>
            <c:numRef>
              <c:f>Sheet1!$B$2:$B$5</c:f>
              <c:numCache>
                <c:formatCode>General</c:formatCode>
                <c:ptCount val="4"/>
                <c:pt idx="0">
                  <c:v>671.1</c:v>
                </c:pt>
                <c:pt idx="1">
                  <c:v>165.7</c:v>
                </c:pt>
                <c:pt idx="2">
                  <c:v>103.6</c:v>
                </c:pt>
                <c:pt idx="3">
                  <c:v>2.1</c:v>
                </c:pt>
              </c:numCache>
            </c:numRef>
          </c:val>
        </c:ser>
        <c:dLbls>
          <c:numFmt formatCode="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8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Client learning-rate multiplier, 32,768 calibration users, 1,707 rounds</a:t>
            </a:r>
          </a:p>
        </c:rich>
      </c:tx>
      <c:layout/>
      <c:overlay val="0"/>
    </c:title>
    <c:autoTitleDeleted val="0"/>
    <c:plotArea>
      <c:layout/>
      <c:lineChart>
        <c:varyColors val="0"/>
        <c:ser>
          <c:idx val="0"/>
          <c:order val="0"/>
          <c:tx>
            <c:strRef>
              <c:f>Sheet1!$B$1</c:f>
              <c:strCache>
                <c:ptCount val="1"/>
                <c:pt idx="0">
                  <c:v>Calibration MRR@20</c:v>
                </c:pt>
              </c:strCache>
            </c:strRef>
          </c:tx>
          <c:spPr>
            <a:solidFill>
              <a:srgbClr val="1F7A80"/>
            </a:solidFill>
            <a:ln w="38100" cap="flat">
              <a:solidFill>
                <a:srgbClr val="1F7A80"/>
              </a:solidFill>
              <a:prstDash val="solid"/>
              <a:round/>
            </a:ln>
            <a:effectLst/>
          </c:spPr>
          <c:invertIfNegative val="0"/>
          <c:dLbls>
            <c:numFmt formatCode="0.0000" sourceLinked="0"/>
            <c:txPr>
              <a:bodyPr/>
              <a:lstStyle/>
              <a:p>
                <a:pPr>
                  <a:defRPr b="0" i="0" strike="noStrike" sz="1200" u="none">
                    <a:solidFill>
                      <a:srgbClr val="13262F"/>
                    </a:solidFill>
                    <a:latin typeface="Arial"/>
                  </a:defRPr>
                </a:pPr>
              </a:p>
            </c:txPr>
            <c:dLblPos val="t"/>
            <c:showLegendKey val="0"/>
            <c:showVal val="1"/>
            <c:showCatName val="0"/>
            <c:showSerName val="0"/>
            <c:showPercent val="0"/>
            <c:showBubbleSize val="0"/>
            <c:showLeaderLines val="0"/>
          </c:dLbls>
          <c:marker>
            <c:symbol val="circle"/>
            <c:size val="9"/>
            <c:spPr>
              <a:solidFill>
                <a:srgbClr val="1F7A80"/>
              </a:solidFill>
              <a:ln w="9525" cap="flat">
                <a:solidFill>
                  <a:srgbClr val="1F7A80"/>
                </a:solidFill>
                <a:prstDash val="solid"/>
                <a:round/>
              </a:ln>
              <a:effectLst/>
            </c:spPr>
          </c:marker>
          <c:cat>
            <c:multiLvlStrRef>
              <c:f>Sheet1!$A$2:$A$7</c:f>
              <c:multiLvlStrCache>
                <c:ptCount val="6"/>
                <c:lvl>
                  <c:pt idx="0">
                    <c:v>×0.5</c:v>
                  </c:pt>
                  <c:pt idx="1">
                    <c:v>×1 (start)</c:v>
                  </c:pt>
                  <c:pt idx="2">
                    <c:v>×2</c:v>
                  </c:pt>
                  <c:pt idx="3">
                    <c:v>×4</c:v>
                  </c:pt>
                  <c:pt idx="4">
                    <c:v>×8</c:v>
                  </c:pt>
                  <c:pt idx="5">
                    <c:v>×16</c:v>
                  </c:pt>
                </c:lvl>
              </c:multiLvlStrCache>
            </c:multiLvlStrRef>
          </c:cat>
          <c:val>
            <c:numRef>
              <c:f>Sheet1!$B$2:$B$7</c:f>
              <c:numCache>
                <c:formatCode>General</c:formatCode>
                <c:ptCount val="6"/>
                <c:pt idx="0">
                  <c:v>0.020263</c:v>
                </c:pt>
                <c:pt idx="1">
                  <c:v>0.023473</c:v>
                </c:pt>
                <c:pt idx="2">
                  <c:v>0.025562</c:v>
                </c:pt>
                <c:pt idx="3">
                  <c:v>0.02757</c:v>
                </c:pt>
                <c:pt idx="4">
                  <c:v>0.028796</c:v>
                </c:pt>
                <c:pt idx="5">
                  <c:v>0.022909</c:v>
                </c:pt>
              </c:numCache>
            </c:numRef>
          </c:val>
          <c:smooth val="0"/>
        </c:ser>
        <c:dLbls>
          <c:numFmt formatCode="0.0000" sourceLinked="0"/>
          <c:txPr>
            <a:bodyPr/>
            <a:lstStyle/>
            <a:p>
              <a:pPr>
                <a:defRPr b="0" i="0" strike="noStrike" sz="1200" u="none">
                  <a:solidFill>
                    <a:srgbClr val="13262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1"/>
          <c:min val="0.018"/>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14 part scores (mean 6.96)</a:t>
            </a:r>
          </a:p>
        </c:rich>
      </c:tx>
      <c:layout/>
      <c:overlay val="0"/>
    </c:title>
    <c:autoTitleDeleted val="0"/>
    <c:plotArea>
      <c:layout/>
      <c:barChart>
        <c:barDir val="bar"/>
        <c:grouping val="clustered"/>
        <c:varyColors val="0"/>
        <c:ser>
          <c:idx val="0"/>
          <c:order val="0"/>
          <c:tx>
            <c:strRef>
              <c:f>Sheet1!$B$1</c:f>
              <c:strCache>
                <c:ptCount val="1"/>
                <c:pt idx="0">
                  <c:v>Score / 10</c:v>
                </c:pt>
              </c:strCache>
            </c:strRef>
          </c:tx>
          <c:spPr>
            <a:solidFill>
              <a:srgbClr val="1F7A80"/>
            </a:solidFill>
            <a:effectLst/>
          </c:spPr>
          <c:invertIfNegative val="0"/>
          <c:dLbls>
            <c:numFmt formatCode="0.0" sourceLinked="0"/>
            <c:txPr>
              <a:bodyPr/>
              <a:lstStyle/>
              <a:p>
                <a:pPr>
                  <a:defRPr b="0" i="0" strike="noStrike" sz="1100" u="none">
                    <a:solidFill>
                      <a:srgbClr val="13262F"/>
                    </a:solidFill>
                    <a:latin typeface="Arial"/>
                  </a:defRPr>
                </a:pPr>
              </a:p>
            </c:txPr>
            <c:showLegendKey val="0"/>
            <c:showVal val="1"/>
            <c:showCatName val="0"/>
            <c:showSerName val="0"/>
            <c:showPercent val="0"/>
            <c:showBubbleSize val="0"/>
            <c:showLeaderLines val="0"/>
          </c:dLbls>
          <c:cat>
            <c:multiLvlStrRef>
              <c:f>Sheet1!$A$2:$A$15</c:f>
              <c:multiLvlStrCache>
                <c:ptCount val="14"/>
                <c:lvl>
                  <c:pt idx="0">
                    <c:v>Data</c:v>
                  </c:pt>
                  <c:pt idx="1">
                    <c:v>Evaluation &amp; statistics</c:v>
                  </c:pt>
                  <c:pt idx="2">
                    <c:v>Features &amp; history</c:v>
                  </c:pt>
                  <c:pt idx="3">
                    <c:v>Backbone contest</c:v>
                  </c:pt>
                  <c:pt idx="4">
                    <c:v>Central references</c:v>
                  </c:pt>
                  <c:pt idx="5">
                    <c:v>Differential privacy</c:v>
                  </c:pt>
                  <c:pt idx="6">
                    <c:v>Engineering</c:v>
                  </c:pt>
                  <c:pt idx="7">
                    <c:v>Question &amp; Edge framing</c:v>
                  </c:pt>
                  <c:pt idx="8">
                    <c:v>Federated training</c:v>
                  </c:pt>
                  <c:pt idx="9">
                    <c:v>Communication</c:v>
                  </c:pt>
                  <c:pt idx="10">
                    <c:v>On-device arms</c:v>
                  </c:pt>
                  <c:pt idx="11">
                    <c:v>Cold start &amp; strata</c:v>
                  </c:pt>
                  <c:pt idx="12">
                    <c:v>Thesis write-up</c:v>
                  </c:pt>
                  <c:pt idx="13">
                    <c:v>Device measurement</c:v>
                  </c:pt>
                </c:lvl>
              </c:multiLvlStrCache>
            </c:multiLvlStrRef>
          </c:cat>
          <c:val>
            <c:numRef>
              <c:f>Sheet1!$B$2:$B$15</c:f>
              <c:numCache>
                <c:formatCode>General</c:formatCode>
                <c:ptCount val="14"/>
                <c:pt idx="0">
                  <c:v>8</c:v>
                </c:pt>
                <c:pt idx="1">
                  <c:v>8</c:v>
                </c:pt>
                <c:pt idx="2">
                  <c:v>7</c:v>
                </c:pt>
                <c:pt idx="3">
                  <c:v>7</c:v>
                </c:pt>
                <c:pt idx="4">
                  <c:v>7</c:v>
                </c:pt>
                <c:pt idx="5">
                  <c:v>7</c:v>
                </c:pt>
                <c:pt idx="6">
                  <c:v>7</c:v>
                </c:pt>
                <c:pt idx="7">
                  <c:v>6.5</c:v>
                </c:pt>
                <c:pt idx="8">
                  <c:v>6</c:v>
                </c:pt>
                <c:pt idx="9">
                  <c:v>6</c:v>
                </c:pt>
                <c:pt idx="10">
                  <c:v>6</c:v>
                </c:pt>
                <c:pt idx="11">
                  <c:v>6</c:v>
                </c:pt>
                <c:pt idx="12">
                  <c:v>6</c:v>
                </c:pt>
                <c:pt idx="13">
                  <c:v>5</c:v>
                </c:pt>
              </c:numCache>
            </c:numRef>
          </c:val>
        </c:ser>
        <c:dLbls>
          <c:numFmt formatCode="0.0" sourceLinked="0"/>
          <c:txPr>
            <a:bodyPr/>
            <a:lstStyle/>
            <a:p>
              <a:pPr>
                <a:defRPr b="0" i="0" strike="noStrike" sz="1100" u="none">
                  <a:solidFill>
                    <a:srgbClr val="13262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 — النسخة دي مركزة على الأرقام: الشغل اللي اتعمل، التجارب القديمة، وليه غيرنا الاتجاه، وإيه اللي اتقاس لحد دلوقتي.
قاعدة مهمة: نتائج الطرق الرئيسية في الدراسة الحالية (الفيدرالي، الجهاز، السحابة الكاملة) وأسبوع الـ test مقفولين لحد القراءة المسجلة مسبقاً.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 — المشروع في 8 أرقام:
158,486 منتج بيترتبوا في كل توقع. 1.45 مليون مستخدم في الـ pool (كل واحد 5–100 حدث). 131,072 في الـ main cohort بـ 2.59 مليون قرار تدريب.
4 مراحل: الفئة الجاية، المنتج الجاي بموديل سحابة، الفيتشرز، ودراسة النشر الحالية. 8 تشغيلات في مسابقة الموديل.
+22.7% تحسن للفيدرالي من الضبط (calibration). والمراجعة المستقلة 7/10 والهدف 8–8.5.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3 — الرحلة في 4 مراحل:
1) MVP توقع الفئة الجاية (أكتوبر 2019): GRU 0.3474 مقابل جدول الانتقالات 0.3143.
2) توقع المنتج الجاي بموديل سحابة على الداتا الكاملة: أحسن موديل SASRec 0.1713 على الـ validation.
3) هندسة الفيتشرز: من 58 عمود لـ 24، و21 منهم ممكن يتحسبوا على الجهاز.
4) دراسة النشر الحالية: الفيدرالي +22.7% من الضبط لحد دلوقتي، والنتائج الرئيسية مقفولة.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4 — المرحلة القديمة 1: مهمة الفئة الجاية (MVP) من الـ GitHub.
الداتا: أكتوبر 2019 بس، 97,279 مستخدم، 588 فئة.
على قرارات تغيير الفئة (validation، macro MRR@20): popularity 0.1049، جدول الانتقالات 0.3143، GRU (3 بذور) 0.3474 → +0.0331، والفرق بين البذور 0.0007.
الفيدرالي في تجربة صغيرة (1,000 عميل) حافظ على 88.4% من الجودة المركزية (0.0996 مقابل 0.1127، بطريقة قياس تانية، ما تخلطهاش بـ 0.3474).
مشكلة: 82% من المقياس الكلي بتتحل بقاعدة من غير تعلم (تكرار نفس الفئة) — المهمة سهلة بشكل مصطنع.
توقع الشراء: PR-AUC من 0.076 (قاعدة) لـ 0.142 (موديل).
أقوى ولا أضعف من الأبحاث؟ مانعرفش — مالقيناش أبحاث منشورة على REES46 لمهمة الفئة الجاية نقارن بيها.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5 — ليه انتقلنا لتوقع المنتج الجاي.
1) مفيش أبحاث منشورة بأرقام على REES46 لمهمة الفئة الجاية، فمنقدرش نعرف إحنا أقوى ولا أضعف.
2) 82% من مقياس الفئة بيتحل من غير تعلم — المهمة سهلة بشكل مصطنع.
3) مهمة المنتج الجاي ليها benchmark منشور رسمي على REES46 (GRU4Rec، RecSys 2023) نقدر نقارن بيه.
كمان الصعوبة: 588 فئة مقابل 158,486 منتج. واتفقنا على التغيير ده مع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5 — المرحلة القديمة 2: موديلات مركزية على الداتا الكاملة (52.8 مليون قرار).
على أسبوع الـ validation-confirm (20–23 نوفمبر): popularity 0.0202، item-transition 0.1487، GRU 0.1690، SASRec 0.1713.
SASRec أعلى بـ +0.0024، بس نسخة SASRec بالـ IDs بس كانت أقل من GRU، يعني المكسب جه من الفيتشرز الزيادة مش من المعمارية.
ملاحظة لو اتسألت: أسبوع الـ test اتقرا مرة في المرحلة دي (SASRec 0.1705 مقابل GRU 0.1687)؛ مش حاطينه على الشريحة لأن نفس الأسبوع هو الـ test المقفول في الدراسة الحالية. والأرقام دي مش قابلة للمقارنة مع الدراسة الحالية (داتا ومستخدمين وفيتشرز مختلفة).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 أرقامنا مقابل الـ benchmark المنشور (GRU4Rec الرسمي على REES46، Hidasi &amp; Czapp، RecSys 2023).
المنشور: Recall@20 = 0.5291، MRR@20 = 0.2003 (على مستوى الحدث).
إحنا (المرحلة القديمة، أسبوع validation-confirm، داتا كاملة): SASRec Recall@20 0.4315 و MRR@20 0.1542؛ GRU 0.4242 و 0.1531.
ليه أقل:
- Recall أقل بـ 0.098: بنرتب الكتالوج كله (158,486 منتج) وأي منتج جديد بيتحسب غلط.
- MRR أقل بـ 0.046: بنتوقع الأسبوع اللي بعده، والبحث بيستخدم آخر يوم.
- التدريب: 5 epochs بس، حوالي 20.7 ساعة GPU على 2× A16 (15.4 جيجا) — البحث متظبط جامد. ده بسبب ضعف الموارد وقتها.
- الدراسة الحالية داتا أقل 20 مرة (2.59 مليون مقابل 52.8 مليون) علشان الفيدرالي، فالرقم 0.1612.
الخلاصة: مش إعادة تشغيل بنفس البروتوكول، فمنقدرش نقول أقوى ولا أضعف بشكل قاطع. دلوقتي معانا سيرفر 2× A40 وبدأنا نجرب.
الفجوة ما اتفككتش بتجارب (ablation)، فالأسباب دي هي الفروق المعروفة في البروتوكول مش قياس لكل سبب.
ملحوظة: رقمنا الرئيسي 0.1713 متوسط لكل مستخدم (macro) — مش نفس طريقة البحث، فما نقارنوش بـ 0.2003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1 — المهمة والـ benchmark.
1) موافق إن توقع المنتج الجاي هو المهمة الصح للرسالة؟ الفئة الجاية ماكانش ليها أبحاث منشورة على REES46، و82% منها بيتحل من غير تعلم.
2) نعيد تشغيل بروتوكول GRU4Rec المنشور على السيرفر؟ ده هيقولنا مباشرة إحنا أقوى ولا أضعف (تقريباً تشغيل واحد زيادة، تقدير).
3) أنهي مقياس يبقى الأساسي: MRR@20 لكل مستخدم (بتاعنا) ولا لكل حدث (بتاع الأبحاث)؟ نقدر نعرض الاتنين.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6 — إصلاح SASRec في المرحلة القديمة.
المحاولة الأولى فشلت: 0.1179. بعد 5 إصلاحات (فك ربط جدول الخرج، شيل الضرب ×16 مع LayerNorm على الدخل، Adam β2 = 0.999، إعادة توسيط جدول الخرج، وجدول learning rate جديد) وصلت 0.1814، يعني +54%. وبعد epoch تبريد إضافية 0.1863.
الفرق بين البذرتين في الآخر 0.0002 بس، يعني ثابت.
الدرس: كل فشل اتوثق ومتقفلش عليه — وده نفس الأسلوب اللي بنستخدمه في سلم الفيدرالي.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 هندسة الفيتشرز (الأعمدة).
المرحلة القديمة: 58 عمود دخل:
- 6 أعمدة tokens: المنتج، الفئة، البراند، الفئة الرئيسية، جزء اليوم، يوم الأسبوع.
- 19 عمود رقمي: السعر، الساعة واليوم (sin/cos)، الوقت من آخر مشاهدة، عمر المنتج، عدادات الجلسة.
- 15 علامة جودة: السعر ناقص أو صفر، البراند متصلح، تعارض الفئة...
- 12 قيمة عن المستخدم: عدد المشاهدات والجلسات السابقة، نسبة تطابق البراند/الفئة، السعر مقارنة بالعادي.
- 6 masks: التاريخ متاح، الجلسة السابقة متاحة...
الدراسة الحالية: 24 عمود: 5 tokens، 7 أرقام، 2 علامات، 6 عن المستخدم، 4 masks. الاختيار: 53 → 30 بالإحصاء → 24 ببحث جماعي. ومفيش أي عمود تقويم فضل.
21 من 24 ممكن يتحسبوا على الجهاز نفسه؛ الـ 3 الباقيين محتاجين قاموس مشترك (المنتج، الفئة، البراند).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 دراسة الفيتشرز: كل مجموعة تسوى قد إيه (بنشيلها ونشوف الفرق).
شيل كل الفيتشرز الجانبية: −0.0467. عمر المنتج: −0.0247. السعر الحالي: −0.0098. الفئة الرئيسية: −0.0063. البراند: −0.0057. مستخدم بارد: −0.0041. الوقت من آخر مشاهدة: −0.0036. التقويم: +0.0007 (ضوضاء).
يعني الفيتشرز مهمة، بس أحسن مرشح جديد كسب +0.00026 بس (الحد 0.002) → فضلنا على نفس الفيتشرز. والتقويم اتشال في الدراسة الحالية.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8 — ليه غيرنا الاتجاه (بالأرقام).
1) المراحل القديمة جاوبت "إيه أحسن موديل سحابة"، بس سؤال البروبوزال هو سحابة مقابل فيدرالي مقابل جهاز → عملنا دراسة نشر.
2) مستخدم = جهاز: في الداتا الخام الوسيط 6 أحداث، والأقصى 11,628، و473,402 مستخدم عندهم حدث واحد بس → أخدنا المستخدمين اللي عندهم 5–100 حدث: 1.45 مليون.
3) تكلفة الفيدرالي: 52.8 مليون قرار كبير جداً نحاكي عليه فيدرالي مرات كتير → main cohort 2.59 مليون (حوالي 20 مرة أصغر).
4) مقارنة غير عادلة: GRU و SASRec كانوا بفيتشرز وجداول تدريب مختلفة → مسابقة جديدة على بروتوكول واحد نظيف.
5) أسبوع الـ test القديم اتقرا مرة → مكتوب إنه اتشاف، ونظرة واحدة جديدة مقفولة.
6) الموارد: كان عندنا 2× A16 (15.4 جيجا لكل واحدة) و12.8 جيجا مساحة فاضية بس؛ دلوقتي معانا سيرفر 2× A40 والتجارب شغالة.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9 — الإعداد الجديد: من المستخدمين الخام لمجموعة الضبط.
2,694,998 مستخدم عندهم حدث تدريب واحد على الأقل ← 1,446,986 في الـ pool (5–100) ← 1,348,682 للسحابة الكاملة ← 1,217,610 للتدريب المسبق (مستخدمين موافقين، مش متداخلين مع الـ main) ← 131,072 main cohort ← 32,768 calibration (للضبط بس).
التقسيم: تدريب لحد 15 نوفمبر، validation 16–22، test 23–29 مقفول. كل توقع بيشوف لحد 50 حدث.
كمان: لوحة مستخدمين ما شاركوش 12,862، ومستخدمين باردين تماماً 381,295.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2 — هل تغيير الاتجاه سليم؟
1) تحديد المستخدمين بـ 5–100 حدث مقبول لقصة Edge؟ بيخلي كل جهاز واقعي، والمستخدمين التقال جداً وأصحاب الحدث الواحد ليهم لوحات منفصلة.
2) المرجع: السحابة المطابقة (131 ألف) ولا الكاملة (1.35 مليون)؟
3) نتائج المرحلة القديمة تدخل الرسالة ولا تفضل context بس؟ مش قابلة للمقارنة.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11 — مسابقة الموديل في الدراسة الحالية (8 تشغيلات، 40,764 مستخدم).
القاعدة المسجلة: SASRec 0.1612 مقابل GRU 0.1569 → SASRec +0.0043، فترة الثقة [+0.0033، +0.0052] → اتختار.
نهاية الميزانية الثابتة: GRU 0.1569 مقابل SASRec 0.1527 → GRU +0.0042 → مفصح عنه.
NDCG@10: 0.1967 مقابل 0.1910.
ملحوظة: 0.1612 هنا مش قابل للمقارنة بـ 0.1713 القديم (داتا أصغر حوالي 20 مرة وفيتشرز مختلفة).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12 — الحد اللي لازم نعديه، وميزانية الجهاز.
شمال: popularity 0.0194، آخر منتج اتشاف 0.0711 (44% من السحابة)، session kNN 0.1114 (69%)، GRU 0.1569، SASRec 0.1612.
يمين: الميجابايت في الزيارة: موديل بحجم السحابة 671، موديل الجهاز 165.7 (تحت سقف 170)، رفع 8 بت 103.6، جداول مجمدة 2.1.
الباراميترز: 83.9 مليون مقابل 20.7 مليون.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13 — الفيدرالي.
منحنى الـ learning rate: 0.0203 / 0.0235 (البداية) / 0.0256 / 0.0276 / 0.0288 (الأحسن عند ×8) / 0.0229. يعني +22.7% عن البداية.
الإنذار: حوالي 25% من الموديل المركزي المطابق على calibration (المركزي تقدير 0.11–0.12)، في حين آخر منتج اتشاف حوالي 44% من السحابة. مجموعات مختلفة، فده إنذار مش نتيجة.
المراحل الجاية: server optimizer (شغال)، شكل الـ LR، الـ passes/batch، البدء من موديل مُدرب مسبقاً (شغال)، والجداول المجمدة. المرحلة بتتحفظ بس لو كسبت ≥ 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3 — مجهود الفيدرالي ومستوى الخصوصية.
1) قد إيه ضبط عادل؟ السلم بيقف لو المرحلة كسبت أقل من 0.002.
2) لو الفيدرالي فضل تحت 0.0711، نعرضه إزاي؟ خطتنا: بوضوح كنتيجة عن الوصفة والميزانية.
3) ε=8 و ε=1 كفاية ولا منحنى؟ ε=4 تشغيل زيادة حوالي نص يوم (تقدير).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15 — لوحة المقارنة في الدراسة الحالية.
السحابة الكبيرة هي المرجع (0.1612). السحابة الكاملة بتتدرب وتخلص حوالي 30 سبتمبر. السحابة الصغيرة مقفولة. الفيدرالي في مرحلة الضبط التانية من أربعة. DP بعد الضبط. الفرع المُدرب مسبقاً (1.22 مليون مستخدم) شغال. تشغيلات الجهاز بدأت. الـ baselines خلصت.
النتائج المقفولة كلها هتتقرا مع بعض: validation حوالي 2–3 أكتوبر، test حوالي 4–5 أكتوبر (تقديرات).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16 — الخصوصية والفرع الواقعي بالأرقام.
DP عند ε=8 و ε=1 على مستوى المستخدم، noise multipliers 0.5642 و 1.3094، و δ = 5×10⁻⁶.
التدريب المسبق على 1,217,610 مستخدم موافق (24.1 مليون قرار). مع الجداول المجمدة بنرفع 265,162 باراميتر بس (حوالي 1.06 ميجا في كل اتجاه)، وتحميل الجداول مرة واحدة 81.78 ميجا.
98% من باراميترز موديل الجهاز جداول منتجات، فالتحديثات من غير DP بتكشف المنتجات اللي المستخدم شافها. secure aggregation مش متحاكي — مكتوب كحدود.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17 — المراجعات المستقلة.
14 جزء، المتوسط 6.96 → 7/10. أعلى حاجة الداتا والتقييم (8)، وأقل حاجة قياس الجهاز (5).
مفيش ولا bug في التقييم ولا تسريب داتا.
مجموعات الإصلاح: 5 مجموعات (A لـ E). A و B و C اتعملوا أو اتسجلوا قبل أي قراءة؛ D قبل الـ test و E في الكتابة. الهدف 8–8.5.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18 — إمتى النتائج (تقديرات).
حوالي 30 سبتمبر: الضبط والتدريب المسبق يخلصوا. 30 سبتمبر–2 أكتوبر: التشغيلات الفيدرالية و DP (كل واحد حوالي 10.7 ساعة، معدل مقاس). حوالي 2–3 أكتوبر: قراءة validation واحدة ثم قفل. حوالي 4–5 أكتوبر: نظرة test واحدة، والجداول حوالي 6–7 أكتوبر.
اتأخرنا حوالي يوم عن الخطة بسبب إن تشغيلات الضبط أبطأ وهي بتشارك الـ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4 — الـ headline والأولويات.
1) أنهي مقارنة تبقى الإجابة الرئيسية لـ Edge؟ الفيدرالي العادي ولا الفرع المُدرب مسبقاً قدام السحابة الكاملة؟
2) لو الوقت ضيق نحمي إيه الأول؟ مش هنقطع: الفيدرالي ببذرتين، المحلي ببذرتين، fine-tune السحابة ببذرتين، INT8، القفل، ونظرة الـ test.
3) يوافق مسبقاً على بيان استخدام الذكاء الاصطناعي المطلوب من Queen's؟
سجل التحديثات: v1-numbers — 2026-09-29، نفس الحالة (DECISION_LOG لحد الصف 228، السلم لحد S1b).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1280160"/>
            <a:ext cx="100584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PRIVACY-PRESERVING SHOPPING INTELLIGENCE</a:t>
            </a:r>
            <a:endParaRPr lang="en-US" sz="1400" dirty="0"/>
          </a:p>
        </p:txBody>
      </p:sp>
      <p:sp>
        <p:nvSpPr>
          <p:cNvPr id="3" name="Text 1"/>
          <p:cNvSpPr txBox="1"/>
          <p:nvPr/>
        </p:nvSpPr>
        <p:spPr>
          <a:xfrm>
            <a:off x="548640" y="173736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project in numbers</a:t>
            </a:r>
            <a:endParaRPr lang="en-US" sz="4800" dirty="0"/>
          </a:p>
        </p:txBody>
      </p:sp>
      <p:sp>
        <p:nvSpPr>
          <p:cNvPr id="4" name="Text 2"/>
          <p:cNvSpPr txBox="1"/>
          <p:nvPr/>
        </p:nvSpPr>
        <p:spPr>
          <a:xfrm>
            <a:off x="548640" y="2788920"/>
            <a:ext cx="10058400" cy="822960"/>
          </a:xfrm>
          <a:prstGeom prst="rect">
            <a:avLst/>
          </a:prstGeom>
          <a:noFill/>
          <a:ln/>
        </p:spPr>
        <p:txBody>
          <a:bodyPr wrap="square" lIns="0" tIns="0" rIns="0" bIns="0" rtlCol="0" anchor="ctr"/>
          <a:lstStyle/>
          <a:p>
            <a:pPr indent="0" marL="0">
              <a:buNone/>
            </a:pPr>
            <a:r>
              <a:rPr lang="en-US" sz="2000" dirty="0">
                <a:solidFill>
                  <a:srgbClr val="A9C0C4"/>
                </a:solidFill>
                <a:latin typeface="Calibri" pitchFamily="34" charset="0"/>
                <a:ea typeface="Calibri" pitchFamily="34" charset="-122"/>
                <a:cs typeface="Calibri" pitchFamily="34" charset="-120"/>
              </a:rPr>
              <a:t>What was built, what earlier experiments showed, why we changed course, and what is measured so far</a:t>
            </a:r>
            <a:endParaRPr lang="en-US" sz="2000" dirty="0"/>
          </a:p>
        </p:txBody>
      </p:sp>
      <p:sp>
        <p:nvSpPr>
          <p:cNvPr id="5" name="Text 3"/>
          <p:cNvSpPr txBox="1"/>
          <p:nvPr/>
        </p:nvSpPr>
        <p:spPr>
          <a:xfrm>
            <a:off x="548640" y="5943600"/>
            <a:ext cx="10972800" cy="320040"/>
          </a:xfrm>
          <a:prstGeom prst="rect">
            <a:avLst/>
          </a:prstGeom>
          <a:noFill/>
          <a:ln/>
        </p:spPr>
        <p:txBody>
          <a:bodyPr wrap="square" lIns="0" tIns="0" rIns="0" bIns="0" rtlCol="0" anchor="ctr"/>
          <a:lstStyle/>
          <a:p>
            <a:pPr indent="0" marL="0">
              <a:buNone/>
            </a:pPr>
            <a:r>
              <a:rPr lang="en-US" sz="1300" dirty="0">
                <a:solidFill>
                  <a:srgbClr val="A9C0C4"/>
                </a:solidFill>
                <a:latin typeface="Calibri" pitchFamily="34" charset="0"/>
                <a:ea typeface="Calibri" pitchFamily="34" charset="-122"/>
                <a:cs typeface="Calibri" pitchFamily="34" charset="-120"/>
              </a:rPr>
              <a:t>Ahmed Abdelhamed · MSc, Queen's University · supervisor meeting, 30 September 2026 · facts as of 29 Sep, 18:36 UTC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AT A GLANCE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Eight numbers that summarise the work</a:t>
            </a:r>
            <a:endParaRPr lang="en-US" sz="3000" dirty="0"/>
          </a:p>
        </p:txBody>
      </p:sp>
      <p:sp>
        <p:nvSpPr>
          <p:cNvPr id="4" name="Shape 2"/>
          <p:cNvSpPr/>
          <p:nvPr/>
        </p:nvSpPr>
        <p:spPr>
          <a:xfrm>
            <a:off x="548640" y="1463040"/>
            <a:ext cx="2567864" cy="1920240"/>
          </a:xfrm>
          <a:prstGeom prst="roundRect">
            <a:avLst>
              <a:gd name="adj" fmla="val 3810"/>
            </a:avLst>
          </a:prstGeom>
          <a:solidFill>
            <a:srgbClr val="F1F4F4"/>
          </a:solidFill>
          <a:ln/>
        </p:spPr>
      </p:sp>
      <p:sp>
        <p:nvSpPr>
          <p:cNvPr id="5" name="Text 3"/>
          <p:cNvSpPr txBox="1"/>
          <p:nvPr/>
        </p:nvSpPr>
        <p:spPr>
          <a:xfrm>
            <a:off x="777240" y="160020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158,486</a:t>
            </a:r>
            <a:endParaRPr lang="en-US" sz="3200" dirty="0"/>
          </a:p>
        </p:txBody>
      </p:sp>
      <p:sp>
        <p:nvSpPr>
          <p:cNvPr id="6" name="Text 4"/>
          <p:cNvSpPr txBox="1"/>
          <p:nvPr/>
        </p:nvSpPr>
        <p:spPr>
          <a:xfrm>
            <a:off x="777240" y="228600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products ranked for every prediction</a:t>
            </a:r>
            <a:endParaRPr lang="en-US" sz="1300" dirty="0"/>
          </a:p>
        </p:txBody>
      </p:sp>
      <p:sp>
        <p:nvSpPr>
          <p:cNvPr id="7" name="Shape 5"/>
          <p:cNvSpPr/>
          <p:nvPr/>
        </p:nvSpPr>
        <p:spPr>
          <a:xfrm>
            <a:off x="3390824" y="1463040"/>
            <a:ext cx="2567864" cy="1920240"/>
          </a:xfrm>
          <a:prstGeom prst="roundRect">
            <a:avLst>
              <a:gd name="adj" fmla="val 3810"/>
            </a:avLst>
          </a:prstGeom>
          <a:solidFill>
            <a:srgbClr val="F1F4F4"/>
          </a:solidFill>
          <a:ln/>
        </p:spPr>
      </p:sp>
      <p:sp>
        <p:nvSpPr>
          <p:cNvPr id="8" name="Text 6"/>
          <p:cNvSpPr txBox="1"/>
          <p:nvPr/>
        </p:nvSpPr>
        <p:spPr>
          <a:xfrm>
            <a:off x="3619424" y="160020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1.45 M</a:t>
            </a:r>
            <a:endParaRPr lang="en-US" sz="3200" dirty="0"/>
          </a:p>
        </p:txBody>
      </p:sp>
      <p:sp>
        <p:nvSpPr>
          <p:cNvPr id="9" name="Text 7"/>
          <p:cNvSpPr txBox="1"/>
          <p:nvPr/>
        </p:nvSpPr>
        <p:spPr>
          <a:xfrm>
            <a:off x="3619424" y="228600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users in the study pool (5–100 events each)</a:t>
            </a:r>
            <a:endParaRPr lang="en-US" sz="1300" dirty="0"/>
          </a:p>
        </p:txBody>
      </p:sp>
      <p:sp>
        <p:nvSpPr>
          <p:cNvPr id="10" name="Shape 8"/>
          <p:cNvSpPr/>
          <p:nvPr/>
        </p:nvSpPr>
        <p:spPr>
          <a:xfrm>
            <a:off x="6233008" y="1463040"/>
            <a:ext cx="2567864" cy="1920240"/>
          </a:xfrm>
          <a:prstGeom prst="roundRect">
            <a:avLst>
              <a:gd name="adj" fmla="val 3810"/>
            </a:avLst>
          </a:prstGeom>
          <a:solidFill>
            <a:srgbClr val="F1F4F4"/>
          </a:solidFill>
          <a:ln/>
        </p:spPr>
      </p:sp>
      <p:sp>
        <p:nvSpPr>
          <p:cNvPr id="11" name="Text 9"/>
          <p:cNvSpPr txBox="1"/>
          <p:nvPr/>
        </p:nvSpPr>
        <p:spPr>
          <a:xfrm>
            <a:off x="6461608" y="160020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131,072</a:t>
            </a:r>
            <a:endParaRPr lang="en-US" sz="3200" dirty="0"/>
          </a:p>
        </p:txBody>
      </p:sp>
      <p:sp>
        <p:nvSpPr>
          <p:cNvPr id="12" name="Text 10"/>
          <p:cNvSpPr txBox="1"/>
          <p:nvPr/>
        </p:nvSpPr>
        <p:spPr>
          <a:xfrm>
            <a:off x="6461608" y="228600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users in the main cohort</a:t>
            </a:r>
            <a:endParaRPr lang="en-US" sz="1300" dirty="0"/>
          </a:p>
        </p:txBody>
      </p:sp>
      <p:sp>
        <p:nvSpPr>
          <p:cNvPr id="13" name="Shape 11"/>
          <p:cNvSpPr/>
          <p:nvPr/>
        </p:nvSpPr>
        <p:spPr>
          <a:xfrm>
            <a:off x="9075191" y="1463040"/>
            <a:ext cx="2567864" cy="1920240"/>
          </a:xfrm>
          <a:prstGeom prst="roundRect">
            <a:avLst>
              <a:gd name="adj" fmla="val 3810"/>
            </a:avLst>
          </a:prstGeom>
          <a:solidFill>
            <a:srgbClr val="F1F4F4"/>
          </a:solidFill>
          <a:ln/>
        </p:spPr>
      </p:sp>
      <p:sp>
        <p:nvSpPr>
          <p:cNvPr id="14" name="Text 12"/>
          <p:cNvSpPr txBox="1"/>
          <p:nvPr/>
        </p:nvSpPr>
        <p:spPr>
          <a:xfrm>
            <a:off x="9303791" y="160020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2.59 M</a:t>
            </a:r>
            <a:endParaRPr lang="en-US" sz="3200" dirty="0"/>
          </a:p>
        </p:txBody>
      </p:sp>
      <p:sp>
        <p:nvSpPr>
          <p:cNvPr id="15" name="Text 13"/>
          <p:cNvSpPr txBox="1"/>
          <p:nvPr/>
        </p:nvSpPr>
        <p:spPr>
          <a:xfrm>
            <a:off x="9303791" y="228600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training decisions in the main cohort</a:t>
            </a:r>
            <a:endParaRPr lang="en-US" sz="1300" dirty="0"/>
          </a:p>
        </p:txBody>
      </p:sp>
      <p:sp>
        <p:nvSpPr>
          <p:cNvPr id="16" name="Shape 14"/>
          <p:cNvSpPr/>
          <p:nvPr/>
        </p:nvSpPr>
        <p:spPr>
          <a:xfrm>
            <a:off x="548640" y="3657600"/>
            <a:ext cx="2567864" cy="1920240"/>
          </a:xfrm>
          <a:prstGeom prst="roundRect">
            <a:avLst>
              <a:gd name="adj" fmla="val 3810"/>
            </a:avLst>
          </a:prstGeom>
          <a:solidFill>
            <a:srgbClr val="F1F4F4"/>
          </a:solidFill>
          <a:ln/>
        </p:spPr>
      </p:sp>
      <p:sp>
        <p:nvSpPr>
          <p:cNvPr id="17" name="Text 15"/>
          <p:cNvSpPr txBox="1"/>
          <p:nvPr/>
        </p:nvSpPr>
        <p:spPr>
          <a:xfrm>
            <a:off x="777240" y="379476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4</a:t>
            </a:r>
            <a:endParaRPr lang="en-US" sz="3200" dirty="0"/>
          </a:p>
        </p:txBody>
      </p:sp>
      <p:sp>
        <p:nvSpPr>
          <p:cNvPr id="18" name="Text 16"/>
          <p:cNvSpPr txBox="1"/>
          <p:nvPr/>
        </p:nvSpPr>
        <p:spPr>
          <a:xfrm>
            <a:off x="777240" y="448056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phases: next category → next product (cloud) → features → deployment study</a:t>
            </a:r>
            <a:endParaRPr lang="en-US" sz="1300" dirty="0"/>
          </a:p>
        </p:txBody>
      </p:sp>
      <p:sp>
        <p:nvSpPr>
          <p:cNvPr id="19" name="Shape 17"/>
          <p:cNvSpPr/>
          <p:nvPr/>
        </p:nvSpPr>
        <p:spPr>
          <a:xfrm>
            <a:off x="3390824" y="3657600"/>
            <a:ext cx="2567864" cy="1920240"/>
          </a:xfrm>
          <a:prstGeom prst="roundRect">
            <a:avLst>
              <a:gd name="adj" fmla="val 3810"/>
            </a:avLst>
          </a:prstGeom>
          <a:solidFill>
            <a:srgbClr val="F1F4F4"/>
          </a:solidFill>
          <a:ln/>
        </p:spPr>
      </p:sp>
      <p:sp>
        <p:nvSpPr>
          <p:cNvPr id="20" name="Text 18"/>
          <p:cNvSpPr txBox="1"/>
          <p:nvPr/>
        </p:nvSpPr>
        <p:spPr>
          <a:xfrm>
            <a:off x="3619424" y="379476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8</a:t>
            </a:r>
            <a:endParaRPr lang="en-US" sz="3200" dirty="0"/>
          </a:p>
        </p:txBody>
      </p:sp>
      <p:sp>
        <p:nvSpPr>
          <p:cNvPr id="21" name="Text 19"/>
          <p:cNvSpPr txBox="1"/>
          <p:nvPr/>
        </p:nvSpPr>
        <p:spPr>
          <a:xfrm>
            <a:off x="3619424" y="448056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runs in the backbone contest (2 families × 2 sizes × 2 seeds)</a:t>
            </a:r>
            <a:endParaRPr lang="en-US" sz="1300" dirty="0"/>
          </a:p>
        </p:txBody>
      </p:sp>
      <p:sp>
        <p:nvSpPr>
          <p:cNvPr id="22" name="Shape 20"/>
          <p:cNvSpPr/>
          <p:nvPr/>
        </p:nvSpPr>
        <p:spPr>
          <a:xfrm>
            <a:off x="6233008" y="3657600"/>
            <a:ext cx="2567864" cy="1920240"/>
          </a:xfrm>
          <a:prstGeom prst="roundRect">
            <a:avLst>
              <a:gd name="adj" fmla="val 3810"/>
            </a:avLst>
          </a:prstGeom>
          <a:solidFill>
            <a:srgbClr val="D8ECEC"/>
          </a:solidFill>
          <a:ln/>
        </p:spPr>
      </p:sp>
      <p:sp>
        <p:nvSpPr>
          <p:cNvPr id="23" name="Text 21"/>
          <p:cNvSpPr txBox="1"/>
          <p:nvPr/>
        </p:nvSpPr>
        <p:spPr>
          <a:xfrm>
            <a:off x="6461608" y="379476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+22.7%</a:t>
            </a:r>
            <a:endParaRPr lang="en-US" sz="3200" dirty="0"/>
          </a:p>
        </p:txBody>
      </p:sp>
      <p:sp>
        <p:nvSpPr>
          <p:cNvPr id="24" name="Text 22"/>
          <p:cNvSpPr txBox="1"/>
          <p:nvPr/>
        </p:nvSpPr>
        <p:spPr>
          <a:xfrm>
            <a:off x="6461608" y="448056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federated gain so far from tuning (calibration users)</a:t>
            </a:r>
            <a:endParaRPr lang="en-US" sz="1300" dirty="0"/>
          </a:p>
        </p:txBody>
      </p:sp>
      <p:sp>
        <p:nvSpPr>
          <p:cNvPr id="25" name="Shape 23"/>
          <p:cNvSpPr/>
          <p:nvPr/>
        </p:nvSpPr>
        <p:spPr>
          <a:xfrm>
            <a:off x="9075191" y="3657600"/>
            <a:ext cx="2567864" cy="1920240"/>
          </a:xfrm>
          <a:prstGeom prst="roundRect">
            <a:avLst>
              <a:gd name="adj" fmla="val 3810"/>
            </a:avLst>
          </a:prstGeom>
          <a:solidFill>
            <a:srgbClr val="F1F4F4"/>
          </a:solidFill>
          <a:ln/>
        </p:spPr>
      </p:sp>
      <p:sp>
        <p:nvSpPr>
          <p:cNvPr id="26" name="Text 24"/>
          <p:cNvSpPr txBox="1"/>
          <p:nvPr/>
        </p:nvSpPr>
        <p:spPr>
          <a:xfrm>
            <a:off x="9303791" y="3794760"/>
            <a:ext cx="2110664"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7 / 10</a:t>
            </a:r>
            <a:endParaRPr lang="en-US" sz="3200" dirty="0"/>
          </a:p>
        </p:txBody>
      </p:sp>
      <p:sp>
        <p:nvSpPr>
          <p:cNvPr id="27" name="Text 25"/>
          <p:cNvSpPr txBox="1"/>
          <p:nvPr/>
        </p:nvSpPr>
        <p:spPr>
          <a:xfrm>
            <a:off x="9303791" y="4480560"/>
            <a:ext cx="2110664" cy="10058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independent 14-part review; 8–8.5 after the fixes</a:t>
            </a:r>
            <a:endParaRPr lang="en-US" sz="1300" dirty="0"/>
          </a:p>
        </p:txBody>
      </p:sp>
      <p:sp>
        <p:nvSpPr>
          <p:cNvPr id="28" name="Text 2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a:t>
            </a:r>
            <a:endParaRPr lang="en-US" sz="1000" dirty="0"/>
          </a:p>
        </p:txBody>
      </p:sp>
      <p:sp>
        <p:nvSpPr>
          <p:cNvPr id="29" name="Text 2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Data protocol and population lock; contest result; ladder register; review synthesis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JOURNEY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Four phases, each answering one question</a:t>
            </a:r>
            <a:endParaRPr lang="en-US" sz="3000" dirty="0"/>
          </a:p>
        </p:txBody>
      </p:sp>
      <p:sp>
        <p:nvSpPr>
          <p:cNvPr id="4" name="Shape 2"/>
          <p:cNvSpPr/>
          <p:nvPr/>
        </p:nvSpPr>
        <p:spPr>
          <a:xfrm>
            <a:off x="914400" y="1783080"/>
            <a:ext cx="10362895" cy="0"/>
          </a:xfrm>
          <a:prstGeom prst="line">
            <a:avLst/>
          </a:prstGeom>
          <a:noFill/>
          <a:ln w="38100">
            <a:solidFill>
              <a:srgbClr val="D5DDDF"/>
            </a:solidFill>
            <a:prstDash val="solid"/>
          </a:ln>
        </p:spPr>
      </p:sp>
      <p:sp>
        <p:nvSpPr>
          <p:cNvPr id="5" name="Shape 3"/>
          <p:cNvSpPr/>
          <p:nvPr/>
        </p:nvSpPr>
        <p:spPr>
          <a:xfrm>
            <a:off x="685800" y="1554480"/>
            <a:ext cx="457200" cy="457200"/>
          </a:xfrm>
          <a:prstGeom prst="ellipse">
            <a:avLst/>
          </a:prstGeom>
          <a:solidFill>
            <a:srgbClr val="5C6B73"/>
          </a:solidFill>
          <a:ln w="25400">
            <a:solidFill>
              <a:srgbClr val="FFFFFF"/>
            </a:solidFill>
            <a:prstDash val="solid"/>
          </a:ln>
        </p:spPr>
      </p:sp>
      <p:sp>
        <p:nvSpPr>
          <p:cNvPr id="6" name="Text 4"/>
          <p:cNvSpPr txBox="1"/>
          <p:nvPr/>
        </p:nvSpPr>
        <p:spPr>
          <a:xfrm>
            <a:off x="68580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548640" y="2240280"/>
            <a:ext cx="2567864" cy="3566160"/>
          </a:xfrm>
          <a:prstGeom prst="roundRect">
            <a:avLst>
              <a:gd name="adj" fmla="val 2849"/>
            </a:avLst>
          </a:prstGeom>
          <a:solidFill>
            <a:srgbClr val="F1F4F4"/>
          </a:solidFill>
          <a:ln/>
        </p:spPr>
      </p:sp>
      <p:sp>
        <p:nvSpPr>
          <p:cNvPr id="8" name="Text 6"/>
          <p:cNvSpPr txBox="1"/>
          <p:nvPr/>
        </p:nvSpPr>
        <p:spPr>
          <a:xfrm>
            <a:off x="777240" y="2377440"/>
            <a:ext cx="2110664" cy="41148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Next-category MVP</a:t>
            </a:r>
            <a:endParaRPr lang="en-US" sz="1900" dirty="0"/>
          </a:p>
        </p:txBody>
      </p:sp>
      <p:sp>
        <p:nvSpPr>
          <p:cNvPr id="9" name="Text 7"/>
          <p:cNvSpPr txBox="1"/>
          <p:nvPr/>
        </p:nvSpPr>
        <p:spPr>
          <a:xfrm>
            <a:off x="777240" y="2834640"/>
            <a:ext cx="2110664" cy="64008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Can we predict the next category?</a:t>
            </a:r>
            <a:endParaRPr lang="en-US" sz="1350" dirty="0"/>
          </a:p>
        </p:txBody>
      </p:sp>
      <p:sp>
        <p:nvSpPr>
          <p:cNvPr id="10" name="Text 8"/>
          <p:cNvSpPr txBox="1"/>
          <p:nvPr/>
        </p:nvSpPr>
        <p:spPr>
          <a:xfrm>
            <a:off x="777240" y="3611880"/>
            <a:ext cx="2110664" cy="731520"/>
          </a:xfrm>
          <a:prstGeom prst="rect">
            <a:avLst/>
          </a:prstGeom>
          <a:noFill/>
          <a:ln/>
        </p:spPr>
        <p:txBody>
          <a:bodyPr wrap="square" lIns="0" tIns="0" rIns="0" bIns="0" rtlCol="0" anchor="t"/>
          <a:lstStyle/>
          <a:p>
            <a:pPr indent="0" marL="0">
              <a:buNone/>
            </a:pPr>
            <a:r>
              <a:rPr lang="en-US" sz="3600" b="1" dirty="0">
                <a:solidFill>
                  <a:srgbClr val="5C6B73"/>
                </a:solidFill>
                <a:latin typeface="Cambria" pitchFamily="34" charset="0"/>
                <a:ea typeface="Cambria" pitchFamily="34" charset="-122"/>
                <a:cs typeface="Cambria" pitchFamily="34" charset="-120"/>
              </a:rPr>
              <a:t>0.3474</a:t>
            </a:r>
            <a:endParaRPr lang="en-US" sz="3600" dirty="0"/>
          </a:p>
        </p:txBody>
      </p:sp>
      <p:sp>
        <p:nvSpPr>
          <p:cNvPr id="11" name="Text 9"/>
          <p:cNvSpPr txBox="1"/>
          <p:nvPr/>
        </p:nvSpPr>
        <p:spPr>
          <a:xfrm>
            <a:off x="777240" y="4434840"/>
            <a:ext cx="2110664" cy="11887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GRU vs 0.3143 transition table (Oct 2019)</a:t>
            </a:r>
            <a:endParaRPr lang="en-US" sz="1300" dirty="0"/>
          </a:p>
        </p:txBody>
      </p:sp>
      <p:sp>
        <p:nvSpPr>
          <p:cNvPr id="12" name="Shape 10"/>
          <p:cNvSpPr/>
          <p:nvPr/>
        </p:nvSpPr>
        <p:spPr>
          <a:xfrm>
            <a:off x="3527984" y="1554480"/>
            <a:ext cx="457200" cy="457200"/>
          </a:xfrm>
          <a:prstGeom prst="ellipse">
            <a:avLst/>
          </a:prstGeom>
          <a:solidFill>
            <a:srgbClr val="5C6B73"/>
          </a:solidFill>
          <a:ln w="25400">
            <a:solidFill>
              <a:srgbClr val="FFFFFF"/>
            </a:solidFill>
            <a:prstDash val="solid"/>
          </a:ln>
        </p:spPr>
      </p:sp>
      <p:sp>
        <p:nvSpPr>
          <p:cNvPr id="13" name="Text 11"/>
          <p:cNvSpPr txBox="1"/>
          <p:nvPr/>
        </p:nvSpPr>
        <p:spPr>
          <a:xfrm>
            <a:off x="3527984"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Shape 12"/>
          <p:cNvSpPr/>
          <p:nvPr/>
        </p:nvSpPr>
        <p:spPr>
          <a:xfrm>
            <a:off x="3390824" y="2240280"/>
            <a:ext cx="2567864" cy="3566160"/>
          </a:xfrm>
          <a:prstGeom prst="roundRect">
            <a:avLst>
              <a:gd name="adj" fmla="val 2849"/>
            </a:avLst>
          </a:prstGeom>
          <a:solidFill>
            <a:srgbClr val="F1F4F4"/>
          </a:solidFill>
          <a:ln/>
        </p:spPr>
      </p:sp>
      <p:sp>
        <p:nvSpPr>
          <p:cNvPr id="15" name="Text 13"/>
          <p:cNvSpPr txBox="1"/>
          <p:nvPr/>
        </p:nvSpPr>
        <p:spPr>
          <a:xfrm>
            <a:off x="3619424" y="2377440"/>
            <a:ext cx="2110664" cy="41148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Next product</a:t>
            </a:r>
            <a:endParaRPr lang="en-US" sz="1900" dirty="0"/>
          </a:p>
        </p:txBody>
      </p:sp>
      <p:sp>
        <p:nvSpPr>
          <p:cNvPr id="16" name="Text 14"/>
          <p:cNvSpPr txBox="1"/>
          <p:nvPr/>
        </p:nvSpPr>
        <p:spPr>
          <a:xfrm>
            <a:off x="3619424" y="2834640"/>
            <a:ext cx="2110664" cy="64008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How good can a cloud model get?</a:t>
            </a:r>
            <a:endParaRPr lang="en-US" sz="1350" dirty="0"/>
          </a:p>
        </p:txBody>
      </p:sp>
      <p:sp>
        <p:nvSpPr>
          <p:cNvPr id="17" name="Text 15"/>
          <p:cNvSpPr txBox="1"/>
          <p:nvPr/>
        </p:nvSpPr>
        <p:spPr>
          <a:xfrm>
            <a:off x="3619424" y="3611880"/>
            <a:ext cx="2110664" cy="731520"/>
          </a:xfrm>
          <a:prstGeom prst="rect">
            <a:avLst/>
          </a:prstGeom>
          <a:noFill/>
          <a:ln/>
        </p:spPr>
        <p:txBody>
          <a:bodyPr wrap="square" lIns="0" tIns="0" rIns="0" bIns="0" rtlCol="0" anchor="t"/>
          <a:lstStyle/>
          <a:p>
            <a:pPr indent="0" marL="0">
              <a:buNone/>
            </a:pPr>
            <a:r>
              <a:rPr lang="en-US" sz="3600" b="1" dirty="0">
                <a:solidFill>
                  <a:srgbClr val="5C6B73"/>
                </a:solidFill>
                <a:latin typeface="Cambria" pitchFamily="34" charset="0"/>
                <a:ea typeface="Cambria" pitchFamily="34" charset="-122"/>
                <a:cs typeface="Cambria" pitchFamily="34" charset="-120"/>
              </a:rPr>
              <a:t>0.1713</a:t>
            </a:r>
            <a:endParaRPr lang="en-US" sz="3600" dirty="0"/>
          </a:p>
        </p:txBody>
      </p:sp>
      <p:sp>
        <p:nvSpPr>
          <p:cNvPr id="18" name="Text 16"/>
          <p:cNvSpPr txBox="1"/>
          <p:nvPr/>
        </p:nvSpPr>
        <p:spPr>
          <a:xfrm>
            <a:off x="3619424" y="4434840"/>
            <a:ext cx="2110664" cy="11887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best central model (SASRec), validation, full data</a:t>
            </a:r>
            <a:endParaRPr lang="en-US" sz="1300" dirty="0"/>
          </a:p>
        </p:txBody>
      </p:sp>
      <p:sp>
        <p:nvSpPr>
          <p:cNvPr id="19" name="Shape 17"/>
          <p:cNvSpPr/>
          <p:nvPr/>
        </p:nvSpPr>
        <p:spPr>
          <a:xfrm>
            <a:off x="6370168" y="1554480"/>
            <a:ext cx="457200" cy="457200"/>
          </a:xfrm>
          <a:prstGeom prst="ellipse">
            <a:avLst/>
          </a:prstGeom>
          <a:solidFill>
            <a:srgbClr val="5C6B73"/>
          </a:solidFill>
          <a:ln w="25400">
            <a:solidFill>
              <a:srgbClr val="FFFFFF"/>
            </a:solidFill>
            <a:prstDash val="solid"/>
          </a:ln>
        </p:spPr>
      </p:sp>
      <p:sp>
        <p:nvSpPr>
          <p:cNvPr id="20" name="Text 18"/>
          <p:cNvSpPr txBox="1"/>
          <p:nvPr/>
        </p:nvSpPr>
        <p:spPr>
          <a:xfrm>
            <a:off x="637016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Shape 19"/>
          <p:cNvSpPr/>
          <p:nvPr/>
        </p:nvSpPr>
        <p:spPr>
          <a:xfrm>
            <a:off x="6233008" y="2240280"/>
            <a:ext cx="2567864" cy="3566160"/>
          </a:xfrm>
          <a:prstGeom prst="roundRect">
            <a:avLst>
              <a:gd name="adj" fmla="val 2849"/>
            </a:avLst>
          </a:prstGeom>
          <a:solidFill>
            <a:srgbClr val="F1F4F4"/>
          </a:solidFill>
          <a:ln/>
        </p:spPr>
      </p:sp>
      <p:sp>
        <p:nvSpPr>
          <p:cNvPr id="22" name="Text 20"/>
          <p:cNvSpPr txBox="1"/>
          <p:nvPr/>
        </p:nvSpPr>
        <p:spPr>
          <a:xfrm>
            <a:off x="6461608" y="2377440"/>
            <a:ext cx="2110664" cy="41148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Features</a:t>
            </a:r>
            <a:endParaRPr lang="en-US" sz="1900" dirty="0"/>
          </a:p>
        </p:txBody>
      </p:sp>
      <p:sp>
        <p:nvSpPr>
          <p:cNvPr id="23" name="Text 21"/>
          <p:cNvSpPr txBox="1"/>
          <p:nvPr/>
        </p:nvSpPr>
        <p:spPr>
          <a:xfrm>
            <a:off x="6461608" y="2834640"/>
            <a:ext cx="2110664" cy="64008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Which columns help?</a:t>
            </a:r>
            <a:endParaRPr lang="en-US" sz="1350" dirty="0"/>
          </a:p>
        </p:txBody>
      </p:sp>
      <p:sp>
        <p:nvSpPr>
          <p:cNvPr id="24" name="Text 22"/>
          <p:cNvSpPr txBox="1"/>
          <p:nvPr/>
        </p:nvSpPr>
        <p:spPr>
          <a:xfrm>
            <a:off x="6461608" y="3611880"/>
            <a:ext cx="2110664" cy="731520"/>
          </a:xfrm>
          <a:prstGeom prst="rect">
            <a:avLst/>
          </a:prstGeom>
          <a:noFill/>
          <a:ln/>
        </p:spPr>
        <p:txBody>
          <a:bodyPr wrap="square" lIns="0" tIns="0" rIns="0" bIns="0" rtlCol="0" anchor="t"/>
          <a:lstStyle/>
          <a:p>
            <a:pPr indent="0" marL="0">
              <a:buNone/>
            </a:pPr>
            <a:r>
              <a:rPr lang="en-US" sz="3600" b="1" dirty="0">
                <a:solidFill>
                  <a:srgbClr val="5C6B73"/>
                </a:solidFill>
                <a:latin typeface="Cambria" pitchFamily="34" charset="0"/>
                <a:ea typeface="Cambria" pitchFamily="34" charset="-122"/>
                <a:cs typeface="Cambria" pitchFamily="34" charset="-120"/>
              </a:rPr>
              <a:t>58 → 24</a:t>
            </a:r>
            <a:endParaRPr lang="en-US" sz="3600" dirty="0"/>
          </a:p>
        </p:txBody>
      </p:sp>
      <p:sp>
        <p:nvSpPr>
          <p:cNvPr id="25" name="Text 23"/>
          <p:cNvSpPr txBox="1"/>
          <p:nvPr/>
        </p:nvSpPr>
        <p:spPr>
          <a:xfrm>
            <a:off x="6461608" y="4434840"/>
            <a:ext cx="2110664" cy="11887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input columns; 21 of 24 computable on device</a:t>
            </a:r>
            <a:endParaRPr lang="en-US" sz="1300" dirty="0"/>
          </a:p>
        </p:txBody>
      </p:sp>
      <p:sp>
        <p:nvSpPr>
          <p:cNvPr id="26" name="Shape 24"/>
          <p:cNvSpPr/>
          <p:nvPr/>
        </p:nvSpPr>
        <p:spPr>
          <a:xfrm>
            <a:off x="9212351" y="1554480"/>
            <a:ext cx="457200" cy="457200"/>
          </a:xfrm>
          <a:prstGeom prst="ellipse">
            <a:avLst/>
          </a:prstGeom>
          <a:solidFill>
            <a:srgbClr val="1F7A80"/>
          </a:solidFill>
          <a:ln w="25400">
            <a:solidFill>
              <a:srgbClr val="FFFFFF"/>
            </a:solidFill>
            <a:prstDash val="solid"/>
          </a:ln>
        </p:spPr>
      </p:sp>
      <p:sp>
        <p:nvSpPr>
          <p:cNvPr id="27" name="Text 25"/>
          <p:cNvSpPr txBox="1"/>
          <p:nvPr/>
        </p:nvSpPr>
        <p:spPr>
          <a:xfrm>
            <a:off x="9212351"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Shape 26"/>
          <p:cNvSpPr/>
          <p:nvPr/>
        </p:nvSpPr>
        <p:spPr>
          <a:xfrm>
            <a:off x="9075191" y="2240280"/>
            <a:ext cx="2567864" cy="3566160"/>
          </a:xfrm>
          <a:prstGeom prst="roundRect">
            <a:avLst>
              <a:gd name="adj" fmla="val 2849"/>
            </a:avLst>
          </a:prstGeom>
          <a:solidFill>
            <a:srgbClr val="D8ECEC"/>
          </a:solidFill>
          <a:ln/>
        </p:spPr>
      </p:sp>
      <p:sp>
        <p:nvSpPr>
          <p:cNvPr id="29" name="Text 27"/>
          <p:cNvSpPr txBox="1"/>
          <p:nvPr/>
        </p:nvSpPr>
        <p:spPr>
          <a:xfrm>
            <a:off x="9303791" y="2377440"/>
            <a:ext cx="2110664" cy="41148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Deployment study</a:t>
            </a:r>
            <a:endParaRPr lang="en-US" sz="1900" dirty="0"/>
          </a:p>
        </p:txBody>
      </p:sp>
      <p:sp>
        <p:nvSpPr>
          <p:cNvPr id="30" name="Text 28"/>
          <p:cNvSpPr txBox="1"/>
          <p:nvPr/>
        </p:nvSpPr>
        <p:spPr>
          <a:xfrm>
            <a:off x="9303791" y="2834640"/>
            <a:ext cx="2110664" cy="64008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How much survives off the cloud?</a:t>
            </a:r>
            <a:endParaRPr lang="en-US" sz="1350" dirty="0"/>
          </a:p>
        </p:txBody>
      </p:sp>
      <p:sp>
        <p:nvSpPr>
          <p:cNvPr id="31" name="Text 29"/>
          <p:cNvSpPr txBox="1"/>
          <p:nvPr/>
        </p:nvSpPr>
        <p:spPr>
          <a:xfrm>
            <a:off x="9303791" y="3611880"/>
            <a:ext cx="2110664" cy="731520"/>
          </a:xfrm>
          <a:prstGeom prst="rect">
            <a:avLst/>
          </a:prstGeom>
          <a:noFill/>
          <a:ln/>
        </p:spPr>
        <p:txBody>
          <a:bodyPr wrap="square" lIns="0" tIns="0" rIns="0" bIns="0" rtlCol="0" anchor="t"/>
          <a:lstStyle/>
          <a:p>
            <a:pPr indent="0" marL="0">
              <a:buNone/>
            </a:pPr>
            <a:r>
              <a:rPr lang="en-US" sz="3600" b="1" dirty="0">
                <a:solidFill>
                  <a:srgbClr val="164E57"/>
                </a:solidFill>
                <a:latin typeface="Cambria" pitchFamily="34" charset="0"/>
                <a:ea typeface="Cambria" pitchFamily="34" charset="-122"/>
                <a:cs typeface="Cambria" pitchFamily="34" charset="-120"/>
              </a:rPr>
              <a:t>+22.7%</a:t>
            </a:r>
            <a:endParaRPr lang="en-US" sz="3600" dirty="0"/>
          </a:p>
        </p:txBody>
      </p:sp>
      <p:sp>
        <p:nvSpPr>
          <p:cNvPr id="32" name="Text 30"/>
          <p:cNvSpPr txBox="1"/>
          <p:nvPr/>
        </p:nvSpPr>
        <p:spPr>
          <a:xfrm>
            <a:off x="9303791" y="4434840"/>
            <a:ext cx="2110664" cy="11887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federated tuning so far; main results sealed</a:t>
            </a:r>
            <a:endParaRPr lang="en-US" sz="1300" dirty="0"/>
          </a:p>
        </p:txBody>
      </p:sp>
      <p:sp>
        <p:nvSpPr>
          <p:cNvPr id="33" name="Text 3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a:t>
            </a:r>
            <a:endParaRPr lang="en-US" sz="1000" dirty="0"/>
          </a:p>
        </p:txBody>
      </p:sp>
      <p:sp>
        <p:nvSpPr>
          <p:cNvPr id="34" name="Text 3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MVP report (next category); central-model campaign reports; feature dictionary and feature search; ladder register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EARLIER PHASE 1 — NEXT-CATEGORY TASK (MVP)</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Our next-category numbers</a:t>
            </a:r>
            <a:endParaRPr lang="en-US" sz="3000" dirty="0"/>
          </a:p>
        </p:txBody>
      </p:sp>
      <p:sp>
        <p:nvSpPr>
          <p:cNvPr id="4" name="Shape 2"/>
          <p:cNvSpPr/>
          <p:nvPr/>
        </p:nvSpPr>
        <p:spPr>
          <a:xfrm>
            <a:off x="6522415" y="329184"/>
            <a:ext cx="5120640" cy="292608"/>
          </a:xfrm>
          <a:prstGeom prst="roundRect">
            <a:avLst>
              <a:gd name="adj" fmla="val 50000"/>
            </a:avLst>
          </a:prstGeom>
          <a:solidFill>
            <a:srgbClr val="E6EAEC"/>
          </a:solidFill>
          <a:ln/>
        </p:spPr>
      </p:sp>
      <p:sp>
        <p:nvSpPr>
          <p:cNvPr id="5" name="Text 3"/>
          <p:cNvSpPr txBox="1"/>
          <p:nvPr/>
        </p:nvSpPr>
        <p:spPr>
          <a:xfrm>
            <a:off x="6522415" y="329184"/>
            <a:ext cx="512064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Oct 2019 · 97,279 users · 588 categories</a:t>
            </a:r>
            <a:endParaRPr lang="en-US" sz="1100" dirty="0"/>
          </a:p>
        </p:txBody>
      </p:sp>
      <p:graphicFrame>
        <p:nvGraphicFramePr>
          <p:cNvPr id="6" name="Chart 0" descr=""/>
          <p:cNvGraphicFramePr/>
          <p:nvPr/>
        </p:nvGraphicFramePr>
        <p:xfrm>
          <a:off x="548640" y="137160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309360" y="1463040"/>
            <a:ext cx="2529688" cy="1600200"/>
          </a:xfrm>
          <a:prstGeom prst="roundRect">
            <a:avLst>
              <a:gd name="adj" fmla="val 4571"/>
            </a:avLst>
          </a:prstGeom>
          <a:solidFill>
            <a:srgbClr val="D8ECEC"/>
          </a:solidFill>
          <a:ln/>
        </p:spPr>
      </p:sp>
      <p:sp>
        <p:nvSpPr>
          <p:cNvPr id="8" name="Text 5"/>
          <p:cNvSpPr txBox="1"/>
          <p:nvPr/>
        </p:nvSpPr>
        <p:spPr>
          <a:xfrm>
            <a:off x="6537960" y="1600200"/>
            <a:ext cx="2072488"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+0.0331</a:t>
            </a:r>
            <a:endParaRPr lang="en-US" sz="3200" dirty="0"/>
          </a:p>
        </p:txBody>
      </p:sp>
      <p:sp>
        <p:nvSpPr>
          <p:cNvPr id="9" name="Text 6"/>
          <p:cNvSpPr txBox="1"/>
          <p:nvPr/>
        </p:nvSpPr>
        <p:spPr>
          <a:xfrm>
            <a:off x="6537960" y="2286000"/>
            <a:ext cx="2072488"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GRU over the transition table (seed spread 0.0007)</a:t>
            </a:r>
            <a:endParaRPr lang="en-US" sz="1300" dirty="0"/>
          </a:p>
        </p:txBody>
      </p:sp>
      <p:sp>
        <p:nvSpPr>
          <p:cNvPr id="10" name="Shape 7"/>
          <p:cNvSpPr/>
          <p:nvPr/>
        </p:nvSpPr>
        <p:spPr>
          <a:xfrm>
            <a:off x="9113368" y="1463040"/>
            <a:ext cx="2529688" cy="1600200"/>
          </a:xfrm>
          <a:prstGeom prst="roundRect">
            <a:avLst>
              <a:gd name="adj" fmla="val 4571"/>
            </a:avLst>
          </a:prstGeom>
          <a:solidFill>
            <a:srgbClr val="D8ECEC"/>
          </a:solidFill>
          <a:ln/>
        </p:spPr>
      </p:sp>
      <p:sp>
        <p:nvSpPr>
          <p:cNvPr id="11" name="Text 8"/>
          <p:cNvSpPr txBox="1"/>
          <p:nvPr/>
        </p:nvSpPr>
        <p:spPr>
          <a:xfrm>
            <a:off x="9341968" y="1600200"/>
            <a:ext cx="2072488"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88.4%</a:t>
            </a:r>
            <a:endParaRPr lang="en-US" sz="3200" dirty="0"/>
          </a:p>
        </p:txBody>
      </p:sp>
      <p:sp>
        <p:nvSpPr>
          <p:cNvPr id="12" name="Text 9"/>
          <p:cNvSpPr txBox="1"/>
          <p:nvPr/>
        </p:nvSpPr>
        <p:spPr>
          <a:xfrm>
            <a:off x="9341968" y="2286000"/>
            <a:ext cx="2072488"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federated pilot kept of centralised quality (1,000 clients)</a:t>
            </a:r>
            <a:endParaRPr lang="en-US" sz="1300" dirty="0"/>
          </a:p>
        </p:txBody>
      </p:sp>
      <p:sp>
        <p:nvSpPr>
          <p:cNvPr id="13" name="Shape 10"/>
          <p:cNvSpPr/>
          <p:nvPr/>
        </p:nvSpPr>
        <p:spPr>
          <a:xfrm>
            <a:off x="6309360" y="3246120"/>
            <a:ext cx="2529688" cy="1600200"/>
          </a:xfrm>
          <a:prstGeom prst="roundRect">
            <a:avLst>
              <a:gd name="adj" fmla="val 4571"/>
            </a:avLst>
          </a:prstGeom>
          <a:solidFill>
            <a:srgbClr val="F1F4F4"/>
          </a:solidFill>
          <a:ln/>
        </p:spPr>
      </p:sp>
      <p:sp>
        <p:nvSpPr>
          <p:cNvPr id="14" name="Text 11"/>
          <p:cNvSpPr txBox="1"/>
          <p:nvPr/>
        </p:nvSpPr>
        <p:spPr>
          <a:xfrm>
            <a:off x="6537960" y="3383280"/>
            <a:ext cx="2072488"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82%</a:t>
            </a:r>
            <a:endParaRPr lang="en-US" sz="3200" dirty="0"/>
          </a:p>
        </p:txBody>
      </p:sp>
      <p:sp>
        <p:nvSpPr>
          <p:cNvPr id="15" name="Text 12"/>
          <p:cNvSpPr txBox="1"/>
          <p:nvPr/>
        </p:nvSpPr>
        <p:spPr>
          <a:xfrm>
            <a:off x="6537960" y="4069080"/>
            <a:ext cx="2072488"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of the overall metric solved by a no-learning rule</a:t>
            </a:r>
            <a:endParaRPr lang="en-US" sz="1300" dirty="0"/>
          </a:p>
        </p:txBody>
      </p:sp>
      <p:sp>
        <p:nvSpPr>
          <p:cNvPr id="16" name="Shape 13"/>
          <p:cNvSpPr/>
          <p:nvPr/>
        </p:nvSpPr>
        <p:spPr>
          <a:xfrm>
            <a:off x="9113368" y="3246120"/>
            <a:ext cx="2529688" cy="1600200"/>
          </a:xfrm>
          <a:prstGeom prst="roundRect">
            <a:avLst>
              <a:gd name="adj" fmla="val 4571"/>
            </a:avLst>
          </a:prstGeom>
          <a:solidFill>
            <a:srgbClr val="F1F4F4"/>
          </a:solidFill>
          <a:ln/>
        </p:spPr>
      </p:sp>
      <p:sp>
        <p:nvSpPr>
          <p:cNvPr id="17" name="Text 14"/>
          <p:cNvSpPr txBox="1"/>
          <p:nvPr/>
        </p:nvSpPr>
        <p:spPr>
          <a:xfrm>
            <a:off x="9341968" y="3383280"/>
            <a:ext cx="2072488"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+0.066</a:t>
            </a:r>
            <a:endParaRPr lang="en-US" sz="3200" dirty="0"/>
          </a:p>
        </p:txBody>
      </p:sp>
      <p:sp>
        <p:nvSpPr>
          <p:cNvPr id="18" name="Text 15"/>
          <p:cNvSpPr txBox="1"/>
          <p:nvPr/>
        </p:nvSpPr>
        <p:spPr>
          <a:xfrm>
            <a:off x="9341968" y="4069080"/>
            <a:ext cx="2072488"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purchase PR-AUC gain: 0.076 (rule) → 0.142 (model)</a:t>
            </a:r>
            <a:endParaRPr lang="en-US" sz="1300" dirty="0"/>
          </a:p>
        </p:txBody>
      </p:sp>
      <p:sp>
        <p:nvSpPr>
          <p:cNvPr id="19" name="Shape 16"/>
          <p:cNvSpPr/>
          <p:nvPr/>
        </p:nvSpPr>
        <p:spPr>
          <a:xfrm>
            <a:off x="6309360" y="5029200"/>
            <a:ext cx="5333695" cy="822960"/>
          </a:xfrm>
          <a:prstGeom prst="roundRect">
            <a:avLst>
              <a:gd name="adj" fmla="val 8889"/>
            </a:avLst>
          </a:prstGeom>
          <a:solidFill>
            <a:srgbClr val="FBEBD3"/>
          </a:solidFill>
          <a:ln/>
        </p:spPr>
      </p:sp>
      <p:sp>
        <p:nvSpPr>
          <p:cNvPr id="20" name="Text 17"/>
          <p:cNvSpPr txBox="1"/>
          <p:nvPr/>
        </p:nvSpPr>
        <p:spPr>
          <a:xfrm>
            <a:off x="6537960" y="5074920"/>
            <a:ext cx="4876495" cy="731520"/>
          </a:xfrm>
          <a:prstGeom prst="rect">
            <a:avLst/>
          </a:prstGeom>
          <a:noFill/>
          <a:ln/>
        </p:spPr>
        <p:txBody>
          <a:bodyPr wrap="square" lIns="0" tIns="0" rIns="0" bIns="0" rtlCol="0" anchor="ctr"/>
          <a:lstStyle/>
          <a:p>
            <a:pPr indent="0" marL="0">
              <a:buNone/>
            </a:pPr>
            <a:r>
              <a:rPr lang="en-US" sz="1350" b="1" dirty="0">
                <a:solidFill>
                  <a:srgbClr val="9A5A0C"/>
                </a:solidFill>
                <a:latin typeface="Calibri" pitchFamily="34" charset="0"/>
                <a:ea typeface="Calibri" pitchFamily="34" charset="-122"/>
                <a:cs typeface="Calibri" pitchFamily="34" charset="-120"/>
              </a:rPr>
              <a:t>Stronger or weaker than published work? </a:t>
            </a:r>
            <a:pPr indent="0" marL="0">
              <a:buNone/>
            </a:pPr>
            <a:r>
              <a:rPr lang="en-US" sz="1350" dirty="0">
                <a:solidFill>
                  <a:srgbClr val="33434A"/>
                </a:solidFill>
                <a:latin typeface="Calibri" pitchFamily="34" charset="0"/>
                <a:ea typeface="Calibri" pitchFamily="34" charset="-122"/>
                <a:cs typeface="Calibri" pitchFamily="34" charset="-120"/>
              </a:rPr>
              <a:t>Unknown — no published next-category results on REES46 to compare with.</a:t>
            </a:r>
            <a:endParaRPr lang="en-US" sz="1350" dirty="0"/>
          </a:p>
        </p:txBody>
      </p:sp>
      <p:sp>
        <p:nvSpPr>
          <p:cNvPr id="21" name="Text 1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4</a:t>
            </a:r>
            <a:endParaRPr lang="en-US" sz="1000" dirty="0"/>
          </a:p>
        </p:txBody>
      </p:sp>
      <p:sp>
        <p:nvSpPr>
          <p:cNvPr id="22" name="Text 1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GitHub repo: docs/MVP_REPORT_AR.md §§1–2; ADR-001 (evaluation protocol); MVP federated pilot evidence (mvp-t1-003)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WHY WE MOVED TO NEXT-PRODUCT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Three reasons, in numbers</a:t>
            </a:r>
            <a:endParaRPr lang="en-US" sz="3000" dirty="0"/>
          </a:p>
        </p:txBody>
      </p:sp>
      <p:sp>
        <p:nvSpPr>
          <p:cNvPr id="4" name="Shape 2"/>
          <p:cNvSpPr/>
          <p:nvPr/>
        </p:nvSpPr>
        <p:spPr>
          <a:xfrm>
            <a:off x="548640" y="1554480"/>
            <a:ext cx="3515258" cy="3017520"/>
          </a:xfrm>
          <a:prstGeom prst="roundRect">
            <a:avLst>
              <a:gd name="adj" fmla="val 2424"/>
            </a:avLst>
          </a:prstGeom>
          <a:solidFill>
            <a:srgbClr val="FBEBD3"/>
          </a:solidFill>
          <a:ln/>
        </p:spPr>
      </p:sp>
      <p:sp>
        <p:nvSpPr>
          <p:cNvPr id="5" name="Text 3"/>
          <p:cNvSpPr txBox="1"/>
          <p:nvPr/>
        </p:nvSpPr>
        <p:spPr>
          <a:xfrm>
            <a:off x="822960" y="1737360"/>
            <a:ext cx="2966618" cy="1097280"/>
          </a:xfrm>
          <a:prstGeom prst="rect">
            <a:avLst/>
          </a:prstGeom>
          <a:noFill/>
          <a:ln/>
        </p:spPr>
        <p:txBody>
          <a:bodyPr wrap="square" lIns="0" tIns="0" rIns="0" bIns="0" rtlCol="0" anchor="t"/>
          <a:lstStyle/>
          <a:p>
            <a:pPr indent="0" marL="0">
              <a:buNone/>
            </a:pPr>
            <a:r>
              <a:rPr lang="en-US" sz="6400" b="1" dirty="0">
                <a:solidFill>
                  <a:srgbClr val="9A5A0C"/>
                </a:solidFill>
                <a:latin typeface="Cambria" pitchFamily="34" charset="0"/>
                <a:ea typeface="Cambria" pitchFamily="34" charset="-122"/>
                <a:cs typeface="Cambria" pitchFamily="34" charset="-120"/>
              </a:rPr>
              <a:t>0</a:t>
            </a:r>
            <a:endParaRPr lang="en-US" sz="6400" dirty="0"/>
          </a:p>
        </p:txBody>
      </p:sp>
      <p:sp>
        <p:nvSpPr>
          <p:cNvPr id="6" name="Text 4"/>
          <p:cNvSpPr txBox="1"/>
          <p:nvPr/>
        </p:nvSpPr>
        <p:spPr>
          <a:xfrm>
            <a:off x="822960" y="2926080"/>
            <a:ext cx="2966618" cy="1463040"/>
          </a:xfrm>
          <a:prstGeom prst="rect">
            <a:avLst/>
          </a:prstGeom>
          <a:noFill/>
          <a:ln/>
        </p:spPr>
        <p:txBody>
          <a:bodyPr wrap="square" lIns="0" tIns="0" rIns="0" bIns="0" rtlCol="0" anchor="t"/>
          <a:lstStyle/>
          <a:p>
            <a:pPr indent="0" marL="0">
              <a:buNone/>
            </a:pPr>
            <a:r>
              <a:rPr lang="en-US" sz="1550" dirty="0">
                <a:solidFill>
                  <a:srgbClr val="13262F"/>
                </a:solidFill>
                <a:latin typeface="Calibri" pitchFamily="34" charset="0"/>
                <a:ea typeface="Calibri" pitchFamily="34" charset="-122"/>
                <a:cs typeface="Calibri" pitchFamily="34" charset="-120"/>
              </a:rPr>
              <a:t>published next-category results on REES46 — no way to know if we are stronger or weaker</a:t>
            </a:r>
            <a:endParaRPr lang="en-US" sz="1550" dirty="0"/>
          </a:p>
        </p:txBody>
      </p:sp>
      <p:sp>
        <p:nvSpPr>
          <p:cNvPr id="7" name="Shape 5"/>
          <p:cNvSpPr/>
          <p:nvPr/>
        </p:nvSpPr>
        <p:spPr>
          <a:xfrm>
            <a:off x="4338218" y="1554480"/>
            <a:ext cx="3515258" cy="3017520"/>
          </a:xfrm>
          <a:prstGeom prst="roundRect">
            <a:avLst>
              <a:gd name="adj" fmla="val 2424"/>
            </a:avLst>
          </a:prstGeom>
          <a:solidFill>
            <a:srgbClr val="F1F4F4"/>
          </a:solidFill>
          <a:ln/>
        </p:spPr>
      </p:sp>
      <p:sp>
        <p:nvSpPr>
          <p:cNvPr id="8" name="Text 6"/>
          <p:cNvSpPr txBox="1"/>
          <p:nvPr/>
        </p:nvSpPr>
        <p:spPr>
          <a:xfrm>
            <a:off x="4612538" y="1737360"/>
            <a:ext cx="2966618" cy="1097280"/>
          </a:xfrm>
          <a:prstGeom prst="rect">
            <a:avLst/>
          </a:prstGeom>
          <a:noFill/>
          <a:ln/>
        </p:spPr>
        <p:txBody>
          <a:bodyPr wrap="square" lIns="0" tIns="0" rIns="0" bIns="0" rtlCol="0" anchor="t"/>
          <a:lstStyle/>
          <a:p>
            <a:pPr indent="0" marL="0">
              <a:buNone/>
            </a:pPr>
            <a:r>
              <a:rPr lang="en-US" sz="6400" b="1" dirty="0">
                <a:solidFill>
                  <a:srgbClr val="5C6B73"/>
                </a:solidFill>
                <a:latin typeface="Cambria" pitchFamily="34" charset="0"/>
                <a:ea typeface="Cambria" pitchFamily="34" charset="-122"/>
                <a:cs typeface="Cambria" pitchFamily="34" charset="-120"/>
              </a:rPr>
              <a:t>82%</a:t>
            </a:r>
            <a:endParaRPr lang="en-US" sz="6400" dirty="0"/>
          </a:p>
        </p:txBody>
      </p:sp>
      <p:sp>
        <p:nvSpPr>
          <p:cNvPr id="9" name="Text 7"/>
          <p:cNvSpPr txBox="1"/>
          <p:nvPr/>
        </p:nvSpPr>
        <p:spPr>
          <a:xfrm>
            <a:off x="4612538" y="2926080"/>
            <a:ext cx="2966618" cy="1463040"/>
          </a:xfrm>
          <a:prstGeom prst="rect">
            <a:avLst/>
          </a:prstGeom>
          <a:noFill/>
          <a:ln/>
        </p:spPr>
        <p:txBody>
          <a:bodyPr wrap="square" lIns="0" tIns="0" rIns="0" bIns="0" rtlCol="0" anchor="t"/>
          <a:lstStyle/>
          <a:p>
            <a:pPr indent="0" marL="0">
              <a:buNone/>
            </a:pPr>
            <a:r>
              <a:rPr lang="en-US" sz="1550" dirty="0">
                <a:solidFill>
                  <a:srgbClr val="13262F"/>
                </a:solidFill>
                <a:latin typeface="Calibri" pitchFamily="34" charset="0"/>
                <a:ea typeface="Calibri" pitchFamily="34" charset="-122"/>
                <a:cs typeface="Calibri" pitchFamily="34" charset="-120"/>
              </a:rPr>
              <a:t>of the next-category metric solved without learning — the task is artificially easy</a:t>
            </a:r>
            <a:endParaRPr lang="en-US" sz="1550" dirty="0"/>
          </a:p>
        </p:txBody>
      </p:sp>
      <p:sp>
        <p:nvSpPr>
          <p:cNvPr id="10" name="Shape 8"/>
          <p:cNvSpPr/>
          <p:nvPr/>
        </p:nvSpPr>
        <p:spPr>
          <a:xfrm>
            <a:off x="8127797" y="1554480"/>
            <a:ext cx="3515258" cy="3017520"/>
          </a:xfrm>
          <a:prstGeom prst="roundRect">
            <a:avLst>
              <a:gd name="adj" fmla="val 2424"/>
            </a:avLst>
          </a:prstGeom>
          <a:solidFill>
            <a:srgbClr val="D8ECEC"/>
          </a:solidFill>
          <a:ln/>
        </p:spPr>
      </p:sp>
      <p:sp>
        <p:nvSpPr>
          <p:cNvPr id="11" name="Text 9"/>
          <p:cNvSpPr txBox="1"/>
          <p:nvPr/>
        </p:nvSpPr>
        <p:spPr>
          <a:xfrm>
            <a:off x="8402117" y="1737360"/>
            <a:ext cx="2966618" cy="1097280"/>
          </a:xfrm>
          <a:prstGeom prst="rect">
            <a:avLst/>
          </a:prstGeom>
          <a:noFill/>
          <a:ln/>
        </p:spPr>
        <p:txBody>
          <a:bodyPr wrap="square" lIns="0" tIns="0" rIns="0" bIns="0" rtlCol="0" anchor="t"/>
          <a:lstStyle/>
          <a:p>
            <a:pPr indent="0" marL="0">
              <a:buNone/>
            </a:pPr>
            <a:r>
              <a:rPr lang="en-US" sz="6400" b="1" dirty="0">
                <a:solidFill>
                  <a:srgbClr val="164E57"/>
                </a:solidFill>
                <a:latin typeface="Cambria" pitchFamily="34" charset="0"/>
                <a:ea typeface="Cambria" pitchFamily="34" charset="-122"/>
                <a:cs typeface="Cambria" pitchFamily="34" charset="-120"/>
              </a:rPr>
              <a:t>1</a:t>
            </a:r>
            <a:endParaRPr lang="en-US" sz="6400" dirty="0"/>
          </a:p>
        </p:txBody>
      </p:sp>
      <p:sp>
        <p:nvSpPr>
          <p:cNvPr id="12" name="Text 10"/>
          <p:cNvSpPr txBox="1"/>
          <p:nvPr/>
        </p:nvSpPr>
        <p:spPr>
          <a:xfrm>
            <a:off x="8402117" y="2926080"/>
            <a:ext cx="2966618" cy="1463040"/>
          </a:xfrm>
          <a:prstGeom prst="rect">
            <a:avLst/>
          </a:prstGeom>
          <a:noFill/>
          <a:ln/>
        </p:spPr>
        <p:txBody>
          <a:bodyPr wrap="square" lIns="0" tIns="0" rIns="0" bIns="0" rtlCol="0" anchor="t"/>
          <a:lstStyle/>
          <a:p>
            <a:pPr indent="0" marL="0">
              <a:buNone/>
            </a:pPr>
            <a:r>
              <a:rPr lang="en-US" sz="1550" dirty="0">
                <a:solidFill>
                  <a:srgbClr val="13262F"/>
                </a:solidFill>
                <a:latin typeface="Calibri" pitchFamily="34" charset="0"/>
                <a:ea typeface="Calibri" pitchFamily="34" charset="-122"/>
                <a:cs typeface="Calibri" pitchFamily="34" charset="-120"/>
              </a:rPr>
              <a:t>official published next-product benchmark on REES46 (GRU4Rec, RecSys 2023) — a reference point</a:t>
            </a:r>
            <a:endParaRPr lang="en-US" sz="1550" dirty="0"/>
          </a:p>
        </p:txBody>
      </p:sp>
      <p:sp>
        <p:nvSpPr>
          <p:cNvPr id="13" name="Shape 11"/>
          <p:cNvSpPr/>
          <p:nvPr/>
        </p:nvSpPr>
        <p:spPr>
          <a:xfrm>
            <a:off x="548640" y="4983480"/>
            <a:ext cx="1828800" cy="292608"/>
          </a:xfrm>
          <a:prstGeom prst="roundRect">
            <a:avLst>
              <a:gd name="adj" fmla="val 50000"/>
            </a:avLst>
          </a:prstGeom>
          <a:solidFill>
            <a:srgbClr val="5C6B73"/>
          </a:solidFill>
          <a:ln/>
        </p:spPr>
      </p:sp>
      <p:sp>
        <p:nvSpPr>
          <p:cNvPr id="14" name="Text 12"/>
          <p:cNvSpPr txBox="1"/>
          <p:nvPr/>
        </p:nvSpPr>
        <p:spPr>
          <a:xfrm>
            <a:off x="548640" y="4983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Next category</a:t>
            </a:r>
            <a:endParaRPr lang="en-US" sz="1100" dirty="0"/>
          </a:p>
        </p:txBody>
      </p:sp>
      <p:sp>
        <p:nvSpPr>
          <p:cNvPr id="15" name="Text 13"/>
          <p:cNvSpPr txBox="1"/>
          <p:nvPr/>
        </p:nvSpPr>
        <p:spPr>
          <a:xfrm>
            <a:off x="2560320" y="4937760"/>
            <a:ext cx="3200400" cy="411480"/>
          </a:xfrm>
          <a:prstGeom prst="rect">
            <a:avLst/>
          </a:prstGeom>
          <a:noFill/>
          <a:ln/>
        </p:spPr>
        <p:txBody>
          <a:bodyPr wrap="square" lIns="0" tIns="0" rIns="0" bIns="0" rtlCol="0" anchor="ctr"/>
          <a:lstStyle/>
          <a:p>
            <a:pPr indent="0" marL="0">
              <a:buNone/>
            </a:pPr>
            <a:r>
              <a:rPr lang="en-US" sz="2000" b="1" dirty="0">
                <a:solidFill>
                  <a:srgbClr val="13262F"/>
                </a:solidFill>
                <a:latin typeface="Cambria" pitchFamily="34" charset="0"/>
                <a:ea typeface="Cambria" pitchFamily="34" charset="-122"/>
                <a:cs typeface="Cambria" pitchFamily="34" charset="-120"/>
              </a:rPr>
              <a:t>588 classes</a:t>
            </a:r>
            <a:endParaRPr lang="en-US" sz="2000" dirty="0"/>
          </a:p>
        </p:txBody>
      </p:sp>
      <p:sp>
        <p:nvSpPr>
          <p:cNvPr id="16" name="Shape 14"/>
          <p:cNvSpPr/>
          <p:nvPr/>
        </p:nvSpPr>
        <p:spPr>
          <a:xfrm>
            <a:off x="6217920" y="4983480"/>
            <a:ext cx="1828800" cy="292608"/>
          </a:xfrm>
          <a:prstGeom prst="roundRect">
            <a:avLst>
              <a:gd name="adj" fmla="val 50000"/>
            </a:avLst>
          </a:prstGeom>
          <a:solidFill>
            <a:srgbClr val="1F7A80"/>
          </a:solidFill>
          <a:ln/>
        </p:spPr>
      </p:sp>
      <p:sp>
        <p:nvSpPr>
          <p:cNvPr id="17" name="Text 15"/>
          <p:cNvSpPr txBox="1"/>
          <p:nvPr/>
        </p:nvSpPr>
        <p:spPr>
          <a:xfrm>
            <a:off x="6217920" y="4983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Next product</a:t>
            </a:r>
            <a:endParaRPr lang="en-US" sz="1100" dirty="0"/>
          </a:p>
        </p:txBody>
      </p:sp>
      <p:sp>
        <p:nvSpPr>
          <p:cNvPr id="18" name="Text 16"/>
          <p:cNvSpPr txBox="1"/>
          <p:nvPr/>
        </p:nvSpPr>
        <p:spPr>
          <a:xfrm>
            <a:off x="8229600" y="4937760"/>
            <a:ext cx="3200400" cy="411480"/>
          </a:xfrm>
          <a:prstGeom prst="rect">
            <a:avLst/>
          </a:prstGeom>
          <a:noFill/>
          <a:ln/>
        </p:spPr>
        <p:txBody>
          <a:bodyPr wrap="square" lIns="0" tIns="0" rIns="0" bIns="0" rtlCol="0" anchor="ctr"/>
          <a:lstStyle/>
          <a:p>
            <a:pPr indent="0" marL="0">
              <a:buNone/>
            </a:pPr>
            <a:r>
              <a:rPr lang="en-US" sz="2000" b="1" dirty="0">
                <a:solidFill>
                  <a:srgbClr val="13262F"/>
                </a:solidFill>
                <a:latin typeface="Cambria" pitchFamily="34" charset="0"/>
                <a:ea typeface="Cambria" pitchFamily="34" charset="-122"/>
                <a:cs typeface="Cambria" pitchFamily="34" charset="-120"/>
              </a:rPr>
              <a:t>158,486 products</a:t>
            </a:r>
            <a:endParaRPr lang="en-US" sz="2000" dirty="0"/>
          </a:p>
        </p:txBody>
      </p:sp>
      <p:sp>
        <p:nvSpPr>
          <p:cNvPr id="19" name="Text 17"/>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Harder, more standard task — agreed with the supervisor.</a:t>
            </a:r>
            <a:endParaRPr lang="en-US" sz="1350" dirty="0"/>
          </a:p>
        </p:txBody>
      </p:sp>
      <p:sp>
        <p:nvSpPr>
          <p:cNvPr id="20" name="Text 1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5</a:t>
            </a:r>
            <a:endParaRPr lang="en-US" sz="1000" dirty="0"/>
          </a:p>
        </p:txBody>
      </p:sp>
      <p:sp>
        <p:nvSpPr>
          <p:cNvPr id="21" name="Text 1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ADR-001; thesis evidence note (proposal amendment table); literature register card R05; thesis research review A3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EARLIER PHASE 2 — NEXT PRODUCT, CLOUD MODELS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On the full data, sequence models beat the baselines</a:t>
            </a:r>
            <a:endParaRPr lang="en-US" sz="3000" dirty="0"/>
          </a:p>
        </p:txBody>
      </p:sp>
      <p:sp>
        <p:nvSpPr>
          <p:cNvPr id="4" name="Shape 2"/>
          <p:cNvSpPr/>
          <p:nvPr/>
        </p:nvSpPr>
        <p:spPr>
          <a:xfrm>
            <a:off x="6522415" y="329184"/>
            <a:ext cx="5120640" cy="292608"/>
          </a:xfrm>
          <a:prstGeom prst="roundRect">
            <a:avLst>
              <a:gd name="adj" fmla="val 50000"/>
            </a:avLst>
          </a:prstGeom>
          <a:solidFill>
            <a:srgbClr val="E6EAEC"/>
          </a:solidFill>
          <a:ln/>
        </p:spPr>
      </p:sp>
      <p:sp>
        <p:nvSpPr>
          <p:cNvPr id="5" name="Text 3"/>
          <p:cNvSpPr txBox="1"/>
          <p:nvPr/>
        </p:nvSpPr>
        <p:spPr>
          <a:xfrm>
            <a:off x="6522415" y="329184"/>
            <a:ext cx="512064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full data · not comparable with the current study</a:t>
            </a:r>
            <a:endParaRPr lang="en-US" sz="1100" dirty="0"/>
          </a:p>
        </p:txBody>
      </p:sp>
      <p:graphicFrame>
        <p:nvGraphicFramePr>
          <p:cNvPr id="6" name="Chart 0" descr=""/>
          <p:cNvGraphicFramePr/>
          <p:nvPr/>
        </p:nvGraphicFramePr>
        <p:xfrm>
          <a:off x="548640" y="1371600"/>
          <a:ext cx="713232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46720" y="1463040"/>
            <a:ext cx="3596335" cy="1463040"/>
          </a:xfrm>
          <a:prstGeom prst="roundRect">
            <a:avLst>
              <a:gd name="adj" fmla="val 5000"/>
            </a:avLst>
          </a:prstGeom>
          <a:solidFill>
            <a:srgbClr val="F1F4F4"/>
          </a:solidFill>
          <a:ln/>
        </p:spPr>
      </p:sp>
      <p:sp>
        <p:nvSpPr>
          <p:cNvPr id="8" name="Text 5"/>
          <p:cNvSpPr txBox="1"/>
          <p:nvPr/>
        </p:nvSpPr>
        <p:spPr>
          <a:xfrm>
            <a:off x="8275320" y="1600200"/>
            <a:ext cx="3139135"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52.8 M</a:t>
            </a:r>
            <a:endParaRPr lang="en-US" sz="3200" dirty="0"/>
          </a:p>
        </p:txBody>
      </p:sp>
      <p:sp>
        <p:nvSpPr>
          <p:cNvPr id="9" name="Text 6"/>
          <p:cNvSpPr txBox="1"/>
          <p:nvPr/>
        </p:nvSpPr>
        <p:spPr>
          <a:xfrm>
            <a:off x="8275320" y="2286000"/>
            <a:ext cx="3139135"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training decisions (40.2M loss examples)</a:t>
            </a:r>
            <a:endParaRPr lang="en-US" sz="1300" dirty="0"/>
          </a:p>
        </p:txBody>
      </p:sp>
      <p:sp>
        <p:nvSpPr>
          <p:cNvPr id="10" name="Shape 7"/>
          <p:cNvSpPr/>
          <p:nvPr/>
        </p:nvSpPr>
        <p:spPr>
          <a:xfrm>
            <a:off x="8046720" y="3108960"/>
            <a:ext cx="3596335" cy="1463040"/>
          </a:xfrm>
          <a:prstGeom prst="roundRect">
            <a:avLst>
              <a:gd name="adj" fmla="val 5000"/>
            </a:avLst>
          </a:prstGeom>
          <a:solidFill>
            <a:srgbClr val="FBEBD3"/>
          </a:solidFill>
          <a:ln/>
        </p:spPr>
      </p:sp>
      <p:sp>
        <p:nvSpPr>
          <p:cNvPr id="11" name="Text 8"/>
          <p:cNvSpPr txBox="1"/>
          <p:nvPr/>
        </p:nvSpPr>
        <p:spPr>
          <a:xfrm>
            <a:off x="8275320" y="3246120"/>
            <a:ext cx="3139135"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+0.0024</a:t>
            </a:r>
            <a:endParaRPr lang="en-US" sz="3200" dirty="0"/>
          </a:p>
        </p:txBody>
      </p:sp>
      <p:sp>
        <p:nvSpPr>
          <p:cNvPr id="12" name="Text 9"/>
          <p:cNvSpPr txBox="1"/>
          <p:nvPr/>
        </p:nvSpPr>
        <p:spPr>
          <a:xfrm>
            <a:off x="8275320" y="3931920"/>
            <a:ext cx="3139135"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SASRec over GRU — but ID-only SASRec was below GRU</a:t>
            </a:r>
            <a:endParaRPr lang="en-US" sz="1300" dirty="0"/>
          </a:p>
        </p:txBody>
      </p:sp>
      <p:sp>
        <p:nvSpPr>
          <p:cNvPr id="13" name="Text 10"/>
          <p:cNvSpPr txBox="1"/>
          <p:nvPr/>
        </p:nvSpPr>
        <p:spPr>
          <a:xfrm>
            <a:off x="8046720" y="4754880"/>
            <a:ext cx="3596335" cy="91440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The gain came from the extra feature channels, not the architecture.</a:t>
            </a:r>
            <a:endParaRPr lang="en-US" sz="13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6</a:t>
            </a:r>
            <a:endParaRPr lang="en-US" sz="1000" dirty="0"/>
          </a:p>
        </p:txBody>
      </p:sp>
      <p:sp>
        <p:nvSpPr>
          <p:cNvPr id="15"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Central-model campaign final report §§1, 6.1; planning evidence packet (data census)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OUR NUMBERS VS THE PUBLISHED BENCHMARK</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Below the paper — and why</a:t>
            </a:r>
            <a:endParaRPr lang="en-US" sz="3000" dirty="0"/>
          </a:p>
        </p:txBody>
      </p:sp>
      <p:sp>
        <p:nvSpPr>
          <p:cNvPr id="4" name="Shape 2"/>
          <p:cNvSpPr/>
          <p:nvPr/>
        </p:nvSpPr>
        <p:spPr>
          <a:xfrm>
            <a:off x="6522415" y="329184"/>
            <a:ext cx="5120640" cy="292608"/>
          </a:xfrm>
          <a:prstGeom prst="roundRect">
            <a:avLst>
              <a:gd name="adj" fmla="val 50000"/>
            </a:avLst>
          </a:prstGeom>
          <a:solidFill>
            <a:srgbClr val="E6EAEC"/>
          </a:solidFill>
          <a:ln/>
        </p:spPr>
      </p:sp>
      <p:sp>
        <p:nvSpPr>
          <p:cNvPr id="5" name="Text 3"/>
          <p:cNvSpPr txBox="1"/>
          <p:nvPr/>
        </p:nvSpPr>
        <p:spPr>
          <a:xfrm>
            <a:off x="6522415" y="329184"/>
            <a:ext cx="512064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full data · not comparable with the current study</a:t>
            </a:r>
            <a:endParaRPr lang="en-US" sz="1100" dirty="0"/>
          </a:p>
        </p:txBody>
      </p:sp>
      <p:graphicFrame>
        <p:nvGraphicFramePr>
          <p:cNvPr id="6" name="Chart 0" descr=""/>
          <p:cNvGraphicFramePr/>
          <p:nvPr/>
        </p:nvGraphicFramePr>
        <p:xfrm>
          <a:off x="548640" y="1371600"/>
          <a:ext cx="5486400" cy="45262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309360" y="1417320"/>
            <a:ext cx="5333695" cy="822960"/>
          </a:xfrm>
          <a:prstGeom prst="roundRect">
            <a:avLst>
              <a:gd name="adj" fmla="val 8889"/>
            </a:avLst>
          </a:prstGeom>
          <a:solidFill>
            <a:srgbClr val="F1F4F4"/>
          </a:solidFill>
          <a:ln/>
        </p:spPr>
      </p:sp>
      <p:sp>
        <p:nvSpPr>
          <p:cNvPr id="8" name="Text 5"/>
          <p:cNvSpPr txBox="1"/>
          <p:nvPr/>
        </p:nvSpPr>
        <p:spPr>
          <a:xfrm>
            <a:off x="6492240" y="1417320"/>
            <a:ext cx="1417320" cy="822960"/>
          </a:xfrm>
          <a:prstGeom prst="rect">
            <a:avLst/>
          </a:prstGeom>
          <a:noFill/>
          <a:ln/>
        </p:spPr>
        <p:txBody>
          <a:bodyPr wrap="square" lIns="0" tIns="0" rIns="0" bIns="0" rtlCol="0" anchor="ctr"/>
          <a:lstStyle/>
          <a:p>
            <a:pPr indent="0" marL="0">
              <a:buNone/>
            </a:pPr>
            <a:r>
              <a:rPr lang="en-US" sz="2100" b="1" dirty="0">
                <a:solidFill>
                  <a:srgbClr val="9A5A0C"/>
                </a:solidFill>
                <a:latin typeface="Cambria" pitchFamily="34" charset="0"/>
                <a:ea typeface="Cambria" pitchFamily="34" charset="-122"/>
                <a:cs typeface="Cambria" pitchFamily="34" charset="-120"/>
              </a:rPr>
              <a:t>−0.098</a:t>
            </a:r>
            <a:endParaRPr lang="en-US" sz="2100" dirty="0"/>
          </a:p>
        </p:txBody>
      </p:sp>
      <p:sp>
        <p:nvSpPr>
          <p:cNvPr id="9" name="Text 6"/>
          <p:cNvSpPr txBox="1"/>
          <p:nvPr/>
        </p:nvSpPr>
        <p:spPr>
          <a:xfrm>
            <a:off x="7955280" y="1417320"/>
            <a:ext cx="1234440" cy="822960"/>
          </a:xfrm>
          <a:prstGeom prst="rect">
            <a:avLst/>
          </a:prstGeom>
          <a:noFill/>
          <a:ln/>
        </p:spPr>
        <p:txBody>
          <a:bodyPr wrap="square" lIns="0" tIns="0" rIns="0" bIns="0" rtlCol="0" anchor="ctr"/>
          <a:lstStyle/>
          <a:p>
            <a:pPr indent="0" marL="0">
              <a:buNone/>
            </a:pPr>
            <a:r>
              <a:rPr lang="en-US" sz="1250" b="1" dirty="0">
                <a:solidFill>
                  <a:srgbClr val="13262F"/>
                </a:solidFill>
                <a:latin typeface="Calibri" pitchFamily="34" charset="0"/>
                <a:ea typeface="Calibri" pitchFamily="34" charset="-122"/>
                <a:cs typeface="Calibri" pitchFamily="34" charset="-120"/>
              </a:rPr>
              <a:t>Recall@20</a:t>
            </a:r>
            <a:endParaRPr lang="en-US" sz="1250" dirty="0"/>
          </a:p>
        </p:txBody>
      </p:sp>
      <p:sp>
        <p:nvSpPr>
          <p:cNvPr id="10" name="Text 7"/>
          <p:cNvSpPr txBox="1"/>
          <p:nvPr/>
        </p:nvSpPr>
        <p:spPr>
          <a:xfrm>
            <a:off x="9189720" y="1417320"/>
            <a:ext cx="2316175" cy="82296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we rank all 158,486 products and count new items as misses</a:t>
            </a:r>
            <a:endParaRPr lang="en-US" sz="1250" dirty="0"/>
          </a:p>
        </p:txBody>
      </p:sp>
      <p:sp>
        <p:nvSpPr>
          <p:cNvPr id="11" name="Shape 8"/>
          <p:cNvSpPr/>
          <p:nvPr/>
        </p:nvSpPr>
        <p:spPr>
          <a:xfrm>
            <a:off x="6309360" y="2350008"/>
            <a:ext cx="5333695" cy="822960"/>
          </a:xfrm>
          <a:prstGeom prst="roundRect">
            <a:avLst>
              <a:gd name="adj" fmla="val 8889"/>
            </a:avLst>
          </a:prstGeom>
          <a:solidFill>
            <a:srgbClr val="FFFFFF"/>
          </a:solidFill>
          <a:ln w="12700">
            <a:solidFill>
              <a:srgbClr val="D5DDDF"/>
            </a:solidFill>
            <a:prstDash val="solid"/>
          </a:ln>
        </p:spPr>
      </p:sp>
      <p:sp>
        <p:nvSpPr>
          <p:cNvPr id="12" name="Text 9"/>
          <p:cNvSpPr txBox="1"/>
          <p:nvPr/>
        </p:nvSpPr>
        <p:spPr>
          <a:xfrm>
            <a:off x="6492240" y="2350008"/>
            <a:ext cx="1417320" cy="822960"/>
          </a:xfrm>
          <a:prstGeom prst="rect">
            <a:avLst/>
          </a:prstGeom>
          <a:noFill/>
          <a:ln/>
        </p:spPr>
        <p:txBody>
          <a:bodyPr wrap="square" lIns="0" tIns="0" rIns="0" bIns="0" rtlCol="0" anchor="ctr"/>
          <a:lstStyle/>
          <a:p>
            <a:pPr indent="0" marL="0">
              <a:buNone/>
            </a:pPr>
            <a:r>
              <a:rPr lang="en-US" sz="2100" b="1" dirty="0">
                <a:solidFill>
                  <a:srgbClr val="9A5A0C"/>
                </a:solidFill>
                <a:latin typeface="Cambria" pitchFamily="34" charset="0"/>
                <a:ea typeface="Cambria" pitchFamily="34" charset="-122"/>
                <a:cs typeface="Cambria" pitchFamily="34" charset="-120"/>
              </a:rPr>
              <a:t>−0.046</a:t>
            </a:r>
            <a:endParaRPr lang="en-US" sz="2100" dirty="0"/>
          </a:p>
        </p:txBody>
      </p:sp>
      <p:sp>
        <p:nvSpPr>
          <p:cNvPr id="13" name="Text 10"/>
          <p:cNvSpPr txBox="1"/>
          <p:nvPr/>
        </p:nvSpPr>
        <p:spPr>
          <a:xfrm>
            <a:off x="7955280" y="2350008"/>
            <a:ext cx="1234440" cy="822960"/>
          </a:xfrm>
          <a:prstGeom prst="rect">
            <a:avLst/>
          </a:prstGeom>
          <a:noFill/>
          <a:ln/>
        </p:spPr>
        <p:txBody>
          <a:bodyPr wrap="square" lIns="0" tIns="0" rIns="0" bIns="0" rtlCol="0" anchor="ctr"/>
          <a:lstStyle/>
          <a:p>
            <a:pPr indent="0" marL="0">
              <a:buNone/>
            </a:pPr>
            <a:r>
              <a:rPr lang="en-US" sz="1250" b="1" dirty="0">
                <a:solidFill>
                  <a:srgbClr val="13262F"/>
                </a:solidFill>
                <a:latin typeface="Calibri" pitchFamily="34" charset="0"/>
                <a:ea typeface="Calibri" pitchFamily="34" charset="-122"/>
                <a:cs typeface="Calibri" pitchFamily="34" charset="-120"/>
              </a:rPr>
              <a:t>MRR@20</a:t>
            </a:r>
            <a:endParaRPr lang="en-US" sz="1250" dirty="0"/>
          </a:p>
        </p:txBody>
      </p:sp>
      <p:sp>
        <p:nvSpPr>
          <p:cNvPr id="14" name="Text 11"/>
          <p:cNvSpPr txBox="1"/>
          <p:nvPr/>
        </p:nvSpPr>
        <p:spPr>
          <a:xfrm>
            <a:off x="9189720" y="2350008"/>
            <a:ext cx="2316175" cy="82296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we predict the following week; the paper uses a last-day split</a:t>
            </a:r>
            <a:endParaRPr lang="en-US" sz="1250" dirty="0"/>
          </a:p>
        </p:txBody>
      </p:sp>
      <p:sp>
        <p:nvSpPr>
          <p:cNvPr id="15" name="Shape 12"/>
          <p:cNvSpPr/>
          <p:nvPr/>
        </p:nvSpPr>
        <p:spPr>
          <a:xfrm>
            <a:off x="6309360" y="3282696"/>
            <a:ext cx="5333695" cy="822960"/>
          </a:xfrm>
          <a:prstGeom prst="roundRect">
            <a:avLst>
              <a:gd name="adj" fmla="val 8889"/>
            </a:avLst>
          </a:prstGeom>
          <a:solidFill>
            <a:srgbClr val="F1F4F4"/>
          </a:solidFill>
          <a:ln/>
        </p:spPr>
      </p:sp>
      <p:sp>
        <p:nvSpPr>
          <p:cNvPr id="16" name="Text 13"/>
          <p:cNvSpPr txBox="1"/>
          <p:nvPr/>
        </p:nvSpPr>
        <p:spPr>
          <a:xfrm>
            <a:off x="6492240" y="3282696"/>
            <a:ext cx="1417320" cy="822960"/>
          </a:xfrm>
          <a:prstGeom prst="rect">
            <a:avLst/>
          </a:prstGeom>
          <a:noFill/>
          <a:ln/>
        </p:spPr>
        <p:txBody>
          <a:bodyPr wrap="square" lIns="0" tIns="0" rIns="0" bIns="0" rtlCol="0" anchor="ctr"/>
          <a:lstStyle/>
          <a:p>
            <a:pPr indent="0" marL="0">
              <a:buNone/>
            </a:pPr>
            <a:r>
              <a:rPr lang="en-US" sz="2100" b="1" dirty="0">
                <a:solidFill>
                  <a:srgbClr val="9A5A0C"/>
                </a:solidFill>
                <a:latin typeface="Cambria" pitchFamily="34" charset="0"/>
                <a:ea typeface="Cambria" pitchFamily="34" charset="-122"/>
                <a:cs typeface="Cambria" pitchFamily="34" charset="-120"/>
              </a:rPr>
              <a:t>5 epochs</a:t>
            </a:r>
            <a:endParaRPr lang="en-US" sz="2100" dirty="0"/>
          </a:p>
        </p:txBody>
      </p:sp>
      <p:sp>
        <p:nvSpPr>
          <p:cNvPr id="17" name="Text 14"/>
          <p:cNvSpPr txBox="1"/>
          <p:nvPr/>
        </p:nvSpPr>
        <p:spPr>
          <a:xfrm>
            <a:off x="7955280" y="3282696"/>
            <a:ext cx="1234440" cy="822960"/>
          </a:xfrm>
          <a:prstGeom prst="rect">
            <a:avLst/>
          </a:prstGeom>
          <a:noFill/>
          <a:ln/>
        </p:spPr>
        <p:txBody>
          <a:bodyPr wrap="square" lIns="0" tIns="0" rIns="0" bIns="0" rtlCol="0" anchor="ctr"/>
          <a:lstStyle/>
          <a:p>
            <a:pPr indent="0" marL="0">
              <a:buNone/>
            </a:pPr>
            <a:r>
              <a:rPr lang="en-US" sz="1250" b="1" dirty="0">
                <a:solidFill>
                  <a:srgbClr val="13262F"/>
                </a:solidFill>
                <a:latin typeface="Calibri" pitchFamily="34" charset="0"/>
                <a:ea typeface="Calibri" pitchFamily="34" charset="-122"/>
                <a:cs typeface="Calibri" pitchFamily="34" charset="-120"/>
              </a:rPr>
              <a:t>our training</a:t>
            </a:r>
            <a:endParaRPr lang="en-US" sz="1250" dirty="0"/>
          </a:p>
        </p:txBody>
      </p:sp>
      <p:sp>
        <p:nvSpPr>
          <p:cNvPr id="18" name="Text 15"/>
          <p:cNvSpPr txBox="1"/>
          <p:nvPr/>
        </p:nvSpPr>
        <p:spPr>
          <a:xfrm>
            <a:off x="9189720" y="3282696"/>
            <a:ext cx="2316175" cy="82296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 20.7 GPU-h on 2× A16 (15.4 GiB) — the paper is heavily tuned</a:t>
            </a:r>
            <a:endParaRPr lang="en-US" sz="1250" dirty="0"/>
          </a:p>
        </p:txBody>
      </p:sp>
      <p:sp>
        <p:nvSpPr>
          <p:cNvPr id="19" name="Shape 16"/>
          <p:cNvSpPr/>
          <p:nvPr/>
        </p:nvSpPr>
        <p:spPr>
          <a:xfrm>
            <a:off x="6309360" y="4215384"/>
            <a:ext cx="5333695" cy="822960"/>
          </a:xfrm>
          <a:prstGeom prst="roundRect">
            <a:avLst>
              <a:gd name="adj" fmla="val 8889"/>
            </a:avLst>
          </a:prstGeom>
          <a:solidFill>
            <a:srgbClr val="FFFFFF"/>
          </a:solidFill>
          <a:ln w="12700">
            <a:solidFill>
              <a:srgbClr val="D5DDDF"/>
            </a:solidFill>
            <a:prstDash val="solid"/>
          </a:ln>
        </p:spPr>
      </p:sp>
      <p:sp>
        <p:nvSpPr>
          <p:cNvPr id="20" name="Text 17"/>
          <p:cNvSpPr txBox="1"/>
          <p:nvPr/>
        </p:nvSpPr>
        <p:spPr>
          <a:xfrm>
            <a:off x="6492240" y="4215384"/>
            <a:ext cx="1417320" cy="822960"/>
          </a:xfrm>
          <a:prstGeom prst="rect">
            <a:avLst/>
          </a:prstGeom>
          <a:noFill/>
          <a:ln/>
        </p:spPr>
        <p:txBody>
          <a:bodyPr wrap="square" lIns="0" tIns="0" rIns="0" bIns="0" rtlCol="0" anchor="ctr"/>
          <a:lstStyle/>
          <a:p>
            <a:pPr indent="0" marL="0">
              <a:buNone/>
            </a:pPr>
            <a:r>
              <a:rPr lang="en-US" sz="2100" b="1" dirty="0">
                <a:solidFill>
                  <a:srgbClr val="9A5A0C"/>
                </a:solidFill>
                <a:latin typeface="Cambria" pitchFamily="34" charset="0"/>
                <a:ea typeface="Cambria" pitchFamily="34" charset="-122"/>
                <a:cs typeface="Cambria" pitchFamily="34" charset="-120"/>
              </a:rPr>
              <a:t>20×</a:t>
            </a:r>
            <a:endParaRPr lang="en-US" sz="2100" dirty="0"/>
          </a:p>
        </p:txBody>
      </p:sp>
      <p:sp>
        <p:nvSpPr>
          <p:cNvPr id="21" name="Text 18"/>
          <p:cNvSpPr txBox="1"/>
          <p:nvPr/>
        </p:nvSpPr>
        <p:spPr>
          <a:xfrm>
            <a:off x="7955280" y="4215384"/>
            <a:ext cx="1234440" cy="822960"/>
          </a:xfrm>
          <a:prstGeom prst="rect">
            <a:avLst/>
          </a:prstGeom>
          <a:noFill/>
          <a:ln/>
        </p:spPr>
        <p:txBody>
          <a:bodyPr wrap="square" lIns="0" tIns="0" rIns="0" bIns="0" rtlCol="0" anchor="ctr"/>
          <a:lstStyle/>
          <a:p>
            <a:pPr indent="0" marL="0">
              <a:buNone/>
            </a:pPr>
            <a:r>
              <a:rPr lang="en-US" sz="1250" b="1" dirty="0">
                <a:solidFill>
                  <a:srgbClr val="13262F"/>
                </a:solidFill>
                <a:latin typeface="Calibri" pitchFamily="34" charset="0"/>
                <a:ea typeface="Calibri" pitchFamily="34" charset="-122"/>
                <a:cs typeface="Calibri" pitchFamily="34" charset="-120"/>
              </a:rPr>
              <a:t>less data now</a:t>
            </a:r>
            <a:endParaRPr lang="en-US" sz="1250" dirty="0"/>
          </a:p>
        </p:txBody>
      </p:sp>
      <p:sp>
        <p:nvSpPr>
          <p:cNvPr id="22" name="Text 19"/>
          <p:cNvSpPr txBox="1"/>
          <p:nvPr/>
        </p:nvSpPr>
        <p:spPr>
          <a:xfrm>
            <a:off x="9189720" y="4215384"/>
            <a:ext cx="2316175" cy="82296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current study 2.59M vs 52.8M decisions (chosen for federated) → 0.1612</a:t>
            </a:r>
            <a:endParaRPr lang="en-US" sz="1250" dirty="0"/>
          </a:p>
        </p:txBody>
      </p:sp>
      <p:sp>
        <p:nvSpPr>
          <p:cNvPr id="23" name="Shape 20"/>
          <p:cNvSpPr/>
          <p:nvPr/>
        </p:nvSpPr>
        <p:spPr>
          <a:xfrm>
            <a:off x="6309360" y="5212080"/>
            <a:ext cx="5333695" cy="685800"/>
          </a:xfrm>
          <a:prstGeom prst="roundRect">
            <a:avLst>
              <a:gd name="adj" fmla="val 10667"/>
            </a:avLst>
          </a:prstGeom>
          <a:solidFill>
            <a:srgbClr val="D8ECEC"/>
          </a:solidFill>
          <a:ln/>
        </p:spPr>
      </p:sp>
      <p:sp>
        <p:nvSpPr>
          <p:cNvPr id="24" name="Text 21"/>
          <p:cNvSpPr txBox="1"/>
          <p:nvPr/>
        </p:nvSpPr>
        <p:spPr>
          <a:xfrm>
            <a:off x="6492240" y="5230368"/>
            <a:ext cx="4967935" cy="640080"/>
          </a:xfrm>
          <a:prstGeom prst="rect">
            <a:avLst/>
          </a:prstGeom>
          <a:noFill/>
          <a:ln/>
        </p:spPr>
        <p:txBody>
          <a:bodyPr wrap="square" lIns="0" tIns="0" rIns="0" bIns="0" rtlCol="0" anchor="ctr"/>
          <a:lstStyle/>
          <a:p>
            <a:pPr indent="0" marL="0">
              <a:buNone/>
            </a:pPr>
            <a:r>
              <a:rPr lang="en-US" sz="1350" b="1" dirty="0">
                <a:solidFill>
                  <a:srgbClr val="164E57"/>
                </a:solidFill>
                <a:latin typeface="Calibri" pitchFamily="34" charset="0"/>
                <a:ea typeface="Calibri" pitchFamily="34" charset="-122"/>
                <a:cs typeface="Calibri" pitchFamily="34" charset="-120"/>
              </a:rPr>
              <a:t>Not a same-protocol re-run. </a:t>
            </a:r>
            <a:pPr indent="0" marL="0">
              <a:buNone/>
            </a:pPr>
            <a:r>
              <a:rPr lang="en-US" sz="1350" dirty="0">
                <a:solidFill>
                  <a:srgbClr val="33434A"/>
                </a:solidFill>
                <a:latin typeface="Calibri" pitchFamily="34" charset="0"/>
                <a:ea typeface="Calibri" pitchFamily="34" charset="-122"/>
                <a:cs typeface="Calibri" pitchFamily="34" charset="-120"/>
              </a:rPr>
              <a:t>Now: 2× A40 server — experiments running.</a:t>
            </a:r>
            <a:endParaRPr lang="en-US" sz="1350" dirty="0"/>
          </a:p>
        </p:txBody>
      </p:sp>
      <p:sp>
        <p:nvSpPr>
          <p:cNvPr id="25"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7</a:t>
            </a:r>
            <a:endParaRPr lang="en-US" sz="1000" dirty="0"/>
          </a:p>
        </p:txBody>
      </p:sp>
      <p:sp>
        <p:nvSpPr>
          <p:cNvPr id="26"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Hidasi &amp; Czapp, RecSys 2023 (official GRU4Rec REES46 page) as recorded in the literature register (R05) and benchmark note; central-model report §6.1; planning evidence (A16)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1</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Task and benchmark</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 you agree next-product is the right task for the thesis?</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Next-category had no published REES46 results and 82% was solvable without learning.</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we re-run the published GRU4Rec protocol on our server?</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would tell us directly whether we are stronger or weaker (≈ 1 extra run, estimate).</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Which metric should lead: per-user MRR@20 (ours) or per-event (papers)?</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We can report both.</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8</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earlier phases vs the published benchmark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EARLIER PHASE 2 — THE SASREC REPAIR</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A failed first attempt, fixed and documented</a:t>
            </a:r>
            <a:endParaRPr lang="en-US" sz="3000" dirty="0"/>
          </a:p>
        </p:txBody>
      </p:sp>
      <p:sp>
        <p:nvSpPr>
          <p:cNvPr id="4" name="Shape 2"/>
          <p:cNvSpPr/>
          <p:nvPr/>
        </p:nvSpPr>
        <p:spPr>
          <a:xfrm>
            <a:off x="6522415" y="329184"/>
            <a:ext cx="5120640" cy="292608"/>
          </a:xfrm>
          <a:prstGeom prst="roundRect">
            <a:avLst>
              <a:gd name="adj" fmla="val 50000"/>
            </a:avLst>
          </a:prstGeom>
          <a:solidFill>
            <a:srgbClr val="E6EAEC"/>
          </a:solidFill>
          <a:ln/>
        </p:spPr>
      </p:sp>
      <p:sp>
        <p:nvSpPr>
          <p:cNvPr id="5" name="Text 3"/>
          <p:cNvSpPr txBox="1"/>
          <p:nvPr/>
        </p:nvSpPr>
        <p:spPr>
          <a:xfrm>
            <a:off x="6522415" y="329184"/>
            <a:ext cx="512064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full data · not comparable with the current study</a:t>
            </a:r>
            <a:endParaRPr lang="en-US" sz="1100" dirty="0"/>
          </a:p>
        </p:txBody>
      </p:sp>
      <p:graphicFrame>
        <p:nvGraphicFramePr>
          <p:cNvPr id="6" name="Chart 0" descr=""/>
          <p:cNvGraphicFramePr/>
          <p:nvPr/>
        </p:nvGraphicFramePr>
        <p:xfrm>
          <a:off x="548640" y="13716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98080" y="1463040"/>
            <a:ext cx="4144975" cy="1417320"/>
          </a:xfrm>
          <a:prstGeom prst="roundRect">
            <a:avLst>
              <a:gd name="adj" fmla="val 5161"/>
            </a:avLst>
          </a:prstGeom>
          <a:solidFill>
            <a:srgbClr val="D8ECEC"/>
          </a:solidFill>
          <a:ln/>
        </p:spPr>
      </p:sp>
      <p:sp>
        <p:nvSpPr>
          <p:cNvPr id="8" name="Text 5"/>
          <p:cNvSpPr txBox="1"/>
          <p:nvPr/>
        </p:nvSpPr>
        <p:spPr>
          <a:xfrm>
            <a:off x="7726680" y="1600200"/>
            <a:ext cx="3687775"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+54%</a:t>
            </a:r>
            <a:endParaRPr lang="en-US" sz="3200" dirty="0"/>
          </a:p>
        </p:txBody>
      </p:sp>
      <p:sp>
        <p:nvSpPr>
          <p:cNvPr id="9" name="Text 6"/>
          <p:cNvSpPr txBox="1"/>
          <p:nvPr/>
        </p:nvSpPr>
        <p:spPr>
          <a:xfrm>
            <a:off x="7726680" y="2286000"/>
            <a:ext cx="3687775" cy="5029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repaired vs failed attempt (0.1814 vs 0.1179)</a:t>
            </a:r>
            <a:endParaRPr lang="en-US" sz="1300" dirty="0"/>
          </a:p>
        </p:txBody>
      </p:sp>
      <p:sp>
        <p:nvSpPr>
          <p:cNvPr id="10" name="Text 7"/>
          <p:cNvSpPr txBox="1"/>
          <p:nvPr/>
        </p:nvSpPr>
        <p:spPr>
          <a:xfrm>
            <a:off x="7498080" y="3063240"/>
            <a:ext cx="4144975" cy="118872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Fixes: untied output table · no ×16 input scaling + input layer norm · Adam β2 0.999 · re-centred output table · new learning-rate schedule</a:t>
            </a:r>
            <a:endParaRPr lang="en-US" sz="1350" dirty="0"/>
          </a:p>
        </p:txBody>
      </p:sp>
      <p:sp>
        <p:nvSpPr>
          <p:cNvPr id="11" name="Shape 8"/>
          <p:cNvSpPr/>
          <p:nvPr/>
        </p:nvSpPr>
        <p:spPr>
          <a:xfrm>
            <a:off x="7498080" y="4297680"/>
            <a:ext cx="4144975" cy="1417320"/>
          </a:xfrm>
          <a:prstGeom prst="roundRect">
            <a:avLst>
              <a:gd name="adj" fmla="val 5161"/>
            </a:avLst>
          </a:prstGeom>
          <a:solidFill>
            <a:srgbClr val="F1F4F4"/>
          </a:solidFill>
          <a:ln/>
        </p:spPr>
      </p:sp>
      <p:sp>
        <p:nvSpPr>
          <p:cNvPr id="12" name="Text 9"/>
          <p:cNvSpPr txBox="1"/>
          <p:nvPr/>
        </p:nvSpPr>
        <p:spPr>
          <a:xfrm>
            <a:off x="7726680" y="4434840"/>
            <a:ext cx="3687775"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0.0002</a:t>
            </a:r>
            <a:endParaRPr lang="en-US" sz="3200" dirty="0"/>
          </a:p>
        </p:txBody>
      </p:sp>
      <p:sp>
        <p:nvSpPr>
          <p:cNvPr id="13" name="Text 10"/>
          <p:cNvSpPr txBox="1"/>
          <p:nvPr/>
        </p:nvSpPr>
        <p:spPr>
          <a:xfrm>
            <a:off x="7726680" y="5120640"/>
            <a:ext cx="3687775" cy="5029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gap between two seeds at the final epoch (stable)</a:t>
            </a:r>
            <a:endParaRPr lang="en-US" sz="13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9</a:t>
            </a:r>
            <a:endParaRPr lang="en-US" sz="1000" dirty="0"/>
          </a:p>
        </p:txBody>
      </p:sp>
      <p:sp>
        <p:nvSpPr>
          <p:cNvPr id="15"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Central-model campaign final report §§3–4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FEATURE ENGINEERING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From 58 input columns to 24</a:t>
            </a:r>
            <a:endParaRPr lang="en-US" sz="3000" dirty="0"/>
          </a:p>
        </p:txBody>
      </p:sp>
      <p:sp>
        <p:nvSpPr>
          <p:cNvPr id="4" name="Text 2"/>
          <p:cNvSpPr txBox="1"/>
          <p:nvPr/>
        </p:nvSpPr>
        <p:spPr>
          <a:xfrm>
            <a:off x="548640" y="1371600"/>
            <a:ext cx="6400800" cy="32004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Earlier phase — 58 inputs</a:t>
            </a:r>
            <a:endParaRPr lang="en-US" sz="1500" dirty="0"/>
          </a:p>
        </p:txBody>
      </p:sp>
      <p:sp>
        <p:nvSpPr>
          <p:cNvPr id="5" name="Shape 3"/>
          <p:cNvSpPr/>
          <p:nvPr/>
        </p:nvSpPr>
        <p:spPr>
          <a:xfrm>
            <a:off x="548640" y="1783080"/>
            <a:ext cx="6675120" cy="694944"/>
          </a:xfrm>
          <a:prstGeom prst="roundRect">
            <a:avLst>
              <a:gd name="adj" fmla="val 10526"/>
            </a:avLst>
          </a:prstGeom>
          <a:solidFill>
            <a:srgbClr val="F1F4F4"/>
          </a:solidFill>
          <a:ln/>
        </p:spPr>
      </p:sp>
      <p:sp>
        <p:nvSpPr>
          <p:cNvPr id="6" name="Text 4"/>
          <p:cNvSpPr txBox="1"/>
          <p:nvPr/>
        </p:nvSpPr>
        <p:spPr>
          <a:xfrm>
            <a:off x="731520" y="1783080"/>
            <a:ext cx="731520" cy="694944"/>
          </a:xfrm>
          <a:prstGeom prst="rect">
            <a:avLst/>
          </a:prstGeom>
          <a:noFill/>
          <a:ln/>
        </p:spPr>
        <p:txBody>
          <a:bodyPr wrap="square" lIns="0" tIns="0" rIns="0" bIns="0" rtlCol="0" anchor="ctr"/>
          <a:lstStyle/>
          <a:p>
            <a:pPr indent="0" marL="0">
              <a:buNone/>
            </a:pPr>
            <a:r>
              <a:rPr lang="en-US" sz="2600" b="1" dirty="0">
                <a:solidFill>
                  <a:srgbClr val="1F7A80"/>
                </a:solidFill>
                <a:latin typeface="Cambria" pitchFamily="34" charset="0"/>
                <a:ea typeface="Cambria" pitchFamily="34" charset="-122"/>
                <a:cs typeface="Cambria" pitchFamily="34" charset="-120"/>
              </a:rPr>
              <a:t>6</a:t>
            </a:r>
            <a:endParaRPr lang="en-US" sz="2600" dirty="0"/>
          </a:p>
        </p:txBody>
      </p:sp>
      <p:sp>
        <p:nvSpPr>
          <p:cNvPr id="7" name="Text 5"/>
          <p:cNvSpPr txBox="1"/>
          <p:nvPr/>
        </p:nvSpPr>
        <p:spPr>
          <a:xfrm>
            <a:off x="1508760" y="1783080"/>
            <a:ext cx="1828800" cy="694944"/>
          </a:xfrm>
          <a:prstGeom prst="rect">
            <a:avLst/>
          </a:prstGeom>
          <a:noFill/>
          <a:ln/>
        </p:spPr>
        <p:txBody>
          <a:bodyPr wrap="square" lIns="0" tIns="0" rIns="0" bIns="0" rtlCol="0" anchor="ctr"/>
          <a:lstStyle/>
          <a:p>
            <a:pPr indent="0" marL="0">
              <a:buNone/>
            </a:pPr>
            <a:r>
              <a:rPr lang="en-US" sz="1350" b="1" dirty="0">
                <a:solidFill>
                  <a:srgbClr val="13262F"/>
                </a:solidFill>
                <a:latin typeface="Calibri" pitchFamily="34" charset="0"/>
                <a:ea typeface="Calibri" pitchFamily="34" charset="-122"/>
                <a:cs typeface="Calibri" pitchFamily="34" charset="-120"/>
              </a:rPr>
              <a:t>token columns</a:t>
            </a:r>
            <a:endParaRPr lang="en-US" sz="1350" dirty="0"/>
          </a:p>
        </p:txBody>
      </p:sp>
      <p:sp>
        <p:nvSpPr>
          <p:cNvPr id="8" name="Text 6"/>
          <p:cNvSpPr txBox="1"/>
          <p:nvPr/>
        </p:nvSpPr>
        <p:spPr>
          <a:xfrm>
            <a:off x="3337560" y="1783080"/>
            <a:ext cx="3749040" cy="694944"/>
          </a:xfrm>
          <a:prstGeom prst="rect">
            <a:avLst/>
          </a:prstGeom>
          <a:noFill/>
          <a:ln/>
        </p:spPr>
        <p:txBody>
          <a:bodyPr wrap="square" lIns="0" tIns="0" rIns="0" bIns="0" rtlCol="0" anchor="ctr"/>
          <a:lstStyle/>
          <a:p>
            <a:pPr indent="0" marL="0">
              <a:buNone/>
            </a:pPr>
            <a:r>
              <a:rPr lang="en-US" sz="1200" dirty="0">
                <a:solidFill>
                  <a:srgbClr val="33434A"/>
                </a:solidFill>
                <a:latin typeface="Calibri" pitchFamily="34" charset="0"/>
                <a:ea typeface="Calibri" pitchFamily="34" charset="-122"/>
                <a:cs typeface="Calibri" pitchFamily="34" charset="-120"/>
              </a:rPr>
              <a:t>item · category · brand · main category · daypart · weekday</a:t>
            </a:r>
            <a:endParaRPr lang="en-US" sz="1200" dirty="0"/>
          </a:p>
        </p:txBody>
      </p:sp>
      <p:sp>
        <p:nvSpPr>
          <p:cNvPr id="9" name="Shape 7"/>
          <p:cNvSpPr/>
          <p:nvPr/>
        </p:nvSpPr>
        <p:spPr>
          <a:xfrm>
            <a:off x="548640" y="2569464"/>
            <a:ext cx="6675120" cy="694944"/>
          </a:xfrm>
          <a:prstGeom prst="roundRect">
            <a:avLst>
              <a:gd name="adj" fmla="val 10526"/>
            </a:avLst>
          </a:prstGeom>
          <a:solidFill>
            <a:srgbClr val="FFFFFF"/>
          </a:solidFill>
          <a:ln w="12700">
            <a:solidFill>
              <a:srgbClr val="D5DDDF"/>
            </a:solidFill>
            <a:prstDash val="solid"/>
          </a:ln>
        </p:spPr>
      </p:sp>
      <p:sp>
        <p:nvSpPr>
          <p:cNvPr id="10" name="Text 8"/>
          <p:cNvSpPr txBox="1"/>
          <p:nvPr/>
        </p:nvSpPr>
        <p:spPr>
          <a:xfrm>
            <a:off x="731520" y="2569464"/>
            <a:ext cx="731520" cy="694944"/>
          </a:xfrm>
          <a:prstGeom prst="rect">
            <a:avLst/>
          </a:prstGeom>
          <a:noFill/>
          <a:ln/>
        </p:spPr>
        <p:txBody>
          <a:bodyPr wrap="square" lIns="0" tIns="0" rIns="0" bIns="0" rtlCol="0" anchor="ctr"/>
          <a:lstStyle/>
          <a:p>
            <a:pPr indent="0" marL="0">
              <a:buNone/>
            </a:pPr>
            <a:r>
              <a:rPr lang="en-US" sz="2600" b="1" dirty="0">
                <a:solidFill>
                  <a:srgbClr val="1F7A80"/>
                </a:solidFill>
                <a:latin typeface="Cambria" pitchFamily="34" charset="0"/>
                <a:ea typeface="Cambria" pitchFamily="34" charset="-122"/>
                <a:cs typeface="Cambria" pitchFamily="34" charset="-120"/>
              </a:rPr>
              <a:t>19</a:t>
            </a:r>
            <a:endParaRPr lang="en-US" sz="2600" dirty="0"/>
          </a:p>
        </p:txBody>
      </p:sp>
      <p:sp>
        <p:nvSpPr>
          <p:cNvPr id="11" name="Text 9"/>
          <p:cNvSpPr txBox="1"/>
          <p:nvPr/>
        </p:nvSpPr>
        <p:spPr>
          <a:xfrm>
            <a:off x="1508760" y="2569464"/>
            <a:ext cx="1828800" cy="694944"/>
          </a:xfrm>
          <a:prstGeom prst="rect">
            <a:avLst/>
          </a:prstGeom>
          <a:noFill/>
          <a:ln/>
        </p:spPr>
        <p:txBody>
          <a:bodyPr wrap="square" lIns="0" tIns="0" rIns="0" bIns="0" rtlCol="0" anchor="ctr"/>
          <a:lstStyle/>
          <a:p>
            <a:pPr indent="0" marL="0">
              <a:buNone/>
            </a:pPr>
            <a:r>
              <a:rPr lang="en-US" sz="1350" b="1" dirty="0">
                <a:solidFill>
                  <a:srgbClr val="13262F"/>
                </a:solidFill>
                <a:latin typeface="Calibri" pitchFamily="34" charset="0"/>
                <a:ea typeface="Calibri" pitchFamily="34" charset="-122"/>
                <a:cs typeface="Calibri" pitchFamily="34" charset="-120"/>
              </a:rPr>
              <a:t>numeric columns</a:t>
            </a:r>
            <a:endParaRPr lang="en-US" sz="1350" dirty="0"/>
          </a:p>
        </p:txBody>
      </p:sp>
      <p:sp>
        <p:nvSpPr>
          <p:cNvPr id="12" name="Text 10"/>
          <p:cNvSpPr txBox="1"/>
          <p:nvPr/>
        </p:nvSpPr>
        <p:spPr>
          <a:xfrm>
            <a:off x="3337560" y="2569464"/>
            <a:ext cx="3749040" cy="694944"/>
          </a:xfrm>
          <a:prstGeom prst="rect">
            <a:avLst/>
          </a:prstGeom>
          <a:noFill/>
          <a:ln/>
        </p:spPr>
        <p:txBody>
          <a:bodyPr wrap="square" lIns="0" tIns="0" rIns="0" bIns="0" rtlCol="0" anchor="ctr"/>
          <a:lstStyle/>
          <a:p>
            <a:pPr indent="0" marL="0">
              <a:buNone/>
            </a:pPr>
            <a:r>
              <a:rPr lang="en-US" sz="1200" dirty="0">
                <a:solidFill>
                  <a:srgbClr val="33434A"/>
                </a:solidFill>
                <a:latin typeface="Calibri" pitchFamily="34" charset="0"/>
                <a:ea typeface="Calibri" pitchFamily="34" charset="-122"/>
                <a:cs typeface="Calibri" pitchFamily="34" charset="-120"/>
              </a:rPr>
              <a:t>price · hour/weekday (sin, cos) · gap since last view · item age · session counts</a:t>
            </a:r>
            <a:endParaRPr lang="en-US" sz="1200" dirty="0"/>
          </a:p>
        </p:txBody>
      </p:sp>
      <p:sp>
        <p:nvSpPr>
          <p:cNvPr id="13" name="Shape 11"/>
          <p:cNvSpPr/>
          <p:nvPr/>
        </p:nvSpPr>
        <p:spPr>
          <a:xfrm>
            <a:off x="548640" y="3355848"/>
            <a:ext cx="6675120" cy="694944"/>
          </a:xfrm>
          <a:prstGeom prst="roundRect">
            <a:avLst>
              <a:gd name="adj" fmla="val 10526"/>
            </a:avLst>
          </a:prstGeom>
          <a:solidFill>
            <a:srgbClr val="F1F4F4"/>
          </a:solidFill>
          <a:ln/>
        </p:spPr>
      </p:sp>
      <p:sp>
        <p:nvSpPr>
          <p:cNvPr id="14" name="Text 12"/>
          <p:cNvSpPr txBox="1"/>
          <p:nvPr/>
        </p:nvSpPr>
        <p:spPr>
          <a:xfrm>
            <a:off x="731520" y="3355848"/>
            <a:ext cx="731520" cy="694944"/>
          </a:xfrm>
          <a:prstGeom prst="rect">
            <a:avLst/>
          </a:prstGeom>
          <a:noFill/>
          <a:ln/>
        </p:spPr>
        <p:txBody>
          <a:bodyPr wrap="square" lIns="0" tIns="0" rIns="0" bIns="0" rtlCol="0" anchor="ctr"/>
          <a:lstStyle/>
          <a:p>
            <a:pPr indent="0" marL="0">
              <a:buNone/>
            </a:pPr>
            <a:r>
              <a:rPr lang="en-US" sz="2600" b="1" dirty="0">
                <a:solidFill>
                  <a:srgbClr val="1F7A80"/>
                </a:solidFill>
                <a:latin typeface="Cambria" pitchFamily="34" charset="0"/>
                <a:ea typeface="Cambria" pitchFamily="34" charset="-122"/>
                <a:cs typeface="Cambria" pitchFamily="34" charset="-120"/>
              </a:rPr>
              <a:t>15</a:t>
            </a:r>
            <a:endParaRPr lang="en-US" sz="2600" dirty="0"/>
          </a:p>
        </p:txBody>
      </p:sp>
      <p:sp>
        <p:nvSpPr>
          <p:cNvPr id="15" name="Text 13"/>
          <p:cNvSpPr txBox="1"/>
          <p:nvPr/>
        </p:nvSpPr>
        <p:spPr>
          <a:xfrm>
            <a:off x="1508760" y="3355848"/>
            <a:ext cx="1828800" cy="694944"/>
          </a:xfrm>
          <a:prstGeom prst="rect">
            <a:avLst/>
          </a:prstGeom>
          <a:noFill/>
          <a:ln/>
        </p:spPr>
        <p:txBody>
          <a:bodyPr wrap="square" lIns="0" tIns="0" rIns="0" bIns="0" rtlCol="0" anchor="ctr"/>
          <a:lstStyle/>
          <a:p>
            <a:pPr indent="0" marL="0">
              <a:buNone/>
            </a:pPr>
            <a:r>
              <a:rPr lang="en-US" sz="1350" b="1" dirty="0">
                <a:solidFill>
                  <a:srgbClr val="13262F"/>
                </a:solidFill>
                <a:latin typeface="Calibri" pitchFamily="34" charset="0"/>
                <a:ea typeface="Calibri" pitchFamily="34" charset="-122"/>
                <a:cs typeface="Calibri" pitchFamily="34" charset="-120"/>
              </a:rPr>
              <a:t>quality flags</a:t>
            </a:r>
            <a:endParaRPr lang="en-US" sz="1350" dirty="0"/>
          </a:p>
        </p:txBody>
      </p:sp>
      <p:sp>
        <p:nvSpPr>
          <p:cNvPr id="16" name="Text 14"/>
          <p:cNvSpPr txBox="1"/>
          <p:nvPr/>
        </p:nvSpPr>
        <p:spPr>
          <a:xfrm>
            <a:off x="3337560" y="3355848"/>
            <a:ext cx="3749040" cy="694944"/>
          </a:xfrm>
          <a:prstGeom prst="rect">
            <a:avLst/>
          </a:prstGeom>
          <a:noFill/>
          <a:ln/>
        </p:spPr>
        <p:txBody>
          <a:bodyPr wrap="square" lIns="0" tIns="0" rIns="0" bIns="0" rtlCol="0" anchor="ctr"/>
          <a:lstStyle/>
          <a:p>
            <a:pPr indent="0" marL="0">
              <a:buNone/>
            </a:pPr>
            <a:r>
              <a:rPr lang="en-US" sz="1200" dirty="0">
                <a:solidFill>
                  <a:srgbClr val="33434A"/>
                </a:solidFill>
                <a:latin typeface="Calibri" pitchFamily="34" charset="0"/>
                <a:ea typeface="Calibri" pitchFamily="34" charset="-122"/>
                <a:cs typeface="Calibri" pitchFamily="34" charset="-120"/>
              </a:rPr>
              <a:t>price missing / zero · brand recovered · category conflict …</a:t>
            </a:r>
            <a:endParaRPr lang="en-US" sz="1200" dirty="0"/>
          </a:p>
        </p:txBody>
      </p:sp>
      <p:sp>
        <p:nvSpPr>
          <p:cNvPr id="17" name="Shape 15"/>
          <p:cNvSpPr/>
          <p:nvPr/>
        </p:nvSpPr>
        <p:spPr>
          <a:xfrm>
            <a:off x="548640" y="4142232"/>
            <a:ext cx="6675120" cy="694944"/>
          </a:xfrm>
          <a:prstGeom prst="roundRect">
            <a:avLst>
              <a:gd name="adj" fmla="val 10526"/>
            </a:avLst>
          </a:prstGeom>
          <a:solidFill>
            <a:srgbClr val="FFFFFF"/>
          </a:solidFill>
          <a:ln w="12700">
            <a:solidFill>
              <a:srgbClr val="D5DDDF"/>
            </a:solidFill>
            <a:prstDash val="solid"/>
          </a:ln>
        </p:spPr>
      </p:sp>
      <p:sp>
        <p:nvSpPr>
          <p:cNvPr id="18" name="Text 16"/>
          <p:cNvSpPr txBox="1"/>
          <p:nvPr/>
        </p:nvSpPr>
        <p:spPr>
          <a:xfrm>
            <a:off x="731520" y="4142232"/>
            <a:ext cx="731520" cy="694944"/>
          </a:xfrm>
          <a:prstGeom prst="rect">
            <a:avLst/>
          </a:prstGeom>
          <a:noFill/>
          <a:ln/>
        </p:spPr>
        <p:txBody>
          <a:bodyPr wrap="square" lIns="0" tIns="0" rIns="0" bIns="0" rtlCol="0" anchor="ctr"/>
          <a:lstStyle/>
          <a:p>
            <a:pPr indent="0" marL="0">
              <a:buNone/>
            </a:pPr>
            <a:r>
              <a:rPr lang="en-US" sz="2600" b="1" dirty="0">
                <a:solidFill>
                  <a:srgbClr val="1F7A80"/>
                </a:solidFill>
                <a:latin typeface="Cambria" pitchFamily="34" charset="0"/>
                <a:ea typeface="Cambria" pitchFamily="34" charset="-122"/>
                <a:cs typeface="Cambria" pitchFamily="34" charset="-120"/>
              </a:rPr>
              <a:t>12</a:t>
            </a:r>
            <a:endParaRPr lang="en-US" sz="2600" dirty="0"/>
          </a:p>
        </p:txBody>
      </p:sp>
      <p:sp>
        <p:nvSpPr>
          <p:cNvPr id="19" name="Text 17"/>
          <p:cNvSpPr txBox="1"/>
          <p:nvPr/>
        </p:nvSpPr>
        <p:spPr>
          <a:xfrm>
            <a:off x="1508760" y="4142232"/>
            <a:ext cx="1828800" cy="694944"/>
          </a:xfrm>
          <a:prstGeom prst="rect">
            <a:avLst/>
          </a:prstGeom>
          <a:noFill/>
          <a:ln/>
        </p:spPr>
        <p:txBody>
          <a:bodyPr wrap="square" lIns="0" tIns="0" rIns="0" bIns="0" rtlCol="0" anchor="ctr"/>
          <a:lstStyle/>
          <a:p>
            <a:pPr indent="0" marL="0">
              <a:buNone/>
            </a:pPr>
            <a:r>
              <a:rPr lang="en-US" sz="1350" b="1" dirty="0">
                <a:solidFill>
                  <a:srgbClr val="13262F"/>
                </a:solidFill>
                <a:latin typeface="Calibri" pitchFamily="34" charset="0"/>
                <a:ea typeface="Calibri" pitchFamily="34" charset="-122"/>
                <a:cs typeface="Calibri" pitchFamily="34" charset="-120"/>
              </a:rPr>
              <a:t>user-context values</a:t>
            </a:r>
            <a:endParaRPr lang="en-US" sz="1350" dirty="0"/>
          </a:p>
        </p:txBody>
      </p:sp>
      <p:sp>
        <p:nvSpPr>
          <p:cNvPr id="20" name="Text 18"/>
          <p:cNvSpPr txBox="1"/>
          <p:nvPr/>
        </p:nvSpPr>
        <p:spPr>
          <a:xfrm>
            <a:off x="3337560" y="4142232"/>
            <a:ext cx="3749040" cy="694944"/>
          </a:xfrm>
          <a:prstGeom prst="rect">
            <a:avLst/>
          </a:prstGeom>
          <a:noFill/>
          <a:ln/>
        </p:spPr>
        <p:txBody>
          <a:bodyPr wrap="square" lIns="0" tIns="0" rIns="0" bIns="0" rtlCol="0" anchor="ctr"/>
          <a:lstStyle/>
          <a:p>
            <a:pPr indent="0" marL="0">
              <a:buNone/>
            </a:pPr>
            <a:r>
              <a:rPr lang="en-US" sz="1200" dirty="0">
                <a:solidFill>
                  <a:srgbClr val="33434A"/>
                </a:solidFill>
                <a:latin typeface="Calibri" pitchFamily="34" charset="0"/>
                <a:ea typeface="Calibri" pitchFamily="34" charset="-122"/>
                <a:cs typeface="Calibri" pitchFamily="34" charset="-120"/>
              </a:rPr>
              <a:t>past views · sessions · brand / category match share · price vs usual</a:t>
            </a:r>
            <a:endParaRPr lang="en-US" sz="1200" dirty="0"/>
          </a:p>
        </p:txBody>
      </p:sp>
      <p:sp>
        <p:nvSpPr>
          <p:cNvPr id="21" name="Shape 19"/>
          <p:cNvSpPr/>
          <p:nvPr/>
        </p:nvSpPr>
        <p:spPr>
          <a:xfrm>
            <a:off x="548640" y="4928616"/>
            <a:ext cx="6675120" cy="694944"/>
          </a:xfrm>
          <a:prstGeom prst="roundRect">
            <a:avLst>
              <a:gd name="adj" fmla="val 10526"/>
            </a:avLst>
          </a:prstGeom>
          <a:solidFill>
            <a:srgbClr val="F1F4F4"/>
          </a:solidFill>
          <a:ln/>
        </p:spPr>
      </p:sp>
      <p:sp>
        <p:nvSpPr>
          <p:cNvPr id="22" name="Text 20"/>
          <p:cNvSpPr txBox="1"/>
          <p:nvPr/>
        </p:nvSpPr>
        <p:spPr>
          <a:xfrm>
            <a:off x="731520" y="4928616"/>
            <a:ext cx="731520" cy="694944"/>
          </a:xfrm>
          <a:prstGeom prst="rect">
            <a:avLst/>
          </a:prstGeom>
          <a:noFill/>
          <a:ln/>
        </p:spPr>
        <p:txBody>
          <a:bodyPr wrap="square" lIns="0" tIns="0" rIns="0" bIns="0" rtlCol="0" anchor="ctr"/>
          <a:lstStyle/>
          <a:p>
            <a:pPr indent="0" marL="0">
              <a:buNone/>
            </a:pPr>
            <a:r>
              <a:rPr lang="en-US" sz="2600" b="1" dirty="0">
                <a:solidFill>
                  <a:srgbClr val="1F7A80"/>
                </a:solidFill>
                <a:latin typeface="Cambria" pitchFamily="34" charset="0"/>
                <a:ea typeface="Cambria" pitchFamily="34" charset="-122"/>
                <a:cs typeface="Cambria" pitchFamily="34" charset="-120"/>
              </a:rPr>
              <a:t>6</a:t>
            </a:r>
            <a:endParaRPr lang="en-US" sz="2600" dirty="0"/>
          </a:p>
        </p:txBody>
      </p:sp>
      <p:sp>
        <p:nvSpPr>
          <p:cNvPr id="23" name="Text 21"/>
          <p:cNvSpPr txBox="1"/>
          <p:nvPr/>
        </p:nvSpPr>
        <p:spPr>
          <a:xfrm>
            <a:off x="1508760" y="4928616"/>
            <a:ext cx="1828800" cy="694944"/>
          </a:xfrm>
          <a:prstGeom prst="rect">
            <a:avLst/>
          </a:prstGeom>
          <a:noFill/>
          <a:ln/>
        </p:spPr>
        <p:txBody>
          <a:bodyPr wrap="square" lIns="0" tIns="0" rIns="0" bIns="0" rtlCol="0" anchor="ctr"/>
          <a:lstStyle/>
          <a:p>
            <a:pPr indent="0" marL="0">
              <a:buNone/>
            </a:pPr>
            <a:r>
              <a:rPr lang="en-US" sz="1350" b="1" dirty="0">
                <a:solidFill>
                  <a:srgbClr val="13262F"/>
                </a:solidFill>
                <a:latin typeface="Calibri" pitchFamily="34" charset="0"/>
                <a:ea typeface="Calibri" pitchFamily="34" charset="-122"/>
                <a:cs typeface="Calibri" pitchFamily="34" charset="-120"/>
              </a:rPr>
              <a:t>masks</a:t>
            </a:r>
            <a:endParaRPr lang="en-US" sz="1350" dirty="0"/>
          </a:p>
        </p:txBody>
      </p:sp>
      <p:sp>
        <p:nvSpPr>
          <p:cNvPr id="24" name="Text 22"/>
          <p:cNvSpPr txBox="1"/>
          <p:nvPr/>
        </p:nvSpPr>
        <p:spPr>
          <a:xfrm>
            <a:off x="3337560" y="4928616"/>
            <a:ext cx="3749040" cy="694944"/>
          </a:xfrm>
          <a:prstGeom prst="rect">
            <a:avLst/>
          </a:prstGeom>
          <a:noFill/>
          <a:ln/>
        </p:spPr>
        <p:txBody>
          <a:bodyPr wrap="square" lIns="0" tIns="0" rIns="0" bIns="0" rtlCol="0" anchor="ctr"/>
          <a:lstStyle/>
          <a:p>
            <a:pPr indent="0" marL="0">
              <a:buNone/>
            </a:pPr>
            <a:r>
              <a:rPr lang="en-US" sz="1200" dirty="0">
                <a:solidFill>
                  <a:srgbClr val="33434A"/>
                </a:solidFill>
                <a:latin typeface="Calibri" pitchFamily="34" charset="0"/>
                <a:ea typeface="Calibri" pitchFamily="34" charset="-122"/>
                <a:cs typeface="Calibri" pitchFamily="34" charset="-120"/>
              </a:rPr>
              <a:t>history available · previous session available …</a:t>
            </a:r>
            <a:endParaRPr lang="en-US" sz="1200" dirty="0"/>
          </a:p>
        </p:txBody>
      </p:sp>
      <p:sp>
        <p:nvSpPr>
          <p:cNvPr id="25" name="Text 23"/>
          <p:cNvSpPr txBox="1"/>
          <p:nvPr/>
        </p:nvSpPr>
        <p:spPr>
          <a:xfrm>
            <a:off x="7589520" y="1371600"/>
            <a:ext cx="4053535" cy="32004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Current study — 24 inputs</a:t>
            </a:r>
            <a:endParaRPr lang="en-US" sz="1500" dirty="0"/>
          </a:p>
        </p:txBody>
      </p:sp>
      <p:graphicFrame>
        <p:nvGraphicFramePr>
          <p:cNvPr id="26" name="Chart 0" descr=""/>
          <p:cNvGraphicFramePr/>
          <p:nvPr/>
        </p:nvGraphicFramePr>
        <p:xfrm>
          <a:off x="7589520" y="1691640"/>
          <a:ext cx="4053535" cy="2377440"/>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7589520" y="4206240"/>
            <a:ext cx="1935328" cy="1645920"/>
          </a:xfrm>
          <a:prstGeom prst="roundRect">
            <a:avLst>
              <a:gd name="adj" fmla="val 4444"/>
            </a:avLst>
          </a:prstGeom>
          <a:solidFill>
            <a:srgbClr val="F1F4F4"/>
          </a:solidFill>
          <a:ln/>
        </p:spPr>
      </p:sp>
      <p:sp>
        <p:nvSpPr>
          <p:cNvPr id="28" name="Text 25"/>
          <p:cNvSpPr txBox="1"/>
          <p:nvPr/>
        </p:nvSpPr>
        <p:spPr>
          <a:xfrm>
            <a:off x="7818120" y="4343400"/>
            <a:ext cx="1478128"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24/53</a:t>
            </a:r>
            <a:endParaRPr lang="en-US" sz="3200" dirty="0"/>
          </a:p>
        </p:txBody>
      </p:sp>
      <p:sp>
        <p:nvSpPr>
          <p:cNvPr id="29" name="Text 26"/>
          <p:cNvSpPr txBox="1"/>
          <p:nvPr/>
        </p:nvSpPr>
        <p:spPr>
          <a:xfrm>
            <a:off x="7818120" y="5029200"/>
            <a:ext cx="1478128" cy="7315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kept: statistics filter (→ 30), then grouped search</a:t>
            </a:r>
            <a:endParaRPr lang="en-US" sz="1300" dirty="0"/>
          </a:p>
        </p:txBody>
      </p:sp>
      <p:sp>
        <p:nvSpPr>
          <p:cNvPr id="30" name="Shape 27"/>
          <p:cNvSpPr/>
          <p:nvPr/>
        </p:nvSpPr>
        <p:spPr>
          <a:xfrm>
            <a:off x="9707728" y="4206240"/>
            <a:ext cx="1935328" cy="1645920"/>
          </a:xfrm>
          <a:prstGeom prst="roundRect">
            <a:avLst>
              <a:gd name="adj" fmla="val 4444"/>
            </a:avLst>
          </a:prstGeom>
          <a:solidFill>
            <a:srgbClr val="D8ECEC"/>
          </a:solidFill>
          <a:ln/>
        </p:spPr>
      </p:sp>
      <p:sp>
        <p:nvSpPr>
          <p:cNvPr id="31" name="Text 28"/>
          <p:cNvSpPr txBox="1"/>
          <p:nvPr/>
        </p:nvSpPr>
        <p:spPr>
          <a:xfrm>
            <a:off x="9936328" y="4343400"/>
            <a:ext cx="1478128"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21 / 24</a:t>
            </a:r>
            <a:endParaRPr lang="en-US" sz="3200" dirty="0"/>
          </a:p>
        </p:txBody>
      </p:sp>
      <p:sp>
        <p:nvSpPr>
          <p:cNvPr id="32" name="Text 29"/>
          <p:cNvSpPr txBox="1"/>
          <p:nvPr/>
        </p:nvSpPr>
        <p:spPr>
          <a:xfrm>
            <a:off x="9936328" y="5029200"/>
            <a:ext cx="1478128" cy="7315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computable on the device</a:t>
            </a:r>
            <a:endParaRPr lang="en-US" sz="1300" dirty="0"/>
          </a:p>
        </p:txBody>
      </p:sp>
      <p:sp>
        <p:nvSpPr>
          <p:cNvPr id="33" name="Text 3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10</a:t>
            </a:r>
            <a:endParaRPr lang="en-US" sz="1000" dirty="0"/>
          </a:p>
        </p:txBody>
      </p:sp>
      <p:sp>
        <p:nvSpPr>
          <p:cNvPr id="34" name="Text 31"/>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Feature dictionary §15.1; execution reference §2.6; feature search (decision log rows 39, 52–54); review part 4 (features)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FEATURE STUDY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each feature group is worth</a:t>
            </a:r>
            <a:endParaRPr lang="en-US" sz="3000" dirty="0"/>
          </a:p>
        </p:txBody>
      </p:sp>
      <p:sp>
        <p:nvSpPr>
          <p:cNvPr id="4" name="Shape 2"/>
          <p:cNvSpPr/>
          <p:nvPr/>
        </p:nvSpPr>
        <p:spPr>
          <a:xfrm>
            <a:off x="6522415" y="329184"/>
            <a:ext cx="5120640" cy="292608"/>
          </a:xfrm>
          <a:prstGeom prst="roundRect">
            <a:avLst>
              <a:gd name="adj" fmla="val 50000"/>
            </a:avLst>
          </a:prstGeom>
          <a:solidFill>
            <a:srgbClr val="E6EAEC"/>
          </a:solidFill>
          <a:ln/>
        </p:spPr>
      </p:sp>
      <p:sp>
        <p:nvSpPr>
          <p:cNvPr id="5" name="Text 3"/>
          <p:cNvSpPr txBox="1"/>
          <p:nvPr/>
        </p:nvSpPr>
        <p:spPr>
          <a:xfrm>
            <a:off x="6522415" y="329184"/>
            <a:ext cx="512064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full data · not comparable with the current study</a:t>
            </a:r>
            <a:endParaRPr lang="en-US" sz="1100" dirty="0"/>
          </a:p>
        </p:txBody>
      </p:sp>
      <p:graphicFrame>
        <p:nvGraphicFramePr>
          <p:cNvPr id="6" name="Chart 0" descr=""/>
          <p:cNvGraphicFramePr/>
          <p:nvPr/>
        </p:nvGraphicFramePr>
        <p:xfrm>
          <a:off x="548640" y="137160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463040"/>
            <a:ext cx="3779215" cy="1371600"/>
          </a:xfrm>
          <a:prstGeom prst="roundRect">
            <a:avLst>
              <a:gd name="adj" fmla="val 5333"/>
            </a:avLst>
          </a:prstGeom>
          <a:solidFill>
            <a:srgbClr val="FBEBD3"/>
          </a:solidFill>
          <a:ln/>
        </p:spPr>
      </p:sp>
      <p:sp>
        <p:nvSpPr>
          <p:cNvPr id="8" name="Text 5"/>
          <p:cNvSpPr txBox="1"/>
          <p:nvPr/>
        </p:nvSpPr>
        <p:spPr>
          <a:xfrm>
            <a:off x="8092440" y="1600200"/>
            <a:ext cx="3322015"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−0.0467</a:t>
            </a:r>
            <a:endParaRPr lang="en-US" sz="3200" dirty="0"/>
          </a:p>
        </p:txBody>
      </p:sp>
      <p:sp>
        <p:nvSpPr>
          <p:cNvPr id="9" name="Text 6"/>
          <p:cNvSpPr txBox="1"/>
          <p:nvPr/>
        </p:nvSpPr>
        <p:spPr>
          <a:xfrm>
            <a:off x="8092440" y="2286000"/>
            <a:ext cx="3322015" cy="4572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without any side feature: features matter</a:t>
            </a:r>
            <a:endParaRPr lang="en-US" sz="1300" dirty="0"/>
          </a:p>
        </p:txBody>
      </p:sp>
      <p:sp>
        <p:nvSpPr>
          <p:cNvPr id="10" name="Shape 7"/>
          <p:cNvSpPr/>
          <p:nvPr/>
        </p:nvSpPr>
        <p:spPr>
          <a:xfrm>
            <a:off x="7863840" y="3017520"/>
            <a:ext cx="3779215" cy="1371600"/>
          </a:xfrm>
          <a:prstGeom prst="roundRect">
            <a:avLst>
              <a:gd name="adj" fmla="val 5333"/>
            </a:avLst>
          </a:prstGeom>
          <a:solidFill>
            <a:srgbClr val="F1F4F4"/>
          </a:solidFill>
          <a:ln/>
        </p:spPr>
      </p:sp>
      <p:sp>
        <p:nvSpPr>
          <p:cNvPr id="11" name="Text 8"/>
          <p:cNvSpPr txBox="1"/>
          <p:nvPr/>
        </p:nvSpPr>
        <p:spPr>
          <a:xfrm>
            <a:off x="8092440" y="3154680"/>
            <a:ext cx="3322015"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+0.00026</a:t>
            </a:r>
            <a:endParaRPr lang="en-US" sz="3200" dirty="0"/>
          </a:p>
        </p:txBody>
      </p:sp>
      <p:sp>
        <p:nvSpPr>
          <p:cNvPr id="12" name="Text 9"/>
          <p:cNvSpPr txBox="1"/>
          <p:nvPr/>
        </p:nvSpPr>
        <p:spPr>
          <a:xfrm>
            <a:off x="8092440" y="3840480"/>
            <a:ext cx="3322015" cy="4572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best new candidate; threshold 0.002 → keep current</a:t>
            </a:r>
            <a:endParaRPr lang="en-US" sz="1300" dirty="0"/>
          </a:p>
        </p:txBody>
      </p:sp>
      <p:sp>
        <p:nvSpPr>
          <p:cNvPr id="13" name="Shape 10"/>
          <p:cNvSpPr/>
          <p:nvPr/>
        </p:nvSpPr>
        <p:spPr>
          <a:xfrm>
            <a:off x="7863840" y="4572000"/>
            <a:ext cx="3779215" cy="1325880"/>
          </a:xfrm>
          <a:prstGeom prst="roundRect">
            <a:avLst>
              <a:gd name="adj" fmla="val 5517"/>
            </a:avLst>
          </a:prstGeom>
          <a:solidFill>
            <a:srgbClr val="F1F4F4"/>
          </a:solidFill>
          <a:ln/>
        </p:spPr>
      </p:sp>
      <p:sp>
        <p:nvSpPr>
          <p:cNvPr id="14" name="Text 11"/>
          <p:cNvSpPr txBox="1"/>
          <p:nvPr/>
        </p:nvSpPr>
        <p:spPr>
          <a:xfrm>
            <a:off x="8092440" y="4709160"/>
            <a:ext cx="3322015"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+0.0007</a:t>
            </a:r>
            <a:endParaRPr lang="en-US" sz="3200" dirty="0"/>
          </a:p>
        </p:txBody>
      </p:sp>
      <p:sp>
        <p:nvSpPr>
          <p:cNvPr id="15" name="Text 12"/>
          <p:cNvSpPr txBox="1"/>
          <p:nvPr/>
        </p:nvSpPr>
        <p:spPr>
          <a:xfrm>
            <a:off x="8092440" y="5394960"/>
            <a:ext cx="3322015"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calendar: within noise → dropped later</a:t>
            </a:r>
            <a:endParaRPr lang="en-US" sz="1300" dirty="0"/>
          </a:p>
        </p:txBody>
      </p:sp>
      <p:sp>
        <p:nvSpPr>
          <p:cNvPr id="16" name="Text 1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11</a:t>
            </a:r>
            <a:endParaRPr lang="en-US" sz="1000" dirty="0"/>
          </a:p>
        </p:txBody>
      </p:sp>
      <p:sp>
        <p:nvSpPr>
          <p:cNvPr id="17" name="Text 1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Feature-study final report §3; living thesis reference (decision KEEP_CURRENT)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WHY WE CHANGED COURSE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The earlier phases answered a different question</a:t>
            </a:r>
            <a:endParaRPr lang="en-US" sz="3000" dirty="0"/>
          </a:p>
        </p:txBody>
      </p:sp>
      <p:sp>
        <p:nvSpPr>
          <p:cNvPr id="4" name="Shape 2"/>
          <p:cNvSpPr/>
          <p:nvPr/>
        </p:nvSpPr>
        <p:spPr>
          <a:xfrm>
            <a:off x="548640" y="1371600"/>
            <a:ext cx="11094415" cy="694944"/>
          </a:xfrm>
          <a:prstGeom prst="roundRect">
            <a:avLst>
              <a:gd name="adj" fmla="val 10526"/>
            </a:avLst>
          </a:prstGeom>
          <a:solidFill>
            <a:srgbClr val="F1F4F4"/>
          </a:solidFill>
          <a:ln/>
        </p:spPr>
      </p:sp>
      <p:sp>
        <p:nvSpPr>
          <p:cNvPr id="5" name="Text 3"/>
          <p:cNvSpPr txBox="1"/>
          <p:nvPr/>
        </p:nvSpPr>
        <p:spPr>
          <a:xfrm>
            <a:off x="822960" y="1371600"/>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Wrong question</a:t>
            </a:r>
            <a:endParaRPr lang="en-US" sz="1600" dirty="0"/>
          </a:p>
        </p:txBody>
      </p:sp>
      <p:sp>
        <p:nvSpPr>
          <p:cNvPr id="6" name="Text 4"/>
          <p:cNvSpPr txBox="1"/>
          <p:nvPr/>
        </p:nvSpPr>
        <p:spPr>
          <a:xfrm>
            <a:off x="3657600" y="1371600"/>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Best cloud model ≠ the proposal's question (cloud vs federated vs on-device)</a:t>
            </a:r>
            <a:endParaRPr lang="en-US" sz="1350" dirty="0"/>
          </a:p>
        </p:txBody>
      </p:sp>
      <p:sp>
        <p:nvSpPr>
          <p:cNvPr id="7" name="Text 5"/>
          <p:cNvSpPr txBox="1"/>
          <p:nvPr/>
        </p:nvSpPr>
        <p:spPr>
          <a:xfrm>
            <a:off x="8732520" y="1371600"/>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a deployment study</a:t>
            </a:r>
            <a:endParaRPr lang="en-US" sz="1450" dirty="0"/>
          </a:p>
        </p:txBody>
      </p:sp>
      <p:sp>
        <p:nvSpPr>
          <p:cNvPr id="8" name="Shape 6"/>
          <p:cNvSpPr/>
          <p:nvPr/>
        </p:nvSpPr>
        <p:spPr>
          <a:xfrm>
            <a:off x="548640" y="2139696"/>
            <a:ext cx="11094415" cy="694944"/>
          </a:xfrm>
          <a:prstGeom prst="roundRect">
            <a:avLst>
              <a:gd name="adj" fmla="val 10526"/>
            </a:avLst>
          </a:prstGeom>
          <a:solidFill>
            <a:srgbClr val="FFFFFF"/>
          </a:solidFill>
          <a:ln w="12700">
            <a:solidFill>
              <a:srgbClr val="D5DDDF"/>
            </a:solidFill>
            <a:prstDash val="solid"/>
          </a:ln>
        </p:spPr>
      </p:sp>
      <p:sp>
        <p:nvSpPr>
          <p:cNvPr id="9" name="Text 7"/>
          <p:cNvSpPr txBox="1"/>
          <p:nvPr/>
        </p:nvSpPr>
        <p:spPr>
          <a:xfrm>
            <a:off x="822960" y="2139696"/>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One user = one device</a:t>
            </a:r>
            <a:endParaRPr lang="en-US" sz="1600" dirty="0"/>
          </a:p>
        </p:txBody>
      </p:sp>
      <p:sp>
        <p:nvSpPr>
          <p:cNvPr id="10" name="Text 8"/>
          <p:cNvSpPr txBox="1"/>
          <p:nvPr/>
        </p:nvSpPr>
        <p:spPr>
          <a:xfrm>
            <a:off x="3657600" y="2139696"/>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Raw users: median 6 events, max 11,628; 473,402 users with a single event</a:t>
            </a:r>
            <a:endParaRPr lang="en-US" sz="1350" dirty="0"/>
          </a:p>
        </p:txBody>
      </p:sp>
      <p:sp>
        <p:nvSpPr>
          <p:cNvPr id="11" name="Text 9"/>
          <p:cNvSpPr txBox="1"/>
          <p:nvPr/>
        </p:nvSpPr>
        <p:spPr>
          <a:xfrm>
            <a:off x="8732520" y="2139696"/>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users with 5–100 events: 1.45M</a:t>
            </a:r>
            <a:endParaRPr lang="en-US" sz="1450" dirty="0"/>
          </a:p>
        </p:txBody>
      </p:sp>
      <p:sp>
        <p:nvSpPr>
          <p:cNvPr id="12" name="Shape 10"/>
          <p:cNvSpPr/>
          <p:nvPr/>
        </p:nvSpPr>
        <p:spPr>
          <a:xfrm>
            <a:off x="548640" y="2907792"/>
            <a:ext cx="11094415" cy="694944"/>
          </a:xfrm>
          <a:prstGeom prst="roundRect">
            <a:avLst>
              <a:gd name="adj" fmla="val 10526"/>
            </a:avLst>
          </a:prstGeom>
          <a:solidFill>
            <a:srgbClr val="F1F4F4"/>
          </a:solidFill>
          <a:ln/>
        </p:spPr>
      </p:sp>
      <p:sp>
        <p:nvSpPr>
          <p:cNvPr id="13" name="Text 11"/>
          <p:cNvSpPr txBox="1"/>
          <p:nvPr/>
        </p:nvSpPr>
        <p:spPr>
          <a:xfrm>
            <a:off x="822960" y="2907792"/>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Federated cost</a:t>
            </a:r>
            <a:endParaRPr lang="en-US" sz="1600" dirty="0"/>
          </a:p>
        </p:txBody>
      </p:sp>
      <p:sp>
        <p:nvSpPr>
          <p:cNvPr id="14" name="Text 12"/>
          <p:cNvSpPr txBox="1"/>
          <p:nvPr/>
        </p:nvSpPr>
        <p:spPr>
          <a:xfrm>
            <a:off x="3657600" y="2907792"/>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52.8M decisions is too large to simulate federated training many times</a:t>
            </a:r>
            <a:endParaRPr lang="en-US" sz="1350" dirty="0"/>
          </a:p>
        </p:txBody>
      </p:sp>
      <p:sp>
        <p:nvSpPr>
          <p:cNvPr id="15" name="Text 13"/>
          <p:cNvSpPr txBox="1"/>
          <p:nvPr/>
        </p:nvSpPr>
        <p:spPr>
          <a:xfrm>
            <a:off x="8732520" y="2907792"/>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main cohort 2.59M (≈ 20× smaller)</a:t>
            </a:r>
            <a:endParaRPr lang="en-US" sz="1450" dirty="0"/>
          </a:p>
        </p:txBody>
      </p:sp>
      <p:sp>
        <p:nvSpPr>
          <p:cNvPr id="16" name="Shape 14"/>
          <p:cNvSpPr/>
          <p:nvPr/>
        </p:nvSpPr>
        <p:spPr>
          <a:xfrm>
            <a:off x="548640" y="3675888"/>
            <a:ext cx="11094415" cy="694944"/>
          </a:xfrm>
          <a:prstGeom prst="roundRect">
            <a:avLst>
              <a:gd name="adj" fmla="val 10526"/>
            </a:avLst>
          </a:prstGeom>
          <a:solidFill>
            <a:srgbClr val="FFFFFF"/>
          </a:solidFill>
          <a:ln w="12700">
            <a:solidFill>
              <a:srgbClr val="D5DDDF"/>
            </a:solidFill>
            <a:prstDash val="solid"/>
          </a:ln>
        </p:spPr>
      </p:sp>
      <p:sp>
        <p:nvSpPr>
          <p:cNvPr id="17" name="Text 15"/>
          <p:cNvSpPr txBox="1"/>
          <p:nvPr/>
        </p:nvSpPr>
        <p:spPr>
          <a:xfrm>
            <a:off x="822960" y="3675888"/>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Unfair family comparison</a:t>
            </a:r>
            <a:endParaRPr lang="en-US" sz="1600" dirty="0"/>
          </a:p>
        </p:txBody>
      </p:sp>
      <p:sp>
        <p:nvSpPr>
          <p:cNvPr id="18" name="Text 16"/>
          <p:cNvSpPr txBox="1"/>
          <p:nvPr/>
        </p:nvSpPr>
        <p:spPr>
          <a:xfrm>
            <a:off x="3657600" y="3675888"/>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GRU and SASRec had different features and training schedules</a:t>
            </a:r>
            <a:endParaRPr lang="en-US" sz="1350" dirty="0"/>
          </a:p>
        </p:txBody>
      </p:sp>
      <p:sp>
        <p:nvSpPr>
          <p:cNvPr id="19" name="Text 17"/>
          <p:cNvSpPr txBox="1"/>
          <p:nvPr/>
        </p:nvSpPr>
        <p:spPr>
          <a:xfrm>
            <a:off x="8732520" y="3675888"/>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a new contest on one clean protocol</a:t>
            </a:r>
            <a:endParaRPr lang="en-US" sz="1450" dirty="0"/>
          </a:p>
        </p:txBody>
      </p:sp>
      <p:sp>
        <p:nvSpPr>
          <p:cNvPr id="20" name="Shape 18"/>
          <p:cNvSpPr/>
          <p:nvPr/>
        </p:nvSpPr>
        <p:spPr>
          <a:xfrm>
            <a:off x="548640" y="4443984"/>
            <a:ext cx="11094415" cy="694944"/>
          </a:xfrm>
          <a:prstGeom prst="roundRect">
            <a:avLst>
              <a:gd name="adj" fmla="val 10526"/>
            </a:avLst>
          </a:prstGeom>
          <a:solidFill>
            <a:srgbClr val="F1F4F4"/>
          </a:solidFill>
          <a:ln/>
        </p:spPr>
      </p:sp>
      <p:sp>
        <p:nvSpPr>
          <p:cNvPr id="21" name="Text 19"/>
          <p:cNvSpPr txBox="1"/>
          <p:nvPr/>
        </p:nvSpPr>
        <p:spPr>
          <a:xfrm>
            <a:off x="822960" y="4443984"/>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Test week already seen</a:t>
            </a:r>
            <a:endParaRPr lang="en-US" sz="1600" dirty="0"/>
          </a:p>
        </p:txBody>
      </p:sp>
      <p:sp>
        <p:nvSpPr>
          <p:cNvPr id="22" name="Text 20"/>
          <p:cNvSpPr txBox="1"/>
          <p:nvPr/>
        </p:nvSpPr>
        <p:spPr>
          <a:xfrm>
            <a:off x="3657600" y="4443984"/>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The old test week was read once</a:t>
            </a:r>
            <a:endParaRPr lang="en-US" sz="1350" dirty="0"/>
          </a:p>
        </p:txBody>
      </p:sp>
      <p:sp>
        <p:nvSpPr>
          <p:cNvPr id="23" name="Text 21"/>
          <p:cNvSpPr txBox="1"/>
          <p:nvPr/>
        </p:nvSpPr>
        <p:spPr>
          <a:xfrm>
            <a:off x="8732520" y="4443984"/>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disclosed as seen; one new sealed look</a:t>
            </a:r>
            <a:endParaRPr lang="en-US" sz="1450" dirty="0"/>
          </a:p>
        </p:txBody>
      </p:sp>
      <p:sp>
        <p:nvSpPr>
          <p:cNvPr id="24" name="Shape 22"/>
          <p:cNvSpPr/>
          <p:nvPr/>
        </p:nvSpPr>
        <p:spPr>
          <a:xfrm>
            <a:off x="548640" y="5212080"/>
            <a:ext cx="11094415" cy="694944"/>
          </a:xfrm>
          <a:prstGeom prst="roundRect">
            <a:avLst>
              <a:gd name="adj" fmla="val 10526"/>
            </a:avLst>
          </a:prstGeom>
          <a:solidFill>
            <a:srgbClr val="FFFFFF"/>
          </a:solidFill>
          <a:ln w="12700">
            <a:solidFill>
              <a:srgbClr val="D5DDDF"/>
            </a:solidFill>
            <a:prstDash val="solid"/>
          </a:ln>
        </p:spPr>
      </p:sp>
      <p:sp>
        <p:nvSpPr>
          <p:cNvPr id="25" name="Text 23"/>
          <p:cNvSpPr txBox="1"/>
          <p:nvPr/>
        </p:nvSpPr>
        <p:spPr>
          <a:xfrm>
            <a:off x="822960" y="5212080"/>
            <a:ext cx="2743200" cy="694944"/>
          </a:xfrm>
          <a:prstGeom prst="rect">
            <a:avLst/>
          </a:prstGeom>
          <a:noFill/>
          <a:ln/>
        </p:spPr>
        <p:txBody>
          <a:bodyPr wrap="square" lIns="0" tIns="0" rIns="0" bIns="0" rtlCol="0" anchor="ctr"/>
          <a:lstStyle/>
          <a:p>
            <a:pPr indent="0" marL="0">
              <a:buNone/>
            </a:pPr>
            <a:r>
              <a:rPr lang="en-US" sz="1600" b="1" dirty="0">
                <a:solidFill>
                  <a:srgbClr val="13262F"/>
                </a:solidFill>
                <a:latin typeface="Cambria" pitchFamily="34" charset="0"/>
                <a:ea typeface="Cambria" pitchFamily="34" charset="-122"/>
                <a:cs typeface="Cambria" pitchFamily="34" charset="-120"/>
              </a:rPr>
              <a:t>Limited compute</a:t>
            </a:r>
            <a:endParaRPr lang="en-US" sz="1600" dirty="0"/>
          </a:p>
        </p:txBody>
      </p:sp>
      <p:sp>
        <p:nvSpPr>
          <p:cNvPr id="26" name="Text 24"/>
          <p:cNvSpPr txBox="1"/>
          <p:nvPr/>
        </p:nvSpPr>
        <p:spPr>
          <a:xfrm>
            <a:off x="3657600" y="5212080"/>
            <a:ext cx="4937760" cy="694944"/>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2× A16 GPUs (15.4 GiB each), 12.8 GiB free disk</a:t>
            </a:r>
            <a:endParaRPr lang="en-US" sz="1350" dirty="0"/>
          </a:p>
        </p:txBody>
      </p:sp>
      <p:sp>
        <p:nvSpPr>
          <p:cNvPr id="27" name="Text 25"/>
          <p:cNvSpPr txBox="1"/>
          <p:nvPr/>
        </p:nvSpPr>
        <p:spPr>
          <a:xfrm>
            <a:off x="8732520" y="5212080"/>
            <a:ext cx="2773375" cy="694944"/>
          </a:xfrm>
          <a:prstGeom prst="rect">
            <a:avLst/>
          </a:prstGeom>
          <a:noFill/>
          <a:ln/>
        </p:spPr>
        <p:txBody>
          <a:bodyPr wrap="square" lIns="0" tIns="0" rIns="0" bIns="0" rtlCol="0" anchor="ctr"/>
          <a:lstStyle/>
          <a:p>
            <a:pPr indent="0" marL="0">
              <a:buNone/>
            </a:pPr>
            <a:r>
              <a:rPr lang="en-US" sz="1450" b="1" dirty="0">
                <a:solidFill>
                  <a:srgbClr val="164E57"/>
                </a:solidFill>
                <a:latin typeface="Calibri" pitchFamily="34" charset="0"/>
                <a:ea typeface="Calibri" pitchFamily="34" charset="-122"/>
                <a:cs typeface="Calibri" pitchFamily="34" charset="-120"/>
              </a:rPr>
              <a:t>→ now 2× A40 server; experiments running</a:t>
            </a:r>
            <a:endParaRPr lang="en-US" sz="1450" dirty="0"/>
          </a:p>
        </p:txBody>
      </p:sp>
      <p:sp>
        <p:nvSpPr>
          <p:cNvPr id="28" name="Text 2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12</a:t>
            </a:r>
            <a:endParaRPr lang="en-US" sz="1000" dirty="0"/>
          </a:p>
        </p:txBody>
      </p:sp>
      <p:sp>
        <p:nvSpPr>
          <p:cNvPr id="29" name="Text 2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Owner scope for the deployment study; planning evidence packet (data census); population decision; central-model report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NEW SETUP</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From raw users to the calibration set</a:t>
            </a:r>
            <a:endParaRPr lang="en-US" sz="3000" dirty="0"/>
          </a:p>
        </p:txBody>
      </p:sp>
      <p:graphicFrame>
        <p:nvGraphicFramePr>
          <p:cNvPr id="4" name="Chart 0" descr=""/>
          <p:cNvGraphicFramePr/>
          <p:nvPr/>
        </p:nvGraphicFramePr>
        <p:xfrm>
          <a:off x="548640" y="137160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686800" y="1463040"/>
            <a:ext cx="2956255" cy="32004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Split</a:t>
            </a:r>
            <a:endParaRPr lang="en-US" sz="1500" dirty="0"/>
          </a:p>
        </p:txBody>
      </p:sp>
      <p:sp>
        <p:nvSpPr>
          <p:cNvPr id="6" name="Shape 3"/>
          <p:cNvSpPr/>
          <p:nvPr/>
        </p:nvSpPr>
        <p:spPr>
          <a:xfrm>
            <a:off x="8686800" y="1874520"/>
            <a:ext cx="1417320" cy="292608"/>
          </a:xfrm>
          <a:prstGeom prst="roundRect">
            <a:avLst>
              <a:gd name="adj" fmla="val 50000"/>
            </a:avLst>
          </a:prstGeom>
          <a:solidFill>
            <a:srgbClr val="5C6B73"/>
          </a:solidFill>
          <a:ln/>
        </p:spPr>
      </p:sp>
      <p:sp>
        <p:nvSpPr>
          <p:cNvPr id="7" name="Text 4"/>
          <p:cNvSpPr txBox="1"/>
          <p:nvPr/>
        </p:nvSpPr>
        <p:spPr>
          <a:xfrm>
            <a:off x="8686800" y="1874520"/>
            <a:ext cx="1417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p>
        </p:txBody>
      </p:sp>
      <p:sp>
        <p:nvSpPr>
          <p:cNvPr id="8" name="Text 5"/>
          <p:cNvSpPr txBox="1"/>
          <p:nvPr/>
        </p:nvSpPr>
        <p:spPr>
          <a:xfrm>
            <a:off x="10241280" y="1874520"/>
            <a:ext cx="1401775" cy="310896"/>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1 Oct – 15 Nov</a:t>
            </a:r>
            <a:endParaRPr lang="en-US" sz="1350" dirty="0"/>
          </a:p>
        </p:txBody>
      </p:sp>
      <p:sp>
        <p:nvSpPr>
          <p:cNvPr id="9" name="Shape 6"/>
          <p:cNvSpPr/>
          <p:nvPr/>
        </p:nvSpPr>
        <p:spPr>
          <a:xfrm>
            <a:off x="8686800" y="2441448"/>
            <a:ext cx="1417320" cy="292608"/>
          </a:xfrm>
          <a:prstGeom prst="roundRect">
            <a:avLst>
              <a:gd name="adj" fmla="val 50000"/>
            </a:avLst>
          </a:prstGeom>
          <a:solidFill>
            <a:srgbClr val="1F7A80"/>
          </a:solidFill>
          <a:ln/>
        </p:spPr>
      </p:sp>
      <p:sp>
        <p:nvSpPr>
          <p:cNvPr id="10" name="Text 7"/>
          <p:cNvSpPr txBox="1"/>
          <p:nvPr/>
        </p:nvSpPr>
        <p:spPr>
          <a:xfrm>
            <a:off x="8686800" y="2441448"/>
            <a:ext cx="1417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Validation</a:t>
            </a:r>
            <a:endParaRPr lang="en-US" sz="1100" dirty="0"/>
          </a:p>
        </p:txBody>
      </p:sp>
      <p:sp>
        <p:nvSpPr>
          <p:cNvPr id="11" name="Text 8"/>
          <p:cNvSpPr txBox="1"/>
          <p:nvPr/>
        </p:nvSpPr>
        <p:spPr>
          <a:xfrm>
            <a:off x="10241280" y="2441448"/>
            <a:ext cx="1401775" cy="310896"/>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16–22 Nov</a:t>
            </a:r>
            <a:endParaRPr lang="en-US" sz="1350" dirty="0"/>
          </a:p>
        </p:txBody>
      </p:sp>
      <p:sp>
        <p:nvSpPr>
          <p:cNvPr id="12" name="Shape 9"/>
          <p:cNvSpPr/>
          <p:nvPr/>
        </p:nvSpPr>
        <p:spPr>
          <a:xfrm>
            <a:off x="8686800" y="3008376"/>
            <a:ext cx="1417320" cy="292608"/>
          </a:xfrm>
          <a:prstGeom prst="roundRect">
            <a:avLst>
              <a:gd name="adj" fmla="val 50000"/>
            </a:avLst>
          </a:prstGeom>
          <a:solidFill>
            <a:srgbClr val="E0932B"/>
          </a:solidFill>
          <a:ln/>
        </p:spPr>
      </p:sp>
      <p:sp>
        <p:nvSpPr>
          <p:cNvPr id="13" name="Text 10"/>
          <p:cNvSpPr txBox="1"/>
          <p:nvPr/>
        </p:nvSpPr>
        <p:spPr>
          <a:xfrm>
            <a:off x="8686800" y="3008376"/>
            <a:ext cx="1417320" cy="292608"/>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Test (sealed)</a:t>
            </a:r>
            <a:endParaRPr lang="en-US" sz="1100" dirty="0"/>
          </a:p>
        </p:txBody>
      </p:sp>
      <p:sp>
        <p:nvSpPr>
          <p:cNvPr id="14" name="Text 11"/>
          <p:cNvSpPr txBox="1"/>
          <p:nvPr/>
        </p:nvSpPr>
        <p:spPr>
          <a:xfrm>
            <a:off x="10241280" y="3008376"/>
            <a:ext cx="1401775" cy="310896"/>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23–29 Nov</a:t>
            </a:r>
            <a:endParaRPr lang="en-US" sz="1350" dirty="0"/>
          </a:p>
        </p:txBody>
      </p:sp>
      <p:sp>
        <p:nvSpPr>
          <p:cNvPr id="15" name="Text 12"/>
          <p:cNvSpPr txBox="1"/>
          <p:nvPr/>
        </p:nvSpPr>
        <p:spPr>
          <a:xfrm>
            <a:off x="8686800" y="3749040"/>
            <a:ext cx="2956255" cy="210312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Pretraining users never overlap the main cohort.</a:t>
            </a:r>
            <a:endParaRPr lang="en-US" sz="1250" dirty="0"/>
          </a:p>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Up to 50 past events per prediction.</a:t>
            </a:r>
            <a:endParaRPr lang="en-US" sz="1250" dirty="0"/>
          </a:p>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Unseen-user panel 12,862; truly cold users 381,295.</a:t>
            </a:r>
            <a:endParaRPr lang="en-US" sz="1250" dirty="0"/>
          </a:p>
        </p:txBody>
      </p:sp>
      <p:sp>
        <p:nvSpPr>
          <p:cNvPr id="16" name="Text 1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13</a:t>
            </a:r>
            <a:endParaRPr lang="en-US" sz="1000" dirty="0"/>
          </a:p>
        </p:txBody>
      </p:sp>
      <p:sp>
        <p:nvSpPr>
          <p:cNvPr id="17" name="Text 1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Planning evidence packet (data census); population decision; pretraining cohort build; realism audit D2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2</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Is the change of course sound?</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limiting users to 5–100 events acceptable for the Edge story?</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keeps each simulated device realistic; very heavy and single-event users are reported as separate panels.</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Which cloud should be the reference: 131k matched users or the 1.35M full pool?</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We report both — which leads?</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the earlier full-data results appear in the thesis, or only as context?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They are not comparable (different data size and features).</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14</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earlier phases and the new setup</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CURRENT STUDY — BACKBONE CONTEST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SASRec wins under the registered rule; GRU at the fixed end</a:t>
            </a:r>
            <a:endParaRPr lang="en-US" sz="3000" dirty="0"/>
          </a:p>
        </p:txBody>
      </p:sp>
      <p:graphicFrame>
        <p:nvGraphicFramePr>
          <p:cNvPr id="4" name="Chart 0"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463040"/>
            <a:ext cx="3779215" cy="1417320"/>
          </a:xfrm>
          <a:prstGeom prst="roundRect">
            <a:avLst>
              <a:gd name="adj" fmla="val 5161"/>
            </a:avLst>
          </a:prstGeom>
          <a:solidFill>
            <a:srgbClr val="D8ECEC"/>
          </a:solidFill>
          <a:ln/>
        </p:spPr>
      </p:sp>
      <p:sp>
        <p:nvSpPr>
          <p:cNvPr id="6" name="Text 3"/>
          <p:cNvSpPr txBox="1"/>
          <p:nvPr/>
        </p:nvSpPr>
        <p:spPr>
          <a:xfrm>
            <a:off x="8092440" y="1600200"/>
            <a:ext cx="3322015"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+0.0043</a:t>
            </a:r>
            <a:endParaRPr lang="en-US" sz="3200" dirty="0"/>
          </a:p>
        </p:txBody>
      </p:sp>
      <p:sp>
        <p:nvSpPr>
          <p:cNvPr id="7" name="Text 4"/>
          <p:cNvSpPr txBox="1"/>
          <p:nvPr/>
        </p:nvSpPr>
        <p:spPr>
          <a:xfrm>
            <a:off x="8092440" y="2286000"/>
            <a:ext cx="3322015" cy="5029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SASRec, CI [+0.0033, +0.0052] — selected</a:t>
            </a:r>
            <a:endParaRPr lang="en-US" sz="1300" dirty="0"/>
          </a:p>
        </p:txBody>
      </p:sp>
      <p:sp>
        <p:nvSpPr>
          <p:cNvPr id="8" name="Shape 5"/>
          <p:cNvSpPr/>
          <p:nvPr/>
        </p:nvSpPr>
        <p:spPr>
          <a:xfrm>
            <a:off x="7863840" y="3017520"/>
            <a:ext cx="3779215" cy="1417320"/>
          </a:xfrm>
          <a:prstGeom prst="roundRect">
            <a:avLst>
              <a:gd name="adj" fmla="val 5161"/>
            </a:avLst>
          </a:prstGeom>
          <a:solidFill>
            <a:srgbClr val="E6EAEC"/>
          </a:solidFill>
          <a:ln/>
        </p:spPr>
      </p:sp>
      <p:sp>
        <p:nvSpPr>
          <p:cNvPr id="9" name="Text 6"/>
          <p:cNvSpPr txBox="1"/>
          <p:nvPr/>
        </p:nvSpPr>
        <p:spPr>
          <a:xfrm>
            <a:off x="8092440" y="3154680"/>
            <a:ext cx="3322015"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+0.0042</a:t>
            </a:r>
            <a:endParaRPr lang="en-US" sz="3200" dirty="0"/>
          </a:p>
        </p:txBody>
      </p:sp>
      <p:sp>
        <p:nvSpPr>
          <p:cNvPr id="10" name="Text 7"/>
          <p:cNvSpPr txBox="1"/>
          <p:nvPr/>
        </p:nvSpPr>
        <p:spPr>
          <a:xfrm>
            <a:off x="8092440" y="3840480"/>
            <a:ext cx="3322015" cy="50292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GRU at the fixed end, CI [+0.0033, +0.0052] — disclosed</a:t>
            </a:r>
            <a:endParaRPr lang="en-US" sz="1300" dirty="0"/>
          </a:p>
        </p:txBody>
      </p:sp>
      <p:sp>
        <p:nvSpPr>
          <p:cNvPr id="11" name="Shape 8"/>
          <p:cNvSpPr/>
          <p:nvPr/>
        </p:nvSpPr>
        <p:spPr>
          <a:xfrm>
            <a:off x="7863840" y="4572000"/>
            <a:ext cx="3779215" cy="1234440"/>
          </a:xfrm>
          <a:prstGeom prst="roundRect">
            <a:avLst>
              <a:gd name="adj" fmla="val 5926"/>
            </a:avLst>
          </a:prstGeom>
          <a:solidFill>
            <a:srgbClr val="F1F4F4"/>
          </a:solidFill>
          <a:ln/>
        </p:spPr>
      </p:sp>
      <p:sp>
        <p:nvSpPr>
          <p:cNvPr id="12" name="Text 9"/>
          <p:cNvSpPr txBox="1"/>
          <p:nvPr/>
        </p:nvSpPr>
        <p:spPr>
          <a:xfrm>
            <a:off x="8092440" y="4709160"/>
            <a:ext cx="3322015"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0.1967 vs 0.1910</a:t>
            </a:r>
            <a:endParaRPr lang="en-US" sz="3200" dirty="0"/>
          </a:p>
        </p:txBody>
      </p:sp>
      <p:sp>
        <p:nvSpPr>
          <p:cNvPr id="13" name="Text 10"/>
          <p:cNvSpPr txBox="1"/>
          <p:nvPr/>
        </p:nvSpPr>
        <p:spPr>
          <a:xfrm>
            <a:off x="8092440" y="5394960"/>
            <a:ext cx="3322015" cy="3200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NDCG@10, SASRec vs GRU</a:t>
            </a:r>
            <a:endParaRPr lang="en-US" sz="13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15</a:t>
            </a:r>
            <a:endParaRPr lang="en-US" sz="1000" dirty="0"/>
          </a:p>
        </p:txBody>
      </p:sp>
      <p:sp>
        <p:nvSpPr>
          <p:cNvPr id="15"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file; contest diagnostics (decision log, 28 Sep)</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CURRENT STUDY — THE BAR TO BEAT, AND THE DEVICE BUDGET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Simple rules reach 44–69% of the cloud</a:t>
            </a:r>
            <a:endParaRPr lang="en-US" sz="3000" dirty="0"/>
          </a:p>
        </p:txBody>
      </p:sp>
      <p:graphicFrame>
        <p:nvGraphicFramePr>
          <p:cNvPr id="4" name="Chart 0" descr=""/>
          <p:cNvGraphicFramePr/>
          <p:nvPr/>
        </p:nvGraphicFramePr>
        <p:xfrm>
          <a:off x="548640" y="1371600"/>
          <a:ext cx="566928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00800" y="1371600"/>
          <a:ext cx="5242255" cy="44805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Parameters: 83.9M cloud vs 20.7M device. Frozen tables: ≈ 1 MB each way + one 81.78 MB download (to be re-measured).</a:t>
            </a:r>
            <a:endParaRPr lang="en-US" sz="1200" dirty="0"/>
          </a:p>
        </p:txBody>
      </p:sp>
      <p:sp>
        <p:nvSpPr>
          <p:cNvPr id="7"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16</a:t>
            </a:r>
            <a:endParaRPr lang="en-US" sz="1000" dirty="0"/>
          </a:p>
        </p:txBody>
      </p:sp>
      <p:sp>
        <p:nvSpPr>
          <p:cNvPr id="8"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Decision log (baselines, 28 Sep); architecture lock (parameters, bytes); review synthesis §3.2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CURRENT STUDY — FEDERATED LEARNING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Tuning so far: 0.0235 → 0.0288 (+22.7%)</a:t>
            </a:r>
            <a:endParaRPr lang="en-US" sz="3000" dirty="0"/>
          </a:p>
        </p:txBody>
      </p:sp>
      <p:graphicFrame>
        <p:nvGraphicFramePr>
          <p:cNvPr id="4" name="Chart 0"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463040"/>
            <a:ext cx="1889608" cy="1783080"/>
          </a:xfrm>
          <a:prstGeom prst="roundRect">
            <a:avLst>
              <a:gd name="adj" fmla="val 4103"/>
            </a:avLst>
          </a:prstGeom>
          <a:solidFill>
            <a:srgbClr val="D8ECEC"/>
          </a:solidFill>
          <a:ln/>
        </p:spPr>
      </p:sp>
      <p:sp>
        <p:nvSpPr>
          <p:cNvPr id="6" name="Text 3"/>
          <p:cNvSpPr txBox="1"/>
          <p:nvPr/>
        </p:nvSpPr>
        <p:spPr>
          <a:xfrm>
            <a:off x="7909560" y="1600200"/>
            <a:ext cx="1432408"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 25%</a:t>
            </a:r>
            <a:endParaRPr lang="en-US" sz="3200" dirty="0"/>
          </a:p>
        </p:txBody>
      </p:sp>
      <p:sp>
        <p:nvSpPr>
          <p:cNvPr id="7" name="Text 4"/>
          <p:cNvSpPr txBox="1"/>
          <p:nvPr/>
        </p:nvSpPr>
        <p:spPr>
          <a:xfrm>
            <a:off x="7909560" y="2286000"/>
            <a:ext cx="1432408" cy="8686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federated vs matched central (calibration, est.)</a:t>
            </a:r>
            <a:endParaRPr lang="en-US" sz="1300" dirty="0"/>
          </a:p>
        </p:txBody>
      </p:sp>
      <p:sp>
        <p:nvSpPr>
          <p:cNvPr id="8" name="Shape 5"/>
          <p:cNvSpPr/>
          <p:nvPr/>
        </p:nvSpPr>
        <p:spPr>
          <a:xfrm>
            <a:off x="9753448" y="1463040"/>
            <a:ext cx="1889608" cy="1783080"/>
          </a:xfrm>
          <a:prstGeom prst="roundRect">
            <a:avLst>
              <a:gd name="adj" fmla="val 4103"/>
            </a:avLst>
          </a:prstGeom>
          <a:solidFill>
            <a:srgbClr val="FBEBD3"/>
          </a:solidFill>
          <a:ln/>
        </p:spPr>
      </p:sp>
      <p:sp>
        <p:nvSpPr>
          <p:cNvPr id="9" name="Text 6"/>
          <p:cNvSpPr txBox="1"/>
          <p:nvPr/>
        </p:nvSpPr>
        <p:spPr>
          <a:xfrm>
            <a:off x="9982048" y="1600200"/>
            <a:ext cx="1432408"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 44%</a:t>
            </a:r>
            <a:endParaRPr lang="en-US" sz="3200" dirty="0"/>
          </a:p>
        </p:txBody>
      </p:sp>
      <p:sp>
        <p:nvSpPr>
          <p:cNvPr id="10" name="Text 7"/>
          <p:cNvSpPr txBox="1"/>
          <p:nvPr/>
        </p:nvSpPr>
        <p:spPr>
          <a:xfrm>
            <a:off x="9982048" y="2286000"/>
            <a:ext cx="1432408" cy="8686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“last viewed item” vs cloud (main cohort)</a:t>
            </a:r>
            <a:endParaRPr lang="en-US" sz="1300" dirty="0"/>
          </a:p>
        </p:txBody>
      </p:sp>
      <p:sp>
        <p:nvSpPr>
          <p:cNvPr id="11" name="Text 8"/>
          <p:cNvSpPr txBox="1"/>
          <p:nvPr/>
        </p:nvSpPr>
        <p:spPr>
          <a:xfrm>
            <a:off x="7680960" y="3474720"/>
            <a:ext cx="3962095" cy="320040"/>
          </a:xfrm>
          <a:prstGeom prst="rect">
            <a:avLst/>
          </a:prstGeom>
          <a:noFill/>
          <a:ln/>
        </p:spPr>
        <p:txBody>
          <a:bodyPr wrap="square" lIns="0" tIns="0" rIns="0" bIns="0" rtlCol="0" anchor="t"/>
          <a:lstStyle/>
          <a:p>
            <a:pPr indent="0" marL="0">
              <a:buNone/>
            </a:pPr>
            <a:r>
              <a:rPr lang="en-US" sz="1400" b="1" dirty="0">
                <a:solidFill>
                  <a:srgbClr val="13262F"/>
                </a:solidFill>
                <a:latin typeface="Calibri" pitchFamily="34" charset="0"/>
                <a:ea typeface="Calibri" pitchFamily="34" charset="-122"/>
                <a:cs typeface="Calibri" pitchFamily="34" charset="-120"/>
              </a:rPr>
              <a:t>Next stages</a:t>
            </a:r>
            <a:endParaRPr lang="en-US" sz="1400" dirty="0"/>
          </a:p>
        </p:txBody>
      </p:sp>
      <p:sp>
        <p:nvSpPr>
          <p:cNvPr id="12" name="Text 9"/>
          <p:cNvSpPr txBox="1"/>
          <p:nvPr/>
        </p:nvSpPr>
        <p:spPr>
          <a:xfrm>
            <a:off x="7680960" y="3840480"/>
            <a:ext cx="2956255" cy="36576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Server optimizer</a:t>
            </a:r>
            <a:endParaRPr lang="en-US" sz="1300" dirty="0"/>
          </a:p>
        </p:txBody>
      </p:sp>
      <p:sp>
        <p:nvSpPr>
          <p:cNvPr id="13" name="Shape 10"/>
          <p:cNvSpPr/>
          <p:nvPr/>
        </p:nvSpPr>
        <p:spPr>
          <a:xfrm>
            <a:off x="10728655" y="3867912"/>
            <a:ext cx="914400" cy="310896"/>
          </a:xfrm>
          <a:prstGeom prst="roundRect">
            <a:avLst>
              <a:gd name="adj" fmla="val 50000"/>
            </a:avLst>
          </a:prstGeom>
          <a:solidFill>
            <a:srgbClr val="1F7A80"/>
          </a:solidFill>
          <a:ln/>
        </p:spPr>
      </p:sp>
      <p:sp>
        <p:nvSpPr>
          <p:cNvPr id="14" name="Text 11"/>
          <p:cNvSpPr txBox="1"/>
          <p:nvPr/>
        </p:nvSpPr>
        <p:spPr>
          <a:xfrm>
            <a:off x="10728655" y="3867912"/>
            <a:ext cx="9144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5" name="Text 12"/>
          <p:cNvSpPr txBox="1"/>
          <p:nvPr/>
        </p:nvSpPr>
        <p:spPr>
          <a:xfrm>
            <a:off x="7680960" y="4242816"/>
            <a:ext cx="2956255" cy="36576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LR shape × client optimizer</a:t>
            </a:r>
            <a:endParaRPr lang="en-US" sz="1300" dirty="0"/>
          </a:p>
        </p:txBody>
      </p:sp>
      <p:sp>
        <p:nvSpPr>
          <p:cNvPr id="16" name="Shape 13"/>
          <p:cNvSpPr/>
          <p:nvPr/>
        </p:nvSpPr>
        <p:spPr>
          <a:xfrm>
            <a:off x="10728655" y="4270248"/>
            <a:ext cx="914400" cy="310896"/>
          </a:xfrm>
          <a:prstGeom prst="roundRect">
            <a:avLst>
              <a:gd name="adj" fmla="val 50000"/>
            </a:avLst>
          </a:prstGeom>
          <a:solidFill>
            <a:srgbClr val="E6EAEC"/>
          </a:solidFill>
          <a:ln/>
        </p:spPr>
      </p:sp>
      <p:sp>
        <p:nvSpPr>
          <p:cNvPr id="17" name="Text 14"/>
          <p:cNvSpPr txBox="1"/>
          <p:nvPr/>
        </p:nvSpPr>
        <p:spPr>
          <a:xfrm>
            <a:off x="10728655" y="4270248"/>
            <a:ext cx="91440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8" name="Text 15"/>
          <p:cNvSpPr txBox="1"/>
          <p:nvPr/>
        </p:nvSpPr>
        <p:spPr>
          <a:xfrm>
            <a:off x="7680960" y="4645152"/>
            <a:ext cx="2956255" cy="36576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Local passes / batch</a:t>
            </a:r>
            <a:endParaRPr lang="en-US" sz="1300" dirty="0"/>
          </a:p>
        </p:txBody>
      </p:sp>
      <p:sp>
        <p:nvSpPr>
          <p:cNvPr id="19" name="Shape 16"/>
          <p:cNvSpPr/>
          <p:nvPr/>
        </p:nvSpPr>
        <p:spPr>
          <a:xfrm>
            <a:off x="10728655" y="4672584"/>
            <a:ext cx="914400" cy="310896"/>
          </a:xfrm>
          <a:prstGeom prst="roundRect">
            <a:avLst>
              <a:gd name="adj" fmla="val 50000"/>
            </a:avLst>
          </a:prstGeom>
          <a:solidFill>
            <a:srgbClr val="E6EAEC"/>
          </a:solidFill>
          <a:ln/>
        </p:spPr>
      </p:sp>
      <p:sp>
        <p:nvSpPr>
          <p:cNvPr id="20" name="Text 17"/>
          <p:cNvSpPr txBox="1"/>
          <p:nvPr/>
        </p:nvSpPr>
        <p:spPr>
          <a:xfrm>
            <a:off x="10728655" y="4672584"/>
            <a:ext cx="91440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1" name="Text 18"/>
          <p:cNvSpPr txBox="1"/>
          <p:nvPr/>
        </p:nvSpPr>
        <p:spPr>
          <a:xfrm>
            <a:off x="7680960" y="5047488"/>
            <a:ext cx="2956255" cy="36576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Pretrained start</a:t>
            </a:r>
            <a:endParaRPr lang="en-US" sz="1300" dirty="0"/>
          </a:p>
        </p:txBody>
      </p:sp>
      <p:sp>
        <p:nvSpPr>
          <p:cNvPr id="22" name="Shape 19"/>
          <p:cNvSpPr/>
          <p:nvPr/>
        </p:nvSpPr>
        <p:spPr>
          <a:xfrm>
            <a:off x="10728655" y="5074920"/>
            <a:ext cx="914400" cy="310896"/>
          </a:xfrm>
          <a:prstGeom prst="roundRect">
            <a:avLst>
              <a:gd name="adj" fmla="val 50000"/>
            </a:avLst>
          </a:prstGeom>
          <a:solidFill>
            <a:srgbClr val="1F7A80"/>
          </a:solidFill>
          <a:ln/>
        </p:spPr>
      </p:sp>
      <p:sp>
        <p:nvSpPr>
          <p:cNvPr id="23" name="Text 20"/>
          <p:cNvSpPr txBox="1"/>
          <p:nvPr/>
        </p:nvSpPr>
        <p:spPr>
          <a:xfrm>
            <a:off x="10728655" y="5074920"/>
            <a:ext cx="9144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24" name="Text 21"/>
          <p:cNvSpPr txBox="1"/>
          <p:nvPr/>
        </p:nvSpPr>
        <p:spPr>
          <a:xfrm>
            <a:off x="7680960" y="5449824"/>
            <a:ext cx="2956255" cy="36576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Frozen item tables</a:t>
            </a:r>
            <a:endParaRPr lang="en-US" sz="1300" dirty="0"/>
          </a:p>
        </p:txBody>
      </p:sp>
      <p:sp>
        <p:nvSpPr>
          <p:cNvPr id="25" name="Shape 22"/>
          <p:cNvSpPr/>
          <p:nvPr/>
        </p:nvSpPr>
        <p:spPr>
          <a:xfrm>
            <a:off x="10728655" y="5477256"/>
            <a:ext cx="914400" cy="310896"/>
          </a:xfrm>
          <a:prstGeom prst="roundRect">
            <a:avLst>
              <a:gd name="adj" fmla="val 50000"/>
            </a:avLst>
          </a:prstGeom>
          <a:solidFill>
            <a:srgbClr val="E6EAEC"/>
          </a:solidFill>
          <a:ln/>
        </p:spPr>
      </p:sp>
      <p:sp>
        <p:nvSpPr>
          <p:cNvPr id="26" name="Text 23"/>
          <p:cNvSpPr txBox="1"/>
          <p:nvPr/>
        </p:nvSpPr>
        <p:spPr>
          <a:xfrm>
            <a:off x="10728655" y="5477256"/>
            <a:ext cx="91440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7" name="Text 2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17</a:t>
            </a:r>
            <a:endParaRPr lang="en-US" sz="1000" dirty="0"/>
          </a:p>
        </p:txBody>
      </p:sp>
      <p:sp>
        <p:nvSpPr>
          <p:cNvPr id="28" name="Text 2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learning-rate selection files; review synthesis §1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3</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Federated effort and privacy level</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How much tuning effort is fair for federated learning?</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ladder stops when a stage gains &lt; 0.002.</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tuned federated stays below 0.0711 (“last viewed item”), how do we present it?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Plan: report it plainly as a finding about this recipe and budget.</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DP at ε = 8 and ε = 1 enough, or do you want a curve?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ε = 4 costs one more run (≈ half a day, estimate).</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18</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federated ladder and baselines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CURRENT STUDY — COMPARISON BOARD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Every method, compared with what, and its status</a:t>
            </a:r>
            <a:endParaRPr lang="en-US" sz="3000" dirty="0"/>
          </a:p>
        </p:txBody>
      </p:sp>
      <p:sp>
        <p:nvSpPr>
          <p:cNvPr id="4" name="Text 2"/>
          <p:cNvSpPr txBox="1"/>
          <p:nvPr/>
        </p:nvSpPr>
        <p:spPr>
          <a:xfrm>
            <a:off x="640080" y="1371600"/>
            <a:ext cx="182880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Level</a:t>
            </a:r>
            <a:endParaRPr lang="en-US" sz="1200" dirty="0"/>
          </a:p>
        </p:txBody>
      </p:sp>
      <p:sp>
        <p:nvSpPr>
          <p:cNvPr id="5" name="Text 3"/>
          <p:cNvSpPr txBox="1"/>
          <p:nvPr/>
        </p:nvSpPr>
        <p:spPr>
          <a:xfrm>
            <a:off x="2468880" y="1371600"/>
            <a:ext cx="539496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Method</a:t>
            </a:r>
            <a:endParaRPr lang="en-US" sz="1200" dirty="0"/>
          </a:p>
        </p:txBody>
      </p:sp>
      <p:sp>
        <p:nvSpPr>
          <p:cNvPr id="6" name="Text 4"/>
          <p:cNvSpPr txBox="1"/>
          <p:nvPr/>
        </p:nvSpPr>
        <p:spPr>
          <a:xfrm>
            <a:off x="7955280" y="1371600"/>
            <a:ext cx="1645920"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Compared with</a:t>
            </a:r>
            <a:endParaRPr lang="en-US" sz="1200" dirty="0"/>
          </a:p>
        </p:txBody>
      </p:sp>
      <p:sp>
        <p:nvSpPr>
          <p:cNvPr id="7" name="Text 5"/>
          <p:cNvSpPr txBox="1"/>
          <p:nvPr/>
        </p:nvSpPr>
        <p:spPr>
          <a:xfrm>
            <a:off x="9692640" y="1371600"/>
            <a:ext cx="1947672" cy="274320"/>
          </a:xfrm>
          <a:prstGeom prst="rect">
            <a:avLst/>
          </a:prstGeom>
          <a:noFill/>
          <a:ln/>
        </p:spPr>
        <p:txBody>
          <a:bodyPr wrap="square" lIns="0" tIns="0" rIns="0" bIns="0" rtlCol="0" anchor="t"/>
          <a:lstStyle/>
          <a:p>
            <a:pPr indent="0" marL="0">
              <a:buNone/>
            </a:pPr>
            <a:r>
              <a:rPr lang="en-US" sz="1200" b="1" dirty="0">
                <a:solidFill>
                  <a:srgbClr val="5E6E75"/>
                </a:solidFill>
                <a:latin typeface="Calibri" pitchFamily="34" charset="0"/>
                <a:ea typeface="Calibri" pitchFamily="34" charset="-122"/>
                <a:cs typeface="Calibri" pitchFamily="34" charset="-120"/>
              </a:rPr>
              <a:t>Status</a:t>
            </a:r>
            <a:endParaRPr lang="en-US" sz="1200" dirty="0"/>
          </a:p>
        </p:txBody>
      </p:sp>
      <p:sp>
        <p:nvSpPr>
          <p:cNvPr id="8" name="Shape 6"/>
          <p:cNvSpPr/>
          <p:nvPr/>
        </p:nvSpPr>
        <p:spPr>
          <a:xfrm>
            <a:off x="548640" y="1719072"/>
            <a:ext cx="11094415" cy="475488"/>
          </a:xfrm>
          <a:prstGeom prst="rect">
            <a:avLst/>
          </a:prstGeom>
          <a:solidFill>
            <a:srgbClr val="F1F4F4"/>
          </a:solidFill>
          <a:ln/>
        </p:spPr>
      </p:sp>
      <p:sp>
        <p:nvSpPr>
          <p:cNvPr id="9" name="Shape 7"/>
          <p:cNvSpPr/>
          <p:nvPr/>
        </p:nvSpPr>
        <p:spPr>
          <a:xfrm>
            <a:off x="594360" y="1792224"/>
            <a:ext cx="1737360" cy="329184"/>
          </a:xfrm>
          <a:prstGeom prst="roundRect">
            <a:avLst>
              <a:gd name="adj" fmla="val 16667"/>
            </a:avLst>
          </a:prstGeom>
          <a:solidFill>
            <a:srgbClr val="5C6B73"/>
          </a:solidFill>
          <a:ln/>
        </p:spPr>
      </p:sp>
      <p:sp>
        <p:nvSpPr>
          <p:cNvPr id="10" name="Text 8"/>
          <p:cNvSpPr txBox="1"/>
          <p:nvPr/>
        </p:nvSpPr>
        <p:spPr>
          <a:xfrm>
            <a:off x="594360" y="1792224"/>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11" name="Text 9"/>
          <p:cNvSpPr txBox="1"/>
          <p:nvPr/>
        </p:nvSpPr>
        <p:spPr>
          <a:xfrm>
            <a:off x="2468880" y="1719072"/>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Large cloud model</a:t>
            </a:r>
            <a:endParaRPr lang="en-US" sz="1300" dirty="0"/>
          </a:p>
        </p:txBody>
      </p:sp>
      <p:sp>
        <p:nvSpPr>
          <p:cNvPr id="12" name="Text 10"/>
          <p:cNvSpPr txBox="1"/>
          <p:nvPr/>
        </p:nvSpPr>
        <p:spPr>
          <a:xfrm>
            <a:off x="7955280" y="1719072"/>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reference</a:t>
            </a:r>
            <a:endParaRPr lang="en-US" sz="1250" dirty="0"/>
          </a:p>
        </p:txBody>
      </p:sp>
      <p:sp>
        <p:nvSpPr>
          <p:cNvPr id="13" name="Shape 11"/>
          <p:cNvSpPr/>
          <p:nvPr/>
        </p:nvSpPr>
        <p:spPr>
          <a:xfrm>
            <a:off x="9692640" y="1801368"/>
            <a:ext cx="1947672" cy="310896"/>
          </a:xfrm>
          <a:prstGeom prst="roundRect">
            <a:avLst>
              <a:gd name="adj" fmla="val 50000"/>
            </a:avLst>
          </a:prstGeom>
          <a:solidFill>
            <a:srgbClr val="5C6B73"/>
          </a:solidFill>
          <a:ln/>
        </p:spPr>
      </p:sp>
      <p:sp>
        <p:nvSpPr>
          <p:cNvPr id="14" name="Text 12"/>
          <p:cNvSpPr txBox="1"/>
          <p:nvPr/>
        </p:nvSpPr>
        <p:spPr>
          <a:xfrm>
            <a:off x="9692640" y="1801368"/>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0.1612 (contest)</a:t>
            </a:r>
            <a:endParaRPr lang="en-US" sz="1100" dirty="0"/>
          </a:p>
        </p:txBody>
      </p:sp>
      <p:sp>
        <p:nvSpPr>
          <p:cNvPr id="15" name="Shape 13"/>
          <p:cNvSpPr/>
          <p:nvPr/>
        </p:nvSpPr>
        <p:spPr>
          <a:xfrm>
            <a:off x="548640" y="2249424"/>
            <a:ext cx="11094415" cy="475488"/>
          </a:xfrm>
          <a:prstGeom prst="rect">
            <a:avLst/>
          </a:prstGeom>
          <a:solidFill>
            <a:srgbClr val="FFFFFF"/>
          </a:solidFill>
          <a:ln/>
        </p:spPr>
      </p:sp>
      <p:sp>
        <p:nvSpPr>
          <p:cNvPr id="16" name="Shape 14"/>
          <p:cNvSpPr/>
          <p:nvPr/>
        </p:nvSpPr>
        <p:spPr>
          <a:xfrm>
            <a:off x="594360" y="2322576"/>
            <a:ext cx="1737360" cy="329184"/>
          </a:xfrm>
          <a:prstGeom prst="roundRect">
            <a:avLst>
              <a:gd name="adj" fmla="val 16667"/>
            </a:avLst>
          </a:prstGeom>
          <a:solidFill>
            <a:srgbClr val="5C6B73"/>
          </a:solidFill>
          <a:ln/>
        </p:spPr>
      </p:sp>
      <p:sp>
        <p:nvSpPr>
          <p:cNvPr id="17" name="Text 15"/>
          <p:cNvSpPr txBox="1"/>
          <p:nvPr/>
        </p:nvSpPr>
        <p:spPr>
          <a:xfrm>
            <a:off x="594360" y="2322576"/>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18" name="Text 16"/>
          <p:cNvSpPr txBox="1"/>
          <p:nvPr/>
        </p:nvSpPr>
        <p:spPr>
          <a:xfrm>
            <a:off x="2468880" y="2249424"/>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Full-pool cloud (1.35M users)</a:t>
            </a:r>
            <a:endParaRPr lang="en-US" sz="1300" dirty="0"/>
          </a:p>
        </p:txBody>
      </p:sp>
      <p:sp>
        <p:nvSpPr>
          <p:cNvPr id="19" name="Text 17"/>
          <p:cNvSpPr txBox="1"/>
          <p:nvPr/>
        </p:nvSpPr>
        <p:spPr>
          <a:xfrm>
            <a:off x="7955280" y="2249424"/>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reference 2</a:t>
            </a:r>
            <a:endParaRPr lang="en-US" sz="1250" dirty="0"/>
          </a:p>
        </p:txBody>
      </p:sp>
      <p:sp>
        <p:nvSpPr>
          <p:cNvPr id="20" name="Shape 18"/>
          <p:cNvSpPr/>
          <p:nvPr/>
        </p:nvSpPr>
        <p:spPr>
          <a:xfrm>
            <a:off x="9692640" y="2331720"/>
            <a:ext cx="1947672" cy="310896"/>
          </a:xfrm>
          <a:prstGeom prst="roundRect">
            <a:avLst>
              <a:gd name="adj" fmla="val 50000"/>
            </a:avLst>
          </a:prstGeom>
          <a:solidFill>
            <a:srgbClr val="1F7A80"/>
          </a:solidFill>
          <a:ln/>
        </p:spPr>
      </p:sp>
      <p:sp>
        <p:nvSpPr>
          <p:cNvPr id="21" name="Text 19"/>
          <p:cNvSpPr txBox="1"/>
          <p:nvPr/>
        </p:nvSpPr>
        <p:spPr>
          <a:xfrm>
            <a:off x="9692640" y="2331720"/>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training ends ≈ 30 Sep</a:t>
            </a:r>
            <a:endParaRPr lang="en-US" sz="1100" dirty="0"/>
          </a:p>
        </p:txBody>
      </p:sp>
      <p:sp>
        <p:nvSpPr>
          <p:cNvPr id="22" name="Shape 20"/>
          <p:cNvSpPr/>
          <p:nvPr/>
        </p:nvSpPr>
        <p:spPr>
          <a:xfrm>
            <a:off x="548640" y="2779776"/>
            <a:ext cx="11094415" cy="475488"/>
          </a:xfrm>
          <a:prstGeom prst="rect">
            <a:avLst/>
          </a:prstGeom>
          <a:solidFill>
            <a:srgbClr val="F1F4F4"/>
          </a:solidFill>
          <a:ln/>
        </p:spPr>
      </p:sp>
      <p:sp>
        <p:nvSpPr>
          <p:cNvPr id="23" name="Shape 21"/>
          <p:cNvSpPr/>
          <p:nvPr/>
        </p:nvSpPr>
        <p:spPr>
          <a:xfrm>
            <a:off x="594360" y="2852928"/>
            <a:ext cx="1737360" cy="329184"/>
          </a:xfrm>
          <a:prstGeom prst="roundRect">
            <a:avLst>
              <a:gd name="adj" fmla="val 16667"/>
            </a:avLst>
          </a:prstGeom>
          <a:solidFill>
            <a:srgbClr val="5C6B73"/>
          </a:solidFill>
          <a:ln/>
        </p:spPr>
      </p:sp>
      <p:sp>
        <p:nvSpPr>
          <p:cNvPr id="24" name="Text 22"/>
          <p:cNvSpPr txBox="1"/>
          <p:nvPr/>
        </p:nvSpPr>
        <p:spPr>
          <a:xfrm>
            <a:off x="594360" y="2852928"/>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25" name="Text 23"/>
          <p:cNvSpPr txBox="1"/>
          <p:nvPr/>
        </p:nvSpPr>
        <p:spPr>
          <a:xfrm>
            <a:off x="2468880" y="2779776"/>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Small cloud model (device size)</a:t>
            </a:r>
            <a:endParaRPr lang="en-US" sz="1300" dirty="0"/>
          </a:p>
        </p:txBody>
      </p:sp>
      <p:sp>
        <p:nvSpPr>
          <p:cNvPr id="26" name="Text 24"/>
          <p:cNvSpPr txBox="1"/>
          <p:nvPr/>
        </p:nvSpPr>
        <p:spPr>
          <a:xfrm>
            <a:off x="7955280" y="2779776"/>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large cloud</a:t>
            </a:r>
            <a:endParaRPr lang="en-US" sz="1250" dirty="0"/>
          </a:p>
        </p:txBody>
      </p:sp>
      <p:sp>
        <p:nvSpPr>
          <p:cNvPr id="27" name="Shape 25"/>
          <p:cNvSpPr/>
          <p:nvPr/>
        </p:nvSpPr>
        <p:spPr>
          <a:xfrm>
            <a:off x="9692640" y="2862072"/>
            <a:ext cx="1947672" cy="310896"/>
          </a:xfrm>
          <a:prstGeom prst="roundRect">
            <a:avLst>
              <a:gd name="adj" fmla="val 50000"/>
            </a:avLst>
          </a:prstGeom>
          <a:solidFill>
            <a:srgbClr val="FBEBD3"/>
          </a:solidFill>
          <a:ln w="12700">
            <a:solidFill>
              <a:srgbClr val="E0932B"/>
            </a:solidFill>
            <a:prstDash val="solid"/>
          </a:ln>
        </p:spPr>
      </p:sp>
      <p:sp>
        <p:nvSpPr>
          <p:cNvPr id="28" name="Text 26"/>
          <p:cNvSpPr txBox="1"/>
          <p:nvPr/>
        </p:nvSpPr>
        <p:spPr>
          <a:xfrm>
            <a:off x="9692640" y="2862072"/>
            <a:ext cx="1947672"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29" name="Shape 27"/>
          <p:cNvSpPr/>
          <p:nvPr/>
        </p:nvSpPr>
        <p:spPr>
          <a:xfrm>
            <a:off x="548640" y="3310128"/>
            <a:ext cx="11094415" cy="475488"/>
          </a:xfrm>
          <a:prstGeom prst="rect">
            <a:avLst/>
          </a:prstGeom>
          <a:solidFill>
            <a:srgbClr val="FFFFFF"/>
          </a:solidFill>
          <a:ln/>
        </p:spPr>
      </p:sp>
      <p:sp>
        <p:nvSpPr>
          <p:cNvPr id="30" name="Shape 28"/>
          <p:cNvSpPr/>
          <p:nvPr/>
        </p:nvSpPr>
        <p:spPr>
          <a:xfrm>
            <a:off x="594360" y="3383280"/>
            <a:ext cx="1737360" cy="329184"/>
          </a:xfrm>
          <a:prstGeom prst="roundRect">
            <a:avLst>
              <a:gd name="adj" fmla="val 16667"/>
            </a:avLst>
          </a:prstGeom>
          <a:solidFill>
            <a:srgbClr val="1F7A80"/>
          </a:solidFill>
          <a:ln/>
        </p:spPr>
      </p:sp>
      <p:sp>
        <p:nvSpPr>
          <p:cNvPr id="31" name="Text 29"/>
          <p:cNvSpPr txBox="1"/>
          <p:nvPr/>
        </p:nvSpPr>
        <p:spPr>
          <a:xfrm>
            <a:off x="594360" y="3383280"/>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Federated</a:t>
            </a:r>
            <a:endParaRPr lang="en-US" sz="1150" dirty="0"/>
          </a:p>
        </p:txBody>
      </p:sp>
      <p:sp>
        <p:nvSpPr>
          <p:cNvPr id="32" name="Text 30"/>
          <p:cNvSpPr txBox="1"/>
          <p:nvPr/>
        </p:nvSpPr>
        <p:spPr>
          <a:xfrm>
            <a:off x="2468880" y="3310128"/>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Federated (tuned), FedProx, personal vector, 8-bit uploads</a:t>
            </a:r>
            <a:endParaRPr lang="en-US" sz="1300" dirty="0"/>
          </a:p>
        </p:txBody>
      </p:sp>
      <p:sp>
        <p:nvSpPr>
          <p:cNvPr id="33" name="Text 31"/>
          <p:cNvSpPr txBox="1"/>
          <p:nvPr/>
        </p:nvSpPr>
        <p:spPr>
          <a:xfrm>
            <a:off x="7955280" y="3310128"/>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cloud; floor</a:t>
            </a:r>
            <a:endParaRPr lang="en-US" sz="1250" dirty="0"/>
          </a:p>
        </p:txBody>
      </p:sp>
      <p:sp>
        <p:nvSpPr>
          <p:cNvPr id="34" name="Shape 32"/>
          <p:cNvSpPr/>
          <p:nvPr/>
        </p:nvSpPr>
        <p:spPr>
          <a:xfrm>
            <a:off x="9692640" y="3392424"/>
            <a:ext cx="1947672" cy="310896"/>
          </a:xfrm>
          <a:prstGeom prst="roundRect">
            <a:avLst>
              <a:gd name="adj" fmla="val 50000"/>
            </a:avLst>
          </a:prstGeom>
          <a:solidFill>
            <a:srgbClr val="1F7A80"/>
          </a:solidFill>
          <a:ln/>
        </p:spPr>
      </p:sp>
      <p:sp>
        <p:nvSpPr>
          <p:cNvPr id="35" name="Text 33"/>
          <p:cNvSpPr txBox="1"/>
          <p:nvPr/>
        </p:nvSpPr>
        <p:spPr>
          <a:xfrm>
            <a:off x="9692640" y="3392424"/>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tuning stage 2 of 4</a:t>
            </a:r>
            <a:endParaRPr lang="en-US" sz="1100" dirty="0"/>
          </a:p>
        </p:txBody>
      </p:sp>
      <p:sp>
        <p:nvSpPr>
          <p:cNvPr id="36" name="Shape 34"/>
          <p:cNvSpPr/>
          <p:nvPr/>
        </p:nvSpPr>
        <p:spPr>
          <a:xfrm>
            <a:off x="548640" y="3840480"/>
            <a:ext cx="11094415" cy="475488"/>
          </a:xfrm>
          <a:prstGeom prst="rect">
            <a:avLst/>
          </a:prstGeom>
          <a:solidFill>
            <a:srgbClr val="F1F4F4"/>
          </a:solidFill>
          <a:ln/>
        </p:spPr>
      </p:sp>
      <p:sp>
        <p:nvSpPr>
          <p:cNvPr id="37" name="Shape 35"/>
          <p:cNvSpPr/>
          <p:nvPr/>
        </p:nvSpPr>
        <p:spPr>
          <a:xfrm>
            <a:off x="594360" y="3913632"/>
            <a:ext cx="1737360" cy="329184"/>
          </a:xfrm>
          <a:prstGeom prst="roundRect">
            <a:avLst>
              <a:gd name="adj" fmla="val 16667"/>
            </a:avLst>
          </a:prstGeom>
          <a:solidFill>
            <a:srgbClr val="164E57"/>
          </a:solidFill>
          <a:ln/>
        </p:spPr>
      </p:sp>
      <p:sp>
        <p:nvSpPr>
          <p:cNvPr id="38" name="Text 36"/>
          <p:cNvSpPr txBox="1"/>
          <p:nvPr/>
        </p:nvSpPr>
        <p:spPr>
          <a:xfrm>
            <a:off x="594360" y="3913632"/>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Federated + DP</a:t>
            </a:r>
            <a:endParaRPr lang="en-US" sz="1150" dirty="0"/>
          </a:p>
        </p:txBody>
      </p:sp>
      <p:sp>
        <p:nvSpPr>
          <p:cNvPr id="39" name="Text 37"/>
          <p:cNvSpPr txBox="1"/>
          <p:nvPr/>
        </p:nvSpPr>
        <p:spPr>
          <a:xfrm>
            <a:off x="2468880" y="3840480"/>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DP at ε = 8 and ε = 1</a:t>
            </a:r>
            <a:endParaRPr lang="en-US" sz="1300" dirty="0"/>
          </a:p>
        </p:txBody>
      </p:sp>
      <p:sp>
        <p:nvSpPr>
          <p:cNvPr id="40" name="Text 38"/>
          <p:cNvSpPr txBox="1"/>
          <p:nvPr/>
        </p:nvSpPr>
        <p:spPr>
          <a:xfrm>
            <a:off x="7955280" y="3840480"/>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federated</a:t>
            </a:r>
            <a:endParaRPr lang="en-US" sz="1250" dirty="0"/>
          </a:p>
        </p:txBody>
      </p:sp>
      <p:sp>
        <p:nvSpPr>
          <p:cNvPr id="41" name="Shape 39"/>
          <p:cNvSpPr/>
          <p:nvPr/>
        </p:nvSpPr>
        <p:spPr>
          <a:xfrm>
            <a:off x="9692640" y="3922776"/>
            <a:ext cx="1947672" cy="310896"/>
          </a:xfrm>
          <a:prstGeom prst="roundRect">
            <a:avLst>
              <a:gd name="adj" fmla="val 50000"/>
            </a:avLst>
          </a:prstGeom>
          <a:solidFill>
            <a:srgbClr val="E6EAEC"/>
          </a:solidFill>
          <a:ln/>
        </p:spPr>
      </p:sp>
      <p:sp>
        <p:nvSpPr>
          <p:cNvPr id="42" name="Text 40"/>
          <p:cNvSpPr txBox="1"/>
          <p:nvPr/>
        </p:nvSpPr>
        <p:spPr>
          <a:xfrm>
            <a:off x="9692640" y="3922776"/>
            <a:ext cx="1947672"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after tuning</a:t>
            </a:r>
            <a:endParaRPr lang="en-US" sz="1100" dirty="0"/>
          </a:p>
        </p:txBody>
      </p:sp>
      <p:sp>
        <p:nvSpPr>
          <p:cNvPr id="43" name="Shape 41"/>
          <p:cNvSpPr/>
          <p:nvPr/>
        </p:nvSpPr>
        <p:spPr>
          <a:xfrm>
            <a:off x="548640" y="4370832"/>
            <a:ext cx="11094415" cy="475488"/>
          </a:xfrm>
          <a:prstGeom prst="rect">
            <a:avLst/>
          </a:prstGeom>
          <a:solidFill>
            <a:srgbClr val="FFFFFF"/>
          </a:solidFill>
          <a:ln/>
        </p:spPr>
      </p:sp>
      <p:sp>
        <p:nvSpPr>
          <p:cNvPr id="44" name="Shape 42"/>
          <p:cNvSpPr/>
          <p:nvPr/>
        </p:nvSpPr>
        <p:spPr>
          <a:xfrm>
            <a:off x="594360" y="4443984"/>
            <a:ext cx="1737360" cy="329184"/>
          </a:xfrm>
          <a:prstGeom prst="roundRect">
            <a:avLst>
              <a:gd name="adj" fmla="val 16667"/>
            </a:avLst>
          </a:prstGeom>
          <a:solidFill>
            <a:srgbClr val="9A5A0C"/>
          </a:solidFill>
          <a:ln/>
        </p:spPr>
      </p:sp>
      <p:sp>
        <p:nvSpPr>
          <p:cNvPr id="45" name="Text 43"/>
          <p:cNvSpPr txBox="1"/>
          <p:nvPr/>
        </p:nvSpPr>
        <p:spPr>
          <a:xfrm>
            <a:off x="594360" y="4443984"/>
            <a:ext cx="173736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Pretrained branch</a:t>
            </a:r>
            <a:endParaRPr lang="en-US" sz="1150" dirty="0"/>
          </a:p>
        </p:txBody>
      </p:sp>
      <p:sp>
        <p:nvSpPr>
          <p:cNvPr id="46" name="Text 44"/>
          <p:cNvSpPr txBox="1"/>
          <p:nvPr/>
        </p:nvSpPr>
        <p:spPr>
          <a:xfrm>
            <a:off x="2468880" y="4370832"/>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Pretrained (1.22M users) → + federated → + frozen tables</a:t>
            </a:r>
            <a:endParaRPr lang="en-US" sz="1300" dirty="0"/>
          </a:p>
        </p:txBody>
      </p:sp>
      <p:sp>
        <p:nvSpPr>
          <p:cNvPr id="47" name="Text 45"/>
          <p:cNvSpPr txBox="1"/>
          <p:nvPr/>
        </p:nvSpPr>
        <p:spPr>
          <a:xfrm>
            <a:off x="7955280" y="4370832"/>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full-pool cloud</a:t>
            </a:r>
            <a:endParaRPr lang="en-US" sz="1250" dirty="0"/>
          </a:p>
        </p:txBody>
      </p:sp>
      <p:sp>
        <p:nvSpPr>
          <p:cNvPr id="48" name="Shape 46"/>
          <p:cNvSpPr/>
          <p:nvPr/>
        </p:nvSpPr>
        <p:spPr>
          <a:xfrm>
            <a:off x="9692640" y="4453128"/>
            <a:ext cx="1947672" cy="310896"/>
          </a:xfrm>
          <a:prstGeom prst="roundRect">
            <a:avLst>
              <a:gd name="adj" fmla="val 50000"/>
            </a:avLst>
          </a:prstGeom>
          <a:solidFill>
            <a:srgbClr val="1F7A80"/>
          </a:solidFill>
          <a:ln/>
        </p:spPr>
      </p:sp>
      <p:sp>
        <p:nvSpPr>
          <p:cNvPr id="49" name="Text 47"/>
          <p:cNvSpPr txBox="1"/>
          <p:nvPr/>
        </p:nvSpPr>
        <p:spPr>
          <a:xfrm>
            <a:off x="9692640" y="4453128"/>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pretraining running</a:t>
            </a:r>
            <a:endParaRPr lang="en-US" sz="1100" dirty="0"/>
          </a:p>
        </p:txBody>
      </p:sp>
      <p:sp>
        <p:nvSpPr>
          <p:cNvPr id="50" name="Shape 48"/>
          <p:cNvSpPr/>
          <p:nvPr/>
        </p:nvSpPr>
        <p:spPr>
          <a:xfrm>
            <a:off x="548640" y="4901184"/>
            <a:ext cx="11094415" cy="475488"/>
          </a:xfrm>
          <a:prstGeom prst="rect">
            <a:avLst/>
          </a:prstGeom>
          <a:solidFill>
            <a:srgbClr val="F1F4F4"/>
          </a:solidFill>
          <a:ln/>
        </p:spPr>
      </p:sp>
      <p:sp>
        <p:nvSpPr>
          <p:cNvPr id="51" name="Shape 49"/>
          <p:cNvSpPr/>
          <p:nvPr/>
        </p:nvSpPr>
        <p:spPr>
          <a:xfrm>
            <a:off x="594360" y="4974336"/>
            <a:ext cx="1737360" cy="329184"/>
          </a:xfrm>
          <a:prstGeom prst="roundRect">
            <a:avLst>
              <a:gd name="adj" fmla="val 16667"/>
            </a:avLst>
          </a:prstGeom>
          <a:solidFill>
            <a:srgbClr val="E0932B"/>
          </a:solidFill>
          <a:ln/>
        </p:spPr>
      </p:sp>
      <p:sp>
        <p:nvSpPr>
          <p:cNvPr id="52" name="Text 50"/>
          <p:cNvSpPr txBox="1"/>
          <p:nvPr/>
        </p:nvSpPr>
        <p:spPr>
          <a:xfrm>
            <a:off x="594360" y="4974336"/>
            <a:ext cx="1737360" cy="329184"/>
          </a:xfrm>
          <a:prstGeom prst="rect">
            <a:avLst/>
          </a:prstGeom>
          <a:noFill/>
          <a:ln/>
        </p:spPr>
        <p:txBody>
          <a:bodyPr wrap="square" lIns="0" tIns="0" rIns="0" bIns="0" rtlCol="0" anchor="ctr"/>
          <a:lstStyle/>
          <a:p>
            <a:pPr algn="ctr" indent="0" marL="0">
              <a:buNone/>
            </a:pPr>
            <a:r>
              <a:rPr lang="en-US" sz="1150" b="1" dirty="0">
                <a:solidFill>
                  <a:srgbClr val="13262F"/>
                </a:solidFill>
                <a:latin typeface="Calibri" pitchFamily="34" charset="0"/>
                <a:ea typeface="Calibri" pitchFamily="34" charset="-122"/>
                <a:cs typeface="Calibri" pitchFamily="34" charset="-120"/>
              </a:rPr>
              <a:t>On-device</a:t>
            </a:r>
            <a:endParaRPr lang="en-US" sz="1150" dirty="0"/>
          </a:p>
        </p:txBody>
      </p:sp>
      <p:sp>
        <p:nvSpPr>
          <p:cNvPr id="53" name="Text 51"/>
          <p:cNvSpPr txBox="1"/>
          <p:nvPr/>
        </p:nvSpPr>
        <p:spPr>
          <a:xfrm>
            <a:off x="2468880" y="4901184"/>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Local-only model; cloud / federated / pretrained model fine-tuned on device</a:t>
            </a:r>
            <a:endParaRPr lang="en-US" sz="1300" dirty="0"/>
          </a:p>
        </p:txBody>
      </p:sp>
      <p:sp>
        <p:nvSpPr>
          <p:cNvPr id="54" name="Text 52"/>
          <p:cNvSpPr txBox="1"/>
          <p:nvPr/>
        </p:nvSpPr>
        <p:spPr>
          <a:xfrm>
            <a:off x="7955280" y="4901184"/>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cloud; its own base</a:t>
            </a:r>
            <a:endParaRPr lang="en-US" sz="1250" dirty="0"/>
          </a:p>
        </p:txBody>
      </p:sp>
      <p:sp>
        <p:nvSpPr>
          <p:cNvPr id="55" name="Shape 53"/>
          <p:cNvSpPr/>
          <p:nvPr/>
        </p:nvSpPr>
        <p:spPr>
          <a:xfrm>
            <a:off x="9692640" y="4983480"/>
            <a:ext cx="1947672" cy="310896"/>
          </a:xfrm>
          <a:prstGeom prst="roundRect">
            <a:avLst>
              <a:gd name="adj" fmla="val 50000"/>
            </a:avLst>
          </a:prstGeom>
          <a:solidFill>
            <a:srgbClr val="1F7A80"/>
          </a:solidFill>
          <a:ln/>
        </p:spPr>
      </p:sp>
      <p:sp>
        <p:nvSpPr>
          <p:cNvPr id="56" name="Text 54"/>
          <p:cNvSpPr txBox="1"/>
          <p:nvPr/>
        </p:nvSpPr>
        <p:spPr>
          <a:xfrm>
            <a:off x="9692640" y="4983480"/>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device runs started</a:t>
            </a:r>
            <a:endParaRPr lang="en-US" sz="1100" dirty="0"/>
          </a:p>
        </p:txBody>
      </p:sp>
      <p:sp>
        <p:nvSpPr>
          <p:cNvPr id="57" name="Shape 55"/>
          <p:cNvSpPr/>
          <p:nvPr/>
        </p:nvSpPr>
        <p:spPr>
          <a:xfrm>
            <a:off x="548640" y="5431536"/>
            <a:ext cx="11094415" cy="475488"/>
          </a:xfrm>
          <a:prstGeom prst="rect">
            <a:avLst/>
          </a:prstGeom>
          <a:solidFill>
            <a:srgbClr val="FFFFFF"/>
          </a:solidFill>
          <a:ln/>
        </p:spPr>
      </p:sp>
      <p:sp>
        <p:nvSpPr>
          <p:cNvPr id="58" name="Shape 56"/>
          <p:cNvSpPr/>
          <p:nvPr/>
        </p:nvSpPr>
        <p:spPr>
          <a:xfrm>
            <a:off x="594360" y="5504688"/>
            <a:ext cx="1737360" cy="329184"/>
          </a:xfrm>
          <a:prstGeom prst="roundRect">
            <a:avLst>
              <a:gd name="adj" fmla="val 16667"/>
            </a:avLst>
          </a:prstGeom>
          <a:solidFill>
            <a:srgbClr val="A7B1B6"/>
          </a:solidFill>
          <a:ln/>
        </p:spPr>
      </p:sp>
      <p:sp>
        <p:nvSpPr>
          <p:cNvPr id="59" name="Text 57"/>
          <p:cNvSpPr txBox="1"/>
          <p:nvPr/>
        </p:nvSpPr>
        <p:spPr>
          <a:xfrm>
            <a:off x="594360" y="5504688"/>
            <a:ext cx="1737360" cy="329184"/>
          </a:xfrm>
          <a:prstGeom prst="rect">
            <a:avLst/>
          </a:prstGeom>
          <a:noFill/>
          <a:ln/>
        </p:spPr>
        <p:txBody>
          <a:bodyPr wrap="square" lIns="0" tIns="0" rIns="0" bIns="0" rtlCol="0" anchor="ctr"/>
          <a:lstStyle/>
          <a:p>
            <a:pPr algn="ctr" indent="0" marL="0">
              <a:buNone/>
            </a:pPr>
            <a:r>
              <a:rPr lang="en-US" sz="1150" b="1" dirty="0">
                <a:solidFill>
                  <a:srgbClr val="13262F"/>
                </a:solidFill>
                <a:latin typeface="Calibri" pitchFamily="34" charset="0"/>
                <a:ea typeface="Calibri" pitchFamily="34" charset="-122"/>
                <a:cs typeface="Calibri" pitchFamily="34" charset="-120"/>
              </a:rPr>
              <a:t>Baselines</a:t>
            </a:r>
            <a:endParaRPr lang="en-US" sz="1150" dirty="0"/>
          </a:p>
        </p:txBody>
      </p:sp>
      <p:sp>
        <p:nvSpPr>
          <p:cNvPr id="60" name="Text 58"/>
          <p:cNvSpPr txBox="1"/>
          <p:nvPr/>
        </p:nvSpPr>
        <p:spPr>
          <a:xfrm>
            <a:off x="2468880" y="5431536"/>
            <a:ext cx="5394960" cy="475488"/>
          </a:xfrm>
          <a:prstGeom prst="rect">
            <a:avLst/>
          </a:prstGeom>
          <a:noFill/>
          <a:ln/>
        </p:spPr>
        <p:txBody>
          <a:bodyPr wrap="square" lIns="0" tIns="0" rIns="0" bIns="0" rtlCol="0" anchor="ctr"/>
          <a:lstStyle/>
          <a:p>
            <a:pPr indent="0" marL="0">
              <a:buNone/>
            </a:pPr>
            <a:r>
              <a:rPr lang="en-US" sz="1300" dirty="0">
                <a:solidFill>
                  <a:srgbClr val="13262F"/>
                </a:solidFill>
                <a:latin typeface="Calibri" pitchFamily="34" charset="0"/>
                <a:ea typeface="Calibri" pitchFamily="34" charset="-122"/>
                <a:cs typeface="Calibri" pitchFamily="34" charset="-120"/>
              </a:rPr>
              <a:t>Last viewed item 0.0711 · session kNN 0.1114 · popularity 0.0194</a:t>
            </a:r>
            <a:endParaRPr lang="en-US" sz="1300" dirty="0"/>
          </a:p>
        </p:txBody>
      </p:sp>
      <p:sp>
        <p:nvSpPr>
          <p:cNvPr id="61" name="Text 59"/>
          <p:cNvSpPr txBox="1"/>
          <p:nvPr/>
        </p:nvSpPr>
        <p:spPr>
          <a:xfrm>
            <a:off x="7955280" y="5431536"/>
            <a:ext cx="1645920" cy="475488"/>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floor</a:t>
            </a:r>
            <a:endParaRPr lang="en-US" sz="1250" dirty="0"/>
          </a:p>
        </p:txBody>
      </p:sp>
      <p:sp>
        <p:nvSpPr>
          <p:cNvPr id="62" name="Shape 60"/>
          <p:cNvSpPr/>
          <p:nvPr/>
        </p:nvSpPr>
        <p:spPr>
          <a:xfrm>
            <a:off x="9692640" y="5513832"/>
            <a:ext cx="1947672" cy="310896"/>
          </a:xfrm>
          <a:prstGeom prst="roundRect">
            <a:avLst>
              <a:gd name="adj" fmla="val 50000"/>
            </a:avLst>
          </a:prstGeom>
          <a:solidFill>
            <a:srgbClr val="5C6B73"/>
          </a:solidFill>
          <a:ln/>
        </p:spPr>
      </p:sp>
      <p:sp>
        <p:nvSpPr>
          <p:cNvPr id="63" name="Text 61"/>
          <p:cNvSpPr txBox="1"/>
          <p:nvPr/>
        </p:nvSpPr>
        <p:spPr>
          <a:xfrm>
            <a:off x="9692640" y="5513832"/>
            <a:ext cx="19476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Text 62"/>
          <p:cNvSpPr txBox="1"/>
          <p:nvPr/>
        </p:nvSpPr>
        <p:spPr>
          <a:xfrm>
            <a:off x="548640" y="6053328"/>
            <a:ext cx="11094415" cy="320040"/>
          </a:xfrm>
          <a:prstGeom prst="rect">
            <a:avLst/>
          </a:prstGeom>
          <a:noFill/>
          <a:ln/>
        </p:spPr>
        <p:txBody>
          <a:bodyPr wrap="square" lIns="0" tIns="0" rIns="0" bIns="0" rtlCol="0" anchor="t"/>
          <a:lstStyle/>
          <a:p>
            <a:pPr indent="0" marL="0">
              <a:buNone/>
            </a:pPr>
            <a:r>
              <a:rPr lang="en-US" sz="1250" b="1" i="1" dirty="0">
                <a:solidFill>
                  <a:srgbClr val="9A5A0C"/>
                </a:solidFill>
                <a:latin typeface="Calibri" pitchFamily="34" charset="0"/>
                <a:ea typeface="Calibri" pitchFamily="34" charset="-122"/>
                <a:cs typeface="Calibri" pitchFamily="34" charset="-120"/>
              </a:rPr>
              <a:t>Sealed results are read together: validation ≈ 2–3 Oct, single test look ≈ 4–5 Oct (estimates).</a:t>
            </a:r>
            <a:endParaRPr lang="en-US" sz="1250" dirty="0"/>
          </a:p>
        </p:txBody>
      </p:sp>
      <p:sp>
        <p:nvSpPr>
          <p:cNvPr id="65" name="Text 6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19</a:t>
            </a:r>
            <a:endParaRPr lang="en-US" sz="1000" dirty="0"/>
          </a:p>
        </p:txBody>
      </p:sp>
      <p:sp>
        <p:nvSpPr>
          <p:cNvPr id="66" name="Text 6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baselines (decision log 28 Sep); run status (decision log 29 Sep); master plan v5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CURRENT STUDY — PRIVACY AND THE REALISTIC BRANCH</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The key numbers</a:t>
            </a:r>
            <a:endParaRPr lang="en-US" sz="3000" dirty="0"/>
          </a:p>
        </p:txBody>
      </p:sp>
      <p:sp>
        <p:nvSpPr>
          <p:cNvPr id="4" name="Shape 2"/>
          <p:cNvSpPr/>
          <p:nvPr/>
        </p:nvSpPr>
        <p:spPr>
          <a:xfrm>
            <a:off x="548640" y="1463040"/>
            <a:ext cx="3515258" cy="1965960"/>
          </a:xfrm>
          <a:prstGeom prst="roundRect">
            <a:avLst>
              <a:gd name="adj" fmla="val 3721"/>
            </a:avLst>
          </a:prstGeom>
          <a:solidFill>
            <a:srgbClr val="D8ECEC"/>
          </a:solidFill>
          <a:ln/>
        </p:spPr>
      </p:sp>
      <p:sp>
        <p:nvSpPr>
          <p:cNvPr id="5" name="Text 3"/>
          <p:cNvSpPr txBox="1"/>
          <p:nvPr/>
        </p:nvSpPr>
        <p:spPr>
          <a:xfrm>
            <a:off x="777240" y="1600200"/>
            <a:ext cx="3058058"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ε = 8 · ε = 1</a:t>
            </a:r>
            <a:endParaRPr lang="en-US" sz="3200" dirty="0"/>
          </a:p>
        </p:txBody>
      </p:sp>
      <p:sp>
        <p:nvSpPr>
          <p:cNvPr id="6" name="Text 4"/>
          <p:cNvSpPr txBox="1"/>
          <p:nvPr/>
        </p:nvSpPr>
        <p:spPr>
          <a:xfrm>
            <a:off x="777240" y="228600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client-level DP; noise multipliers 0.5642 · 1.3094</a:t>
            </a:r>
            <a:endParaRPr lang="en-US" sz="1300" dirty="0"/>
          </a:p>
        </p:txBody>
      </p:sp>
      <p:sp>
        <p:nvSpPr>
          <p:cNvPr id="7" name="Shape 5"/>
          <p:cNvSpPr/>
          <p:nvPr/>
        </p:nvSpPr>
        <p:spPr>
          <a:xfrm>
            <a:off x="4338218" y="1463040"/>
            <a:ext cx="3515258" cy="1965960"/>
          </a:xfrm>
          <a:prstGeom prst="roundRect">
            <a:avLst>
              <a:gd name="adj" fmla="val 3721"/>
            </a:avLst>
          </a:prstGeom>
          <a:solidFill>
            <a:srgbClr val="F1F4F4"/>
          </a:solidFill>
          <a:ln/>
        </p:spPr>
      </p:sp>
      <p:sp>
        <p:nvSpPr>
          <p:cNvPr id="8" name="Text 6"/>
          <p:cNvSpPr txBox="1"/>
          <p:nvPr/>
        </p:nvSpPr>
        <p:spPr>
          <a:xfrm>
            <a:off x="4566818" y="1600200"/>
            <a:ext cx="3058058"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δ = 5 × 10⁻⁶</a:t>
            </a:r>
            <a:endParaRPr lang="en-US" sz="3200" dirty="0"/>
          </a:p>
        </p:txBody>
      </p:sp>
      <p:sp>
        <p:nvSpPr>
          <p:cNvPr id="9" name="Text 7"/>
          <p:cNvSpPr txBox="1"/>
          <p:nvPr/>
        </p:nvSpPr>
        <p:spPr>
          <a:xfrm>
            <a:off x="4566818" y="228600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adding or removing one user's history</a:t>
            </a:r>
            <a:endParaRPr lang="en-US" sz="1300" dirty="0"/>
          </a:p>
        </p:txBody>
      </p:sp>
      <p:sp>
        <p:nvSpPr>
          <p:cNvPr id="10" name="Shape 8"/>
          <p:cNvSpPr/>
          <p:nvPr/>
        </p:nvSpPr>
        <p:spPr>
          <a:xfrm>
            <a:off x="8127797" y="1463040"/>
            <a:ext cx="3515258" cy="1965960"/>
          </a:xfrm>
          <a:prstGeom prst="roundRect">
            <a:avLst>
              <a:gd name="adj" fmla="val 3721"/>
            </a:avLst>
          </a:prstGeom>
          <a:solidFill>
            <a:srgbClr val="FBEBD3"/>
          </a:solidFill>
          <a:ln/>
        </p:spPr>
      </p:sp>
      <p:sp>
        <p:nvSpPr>
          <p:cNvPr id="11" name="Text 9"/>
          <p:cNvSpPr txBox="1"/>
          <p:nvPr/>
        </p:nvSpPr>
        <p:spPr>
          <a:xfrm>
            <a:off x="8356397" y="1600200"/>
            <a:ext cx="3058058"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1,217,610</a:t>
            </a:r>
            <a:endParaRPr lang="en-US" sz="3200" dirty="0"/>
          </a:p>
        </p:txBody>
      </p:sp>
      <p:sp>
        <p:nvSpPr>
          <p:cNvPr id="12" name="Text 10"/>
          <p:cNvSpPr txBox="1"/>
          <p:nvPr/>
        </p:nvSpPr>
        <p:spPr>
          <a:xfrm>
            <a:off x="8356397" y="228600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opted-in users for pretraining (24.1M decisions)</a:t>
            </a:r>
            <a:endParaRPr lang="en-US" sz="1300" dirty="0"/>
          </a:p>
        </p:txBody>
      </p:sp>
      <p:sp>
        <p:nvSpPr>
          <p:cNvPr id="13" name="Shape 11"/>
          <p:cNvSpPr/>
          <p:nvPr/>
        </p:nvSpPr>
        <p:spPr>
          <a:xfrm>
            <a:off x="548640" y="3703320"/>
            <a:ext cx="3515258" cy="1965960"/>
          </a:xfrm>
          <a:prstGeom prst="roundRect">
            <a:avLst>
              <a:gd name="adj" fmla="val 3721"/>
            </a:avLst>
          </a:prstGeom>
          <a:solidFill>
            <a:srgbClr val="F1F4F4"/>
          </a:solidFill>
          <a:ln/>
        </p:spPr>
      </p:sp>
      <p:sp>
        <p:nvSpPr>
          <p:cNvPr id="14" name="Text 12"/>
          <p:cNvSpPr txBox="1"/>
          <p:nvPr/>
        </p:nvSpPr>
        <p:spPr>
          <a:xfrm>
            <a:off x="777240" y="3840480"/>
            <a:ext cx="3058058"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265,162</a:t>
            </a:r>
            <a:endParaRPr lang="en-US" sz="3200" dirty="0"/>
          </a:p>
        </p:txBody>
      </p:sp>
      <p:sp>
        <p:nvSpPr>
          <p:cNvPr id="15" name="Text 13"/>
          <p:cNvSpPr txBox="1"/>
          <p:nvPr/>
        </p:nvSpPr>
        <p:spPr>
          <a:xfrm>
            <a:off x="777240" y="452628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parameters uploaded with frozen tables (≈ 1.06 MB each way)</a:t>
            </a:r>
            <a:endParaRPr lang="en-US" sz="1300" dirty="0"/>
          </a:p>
        </p:txBody>
      </p:sp>
      <p:sp>
        <p:nvSpPr>
          <p:cNvPr id="16" name="Shape 14"/>
          <p:cNvSpPr/>
          <p:nvPr/>
        </p:nvSpPr>
        <p:spPr>
          <a:xfrm>
            <a:off x="4338218" y="3703320"/>
            <a:ext cx="3515258" cy="1965960"/>
          </a:xfrm>
          <a:prstGeom prst="roundRect">
            <a:avLst>
              <a:gd name="adj" fmla="val 3721"/>
            </a:avLst>
          </a:prstGeom>
          <a:solidFill>
            <a:srgbClr val="F1F4F4"/>
          </a:solidFill>
          <a:ln/>
        </p:spPr>
      </p:sp>
      <p:sp>
        <p:nvSpPr>
          <p:cNvPr id="17" name="Text 15"/>
          <p:cNvSpPr txBox="1"/>
          <p:nvPr/>
        </p:nvSpPr>
        <p:spPr>
          <a:xfrm>
            <a:off x="4566818" y="3840480"/>
            <a:ext cx="3058058"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81.78 MB</a:t>
            </a:r>
            <a:endParaRPr lang="en-US" sz="3200" dirty="0"/>
          </a:p>
        </p:txBody>
      </p:sp>
      <p:sp>
        <p:nvSpPr>
          <p:cNvPr id="18" name="Text 16"/>
          <p:cNvSpPr txBox="1"/>
          <p:nvPr/>
        </p:nvSpPr>
        <p:spPr>
          <a:xfrm>
            <a:off x="4566818" y="452628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one-time table download</a:t>
            </a:r>
            <a:endParaRPr lang="en-US" sz="1300" dirty="0"/>
          </a:p>
        </p:txBody>
      </p:sp>
      <p:sp>
        <p:nvSpPr>
          <p:cNvPr id="19" name="Shape 17"/>
          <p:cNvSpPr/>
          <p:nvPr/>
        </p:nvSpPr>
        <p:spPr>
          <a:xfrm>
            <a:off x="8127797" y="3703320"/>
            <a:ext cx="3515258" cy="1965960"/>
          </a:xfrm>
          <a:prstGeom prst="roundRect">
            <a:avLst>
              <a:gd name="adj" fmla="val 3721"/>
            </a:avLst>
          </a:prstGeom>
          <a:solidFill>
            <a:srgbClr val="FBEBD3"/>
          </a:solidFill>
          <a:ln/>
        </p:spPr>
      </p:sp>
      <p:sp>
        <p:nvSpPr>
          <p:cNvPr id="20" name="Text 18"/>
          <p:cNvSpPr txBox="1"/>
          <p:nvPr/>
        </p:nvSpPr>
        <p:spPr>
          <a:xfrm>
            <a:off x="8356397" y="3840480"/>
            <a:ext cx="3058058"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98%</a:t>
            </a:r>
            <a:endParaRPr lang="en-US" sz="3200" dirty="0"/>
          </a:p>
        </p:txBody>
      </p:sp>
      <p:sp>
        <p:nvSpPr>
          <p:cNvPr id="21" name="Text 19"/>
          <p:cNvSpPr txBox="1"/>
          <p:nvPr/>
        </p:nvSpPr>
        <p:spPr>
          <a:xfrm>
            <a:off x="8356397" y="4526280"/>
            <a:ext cx="3058058" cy="105156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of device-model parameters are item tables → updates can reveal viewed items</a:t>
            </a:r>
            <a:endParaRPr lang="en-US" sz="1300" dirty="0"/>
          </a:p>
        </p:txBody>
      </p:sp>
      <p:sp>
        <p:nvSpPr>
          <p:cNvPr id="22" name="Text 20"/>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50" i="1" dirty="0">
                <a:solidFill>
                  <a:srgbClr val="5E6E75"/>
                </a:solidFill>
                <a:latin typeface="Calibri" pitchFamily="34" charset="0"/>
                <a:ea typeface="Calibri" pitchFamily="34" charset="-122"/>
                <a:cs typeface="Calibri" pitchFamily="34" charset="-120"/>
              </a:rPr>
              <a:t>Adversary: an honest-but-curious browser vendor. Secure aggregation is not simulated — stated as a limitation.</a:t>
            </a:r>
            <a:endParaRPr lang="en-US" sz="1250" dirty="0"/>
          </a:p>
        </p:txBody>
      </p:sp>
      <p:sp>
        <p:nvSpPr>
          <p:cNvPr id="23" name="Text 2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20</a:t>
            </a:r>
            <a:endParaRPr lang="en-US" sz="1000" dirty="0"/>
          </a:p>
        </p:txBody>
      </p:sp>
      <p:sp>
        <p:nvSpPr>
          <p:cNvPr id="24" name="Text 2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statement and threat model; independent DP check; pretraining cohort build; review synthesis §3.2; realism audit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INDEPENDENT REVIEWS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7/10 overall; strongest on data and evaluation</a:t>
            </a:r>
            <a:endParaRPr lang="en-US" sz="3000" dirty="0"/>
          </a:p>
        </p:txBody>
      </p:sp>
      <p:graphicFrame>
        <p:nvGraphicFramePr>
          <p:cNvPr id="4" name="Chart 0" descr=""/>
          <p:cNvGraphicFramePr/>
          <p:nvPr/>
        </p:nvGraphicFramePr>
        <p:xfrm>
          <a:off x="548640" y="13716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463040"/>
            <a:ext cx="3779215" cy="1371600"/>
          </a:xfrm>
          <a:prstGeom prst="roundRect">
            <a:avLst>
              <a:gd name="adj" fmla="val 5333"/>
            </a:avLst>
          </a:prstGeom>
          <a:solidFill>
            <a:srgbClr val="D8ECEC"/>
          </a:solidFill>
          <a:ln/>
        </p:spPr>
      </p:sp>
      <p:sp>
        <p:nvSpPr>
          <p:cNvPr id="6" name="Text 3"/>
          <p:cNvSpPr txBox="1"/>
          <p:nvPr/>
        </p:nvSpPr>
        <p:spPr>
          <a:xfrm>
            <a:off x="8092440" y="1600200"/>
            <a:ext cx="3322015"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7 → 8–8.5</a:t>
            </a:r>
            <a:endParaRPr lang="en-US" sz="3200" dirty="0"/>
          </a:p>
        </p:txBody>
      </p:sp>
      <p:sp>
        <p:nvSpPr>
          <p:cNvPr id="7" name="Text 4"/>
          <p:cNvSpPr txBox="1"/>
          <p:nvPr/>
        </p:nvSpPr>
        <p:spPr>
          <a:xfrm>
            <a:off x="8092440" y="2286000"/>
            <a:ext cx="3322015" cy="4572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overall now → after the registered fixes</a:t>
            </a:r>
            <a:endParaRPr lang="en-US" sz="1300" dirty="0"/>
          </a:p>
        </p:txBody>
      </p:sp>
      <p:sp>
        <p:nvSpPr>
          <p:cNvPr id="8" name="Shape 5"/>
          <p:cNvSpPr/>
          <p:nvPr/>
        </p:nvSpPr>
        <p:spPr>
          <a:xfrm>
            <a:off x="7863840" y="3017520"/>
            <a:ext cx="3779215" cy="1371600"/>
          </a:xfrm>
          <a:prstGeom prst="roundRect">
            <a:avLst>
              <a:gd name="adj" fmla="val 5333"/>
            </a:avLst>
          </a:prstGeom>
          <a:solidFill>
            <a:srgbClr val="F1F4F4"/>
          </a:solidFill>
          <a:ln/>
        </p:spPr>
      </p:sp>
      <p:sp>
        <p:nvSpPr>
          <p:cNvPr id="9" name="Text 6"/>
          <p:cNvSpPr txBox="1"/>
          <p:nvPr/>
        </p:nvSpPr>
        <p:spPr>
          <a:xfrm>
            <a:off x="8092440" y="3154680"/>
            <a:ext cx="3322015"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0</a:t>
            </a:r>
            <a:endParaRPr lang="en-US" sz="3200" dirty="0"/>
          </a:p>
        </p:txBody>
      </p:sp>
      <p:sp>
        <p:nvSpPr>
          <p:cNvPr id="10" name="Text 7"/>
          <p:cNvSpPr txBox="1"/>
          <p:nvPr/>
        </p:nvSpPr>
        <p:spPr>
          <a:xfrm>
            <a:off x="8092440" y="3840480"/>
            <a:ext cx="3322015" cy="4572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evaluation or data-leak bugs found</a:t>
            </a:r>
            <a:endParaRPr lang="en-US" sz="1300" dirty="0"/>
          </a:p>
        </p:txBody>
      </p:sp>
      <p:sp>
        <p:nvSpPr>
          <p:cNvPr id="11" name="Shape 8"/>
          <p:cNvSpPr/>
          <p:nvPr/>
        </p:nvSpPr>
        <p:spPr>
          <a:xfrm>
            <a:off x="7863840" y="4572000"/>
            <a:ext cx="3779215" cy="1325880"/>
          </a:xfrm>
          <a:prstGeom prst="roundRect">
            <a:avLst>
              <a:gd name="adj" fmla="val 5517"/>
            </a:avLst>
          </a:prstGeom>
          <a:solidFill>
            <a:srgbClr val="F1F4F4"/>
          </a:solidFill>
          <a:ln/>
        </p:spPr>
      </p:sp>
      <p:sp>
        <p:nvSpPr>
          <p:cNvPr id="12" name="Text 9"/>
          <p:cNvSpPr txBox="1"/>
          <p:nvPr/>
        </p:nvSpPr>
        <p:spPr>
          <a:xfrm>
            <a:off x="8092440" y="4709160"/>
            <a:ext cx="3322015"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3 of 5</a:t>
            </a:r>
            <a:endParaRPr lang="en-US" sz="3200" dirty="0"/>
          </a:p>
        </p:txBody>
      </p:sp>
      <p:sp>
        <p:nvSpPr>
          <p:cNvPr id="13" name="Text 10"/>
          <p:cNvSpPr txBox="1"/>
          <p:nvPr/>
        </p:nvSpPr>
        <p:spPr>
          <a:xfrm>
            <a:off x="8092440" y="5394960"/>
            <a:ext cx="3322015"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fix groups done or registered before any read</a:t>
            </a:r>
            <a:endParaRPr lang="en-US" sz="13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21</a:t>
            </a:r>
            <a:endParaRPr lang="en-US" sz="1000" dirty="0"/>
          </a:p>
        </p:txBody>
      </p:sp>
      <p:sp>
        <p:nvSpPr>
          <p:cNvPr id="15"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Review synthesis (§1 scorecard, §4 fix gates); decision log 29 Sep 17:59–18:36Z</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WHEN RESULTS ARRIVE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Four milestones (estimates)</a:t>
            </a:r>
            <a:endParaRPr lang="en-US" sz="3000" dirty="0"/>
          </a:p>
        </p:txBody>
      </p:sp>
      <p:sp>
        <p:nvSpPr>
          <p:cNvPr id="4" name="Shape 2"/>
          <p:cNvSpPr/>
          <p:nvPr/>
        </p:nvSpPr>
        <p:spPr>
          <a:xfrm>
            <a:off x="822960" y="2057400"/>
            <a:ext cx="10545775" cy="0"/>
          </a:xfrm>
          <a:prstGeom prst="line">
            <a:avLst/>
          </a:prstGeom>
          <a:noFill/>
          <a:ln w="38100">
            <a:solidFill>
              <a:srgbClr val="D5DDDF"/>
            </a:solidFill>
            <a:prstDash val="solid"/>
          </a:ln>
        </p:spPr>
      </p:sp>
      <p:sp>
        <p:nvSpPr>
          <p:cNvPr id="5" name="Shape 3"/>
          <p:cNvSpPr/>
          <p:nvPr/>
        </p:nvSpPr>
        <p:spPr>
          <a:xfrm>
            <a:off x="640080" y="1874520"/>
            <a:ext cx="365760" cy="365760"/>
          </a:xfrm>
          <a:prstGeom prst="ellipse">
            <a:avLst/>
          </a:prstGeom>
          <a:solidFill>
            <a:srgbClr val="1F7A80"/>
          </a:solidFill>
          <a:ln w="25400">
            <a:solidFill>
              <a:srgbClr val="FFFFFF"/>
            </a:solidFill>
            <a:prstDash val="solid"/>
          </a:ln>
        </p:spPr>
      </p:sp>
      <p:sp>
        <p:nvSpPr>
          <p:cNvPr id="6" name="Text 4"/>
          <p:cNvSpPr txBox="1"/>
          <p:nvPr/>
        </p:nvSpPr>
        <p:spPr>
          <a:xfrm>
            <a:off x="548640" y="1371600"/>
            <a:ext cx="2567864"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 30 Sep</a:t>
            </a:r>
            <a:endParaRPr lang="en-US" sz="1800" dirty="0"/>
          </a:p>
        </p:txBody>
      </p:sp>
      <p:sp>
        <p:nvSpPr>
          <p:cNvPr id="7" name="Shape 5"/>
          <p:cNvSpPr/>
          <p:nvPr/>
        </p:nvSpPr>
        <p:spPr>
          <a:xfrm>
            <a:off x="548640" y="2514600"/>
            <a:ext cx="2567864" cy="2194560"/>
          </a:xfrm>
          <a:prstGeom prst="roundRect">
            <a:avLst>
              <a:gd name="adj" fmla="val 3333"/>
            </a:avLst>
          </a:prstGeom>
          <a:solidFill>
            <a:srgbClr val="F1F4F4"/>
          </a:solidFill>
          <a:ln/>
        </p:spPr>
      </p:sp>
      <p:sp>
        <p:nvSpPr>
          <p:cNvPr id="8" name="Text 6"/>
          <p:cNvSpPr txBox="1"/>
          <p:nvPr/>
        </p:nvSpPr>
        <p:spPr>
          <a:xfrm>
            <a:off x="777240" y="2697480"/>
            <a:ext cx="2110664" cy="118872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Tuning and pretraining finish</a:t>
            </a:r>
            <a:endParaRPr lang="en-US" sz="1600" dirty="0"/>
          </a:p>
        </p:txBody>
      </p:sp>
      <p:sp>
        <p:nvSpPr>
          <p:cNvPr id="9" name="Shape 7"/>
          <p:cNvSpPr/>
          <p:nvPr/>
        </p:nvSpPr>
        <p:spPr>
          <a:xfrm>
            <a:off x="777240" y="4160520"/>
            <a:ext cx="1188720" cy="310896"/>
          </a:xfrm>
          <a:prstGeom prst="roundRect">
            <a:avLst>
              <a:gd name="adj" fmla="val 50000"/>
            </a:avLst>
          </a:prstGeom>
          <a:solidFill>
            <a:srgbClr val="1F7A80"/>
          </a:solidFill>
          <a:ln/>
        </p:spPr>
      </p:sp>
      <p:sp>
        <p:nvSpPr>
          <p:cNvPr id="10" name="Text 8"/>
          <p:cNvSpPr txBox="1"/>
          <p:nvPr/>
        </p:nvSpPr>
        <p:spPr>
          <a:xfrm>
            <a:off x="777240" y="4160520"/>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1" name="Shape 9"/>
          <p:cNvSpPr/>
          <p:nvPr/>
        </p:nvSpPr>
        <p:spPr>
          <a:xfrm>
            <a:off x="3482264" y="1874520"/>
            <a:ext cx="365760" cy="365760"/>
          </a:xfrm>
          <a:prstGeom prst="ellipse">
            <a:avLst/>
          </a:prstGeom>
          <a:solidFill>
            <a:srgbClr val="5C6B73"/>
          </a:solidFill>
          <a:ln w="25400">
            <a:solidFill>
              <a:srgbClr val="FFFFFF"/>
            </a:solidFill>
            <a:prstDash val="solid"/>
          </a:ln>
        </p:spPr>
      </p:sp>
      <p:sp>
        <p:nvSpPr>
          <p:cNvPr id="12" name="Text 10"/>
          <p:cNvSpPr txBox="1"/>
          <p:nvPr/>
        </p:nvSpPr>
        <p:spPr>
          <a:xfrm>
            <a:off x="3390824" y="1371600"/>
            <a:ext cx="2567864"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 30 Sep – 2 Oct</a:t>
            </a:r>
            <a:endParaRPr lang="en-US" sz="1800" dirty="0"/>
          </a:p>
        </p:txBody>
      </p:sp>
      <p:sp>
        <p:nvSpPr>
          <p:cNvPr id="13" name="Shape 11"/>
          <p:cNvSpPr/>
          <p:nvPr/>
        </p:nvSpPr>
        <p:spPr>
          <a:xfrm>
            <a:off x="3390824" y="2514600"/>
            <a:ext cx="2567864" cy="2194560"/>
          </a:xfrm>
          <a:prstGeom prst="roundRect">
            <a:avLst>
              <a:gd name="adj" fmla="val 3333"/>
            </a:avLst>
          </a:prstGeom>
          <a:solidFill>
            <a:srgbClr val="F1F4F4"/>
          </a:solidFill>
          <a:ln/>
        </p:spPr>
      </p:sp>
      <p:sp>
        <p:nvSpPr>
          <p:cNvPr id="14" name="Text 12"/>
          <p:cNvSpPr txBox="1"/>
          <p:nvPr/>
        </p:nvSpPr>
        <p:spPr>
          <a:xfrm>
            <a:off x="3619424" y="2697480"/>
            <a:ext cx="2110664" cy="118872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Main federated + DP runs (≈ 10.7 h each)</a:t>
            </a:r>
            <a:endParaRPr lang="en-US" sz="1600" dirty="0"/>
          </a:p>
        </p:txBody>
      </p:sp>
      <p:sp>
        <p:nvSpPr>
          <p:cNvPr id="15" name="Shape 13"/>
          <p:cNvSpPr/>
          <p:nvPr/>
        </p:nvSpPr>
        <p:spPr>
          <a:xfrm>
            <a:off x="3619424" y="4160520"/>
            <a:ext cx="1188720" cy="310896"/>
          </a:xfrm>
          <a:prstGeom prst="roundRect">
            <a:avLst>
              <a:gd name="adj" fmla="val 50000"/>
            </a:avLst>
          </a:prstGeom>
          <a:solidFill>
            <a:srgbClr val="E6EAEC"/>
          </a:solidFill>
          <a:ln/>
        </p:spPr>
      </p:sp>
      <p:sp>
        <p:nvSpPr>
          <p:cNvPr id="16" name="Text 14"/>
          <p:cNvSpPr txBox="1"/>
          <p:nvPr/>
        </p:nvSpPr>
        <p:spPr>
          <a:xfrm>
            <a:off x="3619424" y="4160520"/>
            <a:ext cx="118872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7" name="Shape 15"/>
          <p:cNvSpPr/>
          <p:nvPr/>
        </p:nvSpPr>
        <p:spPr>
          <a:xfrm>
            <a:off x="6324448" y="1874520"/>
            <a:ext cx="365760" cy="365760"/>
          </a:xfrm>
          <a:prstGeom prst="ellipse">
            <a:avLst/>
          </a:prstGeom>
          <a:solidFill>
            <a:srgbClr val="E0932B"/>
          </a:solidFill>
          <a:ln w="25400">
            <a:solidFill>
              <a:srgbClr val="FFFFFF"/>
            </a:solidFill>
            <a:prstDash val="solid"/>
          </a:ln>
        </p:spPr>
      </p:sp>
      <p:sp>
        <p:nvSpPr>
          <p:cNvPr id="18" name="Text 16"/>
          <p:cNvSpPr txBox="1"/>
          <p:nvPr/>
        </p:nvSpPr>
        <p:spPr>
          <a:xfrm>
            <a:off x="6233008" y="1371600"/>
            <a:ext cx="2567864"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 2–3 Oct</a:t>
            </a:r>
            <a:endParaRPr lang="en-US" sz="1800" dirty="0"/>
          </a:p>
        </p:txBody>
      </p:sp>
      <p:sp>
        <p:nvSpPr>
          <p:cNvPr id="19" name="Shape 17"/>
          <p:cNvSpPr/>
          <p:nvPr/>
        </p:nvSpPr>
        <p:spPr>
          <a:xfrm>
            <a:off x="6233008" y="2514600"/>
            <a:ext cx="2567864" cy="2194560"/>
          </a:xfrm>
          <a:prstGeom prst="roundRect">
            <a:avLst>
              <a:gd name="adj" fmla="val 3333"/>
            </a:avLst>
          </a:prstGeom>
          <a:solidFill>
            <a:srgbClr val="F1F4F4"/>
          </a:solidFill>
          <a:ln/>
        </p:spPr>
      </p:sp>
      <p:sp>
        <p:nvSpPr>
          <p:cNvPr id="20" name="Text 18"/>
          <p:cNvSpPr txBox="1"/>
          <p:nvPr/>
        </p:nvSpPr>
        <p:spPr>
          <a:xfrm>
            <a:off x="6461608" y="2697480"/>
            <a:ext cx="2110664" cy="118872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One validation read, then lock</a:t>
            </a:r>
            <a:endParaRPr lang="en-US" sz="1600" dirty="0"/>
          </a:p>
        </p:txBody>
      </p:sp>
      <p:sp>
        <p:nvSpPr>
          <p:cNvPr id="21" name="Shape 19"/>
          <p:cNvSpPr/>
          <p:nvPr/>
        </p:nvSpPr>
        <p:spPr>
          <a:xfrm>
            <a:off x="6461608" y="4160520"/>
            <a:ext cx="1188720" cy="310896"/>
          </a:xfrm>
          <a:prstGeom prst="roundRect">
            <a:avLst>
              <a:gd name="adj" fmla="val 50000"/>
            </a:avLst>
          </a:prstGeom>
          <a:solidFill>
            <a:srgbClr val="FBEBD3"/>
          </a:solidFill>
          <a:ln w="12700">
            <a:solidFill>
              <a:srgbClr val="E0932B"/>
            </a:solidFill>
            <a:prstDash val="solid"/>
          </a:ln>
        </p:spPr>
      </p:sp>
      <p:sp>
        <p:nvSpPr>
          <p:cNvPr id="22" name="Text 20"/>
          <p:cNvSpPr txBox="1"/>
          <p:nvPr/>
        </p:nvSpPr>
        <p:spPr>
          <a:xfrm>
            <a:off x="6461608" y="4160520"/>
            <a:ext cx="11887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23" name="Shape 21"/>
          <p:cNvSpPr/>
          <p:nvPr/>
        </p:nvSpPr>
        <p:spPr>
          <a:xfrm>
            <a:off x="9166631" y="1874520"/>
            <a:ext cx="365760" cy="365760"/>
          </a:xfrm>
          <a:prstGeom prst="ellipse">
            <a:avLst/>
          </a:prstGeom>
          <a:solidFill>
            <a:srgbClr val="E0932B"/>
          </a:solidFill>
          <a:ln w="25400">
            <a:solidFill>
              <a:srgbClr val="FFFFFF"/>
            </a:solidFill>
            <a:prstDash val="solid"/>
          </a:ln>
        </p:spPr>
      </p:sp>
      <p:sp>
        <p:nvSpPr>
          <p:cNvPr id="24" name="Text 22"/>
          <p:cNvSpPr txBox="1"/>
          <p:nvPr/>
        </p:nvSpPr>
        <p:spPr>
          <a:xfrm>
            <a:off x="9075191" y="1371600"/>
            <a:ext cx="2567864"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 4–5 Oct</a:t>
            </a:r>
            <a:endParaRPr lang="en-US" sz="1800" dirty="0"/>
          </a:p>
        </p:txBody>
      </p:sp>
      <p:sp>
        <p:nvSpPr>
          <p:cNvPr id="25" name="Shape 23"/>
          <p:cNvSpPr/>
          <p:nvPr/>
        </p:nvSpPr>
        <p:spPr>
          <a:xfrm>
            <a:off x="9075191" y="2514600"/>
            <a:ext cx="2567864" cy="2194560"/>
          </a:xfrm>
          <a:prstGeom prst="roundRect">
            <a:avLst>
              <a:gd name="adj" fmla="val 3333"/>
            </a:avLst>
          </a:prstGeom>
          <a:solidFill>
            <a:srgbClr val="F1F4F4"/>
          </a:solidFill>
          <a:ln/>
        </p:spPr>
      </p:sp>
      <p:sp>
        <p:nvSpPr>
          <p:cNvPr id="26" name="Text 24"/>
          <p:cNvSpPr txBox="1"/>
          <p:nvPr/>
        </p:nvSpPr>
        <p:spPr>
          <a:xfrm>
            <a:off x="9303791" y="2697480"/>
            <a:ext cx="2110664" cy="118872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Single test look; tables ≈ 6–7 Oct</a:t>
            </a:r>
            <a:endParaRPr lang="en-US" sz="1600" dirty="0"/>
          </a:p>
        </p:txBody>
      </p:sp>
      <p:sp>
        <p:nvSpPr>
          <p:cNvPr id="27" name="Shape 25"/>
          <p:cNvSpPr/>
          <p:nvPr/>
        </p:nvSpPr>
        <p:spPr>
          <a:xfrm>
            <a:off x="9303791" y="4160520"/>
            <a:ext cx="1188720" cy="310896"/>
          </a:xfrm>
          <a:prstGeom prst="roundRect">
            <a:avLst>
              <a:gd name="adj" fmla="val 50000"/>
            </a:avLst>
          </a:prstGeom>
          <a:solidFill>
            <a:srgbClr val="FBEBD3"/>
          </a:solidFill>
          <a:ln w="12700">
            <a:solidFill>
              <a:srgbClr val="E0932B"/>
            </a:solidFill>
            <a:prstDash val="solid"/>
          </a:ln>
        </p:spPr>
      </p:sp>
      <p:sp>
        <p:nvSpPr>
          <p:cNvPr id="28" name="Text 26"/>
          <p:cNvSpPr txBox="1"/>
          <p:nvPr/>
        </p:nvSpPr>
        <p:spPr>
          <a:xfrm>
            <a:off x="9303791" y="4160520"/>
            <a:ext cx="1188720" cy="310896"/>
          </a:xfrm>
          <a:prstGeom prst="rect">
            <a:avLst/>
          </a:prstGeom>
          <a:noFill/>
          <a:ln/>
        </p:spPr>
        <p:txBody>
          <a:bodyPr wrap="square" lIns="0" tIns="0" rIns="0" bIns="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sealed</a:t>
            </a:r>
            <a:endParaRPr lang="en-US" sz="1100" dirty="0"/>
          </a:p>
        </p:txBody>
      </p:sp>
      <p:sp>
        <p:nvSpPr>
          <p:cNvPr id="29" name="Text 27"/>
          <p:cNvSpPr txBox="1"/>
          <p:nvPr/>
        </p:nvSpPr>
        <p:spPr>
          <a:xfrm>
            <a:off x="548640" y="5074920"/>
            <a:ext cx="11094415" cy="36576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Plan said 1–2 Oct for the first read; ≈ 1 day slip because tuning screens run slower when sharing GPUs.</a:t>
            </a:r>
            <a:endParaRPr lang="en-US" sz="1300" dirty="0"/>
          </a:p>
        </p:txBody>
      </p:sp>
      <p:sp>
        <p:nvSpPr>
          <p:cNvPr id="30"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22</a:t>
            </a:r>
            <a:endParaRPr lang="en-US" sz="1000" dirty="0"/>
          </a:p>
        </p:txBody>
      </p:sp>
      <p:sp>
        <p:nvSpPr>
          <p:cNvPr id="31" name="Text 2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Master plan v5 (cost model, test-look duration); ladder schedule; decision log 29 Sep</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4</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Headline and priorities</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Which comparison should be the Edge headline?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Plain federated vs cloud, or pretrained branch vs full-pool cloud (the review recommends the latter).</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time is short, what do we protect first?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Never cut: federated ×2, local-only ×2, cloud fine-tune ×2, INT8, the lock, the test look.</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Can you pre-approve the Queen's AI-use disclosure?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Required front matter per the independent review.</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23</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cut order is pre-registered in the master plan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Shopping Intelligence — supervisor update (numbers version)</dc:title>
  <dc:subject>PptxGenJS Presentation</dc:subject>
  <dc:creator>Ahmed Abdelhamed</dc:creator>
  <cp:lastModifiedBy>Ahmed Abdelhamed</cp:lastModifiedBy>
  <cp:revision>1</cp:revision>
  <dcterms:created xsi:type="dcterms:W3CDTF">2026-09-29T20:20:31Z</dcterms:created>
  <dcterms:modified xsi:type="dcterms:W3CDTF">2026-09-29T20:20:31Z</dcterms:modified>
</cp:coreProperties>
</file>